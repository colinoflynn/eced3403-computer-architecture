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80" r:id="rId9"/>
    <p:sldId id="281" r:id="rId10"/>
    <p:sldId id="282" r:id="rId11"/>
    <p:sldId id="283" r:id="rId12"/>
    <p:sldId id="284" r:id="rId13"/>
    <p:sldId id="265" r:id="rId14"/>
    <p:sldId id="266" r:id="rId15"/>
    <p:sldId id="285" r:id="rId16"/>
    <p:sldId id="267" r:id="rId17"/>
    <p:sldId id="286" r:id="rId18"/>
    <p:sldId id="269" r:id="rId19"/>
    <p:sldId id="268" r:id="rId20"/>
    <p:sldId id="287" r:id="rId21"/>
    <p:sldId id="273" r:id="rId22"/>
    <p:sldId id="274" r:id="rId23"/>
    <p:sldId id="288" r:id="rId24"/>
    <p:sldId id="271" r:id="rId25"/>
    <p:sldId id="270" r:id="rId26"/>
    <p:sldId id="289" r:id="rId27"/>
    <p:sldId id="290" r:id="rId28"/>
    <p:sldId id="291" r:id="rId29"/>
    <p:sldId id="292" r:id="rId30"/>
    <p:sldId id="275" r:id="rId31"/>
    <p:sldId id="276" r:id="rId32"/>
    <p:sldId id="294" r:id="rId33"/>
    <p:sldId id="293" r:id="rId34"/>
    <p:sldId id="295" r:id="rId35"/>
    <p:sldId id="296" r:id="rId36"/>
    <p:sldId id="297" r:id="rId37"/>
    <p:sldId id="303" r:id="rId38"/>
    <p:sldId id="305" r:id="rId39"/>
    <p:sldId id="298" r:id="rId40"/>
    <p:sldId id="301" r:id="rId41"/>
    <p:sldId id="307" r:id="rId42"/>
    <p:sldId id="306" r:id="rId43"/>
    <p:sldId id="308" r:id="rId44"/>
    <p:sldId id="309" r:id="rId45"/>
    <p:sldId id="310" r:id="rId46"/>
    <p:sldId id="311" r:id="rId47"/>
    <p:sldId id="300" r:id="rId48"/>
    <p:sldId id="302" r:id="rId49"/>
    <p:sldId id="277" r:id="rId50"/>
    <p:sldId id="278" r:id="rId51"/>
    <p:sldId id="299" r:id="rId52"/>
    <p:sldId id="312" r:id="rId53"/>
    <p:sldId id="313" r:id="rId54"/>
    <p:sldId id="314" r:id="rId55"/>
    <p:sldId id="315" r:id="rId56"/>
    <p:sldId id="316" r:id="rId57"/>
    <p:sldId id="279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C8D6D9-BA1F-475E-A3D0-1F66978045AA}">
          <p14:sldIdLst>
            <p14:sldId id="256"/>
            <p14:sldId id="257"/>
            <p14:sldId id="258"/>
            <p14:sldId id="260"/>
            <p14:sldId id="262"/>
            <p14:sldId id="263"/>
            <p14:sldId id="264"/>
            <p14:sldId id="280"/>
            <p14:sldId id="281"/>
            <p14:sldId id="282"/>
            <p14:sldId id="283"/>
            <p14:sldId id="284"/>
            <p14:sldId id="265"/>
            <p14:sldId id="266"/>
            <p14:sldId id="285"/>
            <p14:sldId id="267"/>
            <p14:sldId id="286"/>
            <p14:sldId id="269"/>
            <p14:sldId id="268"/>
            <p14:sldId id="287"/>
            <p14:sldId id="273"/>
            <p14:sldId id="274"/>
            <p14:sldId id="288"/>
            <p14:sldId id="271"/>
            <p14:sldId id="270"/>
            <p14:sldId id="289"/>
            <p14:sldId id="290"/>
            <p14:sldId id="291"/>
            <p14:sldId id="292"/>
            <p14:sldId id="275"/>
            <p14:sldId id="276"/>
            <p14:sldId id="294"/>
            <p14:sldId id="293"/>
            <p14:sldId id="295"/>
            <p14:sldId id="296"/>
            <p14:sldId id="297"/>
            <p14:sldId id="303"/>
            <p14:sldId id="305"/>
            <p14:sldId id="298"/>
            <p14:sldId id="301"/>
            <p14:sldId id="307"/>
            <p14:sldId id="306"/>
            <p14:sldId id="308"/>
            <p14:sldId id="309"/>
            <p14:sldId id="310"/>
            <p14:sldId id="311"/>
            <p14:sldId id="300"/>
            <p14:sldId id="302"/>
            <p14:sldId id="277"/>
            <p14:sldId id="278"/>
            <p14:sldId id="299"/>
            <p14:sldId id="312"/>
            <p14:sldId id="313"/>
            <p14:sldId id="314"/>
            <p14:sldId id="315"/>
            <p14:sldId id="316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5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5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82642-38D9-48C2-8E55-88C270BA77FF}" type="datetimeFigureOut">
              <a:rPr lang="en-CA" smtClean="0"/>
              <a:t>2026-01-14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51A9B-F925-48EA-8C7E-C849C45A7F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7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51A9B-F925-48EA-8C7E-C849C45A7F82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830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14A7-99E6-3B6F-7DED-AD8063268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F877D-03DA-82DE-8FD6-AA4E74E12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21B2-BFCE-67D0-BED7-F2610BF08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1B856-D01D-46F0-84FB-5A174B25A594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FFAAE-FE70-298F-B313-74A91E85A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12D65-DB11-20E0-EB9A-1C48B13C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188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A53F-3BBB-49B4-7193-FD1C906A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DA45D-C249-9496-96E6-BDA31BE70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13420-11DF-0203-D4F3-AD9290DD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315E-9518-30DC-B660-A3FA03A1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720D7-A328-857D-9C2E-49141F5E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705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A62F8-8D94-0AA3-6F72-2ACAAFE6B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29792-9100-0A64-81C0-AA84702DA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B2E13-0AD0-2C84-648A-CC702C8F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64730-1742-42A6-83C5-D0872B3A173C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1A46A-6AB4-6A6E-3C0E-B358E4768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15445-B6E6-C616-517A-7C6D104E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189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6C5F5-0B97-BDA8-F978-7A3CA323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9B0DB-C715-BAA7-626F-0DF158D1A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7AD7B-0AAD-2B63-AC25-FC6F48992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A021E-0317-2B4B-9D9B-992C3331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67390-BF43-4330-93B6-EB7E1DCF887E}" type="datetime1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BDF3F-C495-66A8-5E40-62CA8A436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70E00-CA48-9DCB-ED15-AC2CCB16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1227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2F59-8967-E9FE-CB47-40B4C1520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EF934-A679-BD51-A513-425E059CD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B37DC-AC6D-4B7B-4030-8B08691EC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5A2DB-A344-E2F5-E10C-0A60F9FAB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1D38E-04AC-37B7-0D51-BDB27CDE4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5D0E4-EA3B-3754-5522-7E306A3D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2C6EE-B939-4567-AA4B-A35DC58742AB}" type="datetime1">
              <a:rPr lang="en-CA" smtClean="0"/>
              <a:t>2026-01-14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82EFD-E54F-B293-B887-BAB49255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43851-4B6D-E2F2-8B6F-93B3C1A2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080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42CD8-2CA0-B099-FABC-049A676C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BFF9E-1F49-6CC7-72BF-568EE719F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A8C3B-64E1-4DBB-863A-68ACF842C349}" type="datetime1">
              <a:rPr lang="en-CA" smtClean="0"/>
              <a:t>2026-01-14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AC9DC-9EFF-805E-7C46-4550186B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4D58F-C7CB-039A-ED14-D3E0BCEC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4442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3C23-6F5E-74ED-F173-3B8B7A337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B6245-BE0F-49EA-BC22-44B9394B084B}" type="datetime1">
              <a:rPr lang="en-CA" smtClean="0"/>
              <a:t>2026-01-14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8E6AB9-01F6-3B9D-0D38-85F41477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ACC92-0F5E-0AAE-2B83-AF7BD5095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495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55E0-1AE8-8D02-9BD5-66BBD314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163BB-EC8C-2102-7149-3AB860B2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7116FC-49E1-A693-23A8-C1A3EDC87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9F34F-B896-CF42-404C-50472A17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8ED0-7C07-47CA-B0E3-0360A36CEAAB}" type="datetime1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4370F-6BB0-DA8D-8DB2-3CD4D8C9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02A40-B8AD-71F2-E4A7-6192FD21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304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7C8D-7C57-BE13-2EF6-A2EF56698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EA3B2-AAAD-DB31-25D7-7CE1533D1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310D8-EA72-F2A6-D82A-BD98A44CD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001BD-10A1-E368-141F-6DB8EF4C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21151-50E6-42B5-826F-8C2C4A4BD0A6}" type="datetime1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91595-DC5F-438D-377B-19A78AFA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BC190-3937-2391-5CF3-8CAA75EB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85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B69A-D74B-3809-AD4A-7E39AA33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56323-F1AF-86A2-45C1-CEBD25547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B167-2CA2-ECD4-F19E-2758D860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AA518-942B-4086-900A-7F08349E747E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3BAE8-7657-0655-A8C9-5C03C339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52C58-D886-90B6-B4A4-DDDC0C05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68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08B601-3C60-C0F9-89B1-7A97371BC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31BDF-C7CA-E4DA-19F5-AAB28A3D2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87650-1667-752D-EA29-112A1BA29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47791-650C-411D-A2C8-4C8639726696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71242-DEFB-DA70-E9D8-91B9EA47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FBB84-33FC-B2EF-A4F9-C1F9E52B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316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DACC62-5A23-F86B-E7A1-8D45926A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80034-6C62-EAC8-4190-5FFC1C77D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B3A3-A13E-B73D-FF2E-1F4ECC330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50990-FC53-4D32-8097-329104E15C53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FE074-8C81-0679-5BA0-6233A8A15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6774B-52D3-91A7-A388-279F76F2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7EFD95-6F0E-4990-943A-26EEF9BE15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386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nmar/cppcheck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archive.org/web/20170627143350/http:/www.gimpel.com/html/bugs/bug525.htm" TargetMode="External"/><Relationship Id="rId2" Type="http://schemas.openxmlformats.org/officeDocument/2006/relationships/hyperlink" Target="https://web.archive.org/web/20190415235824/http:/www.gimpel.com/html/bugs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cc.gnu.org/onlinedocs/gcc/Optimize-Options.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aetech/chipwhisperer/blob/develop/firmware/mcu/hal/stm32f3/LinkerScript.ld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aetech/chipwhisperer/blob/develop/firmware/mcu/hal/stm32f3/stm32f3_startup.S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64AD-EE85-4859-E0AC-3F595E556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Computer Architecture:</a:t>
            </a:r>
            <a:br>
              <a:rPr lang="en-CA" dirty="0"/>
            </a:br>
            <a:r>
              <a:rPr lang="en-CA" dirty="0"/>
              <a:t>The Compiler, Linker, Loader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BFF95-8685-39F5-FD0E-99F8C4714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Dr. Colin O’Flynn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16DA-6866-5240-1A3A-3CB45ADB3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64246-2A3B-41EA-B1BB-A62D4D51240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8B562-2A1F-296E-FBD7-EEC0626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BEF13-CF74-99BF-72F4-3193160F2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0383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Layers of Abstraction in Computer Systems | by Hannah S | Medium">
            <a:extLst>
              <a:ext uri="{FF2B5EF4-FFF2-40B4-BE49-F238E27FC236}">
                <a16:creationId xmlns:a16="http://schemas.microsoft.com/office/drawing/2014/main" id="{88CD2837-3A2E-9C25-3830-02BDC6797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325" y="0"/>
            <a:ext cx="775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D4DB9-EFD1-ED04-6201-460B38F0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8FEB1-B0CF-4E84-95A5-F6DC3FFE9029}" type="datetime1">
              <a:rPr lang="en-CA" smtClean="0"/>
              <a:t>2026-01-14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C731B-8532-EEE3-3757-B4F3466CC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4D139-E60A-15D3-9EC4-059EBA0F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492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7303-2584-2566-3E34-EF604506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8571"/>
            <a:ext cx="10515600" cy="1325563"/>
          </a:xfrm>
        </p:spPr>
        <p:txBody>
          <a:bodyPr/>
          <a:lstStyle/>
          <a:p>
            <a:r>
              <a:rPr lang="en-CA" dirty="0"/>
              <a:t>High Level Language </a:t>
            </a:r>
            <a:r>
              <a:rPr lang="en-CA" dirty="0">
                <a:sym typeface="Wingdings" panose="05000000000000000000" pitchFamily="2" charset="2"/>
              </a:rPr>
              <a:t> Running Code</a:t>
            </a:r>
            <a:endParaRPr lang="en-CA" dirty="0"/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3E7C5472-F36F-0987-EBBA-BC65BDE06960}"/>
              </a:ext>
            </a:extLst>
          </p:cNvPr>
          <p:cNvSpPr/>
          <p:nvPr/>
        </p:nvSpPr>
        <p:spPr>
          <a:xfrm>
            <a:off x="780946" y="1848888"/>
            <a:ext cx="1157270" cy="97228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Source</a:t>
            </a:r>
          </a:p>
          <a:p>
            <a:pPr algn="ctr"/>
            <a:r>
              <a:rPr lang="en-CA" dirty="0"/>
              <a:t>(.c / .</a:t>
            </a:r>
            <a:r>
              <a:rPr lang="en-CA" dirty="0" err="1"/>
              <a:t>cpp</a:t>
            </a:r>
            <a:r>
              <a:rPr lang="en-CA" dirty="0"/>
              <a:t>)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AD1950E9-CC2A-328D-5C5E-3645941D4539}"/>
              </a:ext>
            </a:extLst>
          </p:cNvPr>
          <p:cNvSpPr/>
          <p:nvPr/>
        </p:nvSpPr>
        <p:spPr>
          <a:xfrm>
            <a:off x="780946" y="3101058"/>
            <a:ext cx="1157270" cy="972283"/>
          </a:xfrm>
          <a:prstGeom prst="flowChartDocumen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Headers </a:t>
            </a:r>
            <a:br>
              <a:rPr lang="en-CA" dirty="0"/>
            </a:br>
            <a:r>
              <a:rPr lang="en-CA" dirty="0"/>
              <a:t>(.h / .</a:t>
            </a:r>
            <a:r>
              <a:rPr lang="en-CA" dirty="0" err="1"/>
              <a:t>hpp</a:t>
            </a:r>
            <a:r>
              <a:rPr lang="en-CA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1D0FE-18A0-5CEA-75EB-C1DBA1EB4AD0}"/>
              </a:ext>
            </a:extLst>
          </p:cNvPr>
          <p:cNvSpPr/>
          <p:nvPr/>
        </p:nvSpPr>
        <p:spPr>
          <a:xfrm>
            <a:off x="2498671" y="2306944"/>
            <a:ext cx="1633416" cy="102845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Preprocessor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720AEFA4-06AF-64F7-0E40-DD5B41C932A3}"/>
              </a:ext>
            </a:extLst>
          </p:cNvPr>
          <p:cNvSpPr/>
          <p:nvPr/>
        </p:nvSpPr>
        <p:spPr>
          <a:xfrm>
            <a:off x="4778514" y="2306944"/>
            <a:ext cx="1567579" cy="1122056"/>
          </a:xfrm>
          <a:prstGeom prst="flowChartDocumen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Preprocessed C Source</a:t>
            </a:r>
            <a:br>
              <a:rPr lang="en-CA" dirty="0"/>
            </a:br>
            <a:r>
              <a:rPr lang="en-CA" dirty="0"/>
              <a:t>(.</a:t>
            </a:r>
            <a:r>
              <a:rPr lang="en-CA" dirty="0" err="1"/>
              <a:t>i</a:t>
            </a:r>
            <a:r>
              <a:rPr lang="en-CA" dirty="0"/>
              <a:t> / .ii)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F85F7-B994-39DD-51E2-5CCBCF1630FF}"/>
              </a:ext>
            </a:extLst>
          </p:cNvPr>
          <p:cNvSpPr/>
          <p:nvPr/>
        </p:nvSpPr>
        <p:spPr>
          <a:xfrm>
            <a:off x="6992520" y="2306944"/>
            <a:ext cx="1633416" cy="96770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Compiler Front-End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69E218-2828-8D0F-D89B-3EBDC0DC9669}"/>
              </a:ext>
            </a:extLst>
          </p:cNvPr>
          <p:cNvSpPr/>
          <p:nvPr/>
        </p:nvSpPr>
        <p:spPr>
          <a:xfrm>
            <a:off x="9348858" y="2306944"/>
            <a:ext cx="1850588" cy="9677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Intermediate Representation (IR)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1E2C2-8E9F-D73A-724A-5C7C60E75801}"/>
              </a:ext>
            </a:extLst>
          </p:cNvPr>
          <p:cNvSpPr/>
          <p:nvPr/>
        </p:nvSpPr>
        <p:spPr>
          <a:xfrm>
            <a:off x="2498671" y="4283563"/>
            <a:ext cx="1633416" cy="96770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Compiler Back-End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BBDF219A-0709-859C-4893-56FC1EC3B5BE}"/>
              </a:ext>
            </a:extLst>
          </p:cNvPr>
          <p:cNvSpPr/>
          <p:nvPr/>
        </p:nvSpPr>
        <p:spPr>
          <a:xfrm>
            <a:off x="4991187" y="4296263"/>
            <a:ext cx="1157270" cy="972283"/>
          </a:xfrm>
          <a:prstGeom prst="flowChartDocumen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Assembly</a:t>
            </a:r>
            <a:br>
              <a:rPr lang="en-CA" dirty="0"/>
            </a:br>
            <a:r>
              <a:rPr lang="en-CA" dirty="0"/>
              <a:t>(.s)</a:t>
            </a:r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2C90B67D-72E3-5861-99D4-0211EED9F494}"/>
              </a:ext>
            </a:extLst>
          </p:cNvPr>
          <p:cNvSpPr/>
          <p:nvPr/>
        </p:nvSpPr>
        <p:spPr>
          <a:xfrm>
            <a:off x="7183699" y="4283563"/>
            <a:ext cx="1157270" cy="972283"/>
          </a:xfrm>
          <a:prstGeom prst="flowChartDocumen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Object File (.o)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D47B21F-4707-9072-2218-3C8BB6E03839}"/>
              </a:ext>
            </a:extLst>
          </p:cNvPr>
          <p:cNvCxnSpPr>
            <a:stCxn id="4" idx="3"/>
          </p:cNvCxnSpPr>
          <p:nvPr/>
        </p:nvCxnSpPr>
        <p:spPr>
          <a:xfrm>
            <a:off x="1938216" y="2335030"/>
            <a:ext cx="560455" cy="2674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4684094-641E-0343-1EEB-2EC316AC915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938216" y="2821171"/>
            <a:ext cx="560455" cy="7660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EB889EF-99D7-27B8-92E2-FA027280CFA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132087" y="2821171"/>
            <a:ext cx="646427" cy="468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2B3A2ED-BA2A-380B-518A-2FF289D7128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346093" y="2790795"/>
            <a:ext cx="646427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E3C7350-F039-69D0-40F2-F040511B0095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8625936" y="2790795"/>
            <a:ext cx="722922" cy="6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DACF786-B944-9C92-B5B4-033112582955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132087" y="4767414"/>
            <a:ext cx="859100" cy="1499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CB4397F-FD5A-AEA2-8E77-8040E55AF94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148457" y="4769705"/>
            <a:ext cx="1035242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1D08A8A-3485-5F53-6BA1-0C680BDF3CC9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H="1">
            <a:off x="2498671" y="2790795"/>
            <a:ext cx="8700775" cy="1976619"/>
          </a:xfrm>
          <a:prstGeom prst="bentConnector5">
            <a:avLst>
              <a:gd name="adj1" fmla="val -2627"/>
              <a:gd name="adj2" fmla="val 50000"/>
              <a:gd name="adj3" fmla="val 1026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ate Placeholder 35">
            <a:extLst>
              <a:ext uri="{FF2B5EF4-FFF2-40B4-BE49-F238E27FC236}">
                <a16:creationId xmlns:a16="http://schemas.microsoft.com/office/drawing/2014/main" id="{689A596B-859D-5A24-F4AD-84A0559A7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C5AC-0C46-4D5E-9456-FF0ED9BB820B}" type="datetime1">
              <a:rPr lang="en-CA" smtClean="0"/>
              <a:t>2026-01-14</a:t>
            </a:fld>
            <a:endParaRPr lang="en-CA"/>
          </a:p>
        </p:txBody>
      </p:sp>
      <p:sp>
        <p:nvSpPr>
          <p:cNvPr id="37" name="Footer Placeholder 36">
            <a:extLst>
              <a:ext uri="{FF2B5EF4-FFF2-40B4-BE49-F238E27FC236}">
                <a16:creationId xmlns:a16="http://schemas.microsoft.com/office/drawing/2014/main" id="{D934746D-71A6-ACD7-961B-AC8BE03B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5C39F39A-6D83-4D6E-23CF-E57B5472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452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05DA-DAB4-920C-FA57-02AC4C657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C73A2-F380-093A-B0AB-D188342C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High Level Language </a:t>
            </a:r>
            <a:r>
              <a:rPr lang="en-CA" dirty="0">
                <a:sym typeface="Wingdings" panose="05000000000000000000" pitchFamily="2" charset="2"/>
              </a:rPr>
              <a:t> Running Code</a:t>
            </a:r>
            <a:endParaRPr lang="en-CA" dirty="0"/>
          </a:p>
        </p:txBody>
      </p:sp>
      <p:sp>
        <p:nvSpPr>
          <p:cNvPr id="12" name="Flowchart: Document 11">
            <a:extLst>
              <a:ext uri="{FF2B5EF4-FFF2-40B4-BE49-F238E27FC236}">
                <a16:creationId xmlns:a16="http://schemas.microsoft.com/office/drawing/2014/main" id="{9EC7B977-151F-B0BE-7CB5-0CF1E688770E}"/>
              </a:ext>
            </a:extLst>
          </p:cNvPr>
          <p:cNvSpPr/>
          <p:nvPr/>
        </p:nvSpPr>
        <p:spPr>
          <a:xfrm>
            <a:off x="1329976" y="1580964"/>
            <a:ext cx="1157270" cy="972283"/>
          </a:xfrm>
          <a:prstGeom prst="flowChartDocumen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Object File (.o)</a:t>
            </a:r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1D7A8AD5-E334-C928-DCF5-61C7C284B54F}"/>
              </a:ext>
            </a:extLst>
          </p:cNvPr>
          <p:cNvSpPr/>
          <p:nvPr/>
        </p:nvSpPr>
        <p:spPr>
          <a:xfrm>
            <a:off x="1513637" y="1948717"/>
            <a:ext cx="1157270" cy="972283"/>
          </a:xfrm>
          <a:prstGeom prst="flowChartDocumen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Object File (.o)</a:t>
            </a:r>
          </a:p>
        </p:txBody>
      </p: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7DC8A69-F32E-3FAD-E811-E29715CD6BDA}"/>
              </a:ext>
            </a:extLst>
          </p:cNvPr>
          <p:cNvSpPr/>
          <p:nvPr/>
        </p:nvSpPr>
        <p:spPr>
          <a:xfrm>
            <a:off x="1329976" y="3780740"/>
            <a:ext cx="1157270" cy="972283"/>
          </a:xfrm>
          <a:prstGeom prst="flowChartDocumen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Libraries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DA07A-EFD1-8587-CCCE-CF3D7DE73063}"/>
              </a:ext>
            </a:extLst>
          </p:cNvPr>
          <p:cNvSpPr/>
          <p:nvPr/>
        </p:nvSpPr>
        <p:spPr>
          <a:xfrm>
            <a:off x="3680898" y="2721160"/>
            <a:ext cx="1633416" cy="96770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Linker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EB2F1F-C542-8652-E341-3B6166942A3C}"/>
              </a:ext>
            </a:extLst>
          </p:cNvPr>
          <p:cNvSpPr/>
          <p:nvPr/>
        </p:nvSpPr>
        <p:spPr>
          <a:xfrm>
            <a:off x="5980428" y="2721160"/>
            <a:ext cx="1633416" cy="9677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Binary</a:t>
            </a:r>
            <a:br>
              <a:rPr lang="en-CA" dirty="0"/>
            </a:br>
            <a:r>
              <a:rPr lang="en-CA" dirty="0"/>
              <a:t>(.ELF)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BB01B-906A-C342-4078-821C511AA575}"/>
              </a:ext>
            </a:extLst>
          </p:cNvPr>
          <p:cNvSpPr/>
          <p:nvPr/>
        </p:nvSpPr>
        <p:spPr>
          <a:xfrm>
            <a:off x="8244641" y="4259632"/>
            <a:ext cx="1633416" cy="9677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Final Binary</a:t>
            </a:r>
            <a:br>
              <a:rPr lang="en-CA" dirty="0"/>
            </a:br>
            <a:r>
              <a:rPr lang="en-CA" dirty="0"/>
              <a:t>(.bin or .hex)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E4D4B-3DFC-BF2A-56CA-DC2B4BCACDA4}"/>
              </a:ext>
            </a:extLst>
          </p:cNvPr>
          <p:cNvSpPr/>
          <p:nvPr/>
        </p:nvSpPr>
        <p:spPr>
          <a:xfrm>
            <a:off x="8244641" y="2721160"/>
            <a:ext cx="1633416" cy="96770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err="1"/>
              <a:t>objtool</a:t>
            </a:r>
            <a:endParaRPr lang="en-CA" dirty="0"/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AF34F9E6-EC56-44A1-1A6D-D162C153CF84}"/>
              </a:ext>
            </a:extLst>
          </p:cNvPr>
          <p:cNvSpPr/>
          <p:nvPr/>
        </p:nvSpPr>
        <p:spPr>
          <a:xfrm>
            <a:off x="1329976" y="5227334"/>
            <a:ext cx="1157270" cy="972283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Linker Script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91377BD-A2FB-5E26-1D1C-DD30FD90812E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920999" y="2862013"/>
            <a:ext cx="769815" cy="548395"/>
          </a:xfrm>
          <a:prstGeom prst="bentConnector3">
            <a:avLst>
              <a:gd name="adj1" fmla="val 205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7CEAA72-79EC-8527-B200-B2B6AC45C9E4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670907" y="2246179"/>
            <a:ext cx="1009991" cy="958832"/>
          </a:xfrm>
          <a:prstGeom prst="bentConnector3">
            <a:avLst>
              <a:gd name="adj1" fmla="val 554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0986CC22-7CC4-0F63-75F8-47637840378F}"/>
              </a:ext>
            </a:extLst>
          </p:cNvPr>
          <p:cNvSpPr/>
          <p:nvPr/>
        </p:nvSpPr>
        <p:spPr>
          <a:xfrm>
            <a:off x="1763729" y="2375871"/>
            <a:ext cx="1157270" cy="972283"/>
          </a:xfrm>
          <a:prstGeom prst="flowChartDocumen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Object File (.o)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012AB47-121A-6031-DEEA-726D6850E94B}"/>
              </a:ext>
            </a:extLst>
          </p:cNvPr>
          <p:cNvCxnSpPr>
            <a:cxnSpLocks/>
          </p:cNvCxnSpPr>
          <p:nvPr/>
        </p:nvCxnSpPr>
        <p:spPr>
          <a:xfrm>
            <a:off x="2489953" y="1798522"/>
            <a:ext cx="1190945" cy="1164229"/>
          </a:xfrm>
          <a:prstGeom prst="bentConnector3">
            <a:avLst>
              <a:gd name="adj1" fmla="val 749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CA52674C-064C-2D64-656F-DB259562DBE1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487246" y="3613331"/>
            <a:ext cx="1193652" cy="6535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0EE0B79-7D01-70F7-5AB8-9BC109160726}"/>
              </a:ext>
            </a:extLst>
          </p:cNvPr>
          <p:cNvCxnSpPr>
            <a:stCxn id="19" idx="3"/>
            <a:endCxn id="15" idx="2"/>
          </p:cNvCxnSpPr>
          <p:nvPr/>
        </p:nvCxnSpPr>
        <p:spPr>
          <a:xfrm flipV="1">
            <a:off x="2487246" y="3688862"/>
            <a:ext cx="2010360" cy="20246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FF87D76-540B-21D6-A341-49A88C67180B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5314314" y="3205011"/>
            <a:ext cx="666114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6F93F3A6-B22E-E05E-B2FB-6B1F00783226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7613844" y="3205011"/>
            <a:ext cx="630797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9572D8E-C337-F78C-B9A6-C9E92998DDD1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 rot="5400000">
            <a:off x="8775964" y="3974247"/>
            <a:ext cx="570770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5B6F258D-5074-93E2-1CAD-D59BFE27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E0B2-ACCE-4E60-B982-302137AE296D}" type="datetime1">
              <a:rPr lang="en-CA" smtClean="0"/>
              <a:t>2026-01-14</a:t>
            </a:fld>
            <a:endParaRPr lang="en-CA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DE41BAFD-A20F-772B-42B7-3C815F47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31F64A50-75EB-56BA-2245-78C76D2F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512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E16D-C0D7-DB48-44AF-88A4A883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C/C++ Source Code (.c + .h)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3A5B26-576A-D13A-1160-0FDE814DF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189" y="2585043"/>
            <a:ext cx="7382905" cy="287695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0BD5D-0E76-5CB8-97BB-23F97020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D8EB9-02A5-5E24-CE4A-5EDD6CA7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0B02B-2736-467D-FDAB-C6DC6B8E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858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24E1-B78F-CCD4-ED17-960207C4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Preprocessed Source Code (.</a:t>
            </a:r>
            <a:r>
              <a:rPr lang="en-CA" dirty="0" err="1"/>
              <a:t>i</a:t>
            </a:r>
            <a:r>
              <a:rPr lang="en-CA" dirty="0"/>
              <a:t> / .ii)</a:t>
            </a:r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FC945B4-33C7-FF4A-DE9F-7E8A6CA9E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800" y="2513596"/>
            <a:ext cx="6325483" cy="301984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B665-96FD-DE98-7435-F9634D502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F904F-FC8E-8FB3-D352-38801FB75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AD025-AD55-6FDB-B520-B76E0E92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365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4EEE-621E-496E-807F-7382016D4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Preprocessor Dangers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8E247-A826-F70C-B682-2411DAD18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016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#define SQUARE(x) x * x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SQUARE(4 + 1);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425E3-07BF-2113-CBDB-AC6D97C3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3EEC9-431B-D919-D85B-9AF37ED92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3AD06-0D39-D82D-4359-CF997A4E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941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57AA-E9F7-DDE1-C833-F85EA726B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 of Compiler Explorer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068D78-A144-BE7C-5213-43770744D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3021" y="2746744"/>
            <a:ext cx="3343742" cy="905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1AD09-2F15-8CCD-1AD7-59AABC79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F940-AA57-C0AC-CAA9-857D8DF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7658F-7BFE-8E06-244D-548E75E1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8</a:t>
            </a:fld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296D44-A892-4836-1D87-D42B52F5FE59}"/>
              </a:ext>
            </a:extLst>
          </p:cNvPr>
          <p:cNvSpPr txBox="1"/>
          <p:nvPr/>
        </p:nvSpPr>
        <p:spPr>
          <a:xfrm>
            <a:off x="3094892" y="56128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Try it @ https://godbolt.org/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74D8D4C-8ACC-C26B-DE98-FF380132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389" y="2064902"/>
            <a:ext cx="4369426" cy="2382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2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B56B8-1F08-243E-25C2-FE6F0CBB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8FDD-51A5-D23C-A9AD-AFB0F43C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Preprocessor Dangers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DC510-09CF-997C-6582-044084C6F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01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#define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</a:rPr>
              <a:t>CtoF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(x) (x * 1.8) + 32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//This works fine: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</a:rPr>
              <a:t>(“Temp %</a:t>
            </a:r>
            <a:r>
              <a:rPr lang="en-US" dirty="0" err="1">
                <a:latin typeface="Courier New" panose="02070309020205020404" pitchFamily="49" charset="0"/>
              </a:rPr>
              <a:t>dC</a:t>
            </a:r>
            <a:r>
              <a:rPr lang="en-US" dirty="0">
                <a:latin typeface="Courier New" panose="02070309020205020404" pitchFamily="49" charset="0"/>
              </a:rPr>
              <a:t> is %</a:t>
            </a:r>
            <a:r>
              <a:rPr lang="en-US" dirty="0" err="1">
                <a:latin typeface="Courier New" panose="02070309020205020404" pitchFamily="49" charset="0"/>
              </a:rPr>
              <a:t>dF</a:t>
            </a:r>
            <a:r>
              <a:rPr lang="en-US" dirty="0">
                <a:latin typeface="Courier New" panose="02070309020205020404" pitchFamily="49" charset="0"/>
              </a:rPr>
              <a:t>\n”, </a:t>
            </a:r>
            <a:r>
              <a:rPr lang="en-US" b="1" dirty="0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CtoF</a:t>
            </a:r>
            <a:r>
              <a:rPr lang="en-US" dirty="0">
                <a:latin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</a:rPr>
              <a:t>));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935F-1B9E-3982-CF28-548F4D0E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1F595-5C22-3FE1-D357-291B2250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6EA4-D44C-6B4F-2B47-6E712124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33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89A4-FDD3-9B81-48C2-B6118DE5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Try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89FE-4825-660D-D32D-BFD6B2A53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</a:rPr>
              <a:t>stdio.h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#define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</a:rPr>
              <a:t>CtoF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(x) (x * 1.8) + 32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#define NORMAL_TEMP_C (50)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// User manual says max temp is 1.5x normal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// temp, but they use Fahrenheit so we convert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</a:rPr>
              <a:t>// to be sure we exactly follow their calc. 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</a:rPr>
              <a:t>test_temp</a:t>
            </a:r>
            <a:r>
              <a:rPr lang="en-US" dirty="0">
                <a:latin typeface="Courier New" panose="02070309020205020404" pitchFamily="49" charset="0"/>
              </a:rPr>
              <a:t>(int c){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    if (</a:t>
            </a:r>
            <a:r>
              <a:rPr lang="en-US" dirty="0" err="1">
                <a:latin typeface="Courier New" panose="02070309020205020404" pitchFamily="49" charset="0"/>
              </a:rPr>
              <a:t>CtoF</a:t>
            </a:r>
            <a:r>
              <a:rPr lang="en-US" dirty="0">
                <a:latin typeface="Courier New" panose="02070309020205020404" pitchFamily="49" charset="0"/>
              </a:rPr>
              <a:t>(c) &gt; </a:t>
            </a:r>
            <a:r>
              <a:rPr lang="en-US" dirty="0" err="1">
                <a:latin typeface="Courier New" panose="02070309020205020404" pitchFamily="49" charset="0"/>
              </a:rPr>
              <a:t>CtoF</a:t>
            </a:r>
            <a:r>
              <a:rPr lang="en-US" dirty="0">
                <a:latin typeface="Courier New" panose="02070309020205020404" pitchFamily="49" charset="0"/>
              </a:rPr>
              <a:t>(NORMAL_TEMP_C)*1.5)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    </a:t>
            </a:r>
            <a:r>
              <a:rPr lang="en-US" dirty="0" err="1">
                <a:latin typeface="Courier New" panose="02070309020205020404" pitchFamily="49" charset="0"/>
              </a:rPr>
              <a:t>printf</a:t>
            </a:r>
            <a:r>
              <a:rPr lang="en-US" dirty="0">
                <a:latin typeface="Courier New" panose="02070309020205020404" pitchFamily="49" charset="0"/>
              </a:rPr>
              <a:t>("WARNING: Temperature Exceeded\n");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3CC0C-55E6-0523-9BE9-6DE372C6A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28DEA-BD8E-C2BB-3EF9-368DBAF8B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C054-C852-3993-9670-25EDA06F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576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7B9E1-2A38-2B3D-A735-B7D29591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07E6C4-A026-3FCB-6D49-151832698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542" y="2162360"/>
            <a:ext cx="9508284" cy="28020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93905-A21E-E32B-4878-3635D5D8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9DCA6-3E10-C91B-7CE1-5A9C5B87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42A7A-2AA8-F26F-D269-F5456F3A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51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67419-91EC-260E-C6F1-B0D4DA5CF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346D5-8C32-CD01-AE51-00B6FF97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9DEBB-261B-4D1B-3C92-C0856552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12</a:t>
            </a:fld>
            <a:endParaRPr lang="en-CA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A75DBA-42BA-2E14-0DF3-4EB8E2745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101" y="2462641"/>
            <a:ext cx="8369681" cy="247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3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CCBA-D773-2885-86AE-8B10104F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Compiler Front-End (Target Independent)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CA1E1-0BCD-2A88-74EB-61BD2DD61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Parses C/C++ (or other language) syntax</a:t>
            </a:r>
          </a:p>
          <a:p>
            <a:r>
              <a:rPr lang="en-CA" dirty="0"/>
              <a:t>Builds an “Abstract Syntax Tree” (AST)</a:t>
            </a:r>
          </a:p>
          <a:p>
            <a:r>
              <a:rPr lang="en-CA" dirty="0"/>
              <a:t>Performs:</a:t>
            </a:r>
          </a:p>
          <a:p>
            <a:pPr lvl="1"/>
            <a:r>
              <a:rPr lang="en-CA" dirty="0"/>
              <a:t>Type checking</a:t>
            </a:r>
          </a:p>
          <a:p>
            <a:pPr lvl="1"/>
            <a:r>
              <a:rPr lang="en-CA" dirty="0"/>
              <a:t>Scope resolution</a:t>
            </a:r>
          </a:p>
          <a:p>
            <a:pPr lvl="1"/>
            <a:r>
              <a:rPr lang="en-CA" dirty="0"/>
              <a:t>Basic semantic check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976E-6663-E657-4C70-E9CF6A32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A0658-BDC2-3035-09B8-49149601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46FE-192F-18C4-2D84-E2656325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083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B01C-8B42-9FD6-D0CA-DC626CDF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Basic Semantic Checks vs. Static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7AA47-5755-AE9F-D9CD-D4CAFBF30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Compiler provides basic checks on C/C++ correctness</a:t>
            </a:r>
          </a:p>
          <a:p>
            <a:r>
              <a:rPr lang="en-CA" dirty="0"/>
              <a:t>Can turn on various level of warnings to improve your detection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CA738-7D4C-0573-F925-BA0698B5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8F2D-B3FA-8D92-BAF8-9E1A5AC9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AEAD5-B73C-86C0-A3E4-B3B5D6208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14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D78E5-4EE9-F95E-8CB4-10E2E7FE5510}"/>
              </a:ext>
            </a:extLst>
          </p:cNvPr>
          <p:cNvSpPr txBox="1"/>
          <p:nvPr/>
        </p:nvSpPr>
        <p:spPr>
          <a:xfrm>
            <a:off x="2965938" y="3165961"/>
            <a:ext cx="77255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compute(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flag) {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(flag &gt;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 = flag * </a:t>
            </a:r>
            <a:r>
              <a:rPr lang="en-US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</a:p>
          <a:p>
            <a:pPr>
              <a:buNone/>
            </a:pP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69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66B7-06A7-6F50-11FD-9179619F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Try It!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42F4F-62E6-3072-8B25-AD770F2FC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693" y="1809189"/>
            <a:ext cx="10515600" cy="323962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2064-C263-973F-1530-EF9A07E4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8DB58-8450-4313-17FC-36A125BC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82BE6-A74D-A1C2-DFD8-C4247B81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15</a:t>
            </a:fld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0CE80C-77DB-5511-4BC8-CD3E12A2C47A}"/>
              </a:ext>
            </a:extLst>
          </p:cNvPr>
          <p:cNvCxnSpPr/>
          <p:nvPr/>
        </p:nvCxnSpPr>
        <p:spPr>
          <a:xfrm>
            <a:off x="4917831" y="1242646"/>
            <a:ext cx="1453661" cy="967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088EA3-7BFE-C947-08C9-34A70586BD19}"/>
              </a:ext>
            </a:extLst>
          </p:cNvPr>
          <p:cNvCxnSpPr>
            <a:cxnSpLocks/>
          </p:cNvCxnSpPr>
          <p:nvPr/>
        </p:nvCxnSpPr>
        <p:spPr>
          <a:xfrm flipH="1" flipV="1">
            <a:off x="3909646" y="4618892"/>
            <a:ext cx="855785" cy="820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C5FA3F-D828-F7C0-4BB3-862C51513D53}"/>
              </a:ext>
            </a:extLst>
          </p:cNvPr>
          <p:cNvSpPr txBox="1"/>
          <p:nvPr/>
        </p:nvSpPr>
        <p:spPr>
          <a:xfrm>
            <a:off x="3698631" y="933903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Add “-Wall”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D2A50-0804-C0FF-B803-6DDD60C0D98B}"/>
              </a:ext>
            </a:extLst>
          </p:cNvPr>
          <p:cNvSpPr txBox="1"/>
          <p:nvPr/>
        </p:nvSpPr>
        <p:spPr>
          <a:xfrm>
            <a:off x="4689231" y="5388672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Click this button</a:t>
            </a:r>
          </a:p>
        </p:txBody>
      </p:sp>
    </p:spTree>
    <p:extLst>
      <p:ext uri="{BB962C8B-B14F-4D97-AF65-F5344CB8AC3E}">
        <p14:creationId xmlns:p14="http://schemas.microsoft.com/office/powerpoint/2010/main" val="12004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3F67-CD76-608C-77F4-DC3E04F7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Code Linting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CA22-2F04-C480-D3F5-FB7EE4C0E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/>
              <a:t>Static Analysis does more intensive checking than simple compiler front ends.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 err="1"/>
              <a:t>cppcheck</a:t>
            </a:r>
            <a:r>
              <a:rPr lang="en-CA" dirty="0"/>
              <a:t> (for both C &amp; C++) is a good tool!</a:t>
            </a:r>
          </a:p>
          <a:p>
            <a:pPr marL="0" indent="0">
              <a:buNone/>
            </a:pPr>
            <a:r>
              <a:rPr lang="en-CA" dirty="0">
                <a:hlinkClick r:id="rId2"/>
              </a:rPr>
              <a:t>https://github.com/danmar/cppcheck</a:t>
            </a:r>
            <a:r>
              <a:rPr lang="en-CA" dirty="0"/>
              <a:t>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Easy to install (Ubuntu):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cppcheck</a:t>
            </a: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CA" dirty="0">
                <a:cs typeface="Courier New" panose="02070309020205020404" pitchFamily="49" charset="0"/>
              </a:rPr>
              <a:t>Easy to use: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cppcheck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bad.c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(one file)</a:t>
            </a:r>
          </a:p>
          <a:p>
            <a:pPr marL="0" indent="0"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cppcheck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folder (bunch of files)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67028-3A47-A011-52B6-484E4717D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76AA9-D826-8913-3358-14EEC3CB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5A101-1A38-30CC-7867-6F574B64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4635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8868-15FD-D95E-C6C8-145EB159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Gimpel PC-Lint Bug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FDC7-D8D3-76B5-0A91-70D66C5F9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Gimpel had PC-Lint, a great commercial linter.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Now owned by a bigger company, so you need archive.org for their more interesting history: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hlinkClick r:id="rId2"/>
              </a:rPr>
              <a:t>https://web.archive.org/web/20190415235824/http://www.gimpel.com/html/bugs.htm</a:t>
            </a:r>
            <a:r>
              <a:rPr lang="en-CA" dirty="0"/>
              <a:t>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>
                <a:hlinkClick r:id="rId3"/>
              </a:rPr>
              <a:t>https://web.archive.org/web/20170627143350/http://www.gimpel.com/html/bugs/bug525.htm</a:t>
            </a:r>
            <a:r>
              <a:rPr lang="en-CA" dirty="0"/>
              <a:t> 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81894-2903-5687-89E1-3C481BE4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1862-DD30-F4E6-4435-392D931A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3CD11-FF47-3EC3-F287-E71FEF4D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540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3567-7BD7-3E32-0DB2-B72BF30E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Classic Compiler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8587-1C9E-75BF-FD2E-AAAD655D9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59140" cy="4351338"/>
          </a:xfrm>
        </p:spPr>
        <p:txBody>
          <a:bodyPr/>
          <a:lstStyle/>
          <a:p>
            <a:r>
              <a:rPr lang="en-CA" dirty="0"/>
              <a:t>Classic compiler architecture (e.g., early GCC) was </a:t>
            </a:r>
            <a:r>
              <a:rPr lang="en-CA" i="1" dirty="0"/>
              <a:t>tightly coupled</a:t>
            </a:r>
            <a:r>
              <a:rPr lang="en-CA" dirty="0"/>
              <a:t> to back-end</a:t>
            </a:r>
          </a:p>
          <a:p>
            <a:r>
              <a:rPr lang="en-CA" dirty="0"/>
              <a:t>Optimizations often </a:t>
            </a:r>
            <a:r>
              <a:rPr lang="en-CA" i="1" dirty="0"/>
              <a:t>target-specific</a:t>
            </a:r>
            <a:r>
              <a:rPr lang="en-CA" dirty="0"/>
              <a:t> </a:t>
            </a:r>
            <a:endParaRPr lang="en-CA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14C66-8BC8-C1EE-D366-6E3771D93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5793B-BB22-ABB4-C042-A852F9113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8BAC9-5D1C-B371-5FEE-CDF03BA79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18</a:t>
            </a:fld>
            <a:endParaRPr lang="en-CA"/>
          </a:p>
        </p:txBody>
      </p:sp>
      <p:pic>
        <p:nvPicPr>
          <p:cNvPr id="10" name="Picture 9" descr="A box with a red and white box&#10;&#10;AI-generated content may be incorrect.">
            <a:extLst>
              <a:ext uri="{FF2B5EF4-FFF2-40B4-BE49-F238E27FC236}">
                <a16:creationId xmlns:a16="http://schemas.microsoft.com/office/drawing/2014/main" id="{1CE0B9C6-E134-B5F5-06BF-8832A870A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687" y="3510212"/>
            <a:ext cx="2179713" cy="2546248"/>
          </a:xfrm>
          <a:prstGeom prst="rect">
            <a:avLst/>
          </a:prstGeom>
        </p:spPr>
      </p:pic>
      <p:pic>
        <p:nvPicPr>
          <p:cNvPr id="12" name="Picture 11" descr="A blue and yellow box with text&#10;&#10;AI-generated content may be incorrect.">
            <a:extLst>
              <a:ext uri="{FF2B5EF4-FFF2-40B4-BE49-F238E27FC236}">
                <a16:creationId xmlns:a16="http://schemas.microsoft.com/office/drawing/2014/main" id="{82F37CEC-F56A-0C96-A341-63538B643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738" y="3403246"/>
            <a:ext cx="2096229" cy="277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234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B7BE-EC2B-E358-BC2A-69C3E172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Low Level Virtual Machine (LLVM)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D336-C555-5892-D216-2D2A009B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Name is a reference to research on dynamic compilation – now encompasses many things</a:t>
            </a:r>
          </a:p>
          <a:p>
            <a:endParaRPr lang="en-CA" dirty="0"/>
          </a:p>
          <a:p>
            <a:r>
              <a:rPr lang="en-CA" dirty="0"/>
              <a:t>Uses “Intermediate Representation” (IR)</a:t>
            </a:r>
          </a:p>
          <a:p>
            <a:endParaRPr lang="en-CA" dirty="0"/>
          </a:p>
          <a:p>
            <a:r>
              <a:rPr lang="en-CA" dirty="0"/>
              <a:t>LLVM IR Optimizer optimizes generic IR code</a:t>
            </a:r>
          </a:p>
          <a:p>
            <a:endParaRPr lang="en-CA" dirty="0"/>
          </a:p>
          <a:p>
            <a:r>
              <a:rPr lang="en-CA" dirty="0"/>
              <a:t>Originally designed to take IR output from GCC frontend… but…</a:t>
            </a:r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FAC76-7E29-AAAC-C6D9-EDB58B1E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FFCA-C874-79DA-D866-080C4D1AC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5EFD-D264-4585-F032-C0561DD4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3303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E17E-AB4D-25D1-7427-7C5B482C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88DE3-1FDB-9174-439B-F000AAC8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5027"/>
            <a:ext cx="10515600" cy="4351338"/>
          </a:xfrm>
        </p:spPr>
        <p:txBody>
          <a:bodyPr/>
          <a:lstStyle/>
          <a:p>
            <a:r>
              <a:rPr lang="en-CA" dirty="0"/>
              <a:t>Originally developed by Apple for various reasons</a:t>
            </a:r>
          </a:p>
          <a:p>
            <a:pPr lvl="1"/>
            <a:r>
              <a:rPr lang="en-CA" dirty="0"/>
              <a:t>Apple uses Objective-C (low priority for GCC </a:t>
            </a:r>
            <a:r>
              <a:rPr lang="en-CA" dirty="0" err="1"/>
              <a:t>devs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GCC codebase is older &amp; naturally larger being developed over many years</a:t>
            </a:r>
          </a:p>
          <a:p>
            <a:pPr lvl="1"/>
            <a:r>
              <a:rPr lang="en-CA" dirty="0"/>
              <a:t>GCC is GPL licensed (potentially an issue commercially)</a:t>
            </a:r>
          </a:p>
          <a:p>
            <a:pPr lvl="1"/>
            <a:r>
              <a:rPr lang="en-CA" dirty="0"/>
              <a:t>Desire to have a more modular tool that can be more easily integrated with other source-code tools</a:t>
            </a:r>
          </a:p>
          <a:p>
            <a:pPr lvl="1"/>
            <a:endParaRPr lang="en-CA" dirty="0"/>
          </a:p>
          <a:p>
            <a:r>
              <a:rPr lang="en-CA" dirty="0"/>
              <a:t>Clang is more easily integrated/parsed</a:t>
            </a:r>
          </a:p>
          <a:p>
            <a:r>
              <a:rPr lang="en-CA" dirty="0"/>
              <a:t>Clang is now the LLVM frontend</a:t>
            </a:r>
          </a:p>
          <a:p>
            <a:pPr lvl="1"/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A408-6DCB-4DD3-04FD-12C9AE0E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3BD06-5434-FDF4-8BE0-80D09A6F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0977A-1D54-9893-034D-A0C0C58F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20</a:t>
            </a:fld>
            <a:endParaRPr lang="en-CA"/>
          </a:p>
        </p:txBody>
      </p:sp>
      <p:pic>
        <p:nvPicPr>
          <p:cNvPr id="7" name="Picture 2" descr="Safe C++2 - proposed Clang Extension : r/cpp">
            <a:extLst>
              <a:ext uri="{FF2B5EF4-FFF2-40B4-BE49-F238E27FC236}">
                <a16:creationId xmlns:a16="http://schemas.microsoft.com/office/drawing/2014/main" id="{642F0ADB-6A90-F0C5-6E9A-BFA5CCED2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78" y="136525"/>
            <a:ext cx="2258891" cy="165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958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A0041-1E92-321E-494C-49C21E29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New GCC vs. LLVM/Clang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B7BA1-9621-F2BA-7198-452742412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Internally GCC uses it’s own Intermediate Representation</a:t>
            </a:r>
          </a:p>
          <a:p>
            <a:r>
              <a:rPr lang="en-CA" dirty="0"/>
              <a:t>Clang outputs LLVM IR</a:t>
            </a:r>
          </a:p>
          <a:p>
            <a:endParaRPr lang="en-CA" dirty="0"/>
          </a:p>
          <a:p>
            <a:r>
              <a:rPr lang="en-CA" dirty="0"/>
              <a:t>GCC is a complete compiler to generate binary (object)</a:t>
            </a:r>
          </a:p>
          <a:p>
            <a:r>
              <a:rPr lang="en-CA" dirty="0"/>
              <a:t>Clang is not – requires LLVM to generate binary (object)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1D808-EFF0-078B-0D84-31221E71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88CB-F60D-6FF9-DA1C-71495CA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7EB93-C8DC-A157-6AED-48EFA0EB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0103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7147-4360-BC7A-D756-8AB729DD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47AC-B514-9182-E628-B2E5465A6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GCC vs. LLVM/Clang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A6420-7E73-68DA-DB4A-28353E51F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People have different opinions about GCC vs. Clang</a:t>
            </a:r>
          </a:p>
          <a:p>
            <a:endParaRPr lang="en-CA" dirty="0"/>
          </a:p>
          <a:p>
            <a:r>
              <a:rPr lang="en-CA" dirty="0"/>
              <a:t>They have different output styles, warnings, may find more (or less) possible errors, etc.</a:t>
            </a:r>
          </a:p>
          <a:p>
            <a:endParaRPr lang="en-CA" dirty="0"/>
          </a:p>
          <a:p>
            <a:r>
              <a:rPr lang="en-CA" dirty="0"/>
              <a:t>Historically Clang performance was worse than GCC (but faster to compile). This is no longer a generically true statement.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8D6AB-B31A-7751-1BA2-0B317203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2AA5-5C90-FEB1-D8F2-3E7CD1E8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E337A-42F7-FA62-AA80-52CB48DA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8577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D6D87-A9CE-95F1-DD46-EC20E991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Intermediate Representation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8543-1EEE-D0AB-44F0-DE6FFFEF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6915"/>
          </a:xfrm>
        </p:spPr>
        <p:txBody>
          <a:bodyPr/>
          <a:lstStyle/>
          <a:p>
            <a:r>
              <a:rPr lang="en-CA" dirty="0"/>
              <a:t>Basically – lower-level than C, higher-level than ASM</a:t>
            </a:r>
          </a:p>
          <a:p>
            <a:r>
              <a:rPr lang="en-CA" dirty="0"/>
              <a:t>Mostly </a:t>
            </a:r>
            <a:r>
              <a:rPr lang="en-CA" b="1" dirty="0"/>
              <a:t>“Static Single Assignment” (SSA)</a:t>
            </a:r>
          </a:p>
          <a:p>
            <a:r>
              <a:rPr lang="en-CA" dirty="0"/>
              <a:t>E.g.: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5ED30-FD30-0090-D167-ECE7A808A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EA363-EBD1-CFAA-4687-188AB058E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0BCB9-F26E-45B8-6055-1A5B5045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23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C11F07-B5B7-962D-EE44-7242FBC90662}"/>
              </a:ext>
            </a:extLst>
          </p:cNvPr>
          <p:cNvSpPr txBox="1"/>
          <p:nvPr/>
        </p:nvSpPr>
        <p:spPr>
          <a:xfrm>
            <a:off x="3270739" y="3572540"/>
            <a:ext cx="34231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%1 = load a</a:t>
            </a:r>
          </a:p>
          <a:p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%2 = load b</a:t>
            </a:r>
          </a:p>
          <a:p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%3 = add %1, %2</a:t>
            </a:r>
          </a:p>
          <a:p>
            <a:r>
              <a:rPr lang="en-CA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store %3 -&gt; c</a:t>
            </a:r>
          </a:p>
        </p:txBody>
      </p:sp>
    </p:spTree>
    <p:extLst>
      <p:ext uri="{BB962C8B-B14F-4D97-AF65-F5344CB8AC3E}">
        <p14:creationId xmlns:p14="http://schemas.microsoft.com/office/powerpoint/2010/main" val="329000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FC12D-33A0-A5A9-7B6A-090766D3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C2C73-F9DB-0985-85CF-39E9DD281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SSA simplifies optimization</a:t>
            </a:r>
          </a:p>
          <a:p>
            <a:r>
              <a:rPr lang="en-CA" dirty="0"/>
              <a:t>Typically at minimum compiler will:</a:t>
            </a:r>
          </a:p>
          <a:p>
            <a:pPr lvl="1"/>
            <a:r>
              <a:rPr lang="en-CA" dirty="0"/>
              <a:t>Remove unnecessary stack &amp; memory load/stores</a:t>
            </a:r>
          </a:p>
          <a:p>
            <a:pPr lvl="1"/>
            <a:r>
              <a:rPr lang="en-CA" dirty="0"/>
              <a:t>Dead code elimination (DCE)</a:t>
            </a:r>
          </a:p>
          <a:p>
            <a:pPr lvl="1"/>
            <a:endParaRPr lang="en-CA" dirty="0"/>
          </a:p>
          <a:p>
            <a:r>
              <a:rPr lang="en-CA" dirty="0"/>
              <a:t>See </a:t>
            </a:r>
            <a:r>
              <a:rPr lang="en-CA" dirty="0">
                <a:hlinkClick r:id="rId2"/>
              </a:rPr>
              <a:t>https://gcc.gnu.org/onlinedocs/gcc/Optimize-Options.html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BBE7-2928-5D5D-3A5C-0AF62380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AFD52-56D2-951D-A2EA-0F495B59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110AC-A83F-4CB2-EC3B-75E003C5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9283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8E35-E238-858D-7326-11113E64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Optimization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343A-D2F5-C545-E7CF-EACF7E1C0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2493" y="1585302"/>
            <a:ext cx="7022122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gpio_on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(void);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gpio_off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(void);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gpio_toggle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toggle_led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(void){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gpio_on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gpio_off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gpio_toggle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some_function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(int data){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if (data &gt;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 4;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toggle_led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if (data &lt; 0)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toggle_led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if (data &gt; 0){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toggle_led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2;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3;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73000-4709-542C-B062-C3C856CF9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2DF-64C9-736F-CFB9-CCDB10A4D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B5DA2-0130-4421-CF88-9A7503E79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7919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3ADC0-74EB-AF1E-F002-E833780E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16046-8FB8-E22F-34E4-78048CB70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CAB4-9ACC-FD41-55A2-91571397A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26</a:t>
            </a:fld>
            <a:endParaRPr lang="en-CA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7F1835-8302-C861-9636-609390BAA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342" y="0"/>
            <a:ext cx="82433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75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36CF-214A-E6BA-1DC1-52E81DD2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91891-A0AB-FBBE-DF96-BF07F59D0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CFFF3-8311-05AD-F0C7-B480707F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88662-6D01-CC91-55F9-69FF84EA1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27</a:t>
            </a:fld>
            <a:endParaRPr lang="en-CA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A196B-930A-053C-75B3-BE825B0D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405"/>
            <a:ext cx="12192000" cy="596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41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5B08E-F933-A26C-3ECA-58E9A15E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EE626B-5FBB-70C7-9D80-B6059BB5F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75722"/>
            <a:ext cx="12192000" cy="596319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BDC98-40B6-3D66-B0C7-002A5B13A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E382A-122C-1524-DB6C-834854E4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DB35E-BE6B-09E6-6109-302A79DB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28</a:t>
            </a:fld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56B632-04E8-381C-881D-5C2DB54A715D}"/>
              </a:ext>
            </a:extLst>
          </p:cNvPr>
          <p:cNvSpPr/>
          <p:nvPr/>
        </p:nvSpPr>
        <p:spPr>
          <a:xfrm>
            <a:off x="551667" y="5029807"/>
            <a:ext cx="5257118" cy="7144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6CA0E4-5CAB-16F1-2282-FC9CD5E3AC9A}"/>
              </a:ext>
            </a:extLst>
          </p:cNvPr>
          <p:cNvCxnSpPr>
            <a:cxnSpLocks/>
          </p:cNvCxnSpPr>
          <p:nvPr/>
        </p:nvCxnSpPr>
        <p:spPr>
          <a:xfrm>
            <a:off x="1817077" y="2690446"/>
            <a:ext cx="5855677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7628A4-C7A1-EC1C-CB4B-4397B4DF3156}"/>
              </a:ext>
            </a:extLst>
          </p:cNvPr>
          <p:cNvCxnSpPr>
            <a:cxnSpLocks/>
          </p:cNvCxnSpPr>
          <p:nvPr/>
        </p:nvCxnSpPr>
        <p:spPr>
          <a:xfrm flipV="1">
            <a:off x="2880946" y="3282462"/>
            <a:ext cx="4264269" cy="248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DE85E2B-6D30-FC6F-0F0F-3D339381C2C6}"/>
              </a:ext>
            </a:extLst>
          </p:cNvPr>
          <p:cNvSpPr txBox="1"/>
          <p:nvPr/>
        </p:nvSpPr>
        <p:spPr>
          <a:xfrm>
            <a:off x="3612172" y="2433433"/>
            <a:ext cx="286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Function inlining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D1A7C-21B2-BB61-4509-1B5F8C88215E}"/>
              </a:ext>
            </a:extLst>
          </p:cNvPr>
          <p:cNvSpPr txBox="1"/>
          <p:nvPr/>
        </p:nvSpPr>
        <p:spPr>
          <a:xfrm>
            <a:off x="2146788" y="5202390"/>
            <a:ext cx="286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Unreachable Code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5E9B23-B9AB-190D-1A39-CFAC78F4B7DA}"/>
              </a:ext>
            </a:extLst>
          </p:cNvPr>
          <p:cNvSpPr txBox="1"/>
          <p:nvPr/>
        </p:nvSpPr>
        <p:spPr>
          <a:xfrm>
            <a:off x="3899388" y="3455838"/>
            <a:ext cx="2866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Loop unrolling</a:t>
            </a:r>
          </a:p>
        </p:txBody>
      </p:sp>
    </p:spTree>
    <p:extLst>
      <p:ext uri="{BB962C8B-B14F-4D97-AF65-F5344CB8AC3E}">
        <p14:creationId xmlns:p14="http://schemas.microsoft.com/office/powerpoint/2010/main" val="1548454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BFD0-5486-32C0-33AF-57F789F1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Assembler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A84AB-C9A5-5736-B5A6-913074C31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After optimization the compiler writes an </a:t>
            </a:r>
            <a:r>
              <a:rPr lang="en-CA" u="sng" dirty="0"/>
              <a:t>assembler file</a:t>
            </a:r>
            <a:r>
              <a:rPr lang="en-CA" dirty="0"/>
              <a:t> which is machine-dependant</a:t>
            </a:r>
          </a:p>
          <a:p>
            <a:endParaRPr lang="en-CA" dirty="0"/>
          </a:p>
          <a:p>
            <a:r>
              <a:rPr lang="en-CA" dirty="0"/>
              <a:t>We looked at different assembly types in the last lecture</a:t>
            </a:r>
          </a:p>
          <a:p>
            <a:endParaRPr lang="en-CA" dirty="0"/>
          </a:p>
          <a:p>
            <a:r>
              <a:rPr lang="en-CA" dirty="0"/>
              <a:t>Remember things are still “human readable” at this stage – note the use of labels, function names, </a:t>
            </a:r>
            <a:r>
              <a:rPr lang="en-CA" dirty="0" err="1"/>
              <a:t>etc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DF74F-8905-C9B5-192E-8396FA01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63890-BD77-28ED-3570-1790F1D9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CF440-14B9-FADB-38D5-878F6993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6551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6831-5733-39A7-0EB9-874DCD478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E3760-D0A7-01D8-381E-66CA21BEB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Object file contains:</a:t>
            </a:r>
          </a:p>
          <a:p>
            <a:pPr lvl="1"/>
            <a:r>
              <a:rPr lang="en-CA" dirty="0"/>
              <a:t>Machine code (no longer assembly)</a:t>
            </a:r>
          </a:p>
          <a:p>
            <a:pPr lvl="1"/>
            <a:r>
              <a:rPr lang="en-CA" dirty="0"/>
              <a:t>Symbol table (function names, variables,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Relocation entries</a:t>
            </a:r>
          </a:p>
          <a:p>
            <a:pPr lvl="1"/>
            <a:endParaRPr lang="en-CA" dirty="0"/>
          </a:p>
          <a:p>
            <a:r>
              <a:rPr lang="en-CA" dirty="0"/>
              <a:t>Addresses &amp; Object Files</a:t>
            </a:r>
          </a:p>
          <a:p>
            <a:pPr lvl="1"/>
            <a:r>
              <a:rPr lang="en-CA" dirty="0"/>
              <a:t>Addresses are </a:t>
            </a:r>
            <a:r>
              <a:rPr lang="en-CA" b="1" u="sng" dirty="0"/>
              <a:t>not final</a:t>
            </a:r>
            <a:r>
              <a:rPr lang="en-CA" dirty="0"/>
              <a:t> in the object file yet</a:t>
            </a:r>
          </a:p>
          <a:p>
            <a:pPr lvl="2"/>
            <a:r>
              <a:rPr lang="en-CA" dirty="0"/>
              <a:t>Addresses of certain variables, functions </a:t>
            </a:r>
            <a:r>
              <a:rPr lang="en-CA" dirty="0" err="1"/>
              <a:t>etc</a:t>
            </a:r>
            <a:r>
              <a:rPr lang="en-CA" dirty="0"/>
              <a:t> are not known yet</a:t>
            </a:r>
          </a:p>
          <a:p>
            <a:pPr lvl="1"/>
            <a:r>
              <a:rPr lang="en-CA" dirty="0"/>
              <a:t>The object file(s) will be finalized by the </a:t>
            </a:r>
            <a:r>
              <a:rPr lang="en-CA" u="sng" dirty="0"/>
              <a:t>linker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EDE70-275A-2FD6-0656-3DA9F02AF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32087-E603-0501-318A-27443B5D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889F0-6E20-2564-3396-F05DAF573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2503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5EBF-6BE3-631C-8106-F55418697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377C-80D9-FDBF-9977-0CCFD1F78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may use </a:t>
            </a:r>
            <a:r>
              <a:rPr lang="en-CA" u="sng" dirty="0"/>
              <a:t>libraries</a:t>
            </a:r>
            <a:r>
              <a:rPr lang="en-CA" dirty="0"/>
              <a:t> which contain pre-compiled object files</a:t>
            </a:r>
          </a:p>
          <a:p>
            <a:r>
              <a:rPr lang="en-CA" dirty="0"/>
              <a:t>Normally this is for convivence (well optimized routines)</a:t>
            </a:r>
          </a:p>
          <a:p>
            <a:r>
              <a:rPr lang="en-CA" dirty="0"/>
              <a:t>Sometimes these may be </a:t>
            </a:r>
            <a:r>
              <a:rPr lang="en-CA" u="sng" dirty="0"/>
              <a:t>commercial</a:t>
            </a:r>
            <a:r>
              <a:rPr lang="en-CA" dirty="0"/>
              <a:t> and provided in binary form</a:t>
            </a:r>
          </a:p>
          <a:p>
            <a:endParaRPr lang="en-CA" dirty="0"/>
          </a:p>
          <a:p>
            <a:r>
              <a:rPr lang="en-CA" dirty="0"/>
              <a:t>Normally calling one function from a library may link in the </a:t>
            </a:r>
            <a:r>
              <a:rPr lang="en-CA" u="sng" dirty="0"/>
              <a:t>entire library</a:t>
            </a:r>
            <a:r>
              <a:rPr lang="en-CA" dirty="0"/>
              <a:t> unless special work done to remove unused library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81A4-333A-E041-25C1-B0518E73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06BFF-4C26-6ED1-F2C4-1177A96E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D4F2D-9F55-87DA-9225-CEEB9C0F5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9216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257B-B78F-6192-5FF8-EAF6D1EC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Embedded Systems &amp; Code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14522-32A7-23AA-E985-3380BBBE3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you have limited space, need to be </a:t>
            </a:r>
            <a:r>
              <a:rPr lang="en-CA" u="sng" dirty="0"/>
              <a:t>very careful</a:t>
            </a:r>
            <a:r>
              <a:rPr lang="en-CA" dirty="0"/>
              <a:t> calling certain functions such as 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73977-3331-2E03-C437-3B643251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908DD-6E87-AF3C-0A37-B0706E06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62B64-4332-DEE0-36D5-107139F5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1188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E8A1-6D53-697F-F714-9720A082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Embedded Standard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B433-7887-E243-1AA4-2C3EC5993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Normal to have  “C standard library” linked for things in &lt;</a:t>
            </a:r>
            <a:r>
              <a:rPr lang="en-CA" dirty="0" err="1"/>
              <a:t>stdio.h</a:t>
            </a:r>
            <a:r>
              <a:rPr lang="en-CA" dirty="0"/>
              <a:t>&gt;, &lt;</a:t>
            </a:r>
            <a:r>
              <a:rPr lang="en-CA" dirty="0" err="1"/>
              <a:t>strings.h</a:t>
            </a:r>
            <a:r>
              <a:rPr lang="en-CA" dirty="0"/>
              <a:t>&gt;, etc.</a:t>
            </a:r>
          </a:p>
          <a:p>
            <a:r>
              <a:rPr lang="en-CA" dirty="0"/>
              <a:t>When compiling for your desktop with GCC, you would normally have </a:t>
            </a:r>
            <a:r>
              <a:rPr lang="en-CA" b="1" dirty="0" err="1"/>
              <a:t>glibc</a:t>
            </a:r>
            <a:r>
              <a:rPr lang="en-CA" dirty="0"/>
              <a:t> linked in</a:t>
            </a:r>
          </a:p>
          <a:p>
            <a:r>
              <a:rPr lang="en-CA" dirty="0"/>
              <a:t>On embedded systems this has space issues…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9AA92-6E59-9D75-2C9A-D8919CCF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C003F-FB1F-8D1F-72A4-507D0EA99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B0A80-01C4-72CC-ED1A-6467C556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9156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637E-8D7E-4B78-5567-60A63A93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3A59-5A1E-8EDA-8DB9-3BB05FE7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Embedded Standard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2B3CB-EC9A-FAE5-1248-4C2E29E2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 err="1"/>
              <a:t>newlib</a:t>
            </a:r>
            <a:r>
              <a:rPr lang="en-CA" dirty="0"/>
              <a:t> is common on embedded</a:t>
            </a:r>
          </a:p>
          <a:p>
            <a:r>
              <a:rPr lang="en-CA" b="1" dirty="0" err="1"/>
              <a:t>newlib</a:t>
            </a:r>
            <a:r>
              <a:rPr lang="en-CA" b="1" dirty="0"/>
              <a:t>-nano</a:t>
            </a:r>
            <a:r>
              <a:rPr lang="en-CA" dirty="0"/>
              <a:t> is an even smaller version, common on Cortex-M (the most likely default of any toolchain you use)</a:t>
            </a:r>
          </a:p>
          <a:p>
            <a:endParaRPr lang="en-CA" dirty="0"/>
          </a:p>
          <a:p>
            <a:r>
              <a:rPr lang="en-CA" dirty="0" err="1"/>
              <a:t>newlib</a:t>
            </a:r>
            <a:r>
              <a:rPr lang="en-CA" dirty="0"/>
              <a:t>-nano often has no </a:t>
            </a:r>
            <a:r>
              <a:rPr lang="en-CA" dirty="0" err="1"/>
              <a:t>printf</a:t>
            </a:r>
            <a:r>
              <a:rPr lang="en-CA" dirty="0"/>
              <a:t>() support for floating point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6CB61-D5D6-A912-2690-BBF7133B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4875-A1D9-FC0B-F19D-9723A1BF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B1C26-DA98-1DD7-7FBF-3F1856873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692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0AC3-2832-E663-32A1-755DDCAD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Linker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49D5-5DD4-CE51-F8D6-1DF06F192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Combines object files (user + libraries)</a:t>
            </a:r>
          </a:p>
          <a:p>
            <a:r>
              <a:rPr lang="en-CA" dirty="0"/>
              <a:t>Resolves symbols to final addresses</a:t>
            </a:r>
          </a:p>
          <a:p>
            <a:r>
              <a:rPr lang="en-CA" dirty="0"/>
              <a:t>Assigns final addresses</a:t>
            </a:r>
          </a:p>
          <a:p>
            <a:r>
              <a:rPr lang="en-CA" dirty="0"/>
              <a:t>Need to ensure it is linking </a:t>
            </a:r>
            <a:r>
              <a:rPr lang="en-CA" b="1" u="sng" dirty="0"/>
              <a:t>startup code </a:t>
            </a:r>
            <a:r>
              <a:rPr lang="en-CA" dirty="0"/>
              <a:t>(sometimes this gets removed by accident when changing </a:t>
            </a:r>
            <a:r>
              <a:rPr lang="en-CA" dirty="0" err="1"/>
              <a:t>linkter</a:t>
            </a:r>
            <a:r>
              <a:rPr lang="en-CA" dirty="0"/>
              <a:t> options!)</a:t>
            </a:r>
            <a:endParaRPr lang="en-CA" b="1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ADD3E-B2C7-9C39-6D01-FAF32C777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33E57-9374-12CA-9AA9-4793EF68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2D811-87F5-4781-A123-55851C42D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9667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E426A-F132-FB23-2BAB-2079BBE4B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Linker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33BA-C50A-DD46-AC1C-787DD4F35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Linker Script defines </a:t>
            </a:r>
            <a:r>
              <a:rPr lang="en-CA" u="sng" dirty="0"/>
              <a:t>where in memory</a:t>
            </a:r>
            <a:r>
              <a:rPr lang="en-CA" dirty="0"/>
              <a:t> things go, e.g.:</a:t>
            </a:r>
          </a:p>
          <a:p>
            <a:pPr marL="0" indent="0">
              <a:buNone/>
            </a:pPr>
            <a:endParaRPr lang="en-CA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CA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FLASH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: ORIGIN = 0x08000000, LENGTH = 512K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RAM  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 ORIGIN = 0x20000000, LENGTH = 128K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Let's look in more detail at one, example from </a:t>
            </a:r>
            <a:r>
              <a:rPr lang="en-CA" dirty="0">
                <a:hlinkClick r:id="rId2"/>
              </a:rPr>
              <a:t>https://github.com/newaetech/chipwhisperer/blob/develop/firmware/mcu/hal/stm32f3/LinkerScript.ld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DBBD-498C-0EAD-9BBD-8F64FE80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C597E-F626-BD27-DF6D-0E42DB55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57DF-E1BE-9199-CE31-2F789115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408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F608-C63D-66D4-03A5-2B295580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045557-C001-7B79-56BE-5677732F7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383" y="2228758"/>
            <a:ext cx="7693112" cy="240048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1D76-70A7-E47C-CCFD-E02343FD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5677C-CD09-42B5-3E11-02C008C3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0A13B-DDB2-E734-71E8-C384619C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1811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87208B-3735-3B51-8B68-C06116F23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819" y="339725"/>
            <a:ext cx="6128681" cy="60166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7309-9B4E-7B95-08C5-8C6C7492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5A076-0839-AE4D-2C83-ACC27D93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5B951-CF43-94C6-B70E-ABFC7422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8793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5892-1247-CE9B-8129-E66DA151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GCC Linker Script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7F4B-3BAC-6FDF-E22F-903FB0978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You can pass options to the linker in </a:t>
            </a:r>
            <a:r>
              <a:rPr lang="en-CA" dirty="0" err="1"/>
              <a:t>gcc</a:t>
            </a:r>
            <a:r>
              <a:rPr lang="en-CA" dirty="0"/>
              <a:t> to specify what libraries to include.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Weird errors complaining about “no _write()” may be linker error setup!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Often on embedded we see 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--specs=</a:t>
            </a:r>
            <a:r>
              <a:rPr lang="en-CA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nosys.specs</a:t>
            </a:r>
            <a:r>
              <a:rPr lang="en-CA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dirty="0"/>
              <a:t>as an option passed to the linker.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1C0B2-1D37-9F95-3F54-08011BFE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C689-FEB8-B7F5-A361-2D6277BE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C9790-2B05-C6FD-940F-B206837FA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031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4243-79FE-85B2-5FC9-97C2FA25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E68B-0B3E-6DC3-8AAF-9D27EC816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304051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.text </a:t>
            </a:r>
            <a:r>
              <a:rPr lang="en-US" dirty="0"/>
              <a:t>(code) Segment: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Compiled machine code instructions and read-only data, such as string literals and global constants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Typically marked as read-only and executable to prevent accidental modification during program execution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B404-581C-E931-A6DB-BCE0010A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E0326-5B95-3441-F165-0FD2931E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17D46-79BA-11F8-8555-A7EDD76F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5218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A910-3A12-BBFF-26D3-6623FC827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8E2E-6FFE-23EA-94DA-30118FBC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C3EF-F951-9DB3-CDF8-9738EF28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304051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.data </a:t>
            </a:r>
            <a:r>
              <a:rPr lang="en-US" dirty="0"/>
              <a:t>Segment: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Stores global and static variables that </a:t>
            </a:r>
            <a:r>
              <a:rPr lang="en-US" u="sng" dirty="0"/>
              <a:t>are explicitly initialized by the programmer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This is a writable area of memory, as these variables can change during runtime.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6A173-E9F2-B9D4-760B-D2E370E9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49505-1464-6A31-361E-D980CFBD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1B34E-B079-3055-F62E-E3F193A3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080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BA06E-863A-4BB8-8F83-64DD32C2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42079-30E7-73A0-B3FE-9F596B81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F3C8-559C-DCD0-2354-7028067C9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.</a:t>
            </a:r>
            <a:r>
              <a:rPr lang="en-US" b="1" dirty="0" err="1"/>
              <a:t>bss</a:t>
            </a:r>
            <a:r>
              <a:rPr lang="en-US" b="1" dirty="0"/>
              <a:t> </a:t>
            </a:r>
            <a:r>
              <a:rPr lang="en-US" dirty="0"/>
              <a:t>(Block Started by Symbol) Segment: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Holds uninitialized global and static variables, or those initialized to zero.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Storing them in the BSS segment makes the file smaller; this section of memory is all written to zero on startup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680D6-39F0-269E-71B6-774A128B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E27C8-701B-FDCC-F1BD-5CC3F266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7D625-71DD-60F7-2CD7-536C0AB3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640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6C69-E04B-3F2F-CAF2-F644416F1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F54C5-684A-1420-0E86-79881738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8624E-421C-9EC4-3D47-5CC76B6E2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Heap </a:t>
            </a:r>
            <a:r>
              <a:rPr lang="en-US" dirty="0"/>
              <a:t>Segment: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 Used for dynamic memory allocation requested during program execution using functions like malloc(), </a:t>
            </a:r>
            <a:r>
              <a:rPr lang="en-US" dirty="0" err="1"/>
              <a:t>calloc</a:t>
            </a:r>
            <a:r>
              <a:rPr lang="en-US" dirty="0"/>
              <a:t>()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May or may not be used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E0F6C-4A46-CF3C-717F-D9BF93B0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B3145-A6D3-31E3-1165-26A9BF33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782E3-0051-E1CD-359A-F6D1F54C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5049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D420-D9C5-7B5B-29AC-ECCAFE35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91D2-8D78-6E3C-F430-C943F23B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Memory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D65C-B2E8-C572-0332-36AE03743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Stack </a:t>
            </a:r>
            <a:r>
              <a:rPr lang="en-US" dirty="0"/>
              <a:t>Segment: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Used for managing function calls, local (automatic) variables, and return addresses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Operates as a last-in, first-out (LIFO) structure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Memory is automatically allocated and reclaimed as functions are called and return. 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Very bad things happen if you run out of this!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93A5-E24D-F416-70EB-6EB24B2F3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80233-D801-556D-A8AA-0AA7D259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DB9E4-CA2D-D169-09AD-D7A0573A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003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5E2B-BF60-0B1D-D210-9EACE2FC5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Linker Memory Allocation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9B7D7A-901A-DED1-890C-A44866F2C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518" y="3158413"/>
            <a:ext cx="7488024" cy="10845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468E5-6E9E-6660-7E81-7D7B8B120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3762F-73E3-3189-D416-065AC9A8C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6F416-6BE0-6D4A-5AFC-9C9B82566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45</a:t>
            </a:fld>
            <a:endParaRPr lang="en-C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CAD96CF-B75C-463F-282E-F69EF7697CF5}"/>
              </a:ext>
            </a:extLst>
          </p:cNvPr>
          <p:cNvCxnSpPr/>
          <p:nvPr/>
        </p:nvCxnSpPr>
        <p:spPr>
          <a:xfrm flipH="1">
            <a:off x="3581400" y="2514600"/>
            <a:ext cx="5236029" cy="1045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748785-67EE-EF55-CFE2-D1410EA7817F}"/>
              </a:ext>
            </a:extLst>
          </p:cNvPr>
          <p:cNvCxnSpPr>
            <a:cxnSpLocks/>
          </p:cNvCxnSpPr>
          <p:nvPr/>
        </p:nvCxnSpPr>
        <p:spPr>
          <a:xfrm flipH="1" flipV="1">
            <a:off x="4038600" y="3935186"/>
            <a:ext cx="4572000" cy="730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5685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13377-1E96-2230-3816-F1DBFCA9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0F7F-9FF5-C292-37B8-317DECFC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Hint if Program is Crashing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1903F-DC8B-2583-C8B9-0E6D29074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B2824-4A84-15F8-2B63-2E85B7AD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21CFB-1F8F-A1A5-80CE-2C95A3A6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46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FC9EDB-C702-F3D6-B478-54AD1F9F3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CA" dirty="0"/>
              <a:t>Lazy programmer trick: increase stack in the Linker Script and see if it works.</a:t>
            </a:r>
          </a:p>
          <a:p>
            <a:endParaRPr lang="en-CA" dirty="0"/>
          </a:p>
          <a:p>
            <a:r>
              <a:rPr lang="en-CA" dirty="0"/>
              <a:t>If you do something with a lot of stack usage (allocating big variables on stack, using RTOS, </a:t>
            </a:r>
            <a:r>
              <a:rPr lang="en-CA" dirty="0" err="1"/>
              <a:t>etc</a:t>
            </a:r>
            <a:r>
              <a:rPr lang="en-CA" dirty="0"/>
              <a:t>) – may need to increase stack size!</a:t>
            </a:r>
          </a:p>
        </p:txBody>
      </p:sp>
    </p:spTree>
    <p:extLst>
      <p:ext uri="{BB962C8B-B14F-4D97-AF65-F5344CB8AC3E}">
        <p14:creationId xmlns:p14="http://schemas.microsoft.com/office/powerpoint/2010/main" val="3729528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09B5-BC8A-D38A-396E-DE34D209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Startup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40E4-3FFF-00FF-8CE3-C73A7298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Your code is NOT the first thing run, even on "bare metal"</a:t>
            </a:r>
          </a:p>
          <a:p>
            <a:r>
              <a:rPr lang="en-CA" dirty="0"/>
              <a:t>There is normally </a:t>
            </a:r>
            <a:r>
              <a:rPr lang="en-CA" i="1" dirty="0"/>
              <a:t>startup code</a:t>
            </a:r>
            <a:r>
              <a:rPr lang="en-CA" dirty="0"/>
              <a:t> that does some needed setup.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/>
              <a:t>Following example is from STM32F3 default startup code, example at </a:t>
            </a:r>
            <a:r>
              <a:rPr lang="en-CA" dirty="0">
                <a:hlinkClick r:id="rId2"/>
              </a:rPr>
              <a:t>https://github.com/newaetech/chipwhisperer/blob/develop/firmware/mcu/hal/stm32f3/stm32f3_startup.S</a:t>
            </a:r>
            <a:r>
              <a:rPr lang="en-CA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32A20-A63A-F42B-E0EE-EC0A2926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CCC79-0E1A-B9D0-498F-FBD29C151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E2257-5627-EF62-3665-BC942826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0635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85BE-D7B4-B729-E5AE-B49EAAD0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-111585"/>
            <a:ext cx="10515600" cy="1325563"/>
          </a:xfrm>
        </p:spPr>
        <p:txBody>
          <a:bodyPr/>
          <a:lstStyle/>
          <a:p>
            <a:r>
              <a:rPr lang="en-CA" dirty="0"/>
              <a:t>e.g., stm32f3 startup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2ADB9-7654-913D-4657-6211B86C2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8" y="894106"/>
            <a:ext cx="5697682" cy="546224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.section	.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text.Reset_Handler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.weak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Reset_Handler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.type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Reset_Handler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%function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Reset_Handler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Copy the data segment initializers from flash to SRAM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r1, #0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b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LoopCopyDataInit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CopyDataInit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r3, =_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sidata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r3, [r3, r1]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str	r3, [r0, r1]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adds	r1, r1, #4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LoopCopyDataInit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r0, =_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sdata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r3, =_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edata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adds	r2, r0, r1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r2, r3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bcc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CopyDataInit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r2, =_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sbss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b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LoopFillZerobss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0ECA7-DA96-0259-2680-BB84A470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CDB53-F0C5-4C52-8B18-15B3248B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1F513-1AB2-69A1-E01F-4543F933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48</a:t>
            </a:fld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CB8DD-3CC7-2651-BE8A-C18807312832}"/>
              </a:ext>
            </a:extLst>
          </p:cNvPr>
          <p:cNvSpPr txBox="1"/>
          <p:nvPr/>
        </p:nvSpPr>
        <p:spPr>
          <a:xfrm>
            <a:off x="6935066" y="981220"/>
            <a:ext cx="5118389" cy="451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Zero fill the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bss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segment.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FillZerobss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r3, #0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	str  r3, [r2]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adds r2, r2, #4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LoopFillZerobss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r3, = 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ebss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cmp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r2, r3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bcc	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FillZerobss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Call the clock system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intitialization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function.*/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bl 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SystemInit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Call static constructors 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bl __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libc_init_array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/* Call the application's entry point.*/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bl	main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LoopForever</a:t>
            </a: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b </a:t>
            </a:r>
            <a:r>
              <a:rPr lang="en-CA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LoopForever</a:t>
            </a:r>
            <a:endParaRPr lang="en-CA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8CFDCE-877A-8B72-BB4A-C6094DC8B08D}"/>
              </a:ext>
            </a:extLst>
          </p:cNvPr>
          <p:cNvCxnSpPr>
            <a:cxnSpLocks/>
          </p:cNvCxnSpPr>
          <p:nvPr/>
        </p:nvCxnSpPr>
        <p:spPr>
          <a:xfrm>
            <a:off x="6366164" y="981220"/>
            <a:ext cx="0" cy="5375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0498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2644F-ACFD-311A-A16D-A9C99E29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ELF Files and Debug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8724-241F-6890-B98A-928D4CB5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ELF (Executable and Linkable Format) is a standard file format for executable files &amp; object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Supports extensive additional information (including debug information).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Normally this file then gets written to a final binary for the embedded system (.bin or .hex).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B918-64C8-BF11-3A2D-9AD14F9CC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2A343-D99C-8EB4-6EEA-36D67BDD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5055-5C08-7A70-E992-6F00D4BA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0259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C49A-1541-83A9-6E4B-6CC083538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Debugging Optimized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53BC-0863-098A-AD8B-5D96F3566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More difficult! Will see this once we get to debugging…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2E7B8-659C-E0F7-8A24-E1591962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04EDF-D98C-BBC1-91B1-BEFC0CEB7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C2718-199F-946B-4766-7CF14D4A1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95440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87A0E-EA9C-1688-1B85-64D852AC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Loader?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49288-EDD1-AEA2-AD5F-A2D2423E6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Normally we also have a </a:t>
            </a:r>
            <a:r>
              <a:rPr lang="en-CA" i="1" u="sng" dirty="0"/>
              <a:t>loader</a:t>
            </a:r>
            <a:r>
              <a:rPr lang="en-CA" i="1" dirty="0"/>
              <a:t> </a:t>
            </a:r>
            <a:r>
              <a:rPr lang="en-CA" dirty="0"/>
              <a:t>that loads the executable and performs needed setup.</a:t>
            </a:r>
          </a:p>
          <a:p>
            <a:endParaRPr lang="en-CA" dirty="0"/>
          </a:p>
          <a:p>
            <a:r>
              <a:rPr lang="en-CA" dirty="0"/>
              <a:t>This isn’t normally relevant on small embedded systems – the entire binary is being run directly.</a:t>
            </a:r>
          </a:p>
          <a:p>
            <a:endParaRPr lang="en-CA" dirty="0"/>
          </a:p>
          <a:p>
            <a:r>
              <a:rPr lang="en-CA" dirty="0"/>
              <a:t>More complex embedded systems (Linux) still have loaders.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CAE6-AE3D-BEC5-4B3C-571111A0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847C-9DF3-81D0-C7CB-43E83F76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49CC2-479F-CFC4-2E98-446A4E21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2374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E748-BB67-273C-7753-3B8323B9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Putting it Together – An Example</a:t>
            </a:r>
            <a:br>
              <a:rPr lang="en-CA" dirty="0"/>
            </a:br>
            <a:r>
              <a:rPr lang="en-CA" dirty="0"/>
              <a:t>Running "Make"… part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F4F1D7-A26B-2F68-7A57-F6D554484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338" y="1825625"/>
            <a:ext cx="868132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23055-F8AA-C16C-08A6-BADDC80F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47A16-53AF-EF00-F5A5-2FA3A45F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88BA-1E6C-6360-C55F-0007CC33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5119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BE8E-2CBD-6895-32B2-4BCD3A158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Make output continued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584911-035B-2503-F09B-CBE34542D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06430"/>
            <a:ext cx="10515600" cy="37897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76D1B-F611-9EEF-DAF4-4B8E09F6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A8C02-55F7-10A1-F637-731886F6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30D28-7B9A-BFA9-6FF1-BB05F0A3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3380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A1E2-3747-E9DC-1E2B-47B5F7D4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A698D-6B68-E153-EE8D-D6AC1DC4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Make output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501F5-4903-4AAB-ADB7-B877825D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AB822-A220-FB20-45FC-D5EDA6EA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D05FC-AB15-CF78-BEEE-E867E03E3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54</a:t>
            </a:fld>
            <a:endParaRPr lang="en-CA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A9EE84-E82F-58D4-A00B-5F9D35E1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40" y="1991212"/>
            <a:ext cx="11189252" cy="250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4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D71B3-E350-1119-DECD-87FC1C38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Additional Useful Outputs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5C3DCD-9A37-7DBE-8B59-5A4C333D5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256" y="1457433"/>
            <a:ext cx="10307488" cy="29055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4B47-28EB-CE93-D453-E0CCD2A5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C8117-F5AD-FBD5-A669-C615E3B0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1E4CF-70CE-CF79-2640-D9646F2D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55</a:t>
            </a:fld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0749C-924A-6B2A-2D6F-754F5BDF629C}"/>
              </a:ext>
            </a:extLst>
          </p:cNvPr>
          <p:cNvSpPr txBox="1"/>
          <p:nvPr/>
        </p:nvSpPr>
        <p:spPr>
          <a:xfrm>
            <a:off x="764208" y="4435061"/>
            <a:ext cx="105895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.bin, .hex, and .</a:t>
            </a:r>
            <a:r>
              <a:rPr lang="en-CA" b="1" dirty="0" err="1"/>
              <a:t>eep</a:t>
            </a:r>
            <a:r>
              <a:rPr lang="en-CA" b="1" dirty="0"/>
              <a:t> </a:t>
            </a:r>
            <a:r>
              <a:rPr lang="en-CA" dirty="0"/>
              <a:t>are for programming (not useful to you)</a:t>
            </a:r>
          </a:p>
          <a:p>
            <a:r>
              <a:rPr lang="en-CA" b="1" dirty="0"/>
              <a:t>.elf </a:t>
            </a:r>
            <a:r>
              <a:rPr lang="en-CA" dirty="0"/>
              <a:t>= for debugging (useful indirectly)</a:t>
            </a:r>
          </a:p>
          <a:p>
            <a:r>
              <a:rPr lang="en-CA" b="1" dirty="0"/>
              <a:t>.</a:t>
            </a:r>
            <a:r>
              <a:rPr lang="en-CA" b="1" dirty="0" err="1"/>
              <a:t>lss</a:t>
            </a:r>
            <a:r>
              <a:rPr lang="en-CA" b="1" dirty="0"/>
              <a:t> </a:t>
            </a:r>
            <a:r>
              <a:rPr lang="en-CA" dirty="0"/>
              <a:t>= Listing Symbols, </a:t>
            </a:r>
            <a:r>
              <a:rPr lang="en-CA" u="sng" dirty="0"/>
              <a:t>very useful</a:t>
            </a:r>
            <a:r>
              <a:rPr lang="en-CA" dirty="0"/>
              <a:t> to look at (may need to enable this)</a:t>
            </a:r>
          </a:p>
          <a:p>
            <a:r>
              <a:rPr lang="en-CA" b="1" dirty="0"/>
              <a:t>.map </a:t>
            </a:r>
            <a:r>
              <a:rPr lang="en-CA" dirty="0"/>
              <a:t>= Memory map including symbols &amp; source files</a:t>
            </a:r>
          </a:p>
          <a:p>
            <a:r>
              <a:rPr lang="en-CA" b="1" dirty="0"/>
              <a:t>.</a:t>
            </a:r>
            <a:r>
              <a:rPr lang="en-CA" b="1" dirty="0" err="1"/>
              <a:t>sym</a:t>
            </a:r>
            <a:r>
              <a:rPr lang="en-CA" b="1" dirty="0"/>
              <a:t> </a:t>
            </a:r>
            <a:r>
              <a:rPr lang="en-CA" dirty="0"/>
              <a:t>= Symbols and location in memory</a:t>
            </a:r>
          </a:p>
        </p:txBody>
      </p:sp>
    </p:spTree>
    <p:extLst>
      <p:ext uri="{BB962C8B-B14F-4D97-AF65-F5344CB8AC3E}">
        <p14:creationId xmlns:p14="http://schemas.microsoft.com/office/powerpoint/2010/main" val="20601471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D5E8-A6F7-9716-AF68-339F5154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Live Example Pause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1E45-2E14-DE30-9CF8-94AD63F48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This slide is to remind me live demos of:</a:t>
            </a:r>
          </a:p>
          <a:p>
            <a:r>
              <a:rPr lang="en-CA" dirty="0"/>
              <a:t>Building firmware &amp; showing output</a:t>
            </a:r>
          </a:p>
          <a:p>
            <a:r>
              <a:rPr lang="en-CA" dirty="0"/>
              <a:t>Going through each of the prior files (</a:t>
            </a:r>
            <a:r>
              <a:rPr lang="en-CA" dirty="0" err="1"/>
              <a:t>lss</a:t>
            </a:r>
            <a:r>
              <a:rPr lang="en-CA" dirty="0"/>
              <a:t>, map, </a:t>
            </a:r>
            <a:r>
              <a:rPr lang="en-CA" dirty="0" err="1"/>
              <a:t>sym</a:t>
            </a:r>
            <a:r>
              <a:rPr lang="en-CA" dirty="0"/>
              <a:t>)</a:t>
            </a:r>
          </a:p>
          <a:p>
            <a:r>
              <a:rPr lang="en-CA" dirty="0"/>
              <a:t>Debugging example, show startup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543D0-9F4C-1BC3-E57E-338BB360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2C9AB-4A0D-0787-9CF2-5F82B5B79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08029-D415-27A3-626A-84B3E018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9099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2E32-DC99-799B-5F7A-02B15D0E6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8906-FD19-2FCE-E287-B60D54FF9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Compiler converts our source code to some </a:t>
            </a:r>
            <a:r>
              <a:rPr lang="en-CA" i="1" dirty="0"/>
              <a:t>intermediate representation (IR)</a:t>
            </a:r>
            <a:endParaRPr lang="en-CA" dirty="0"/>
          </a:p>
          <a:p>
            <a:r>
              <a:rPr lang="en-CA" dirty="0"/>
              <a:t>Optimization on this IR may change the code or program flow – </a:t>
            </a:r>
            <a:r>
              <a:rPr lang="en-CA" b="1" u="sng" dirty="0"/>
              <a:t>turning off optimizations should not fix your code</a:t>
            </a:r>
            <a:endParaRPr lang="en-CA" dirty="0"/>
          </a:p>
          <a:p>
            <a:r>
              <a:rPr lang="en-CA" dirty="0"/>
              <a:t>Machine-dependant assembly code is written – this is still missing startup code &amp; final address assignments</a:t>
            </a:r>
          </a:p>
          <a:p>
            <a:r>
              <a:rPr lang="en-CA" dirty="0"/>
              <a:t>The linker performs final address assignment, and links in libraries (including startup code).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CAEE8-9770-33B9-F180-B7B53BABF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78320-14FD-4E2B-A630-414FAF1ADF7D}" type="datetime1">
              <a:rPr lang="en-CA" smtClean="0"/>
              <a:t>2026-01-14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7EA4-2024-0584-DB94-F371CC2C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ECED3403 Computer Architecture. Colin O'Flynn.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309E4-A2D5-801F-040F-5319E9BAE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EFD95-6F0E-4990-943A-26EEF9BE15B6}" type="slidenum">
              <a:rPr lang="en-CA" smtClean="0"/>
              <a:t>57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7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2864</Words>
  <Application>Microsoft Office PowerPoint</Application>
  <PresentationFormat>Widescreen</PresentationFormat>
  <Paragraphs>506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Aptos</vt:lpstr>
      <vt:lpstr>Aptos Display</vt:lpstr>
      <vt:lpstr>Arial</vt:lpstr>
      <vt:lpstr>Consolas</vt:lpstr>
      <vt:lpstr>Courier New</vt:lpstr>
      <vt:lpstr>Wingdings</vt:lpstr>
      <vt:lpstr>Office Theme</vt:lpstr>
      <vt:lpstr>Computer Architecture: The Compiler, Linker, Loader</vt:lpstr>
      <vt:lpstr>PowerPoint Presentation</vt:lpstr>
      <vt:lpstr>High Level Language  Running Code</vt:lpstr>
      <vt:lpstr>High Level Language  Running Code</vt:lpstr>
      <vt:lpstr>C/C++ Source Code (.c + .h)</vt:lpstr>
      <vt:lpstr>Preprocessed Source Code (.i / .ii)</vt:lpstr>
      <vt:lpstr>e.g., Preprocessor Dangers #1</vt:lpstr>
      <vt:lpstr>Results of Compiler Explorer</vt:lpstr>
      <vt:lpstr>e.g., Preprocessor Dangers #2</vt:lpstr>
      <vt:lpstr>Try It!</vt:lpstr>
      <vt:lpstr>PowerPoint Presentation</vt:lpstr>
      <vt:lpstr>PowerPoint Presentation</vt:lpstr>
      <vt:lpstr>Compiler Front-End (Target Independent)</vt:lpstr>
      <vt:lpstr>Basic Semantic Checks vs. Static Analysis</vt:lpstr>
      <vt:lpstr>Try It!</vt:lpstr>
      <vt:lpstr>Code Linting</vt:lpstr>
      <vt:lpstr>Gimpel PC-Lint Bug Resources</vt:lpstr>
      <vt:lpstr>Classic Compiler Architecture</vt:lpstr>
      <vt:lpstr>Low Level Virtual Machine (LLVM)</vt:lpstr>
      <vt:lpstr>Clang</vt:lpstr>
      <vt:lpstr>New GCC vs. LLVM/Clang</vt:lpstr>
      <vt:lpstr>GCC vs. LLVM/Clang</vt:lpstr>
      <vt:lpstr>Intermediate Representation Example</vt:lpstr>
      <vt:lpstr>Optimization</vt:lpstr>
      <vt:lpstr>Optimization Examples</vt:lpstr>
      <vt:lpstr>PowerPoint Presentation</vt:lpstr>
      <vt:lpstr>PowerPoint Presentation</vt:lpstr>
      <vt:lpstr>PowerPoint Presentation</vt:lpstr>
      <vt:lpstr>Assembler Output</vt:lpstr>
      <vt:lpstr>Object File</vt:lpstr>
      <vt:lpstr>Libraries</vt:lpstr>
      <vt:lpstr>Embedded Systems &amp; Code Size</vt:lpstr>
      <vt:lpstr>Embedded Standard Libraries</vt:lpstr>
      <vt:lpstr>Embedded Standard Libraries</vt:lpstr>
      <vt:lpstr>The Linker</vt:lpstr>
      <vt:lpstr>Linker Scripts</vt:lpstr>
      <vt:lpstr>PowerPoint Presentation</vt:lpstr>
      <vt:lpstr>PowerPoint Presentation</vt:lpstr>
      <vt:lpstr>GCC Linker Script Options</vt:lpstr>
      <vt:lpstr>Memory Segments</vt:lpstr>
      <vt:lpstr>Memory Segments</vt:lpstr>
      <vt:lpstr>Memory Segments</vt:lpstr>
      <vt:lpstr>Memory Segments</vt:lpstr>
      <vt:lpstr>Memory Segments</vt:lpstr>
      <vt:lpstr>Linker Memory Allocation</vt:lpstr>
      <vt:lpstr>Hint if Program is Crashing</vt:lpstr>
      <vt:lpstr>Startup Code?</vt:lpstr>
      <vt:lpstr>e.g., stm32f3 startup code</vt:lpstr>
      <vt:lpstr>ELF Files and Debug Symbols</vt:lpstr>
      <vt:lpstr>Debugging Optimized Code</vt:lpstr>
      <vt:lpstr>Loader?</vt:lpstr>
      <vt:lpstr>Putting it Together – An Example Running "Make"… part 1</vt:lpstr>
      <vt:lpstr>Make output continued</vt:lpstr>
      <vt:lpstr>Make output continued</vt:lpstr>
      <vt:lpstr>Additional Useful Outputs</vt:lpstr>
      <vt:lpstr>Live Example Pause Slide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11</cp:revision>
  <dcterms:created xsi:type="dcterms:W3CDTF">2026-01-13T21:18:23Z</dcterms:created>
  <dcterms:modified xsi:type="dcterms:W3CDTF">2026-01-14T18:14:45Z</dcterms:modified>
</cp:coreProperties>
</file>