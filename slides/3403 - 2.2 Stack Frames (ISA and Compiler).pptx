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411" r:id="rId4"/>
    <p:sldId id="412" r:id="rId5"/>
    <p:sldId id="430" r:id="rId6"/>
    <p:sldId id="432" r:id="rId7"/>
    <p:sldId id="434" r:id="rId8"/>
    <p:sldId id="413" r:id="rId9"/>
    <p:sldId id="431" r:id="rId10"/>
    <p:sldId id="414" r:id="rId11"/>
    <p:sldId id="428" r:id="rId12"/>
    <p:sldId id="429" r:id="rId13"/>
    <p:sldId id="433" r:id="rId14"/>
    <p:sldId id="415" r:id="rId15"/>
    <p:sldId id="416" r:id="rId16"/>
    <p:sldId id="438" r:id="rId17"/>
    <p:sldId id="422" r:id="rId18"/>
    <p:sldId id="437" r:id="rId19"/>
    <p:sldId id="436" r:id="rId20"/>
    <p:sldId id="419" r:id="rId21"/>
    <p:sldId id="435" r:id="rId22"/>
    <p:sldId id="423" r:id="rId23"/>
    <p:sldId id="439" r:id="rId24"/>
    <p:sldId id="441" r:id="rId25"/>
    <p:sldId id="426" r:id="rId26"/>
    <p:sldId id="44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5" autoAdjust="0"/>
    <p:restoredTop sz="76416" autoAdjust="0"/>
  </p:normalViewPr>
  <p:slideViewPr>
    <p:cSldViewPr snapToGrid="0">
      <p:cViewPr varScale="1">
        <p:scale>
          <a:sx n="98" d="100"/>
          <a:sy n="98" d="100"/>
        </p:scale>
        <p:origin x="788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5EED4A-3585-4524-A81E-A4607D5057F6}" type="datetimeFigureOut">
              <a:rPr lang="en-CA" smtClean="0"/>
              <a:t>2026-02-02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2C467B-3273-4353-9FBF-06D73C896B7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08648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C467B-3273-4353-9FBF-06D73C896B70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9908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C467B-3273-4353-9FBF-06D73C896B70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21518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C467B-3273-4353-9FBF-06D73C896B70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6905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 &lt;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stdio.h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b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 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somefunction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(int a,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 int b){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int 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i,j,k,l,m,n,o,p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b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for (int 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0; 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 a; 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++){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k++;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k += b;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l += 3;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m += 4;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n += 5;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o += 6;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p += 7;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b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b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CA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return a + b + k + l + m + n + n + o + p;</a:t>
            </a:r>
          </a:p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C467B-3273-4353-9FBF-06D73C896B70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46850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C467B-3273-4353-9FBF-06D73C896B70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28473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C467B-3273-4353-9FBF-06D73C896B70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7036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DBB13-BF3E-B08B-2F23-515A5CE40F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072517-32B4-F50B-3D3A-C9C53D73C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DCB6C-FAEF-98EA-BCC7-913EC53B4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AC21C-9D90-4406-8741-4F943C23DB80}" type="datetime1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4BC61-767D-C6F8-466F-B98BBBED2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A1A87-B6CB-E3B9-F617-F9C043AD9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5239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B54D4-F627-E509-BB0F-832BF4264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B0E92-768D-ED08-8020-C4789DE2F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7F047-DB3A-A5F2-8DE5-101F49EFA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A48A-7496-470B-9F91-603A0C2F46CB}" type="datetime1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B90AC-2719-B6E2-FA92-E6F3300D0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D5EF7-E200-CCA5-4109-21FD01504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559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41D68-7A11-F5EF-5F4A-AC0A051A7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CC8DAD-F985-DCBA-B38F-618187FED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76AAE-E107-3B57-858A-F4880A44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46C1F-6AC4-4BBB-82D4-56212E7FF526}" type="datetime1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0F9FF-A9D0-E220-2CC3-3C83F175B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A69E7-51A7-03E7-BB63-E18A87971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67469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C2697-B004-A7C1-AEEE-EF1633643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250F3-68CE-1D3A-1214-DABA5C459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87AC0-3311-A6B4-458F-D6205897C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3774F3-555B-3CFC-D380-E4D480D0C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CAF60-2071-44D7-B654-EBA3DF6994B7}" type="datetime1">
              <a:rPr lang="en-CA" smtClean="0"/>
              <a:t>2026-02-02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1DE432-0894-4E5C-D9D8-1568DEEE6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5BBFC2-C0BA-C19C-2A73-2F7F96B85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2241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B6C3E-5F98-0531-4025-C7EE712DB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92E4E-45DB-C1A1-EF1E-FFE89DE84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36C244-CDE8-A0A6-0E13-C7304C371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3213E1-472E-5B06-96CF-4F3D494DB4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05D4BB-8F83-E58A-98EA-70AB7B666F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3B5F78-DFAC-A475-82C4-C41AC5E0F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51CF9-78F0-448C-8D15-7CFB0AD8A1EF}" type="datetime1">
              <a:rPr lang="en-CA" smtClean="0"/>
              <a:t>2026-02-02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DC9963-7528-A7C9-7DAC-EEB1B836E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6EDDEE-9796-FF97-0F92-CBF518C64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87418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AC697-5823-AC8C-8FFF-A79590582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C783C2-A020-3702-2A70-637A0FB97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C4AA9-0DEF-4FD3-A1E7-36A11F98F47D}" type="datetime1">
              <a:rPr lang="en-CA" smtClean="0"/>
              <a:t>2026-02-02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26229-3C2B-6F0D-6E78-1DE338838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77BF7D-D171-01DC-2483-6E65289BB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026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8F1CBD-D17F-30FA-249F-CDF4870F9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6FEA8-CB87-4F16-80A8-3AF29987CDBE}" type="datetime1">
              <a:rPr lang="en-CA" smtClean="0"/>
              <a:t>2026-02-02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16322B-A757-C059-7CF4-1663BAFB7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D8317-C49C-49E8-FA5A-3B9B774E9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78811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16046-7A3A-C711-A3B4-E5F95A33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45F6A-6CE3-E328-E510-052D5EE15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C62BE7-A25B-95F6-F191-4BB6F2BAB8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BD992C-5791-E309-7017-7F6F34587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1DED2-4B80-4885-A652-F8385D7C763E}" type="datetime1">
              <a:rPr lang="en-CA" smtClean="0"/>
              <a:t>2026-02-02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5C423C-6E1D-6BC6-7C76-39851B559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0D2C57-F8B6-AE51-0D9D-76A91F9CC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2758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B64E3-B88B-F1AE-F40E-F25B977E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930BFB-4B24-817A-E210-0893CAA191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6F6FE7-0B7F-692F-B5CF-F46D4C1534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679E8-FA58-2B39-CBEC-728CCF5A1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8A2CD-0FA3-4EAC-8023-CF97FDAC7BB2}" type="datetime1">
              <a:rPr lang="en-CA" smtClean="0"/>
              <a:t>2026-02-02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DF5024-C1A1-EF67-7AAD-00E121C65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E9251-20C7-F7DA-6A44-830C67763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9604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FA050-6069-6D9F-5C3A-473426276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D9A179-8C35-46A0-56DE-C3ED0A5933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7D1FC-BB8A-19BC-4180-372835990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5527B-F1CE-4475-B7F6-05D3C040FA32}" type="datetime1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DFE4D-7185-3780-1248-AEA203F4F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D4C44-3E81-67A0-C562-6C17489F2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039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A0148D-2F27-DCC9-2940-A3C8BCE507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F682F4-7BD4-97F9-04E6-168F52DFCD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ECE2F-0B5B-B9A2-D7D7-B40597704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5959B-3E34-4832-9DB6-903D296EB140}" type="datetime1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0032B-7ABA-8BAF-289D-E75FE0F0E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32644-8CB2-EAD7-64A3-6C95C8206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09102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506DEF-644D-A929-6973-9D8E7068F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32A1E-F010-2109-3860-EE4206495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A8786-5A47-88F1-F453-174151DED0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7A55CD-C689-4DFC-8D3D-44B62F767576}" type="datetime1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4AD58-6806-C203-1B1B-5F547E132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6714B-2377-FF07-E24E-9D6C13D51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3FE6AF-7EC0-4502-9F71-820950EA8D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2647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09646-AADD-478F-F974-57FF3C31EA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79615" y="1122363"/>
            <a:ext cx="12621985" cy="2387600"/>
          </a:xfrm>
        </p:spPr>
        <p:txBody>
          <a:bodyPr>
            <a:normAutofit/>
          </a:bodyPr>
          <a:lstStyle/>
          <a:p>
            <a:r>
              <a:rPr lang="en-CA" dirty="0"/>
              <a:t>Computer Architecture:</a:t>
            </a:r>
            <a:br>
              <a:rPr lang="en-CA" dirty="0"/>
            </a:br>
            <a:r>
              <a:rPr lang="en-US" sz="4400" dirty="0"/>
              <a:t>The Stack Frame – ISA Meeting The Compiler</a:t>
            </a:r>
            <a:endParaRPr lang="en-CA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0825F0-16A2-4B15-076E-22B98FD7BC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Dr. Colin O’Flynn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48E20-984B-5E85-F30C-B689ECC7F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A2269-F4CA-4E6E-B355-A5DF15C69429}" type="datetime1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4A906-8843-30B8-6834-CE41F6AEC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29F0D-3B4A-0755-069B-F084B3D9D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7062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9ADA9-27CC-7B3F-58A4-E641BF35C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9C3AB-3011-E0FF-7C9F-80D076637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How does a program run on a machine?</a:t>
            </a:r>
          </a:p>
          <a:p>
            <a:r>
              <a:rPr lang="en-CA" dirty="0"/>
              <a:t>How do you compile from high-level code to machine code?</a:t>
            </a:r>
          </a:p>
          <a:p>
            <a:r>
              <a:rPr lang="en-CA" dirty="0"/>
              <a:t>How do you observe the machine running?</a:t>
            </a:r>
          </a:p>
          <a:p>
            <a:r>
              <a:rPr lang="en-CA" dirty="0"/>
              <a:t>How do we define the machine?</a:t>
            </a:r>
          </a:p>
          <a:p>
            <a:r>
              <a:rPr lang="en-CA" b="1" dirty="0">
                <a:solidFill>
                  <a:srgbClr val="FF0000"/>
                </a:solidFill>
              </a:rPr>
              <a:t>How does the machine control flow change (planned)?</a:t>
            </a:r>
          </a:p>
          <a:p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How does the machine control flow change (unplanned)?</a:t>
            </a:r>
          </a:p>
          <a:p>
            <a:endParaRPr lang="en-CA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…at some point: what is the </a:t>
            </a:r>
            <a:r>
              <a:rPr lang="en-CA" i="1" dirty="0">
                <a:solidFill>
                  <a:schemeClr val="bg1">
                    <a:lumMod val="65000"/>
                  </a:schemeClr>
                </a:solidFill>
              </a:rPr>
              <a:t>most basic possible</a:t>
            </a:r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 machine…</a:t>
            </a:r>
          </a:p>
          <a:p>
            <a:pPr marL="0" indent="0">
              <a:buNone/>
            </a:pPr>
            <a:endParaRPr lang="en-CA" b="1" dirty="0">
              <a:solidFill>
                <a:srgbClr val="FF0000"/>
              </a:solidFill>
            </a:endParaRPr>
          </a:p>
          <a:p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6FB1E-13D4-AF84-CD57-0DE278036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5975C-2D17-4D58-BAA2-AE3D2D8697E0}" type="datetime1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42B00-C73D-1737-27CD-9FFFCF533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C70CA-A863-53D2-59FA-8884AFF82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339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FAF03-F4B4-4134-5A51-6F0DB80C9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Link to Debuggers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7D3F1-6F22-652B-BB81-DC3CF1AFB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Now that you have a working debugger (or will have one shortly!), you can observe the </a:t>
            </a:r>
            <a:r>
              <a:rPr lang="en-CA" i="1" dirty="0"/>
              <a:t>exact details of the machine operations.</a:t>
            </a:r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BA7C8-993F-A4E3-1964-11A255484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A48A-7496-470B-9F91-603A0C2F46CB}" type="datetime1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7B7A4-2D01-36EE-B09A-30C06F211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CF92B-EFC1-6009-69CC-38B78DBC4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3989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2DA9E-2C0F-F006-9586-A251F54CD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Calling a Function</a:t>
            </a:r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54276E-956B-220B-1ED1-EEA3223A36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2945" y="2505349"/>
            <a:ext cx="10515600" cy="288663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2A346A-8E51-B0B3-2B95-3AC592A58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A48A-7496-470B-9F91-603A0C2F46CB}" type="datetime1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A775C-B37D-99E8-7651-A1F997D95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23B76-4611-AF40-7BCE-4F8F3E206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14789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AAA12-C3F9-2BEC-9E04-6D50833B4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Arm Calling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0017D-F169-6D42-AC93-CD67CA7C6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LR (Link Register) = Return Address</a:t>
            </a:r>
          </a:p>
          <a:p>
            <a:endParaRPr lang="en-CA" dirty="0"/>
          </a:p>
          <a:p>
            <a:r>
              <a:rPr lang="en-CA" dirty="0"/>
              <a:t>bl = Branch with Link (copy address to LR)</a:t>
            </a:r>
          </a:p>
          <a:p>
            <a:endParaRPr lang="en-CA" dirty="0"/>
          </a:p>
          <a:p>
            <a:endParaRPr lang="en-CA" dirty="0"/>
          </a:p>
          <a:p>
            <a:pPr marL="0" indent="0">
              <a:buNone/>
            </a:pPr>
            <a:r>
              <a:rPr lang="en-CA" b="1" dirty="0">
                <a:solidFill>
                  <a:schemeClr val="accent6">
                    <a:lumMod val="75000"/>
                  </a:schemeClr>
                </a:solidFill>
              </a:rPr>
              <a:t>NOTE</a:t>
            </a:r>
            <a:r>
              <a:rPr lang="en-CA" dirty="0">
                <a:solidFill>
                  <a:schemeClr val="accent6">
                    <a:lumMod val="75000"/>
                  </a:schemeClr>
                </a:solidFill>
              </a:rPr>
              <a:t>: The “</a:t>
            </a:r>
            <a:r>
              <a:rPr lang="en-CA" dirty="0" err="1">
                <a:solidFill>
                  <a:schemeClr val="accent6">
                    <a:lumMod val="75000"/>
                  </a:schemeClr>
                </a:solidFill>
              </a:rPr>
              <a:t>lr</a:t>
            </a:r>
            <a:r>
              <a:rPr lang="en-CA" dirty="0">
                <a:solidFill>
                  <a:schemeClr val="accent6">
                    <a:lumMod val="75000"/>
                  </a:schemeClr>
                </a:solidFill>
              </a:rPr>
              <a:t>” is not something that exists on all platforms – x86/x86-64 </a:t>
            </a:r>
            <a:r>
              <a:rPr lang="en-CA" i="1" dirty="0">
                <a:solidFill>
                  <a:schemeClr val="accent6">
                    <a:lumMod val="75000"/>
                  </a:schemeClr>
                </a:solidFill>
              </a:rPr>
              <a:t>does not</a:t>
            </a:r>
            <a:r>
              <a:rPr lang="en-CA" dirty="0">
                <a:solidFill>
                  <a:schemeClr val="accent6">
                    <a:lumMod val="75000"/>
                  </a:schemeClr>
                </a:solidFill>
              </a:rPr>
              <a:t> have this idea and stores the return address on the stack (more on that…)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FF2A9-5D38-3715-6D5A-86D10B72B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A48A-7496-470B-9F91-603A0C2F46CB}" type="datetime1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9E3AB-C327-E84D-A5CB-0A2141037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998AC-9218-8B3E-F447-FE2CB779C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7492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4C5D8-76DD-E7E7-A704-872409244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Calling Conventions</a:t>
            </a:r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F7B7128-3030-0E05-D8BD-25403A22EA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31652"/>
            <a:ext cx="10515600" cy="211869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7CF8C-A775-D935-24A3-D0E09D26E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A48A-7496-470B-9F91-603A0C2F46CB}" type="datetime1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32F30-C3F5-8198-F198-9AC68A2DE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EB637-A619-2A6B-4216-7290EA9C7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5060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4979-E4C6-249F-0656-58F6319E8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Guess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044DB-0185-2030-54F5-D865C1F64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Passed arguments:</a:t>
            </a:r>
          </a:p>
          <a:p>
            <a:pPr lvl="1"/>
            <a:r>
              <a:rPr lang="en-CA" dirty="0"/>
              <a:t>R0 = Argument 0</a:t>
            </a:r>
          </a:p>
          <a:p>
            <a:pPr lvl="1"/>
            <a:r>
              <a:rPr lang="en-CA" dirty="0"/>
              <a:t>R1 = Argument 1</a:t>
            </a:r>
          </a:p>
          <a:p>
            <a:pPr marL="457200" lvl="1" indent="0">
              <a:buNone/>
            </a:pPr>
            <a:endParaRPr lang="en-CA" dirty="0"/>
          </a:p>
          <a:p>
            <a:r>
              <a:rPr lang="en-CA" dirty="0"/>
              <a:t>Return values:</a:t>
            </a:r>
          </a:p>
          <a:p>
            <a:pPr lvl="1"/>
            <a:r>
              <a:rPr lang="en-CA" dirty="0"/>
              <a:t>R0 = Return value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6E23B-00F8-EE78-5867-AEE6E6825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A48A-7496-470B-9F91-603A0C2F46CB}" type="datetime1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EC5B8-B54E-1577-3E24-C539EAD01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AF933-51D0-9E99-52D2-3D5DDA94C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668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0DC13-9D4C-3302-88F0-1F430C1B9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Sidenote: calling conventions &amp; -</a:t>
            </a:r>
            <a:r>
              <a:rPr lang="en-CA" dirty="0" err="1"/>
              <a:t>Os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D5016-11DC-059E-3AA3-0AC784033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A48A-7496-470B-9F91-603A0C2F46CB}" type="datetime1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1D77A-CCE1-5D9D-EBD8-5FB42E207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A884D-A6AE-3764-1A06-3591F8FFC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8</a:t>
            </a:fld>
            <a:endParaRPr lang="en-CA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0EA260A-7528-BD33-D54C-21C3C7DF0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799" y="1406514"/>
            <a:ext cx="11612596" cy="488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708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58CB9-EE44-1044-FB8F-8D61DA277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…what is “</a:t>
            </a:r>
            <a:r>
              <a:rPr lang="en-CA" dirty="0" err="1"/>
              <a:t>sp</a:t>
            </a:r>
            <a:r>
              <a:rPr lang="en-CA" dirty="0"/>
              <a:t>”</a:t>
            </a:r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9B18AD0-86F1-FA69-6AA0-E6E9DEC301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4479" y="1897831"/>
            <a:ext cx="11238462" cy="269866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6581A-11EA-5C6F-C25D-562EE4106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A48A-7496-470B-9F91-603A0C2F46CB}" type="datetime1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D2E7C-88DD-97EE-D451-00F648F9F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A60F2-064A-C64E-9185-3B1CE1AC0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0679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4957B-5249-B897-BE81-92601D79D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Stack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E16F4-CCC1-DC7C-AD98-645FE3DB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A48A-7496-470B-9F91-603A0C2F46CB}" type="datetime1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4E414-644E-2195-755F-BC0863F30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EFC15-0F0F-F099-AB96-079EEFB44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10</a:t>
            </a:fld>
            <a:endParaRPr lang="en-CA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2C759AB-BDAD-F313-AE13-0FCB8C92F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853" y="1461249"/>
            <a:ext cx="8704772" cy="497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86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E4C4E-D62E-8995-7FE4-B51073D54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Stack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64C1B-0594-3E04-C638-9B52B192F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A48A-7496-470B-9F91-603A0C2F46CB}" type="datetime1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1AE9F-6404-DD30-8C1F-001CDA74C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DB56A-0A42-EE1A-AAAB-BCCA914BA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11</a:t>
            </a:fld>
            <a:endParaRPr lang="en-CA"/>
          </a:p>
        </p:txBody>
      </p:sp>
      <p:pic>
        <p:nvPicPr>
          <p:cNvPr id="1026" name="Picture 2" descr="Stacks — Isaac Computer Science">
            <a:extLst>
              <a:ext uri="{FF2B5EF4-FFF2-40B4-BE49-F238E27FC236}">
                <a16:creationId xmlns:a16="http://schemas.microsoft.com/office/drawing/2014/main" id="{5353BE62-48C5-8D58-D624-A4CDE0BFFDE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0509" y="1229631"/>
            <a:ext cx="3709862" cy="4845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942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0831F-5F5A-B1E4-F7C3-DC20507C1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1559A-BBAC-9375-1AC0-32FED350B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Stack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43E9E-85F4-5AAD-9A78-09BC8E693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A48A-7496-470B-9F91-603A0C2F46CB}" type="datetime1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3CCE4-5977-5F62-2DE6-E0E090551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A6BD4-86AA-3E27-9F67-6337014E5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12</a:t>
            </a:fld>
            <a:endParaRPr lang="en-CA"/>
          </a:p>
        </p:txBody>
      </p:sp>
      <p:pic>
        <p:nvPicPr>
          <p:cNvPr id="2052" name="Picture 4" descr="undefined">
            <a:extLst>
              <a:ext uri="{FF2B5EF4-FFF2-40B4-BE49-F238E27FC236}">
                <a16:creationId xmlns:a16="http://schemas.microsoft.com/office/drawing/2014/main" id="{DCA7EC0D-0CA8-F54E-DF1F-DB58FDAF1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312979"/>
            <a:ext cx="4302805" cy="5110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258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A5C06-3209-D293-BCA7-57440D2B4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6A00D-34F9-E417-AD1A-DE1D99082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IMPORTANT: </a:t>
            </a:r>
            <a:r>
              <a:rPr lang="en-CA" dirty="0"/>
              <a:t>Stack is </a:t>
            </a:r>
            <a:r>
              <a:rPr lang="en-CA" u="sng" dirty="0"/>
              <a:t>just memory (RAM)</a:t>
            </a:r>
            <a:r>
              <a:rPr lang="en-CA" dirty="0"/>
              <a:t>. We </a:t>
            </a:r>
            <a:r>
              <a:rPr lang="en-CA" u="sng" dirty="0"/>
              <a:t>give it a special name</a:t>
            </a:r>
            <a:r>
              <a:rPr lang="en-CA" dirty="0"/>
              <a:t> but nothing stops you from read/writing to the stack.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…also nothing stops the stack space from read/writing into memory…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A5083-78A8-FF62-8E2D-A85431486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A48A-7496-470B-9F91-603A0C2F46CB}" type="datetime1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FB43D-9E50-0067-716D-A91C8193E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E3C6B-A1DE-8D17-8B62-2DDB72882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08509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D5E05-2433-5976-B64D-ED422A93C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Stack Growth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2410E-8B73-EF1D-A5EA-DD39FB91C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Stack normally grows </a:t>
            </a:r>
            <a:r>
              <a:rPr lang="en-CA" u="sng" dirty="0"/>
              <a:t>downward</a:t>
            </a:r>
            <a:r>
              <a:rPr lang="en-CA" dirty="0"/>
              <a:t> on newer embedded platforms (Arm/AVR), but check on others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C3B7C-0C73-5779-7EA3-B99431316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A48A-7496-470B-9F91-603A0C2F46CB}" type="datetime1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E4379-6FB8-9090-B3AA-996800556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E0392-6AED-A975-871C-92AE214F8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4987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8C2C1-89F1-F4DC-E48E-863C5D39A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Stack &amp; Variable Storage?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B8E2D-FBCF-E7EF-5FE4-06AA3A203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Stack also stores </a:t>
            </a:r>
            <a:r>
              <a:rPr lang="en-CA" u="sng" dirty="0"/>
              <a:t>local variables</a:t>
            </a:r>
            <a:r>
              <a:rPr lang="en-CA" dirty="0"/>
              <a:t>.</a:t>
            </a:r>
          </a:p>
          <a:p>
            <a:endParaRPr lang="en-CA" dirty="0"/>
          </a:p>
          <a:p>
            <a:r>
              <a:rPr lang="en-CA" b="1" dirty="0"/>
              <a:t>WARNING</a:t>
            </a:r>
            <a:r>
              <a:rPr lang="en-CA" dirty="0"/>
              <a:t>: Stack can </a:t>
            </a:r>
            <a:r>
              <a:rPr lang="en-CA" u="sng" dirty="0"/>
              <a:t>collide</a:t>
            </a:r>
            <a:r>
              <a:rPr lang="en-CA" dirty="0"/>
              <a:t> with memory – this results in memory corruption and other issues.</a:t>
            </a:r>
          </a:p>
          <a:p>
            <a:endParaRPr lang="en-CA" dirty="0"/>
          </a:p>
          <a:p>
            <a:r>
              <a:rPr lang="en-CA" b="1" dirty="0"/>
              <a:t>CHECKING STACK SIZE</a:t>
            </a:r>
            <a:r>
              <a:rPr lang="en-CA" dirty="0"/>
              <a:t>: You can write known patterns to memory &amp; inspect how far “overwritten” they got: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E5BA5-AAD4-6395-17FE-3FB4A30EE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A48A-7496-470B-9F91-603A0C2F46CB}" type="datetime1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B53CA-5526-49C8-B702-204D07A6F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4AE70-305D-7105-2CEE-98883DB34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41502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98BCF-2C67-6A60-1C70-7AF8BE703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A48A-7496-470B-9F91-603A0C2F46CB}" type="datetime1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B19C5-926D-CCF1-0D73-460CB0494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B849C-796A-89CC-CECF-9464297D6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16</a:t>
            </a:fld>
            <a:endParaRPr lang="en-CA"/>
          </a:p>
        </p:txBody>
      </p:sp>
      <p:pic>
        <p:nvPicPr>
          <p:cNvPr id="8" name="Picture 7" descr="A drawing of a stack of paper&#10;&#10;AI-generated content may be incorrect.">
            <a:extLst>
              <a:ext uri="{FF2B5EF4-FFF2-40B4-BE49-F238E27FC236}">
                <a16:creationId xmlns:a16="http://schemas.microsoft.com/office/drawing/2014/main" id="{002D7F7A-08FD-9F7A-E9BB-87600DFD0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862" y="861654"/>
            <a:ext cx="8602275" cy="513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81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FCE0E-6EF7-4540-D629-A8A865377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Prologue &amp; Epilogue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FC323-D93A-A915-5956-215AF27EC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A48A-7496-470B-9F91-603A0C2F46CB}" type="datetime1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0F95A-3B7E-A02B-7265-3809A37A6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9D91E-05DF-405F-E668-619AF5089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17</a:t>
            </a:fld>
            <a:endParaRPr lang="en-CA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04A9B60-B591-A86D-8C1C-E520C3C46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907" y="1327992"/>
            <a:ext cx="8704772" cy="497573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5B18AE9-DD34-037A-EDCC-02EEB6FD355D}"/>
              </a:ext>
            </a:extLst>
          </p:cNvPr>
          <p:cNvSpPr/>
          <p:nvPr/>
        </p:nvSpPr>
        <p:spPr>
          <a:xfrm>
            <a:off x="4802244" y="1947094"/>
            <a:ext cx="4710147" cy="7697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2328FE-F442-5B68-A6D5-126F640C5CEB}"/>
              </a:ext>
            </a:extLst>
          </p:cNvPr>
          <p:cNvSpPr/>
          <p:nvPr/>
        </p:nvSpPr>
        <p:spPr>
          <a:xfrm>
            <a:off x="4815401" y="3137905"/>
            <a:ext cx="4710147" cy="5328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149ED8-EB49-9AE7-CC27-50EFF8B604A4}"/>
              </a:ext>
            </a:extLst>
          </p:cNvPr>
          <p:cNvSpPr txBox="1"/>
          <p:nvPr/>
        </p:nvSpPr>
        <p:spPr>
          <a:xfrm>
            <a:off x="9525548" y="2147323"/>
            <a:ext cx="1064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Prologue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B0E4D8-9FC4-77D2-B104-9D44240B6039}"/>
              </a:ext>
            </a:extLst>
          </p:cNvPr>
          <p:cNvSpPr txBox="1"/>
          <p:nvPr/>
        </p:nvSpPr>
        <p:spPr>
          <a:xfrm>
            <a:off x="9531342" y="3219665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Epilogue</a:t>
            </a:r>
          </a:p>
        </p:txBody>
      </p:sp>
    </p:spTree>
    <p:extLst>
      <p:ext uri="{BB962C8B-B14F-4D97-AF65-F5344CB8AC3E}">
        <p14:creationId xmlns:p14="http://schemas.microsoft.com/office/powerpoint/2010/main" val="9952425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B1369-549C-E1F8-A8C1-E2A2F129C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Copy/Paste Slide (Ignore)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442CA-B660-63B1-0822-45DA09863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somefunction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(int a,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     int b){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    int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i,j,k,l,m,n,o,p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    for (int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&lt; a;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++){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k++;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k += b;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l += 3;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m += 4;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n += 5;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o += 6;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p += 7;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    } 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    return a + b + k + l + m + n + n + o + p;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335A3-A51D-B7FD-49F4-C47F17A08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A48A-7496-470B-9F91-603A0C2F46CB}" type="datetime1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EF172-5F35-0779-6457-E1F306E7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04E11-D88E-DC2B-9D2D-4BE925CEE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59999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890F1-0785-2A16-C786-EC5526D22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2AD26-0C61-E4A6-D155-CB6C3E15D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Caller</a:t>
            </a:r>
            <a:r>
              <a:rPr lang="en-CA" dirty="0"/>
              <a:t>-saved Registers</a:t>
            </a:r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F7E591F-B26B-E19F-4C73-4BB084B5C7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27033" y="1825625"/>
            <a:ext cx="10137933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F30C4-5C24-BAE3-0E35-5F2FE7346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A48A-7496-470B-9F91-603A0C2F46CB}" type="datetime1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8A98B-485E-91F1-2B1E-8E3C6E38D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038C9-50D0-AF19-0740-E87C279B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19</a:t>
            </a:fld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300974-B19A-DB36-2F64-5C4C8794470E}"/>
              </a:ext>
            </a:extLst>
          </p:cNvPr>
          <p:cNvSpPr/>
          <p:nvPr/>
        </p:nvSpPr>
        <p:spPr>
          <a:xfrm>
            <a:off x="6335016" y="3022732"/>
            <a:ext cx="2835298" cy="217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290A94-4F23-3AEF-90B9-90530E2472F1}"/>
              </a:ext>
            </a:extLst>
          </p:cNvPr>
          <p:cNvSpPr/>
          <p:nvPr/>
        </p:nvSpPr>
        <p:spPr>
          <a:xfrm>
            <a:off x="6335016" y="5359167"/>
            <a:ext cx="2835298" cy="217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>
                <a:solidFill>
                  <a:srgbClr val="FF0000"/>
                </a:solidFill>
              </a:ln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35A46BA-68AC-6ADA-0E8D-9370D76F3032}"/>
              </a:ext>
            </a:extLst>
          </p:cNvPr>
          <p:cNvCxnSpPr/>
          <p:nvPr/>
        </p:nvCxnSpPr>
        <p:spPr>
          <a:xfrm flipH="1" flipV="1">
            <a:off x="7752665" y="4433853"/>
            <a:ext cx="2516244" cy="8288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0975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8F0EDE-9D41-3075-C9C1-123BE802D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14" y="1579012"/>
            <a:ext cx="10295223" cy="43098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FBA4C0-0E5C-7DE9-3B7D-1C53B0E4D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Callee</a:t>
            </a:r>
            <a:r>
              <a:rPr lang="en-CA" dirty="0"/>
              <a:t>-saved Registers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8A3ACF-7270-CD23-2F17-AF68AADC1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A48A-7496-470B-9F91-603A0C2F46CB}" type="datetime1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92981-D116-845D-D635-DDCFAC40D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00BA8-3BC9-5B2B-4A0E-CB9469BE9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20</a:t>
            </a:fld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737D98-F894-053B-3E7F-AFDEFC3975E4}"/>
              </a:ext>
            </a:extLst>
          </p:cNvPr>
          <p:cNvSpPr/>
          <p:nvPr/>
        </p:nvSpPr>
        <p:spPr>
          <a:xfrm>
            <a:off x="6288967" y="2101753"/>
            <a:ext cx="2835298" cy="217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66554B-D6F9-5AC3-6017-D450444F653C}"/>
              </a:ext>
            </a:extLst>
          </p:cNvPr>
          <p:cNvSpPr/>
          <p:nvPr/>
        </p:nvSpPr>
        <p:spPr>
          <a:xfrm>
            <a:off x="6288967" y="5053078"/>
            <a:ext cx="2835298" cy="217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8FC81BA-9B8D-9968-C86C-3AB607B08308}"/>
              </a:ext>
            </a:extLst>
          </p:cNvPr>
          <p:cNvSpPr/>
          <p:nvPr/>
        </p:nvSpPr>
        <p:spPr>
          <a:xfrm>
            <a:off x="6288967" y="2302536"/>
            <a:ext cx="2835298" cy="21708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ln>
                <a:solidFill>
                  <a:srgbClr val="FF0000"/>
                </a:solidFill>
              </a:ln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14BEA87-960A-6800-547C-14D23A052332}"/>
              </a:ext>
            </a:extLst>
          </p:cNvPr>
          <p:cNvCxnSpPr/>
          <p:nvPr/>
        </p:nvCxnSpPr>
        <p:spPr>
          <a:xfrm flipH="1" flipV="1">
            <a:off x="7465956" y="4124719"/>
            <a:ext cx="2516244" cy="8288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6374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AAA6B-1DDC-4989-E86C-CFAA2F35C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62157" cy="1325563"/>
          </a:xfrm>
        </p:spPr>
        <p:txBody>
          <a:bodyPr/>
          <a:lstStyle/>
          <a:p>
            <a:r>
              <a:rPr lang="en-CA" dirty="0"/>
              <a:t>ARM Cortex-M Calling Conventions &amp; Registers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0E126-6BA4-3254-A117-FCE379A9F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14800" cy="4351338"/>
          </a:xfrm>
        </p:spPr>
        <p:txBody>
          <a:bodyPr>
            <a:normAutofit/>
          </a:bodyPr>
          <a:lstStyle/>
          <a:p>
            <a:r>
              <a:rPr lang="en-CA" b="1" dirty="0"/>
              <a:t>Arguments:</a:t>
            </a:r>
          </a:p>
          <a:p>
            <a:pPr lvl="1"/>
            <a:r>
              <a:rPr lang="en-CA" b="1" dirty="0"/>
              <a:t>First 4</a:t>
            </a:r>
            <a:r>
              <a:rPr lang="en-CA" dirty="0"/>
              <a:t>: r0 – r3</a:t>
            </a:r>
          </a:p>
          <a:p>
            <a:pPr lvl="1"/>
            <a:r>
              <a:rPr lang="en-CA" b="1" dirty="0"/>
              <a:t>Remaining</a:t>
            </a:r>
            <a:r>
              <a:rPr lang="en-CA" dirty="0"/>
              <a:t>: stack</a:t>
            </a:r>
          </a:p>
          <a:p>
            <a:pPr lvl="1"/>
            <a:endParaRPr lang="en-CA" dirty="0"/>
          </a:p>
          <a:p>
            <a:r>
              <a:rPr lang="en-CA" b="1" dirty="0"/>
              <a:t>Return value </a:t>
            </a:r>
            <a:r>
              <a:rPr lang="en-CA" dirty="0"/>
              <a:t>in r0</a:t>
            </a:r>
          </a:p>
          <a:p>
            <a:endParaRPr lang="en-CA" dirty="0"/>
          </a:p>
          <a:p>
            <a:r>
              <a:rPr lang="en-CA" b="1" dirty="0"/>
              <a:t>Registers</a:t>
            </a:r>
            <a:r>
              <a:rPr lang="en-CA" dirty="0"/>
              <a:t>:</a:t>
            </a:r>
          </a:p>
          <a:p>
            <a:pPr lvl="1"/>
            <a:r>
              <a:rPr lang="en-CA" dirty="0"/>
              <a:t>Caller-saved: r0-r3, r12</a:t>
            </a:r>
          </a:p>
          <a:p>
            <a:pPr lvl="2"/>
            <a:r>
              <a:rPr lang="en-CA" i="1" dirty="0"/>
              <a:t>HINT: r0-r3… see above</a:t>
            </a:r>
          </a:p>
          <a:p>
            <a:pPr lvl="1"/>
            <a:r>
              <a:rPr lang="en-CA" dirty="0"/>
              <a:t>Callee-saved r4-r11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374B0-2361-F088-836F-B34A405FF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A48A-7496-470B-9F91-603A0C2F46CB}" type="datetime1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C3CD0-DB5B-717C-B0E9-8B562E0A8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E6904-DDFB-582E-F3F4-447CEAAB3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21</a:t>
            </a:fld>
            <a:endParaRPr lang="en-CA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7A284C6-3C46-E6FB-BF1A-512830635E0A}"/>
              </a:ext>
            </a:extLst>
          </p:cNvPr>
          <p:cNvSpPr txBox="1">
            <a:spLocks/>
          </p:cNvSpPr>
          <p:nvPr/>
        </p:nvSpPr>
        <p:spPr>
          <a:xfrm>
            <a:off x="4887764" y="1825625"/>
            <a:ext cx="695338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b="1" dirty="0"/>
              <a:t>Link Register (LR)</a:t>
            </a:r>
          </a:p>
          <a:p>
            <a:pPr lvl="1"/>
            <a:r>
              <a:rPr lang="en-CA" b="1" dirty="0"/>
              <a:t>R14</a:t>
            </a:r>
            <a:endParaRPr lang="en-CA" dirty="0"/>
          </a:p>
          <a:p>
            <a:pPr lvl="1"/>
            <a:r>
              <a:rPr lang="en-CA" dirty="0"/>
              <a:t>May be reused as a “regular register”</a:t>
            </a:r>
          </a:p>
          <a:p>
            <a:pPr lvl="1"/>
            <a:endParaRPr lang="en-CA" dirty="0"/>
          </a:p>
          <a:p>
            <a:r>
              <a:rPr lang="en-CA" b="1" dirty="0"/>
              <a:t>Intra-procedure-call scratch register (IP)</a:t>
            </a:r>
          </a:p>
          <a:p>
            <a:pPr lvl="1"/>
            <a:r>
              <a:rPr lang="en-CA" b="1" dirty="0"/>
              <a:t>R12</a:t>
            </a:r>
            <a:endParaRPr lang="en-CA" dirty="0"/>
          </a:p>
          <a:p>
            <a:pPr lvl="1"/>
            <a:r>
              <a:rPr lang="en-CA" dirty="0"/>
              <a:t>May be reused as a “regular register”</a:t>
            </a:r>
          </a:p>
        </p:txBody>
      </p:sp>
    </p:spTree>
    <p:extLst>
      <p:ext uri="{BB962C8B-B14F-4D97-AF65-F5344CB8AC3E}">
        <p14:creationId xmlns:p14="http://schemas.microsoft.com/office/powerpoint/2010/main" val="15767150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0F581-2033-47EB-9D4F-A6EF49755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Stack Trace &amp; Debuggers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B4420-FE0E-C756-77CC-28554FE24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A48A-7496-470B-9F91-603A0C2F46CB}" type="datetime1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6DEA1-F5C0-5D6D-8D48-12FCDD9E5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BE615-F0A2-82DC-C5EF-6265BCB4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22</a:t>
            </a:fld>
            <a:endParaRPr lang="en-CA"/>
          </a:p>
        </p:txBody>
      </p:sp>
      <p:pic>
        <p:nvPicPr>
          <p:cNvPr id="3074" name="Picture 2" descr="How stack trace on ARM works : r/embedded">
            <a:extLst>
              <a:ext uri="{FF2B5EF4-FFF2-40B4-BE49-F238E27FC236}">
                <a16:creationId xmlns:a16="http://schemas.microsoft.com/office/drawing/2014/main" id="{B93C3BE3-E57C-D223-FE3D-6A1F1A194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690688"/>
            <a:ext cx="5122489" cy="3617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4F5F18-B289-AF76-8935-EC065C87A08A}"/>
              </a:ext>
            </a:extLst>
          </p:cNvPr>
          <p:cNvSpPr txBox="1"/>
          <p:nvPr/>
        </p:nvSpPr>
        <p:spPr>
          <a:xfrm>
            <a:off x="6830786" y="2336602"/>
            <a:ext cx="4523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Remember: each of these is a </a:t>
            </a:r>
            <a:r>
              <a:rPr lang="en-CA" i="1" dirty="0"/>
              <a:t>Stack Frame</a:t>
            </a:r>
          </a:p>
        </p:txBody>
      </p:sp>
    </p:spTree>
    <p:extLst>
      <p:ext uri="{BB962C8B-B14F-4D97-AF65-F5344CB8AC3E}">
        <p14:creationId xmlns:p14="http://schemas.microsoft.com/office/powerpoint/2010/main" val="34878645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415E5-851E-8C3B-95A0-294663AE8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Stack Frames &amp; Context Switching</a:t>
            </a:r>
          </a:p>
        </p:txBody>
      </p:sp>
      <p:pic>
        <p:nvPicPr>
          <p:cNvPr id="8" name="Content Placeholder 7" descr="A drawing of a diagram&#10;&#10;AI-generated content may be incorrect.">
            <a:extLst>
              <a:ext uri="{FF2B5EF4-FFF2-40B4-BE49-F238E27FC236}">
                <a16:creationId xmlns:a16="http://schemas.microsoft.com/office/drawing/2014/main" id="{233A61D7-8E5D-6C82-8FFC-4E3D2F8F6A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6390" y="1825625"/>
            <a:ext cx="7799220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6FE97-49AD-E23D-7574-47D29166F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A48A-7496-470B-9F91-603A0C2F46CB}" type="datetime1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E53B0-BA06-96CD-5CCF-35ABE4A69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E1F2A-8A99-682A-C1AA-2A2D9F53E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45364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56BC4-F44B-FA7D-0019-4284B44A2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Context Switching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A40E2-4796-6719-DC0B-F13957B26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We can </a:t>
            </a:r>
            <a:r>
              <a:rPr lang="en-CA" i="1" dirty="0"/>
              <a:t>save</a:t>
            </a:r>
            <a:r>
              <a:rPr lang="en-CA" dirty="0"/>
              <a:t> and </a:t>
            </a:r>
            <a:r>
              <a:rPr lang="en-CA" i="1" dirty="0"/>
              <a:t>restore</a:t>
            </a:r>
            <a:r>
              <a:rPr lang="en-CA" dirty="0"/>
              <a:t> the system context:</a:t>
            </a:r>
          </a:p>
          <a:p>
            <a:pPr lvl="1"/>
            <a:r>
              <a:rPr lang="en-CA" dirty="0"/>
              <a:t>All registers</a:t>
            </a:r>
          </a:p>
          <a:p>
            <a:pPr lvl="1"/>
            <a:r>
              <a:rPr lang="en-CA" dirty="0"/>
              <a:t>Naturally saves &amp; restores stack pointer</a:t>
            </a:r>
          </a:p>
          <a:p>
            <a:pPr lvl="1"/>
            <a:r>
              <a:rPr lang="en-CA" dirty="0"/>
              <a:t>Requires us to setup memory segments so these do not overlap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104EF-61CB-BAE6-2900-A1C53E32D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A48A-7496-470B-9F91-603A0C2F46CB}" type="datetime1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163F5-9869-FA3E-DD0E-C3B2E736B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24961-9C8C-90DA-AE6A-6FC10759E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36985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CD251-7CD7-5E90-1E4D-AF62496C9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Lab &amp; Assignment Explorations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7E4A7-1731-ACE3-DAF1-E64CB7C35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Lab #1 is about debugger usage – but you can also take a look at stack frames in the debugger.</a:t>
            </a:r>
          </a:p>
          <a:p>
            <a:endParaRPr lang="en-CA" dirty="0"/>
          </a:p>
          <a:p>
            <a:r>
              <a:rPr lang="en-CA" dirty="0"/>
              <a:t>You’ll be asked to look in more detail of these stack frames in later Labs &amp; assignments, but I suggest taking a look at it in your first lab to get an understanding for the tools.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7B1FC4-70D8-5FF5-2A5D-B509B741A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A48A-7496-470B-9F91-603A0C2F46CB}" type="datetime1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5B52C-155E-EC6C-FCDA-069923413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83ED2-0A45-585C-9D70-EC7DD0E5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326161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A0B70-17D6-23F4-D3FD-9C0313E46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Stack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4F2DE-68EB-1786-5435-A07C4E3C7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CA" dirty="0"/>
              <a:t>The </a:t>
            </a:r>
            <a:r>
              <a:rPr lang="en-CA" i="1" dirty="0"/>
              <a:t>Stack</a:t>
            </a:r>
            <a:r>
              <a:rPr lang="en-CA" dirty="0"/>
              <a:t> is memory used by functions:</a:t>
            </a:r>
          </a:p>
          <a:p>
            <a:pPr lvl="1"/>
            <a:r>
              <a:rPr lang="en-CA" dirty="0"/>
              <a:t>Arguments</a:t>
            </a:r>
          </a:p>
          <a:p>
            <a:pPr lvl="1"/>
            <a:r>
              <a:rPr lang="en-CA" dirty="0"/>
              <a:t>Local storage</a:t>
            </a:r>
          </a:p>
          <a:p>
            <a:pPr lvl="1"/>
            <a:r>
              <a:rPr lang="en-CA" dirty="0"/>
              <a:t>Return address (sometimes)</a:t>
            </a:r>
          </a:p>
          <a:p>
            <a:r>
              <a:rPr lang="en-CA" dirty="0"/>
              <a:t>On most systems nothing stops </a:t>
            </a:r>
            <a:r>
              <a:rPr lang="en-CA" i="1" dirty="0"/>
              <a:t>stack overrun</a:t>
            </a:r>
            <a:endParaRPr lang="en-CA" dirty="0"/>
          </a:p>
          <a:p>
            <a:r>
              <a:rPr lang="en-CA" dirty="0"/>
              <a:t>The </a:t>
            </a:r>
            <a:r>
              <a:rPr lang="en-CA" i="1" dirty="0"/>
              <a:t>Stack Frame</a:t>
            </a:r>
            <a:r>
              <a:rPr lang="en-CA" dirty="0"/>
              <a:t> is a specific section of memory used by each function.</a:t>
            </a:r>
          </a:p>
          <a:p>
            <a:pPr lvl="1"/>
            <a:r>
              <a:rPr lang="en-CA" dirty="0"/>
              <a:t>We can trace through Stack Frames to understand call order (“stack trace”)</a:t>
            </a:r>
          </a:p>
          <a:p>
            <a:r>
              <a:rPr lang="en-CA" dirty="0"/>
              <a:t>Callee vs. Caller-Saved</a:t>
            </a:r>
          </a:p>
          <a:p>
            <a:pPr lvl="1"/>
            <a:r>
              <a:rPr lang="en-CA" dirty="0"/>
              <a:t>Critical to understand </a:t>
            </a:r>
            <a:r>
              <a:rPr lang="en-CA" u="sng" dirty="0"/>
              <a:t>who</a:t>
            </a:r>
            <a:r>
              <a:rPr lang="en-CA" dirty="0"/>
              <a:t> is responsible for saving register state</a:t>
            </a:r>
          </a:p>
          <a:p>
            <a:pPr lvl="1"/>
            <a:r>
              <a:rPr lang="en-CA" dirty="0"/>
              <a:t>Caller-saved registers normally used for argument passing anyway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E8C4B-6F2C-6829-C81C-6A94EF95D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AA48A-7496-470B-9F91-603A0C2F46CB}" type="datetime1">
              <a:rPr lang="en-CA" smtClean="0"/>
              <a:t>2026-02-02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867CE-DD7E-E6A8-04BF-2EDB32055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E8D50-FFC2-CDB3-9235-AD77EDB45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8966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1937</TotalTime>
  <Words>1055</Words>
  <Application>Microsoft Office PowerPoint</Application>
  <PresentationFormat>Widescreen</PresentationFormat>
  <Paragraphs>215</Paragraphs>
  <Slides>26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Courier New</vt:lpstr>
      <vt:lpstr>Office Theme</vt:lpstr>
      <vt:lpstr>Computer Architecture: The Stack Frame – ISA Meeting The Compiler</vt:lpstr>
      <vt:lpstr>Lectures</vt:lpstr>
      <vt:lpstr>Link to Debuggers</vt:lpstr>
      <vt:lpstr>Calling a Function</vt:lpstr>
      <vt:lpstr>Arm Calling Notes</vt:lpstr>
      <vt:lpstr>Calling Conventions</vt:lpstr>
      <vt:lpstr>Guess so far</vt:lpstr>
      <vt:lpstr>Sidenote: calling conventions &amp; -Os</vt:lpstr>
      <vt:lpstr>…what is “sp”</vt:lpstr>
      <vt:lpstr>The Stack</vt:lpstr>
      <vt:lpstr>The Stack</vt:lpstr>
      <vt:lpstr>The Stack</vt:lpstr>
      <vt:lpstr>The Stack</vt:lpstr>
      <vt:lpstr>Stack Growth</vt:lpstr>
      <vt:lpstr>Stack &amp; Variable Storage?</vt:lpstr>
      <vt:lpstr>PowerPoint Presentation</vt:lpstr>
      <vt:lpstr>Prologue &amp; Epilogue</vt:lpstr>
      <vt:lpstr>Copy/Paste Slide (Ignore)</vt:lpstr>
      <vt:lpstr>Caller-saved Registers</vt:lpstr>
      <vt:lpstr>Callee-saved Registers</vt:lpstr>
      <vt:lpstr>ARM Cortex-M Calling Conventions &amp; Registers</vt:lpstr>
      <vt:lpstr>Stack Trace &amp; Debuggers</vt:lpstr>
      <vt:lpstr>Stack Frames &amp; Context Switching</vt:lpstr>
      <vt:lpstr>Context Switching</vt:lpstr>
      <vt:lpstr>Lab &amp; Assignment Explorations</vt:lpstr>
      <vt:lpstr>Stack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Colin O'Flynn</dc:creator>
  <cp:lastModifiedBy>Colin O'Flynn</cp:lastModifiedBy>
  <cp:revision>14</cp:revision>
  <dcterms:created xsi:type="dcterms:W3CDTF">2026-01-21T00:55:01Z</dcterms:created>
  <dcterms:modified xsi:type="dcterms:W3CDTF">2026-02-02T14:56:55Z</dcterms:modified>
</cp:coreProperties>
</file>