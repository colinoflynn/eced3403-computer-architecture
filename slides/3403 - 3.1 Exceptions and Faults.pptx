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9"/>
  </p:notesMasterIdLst>
  <p:sldIdLst>
    <p:sldId id="256" r:id="rId2"/>
    <p:sldId id="257" r:id="rId3"/>
    <p:sldId id="292" r:id="rId4"/>
    <p:sldId id="262" r:id="rId5"/>
    <p:sldId id="264" r:id="rId6"/>
    <p:sldId id="261" r:id="rId7"/>
    <p:sldId id="265" r:id="rId8"/>
    <p:sldId id="263" r:id="rId9"/>
    <p:sldId id="266" r:id="rId10"/>
    <p:sldId id="267" r:id="rId11"/>
    <p:sldId id="268" r:id="rId12"/>
    <p:sldId id="269" r:id="rId13"/>
    <p:sldId id="270" r:id="rId14"/>
    <p:sldId id="291" r:id="rId15"/>
    <p:sldId id="272" r:id="rId16"/>
    <p:sldId id="293" r:id="rId17"/>
    <p:sldId id="258" r:id="rId18"/>
    <p:sldId id="260" r:id="rId19"/>
    <p:sldId id="259" r:id="rId20"/>
    <p:sldId id="289" r:id="rId21"/>
    <p:sldId id="288" r:id="rId22"/>
    <p:sldId id="290" r:id="rId23"/>
    <p:sldId id="294" r:id="rId24"/>
    <p:sldId id="275" r:id="rId25"/>
    <p:sldId id="276" r:id="rId26"/>
    <p:sldId id="277" r:id="rId27"/>
    <p:sldId id="280" r:id="rId28"/>
    <p:sldId id="278" r:id="rId29"/>
    <p:sldId id="279" r:id="rId30"/>
    <p:sldId id="273" r:id="rId31"/>
    <p:sldId id="281" r:id="rId32"/>
    <p:sldId id="283" r:id="rId33"/>
    <p:sldId id="284" r:id="rId34"/>
    <p:sldId id="285" r:id="rId35"/>
    <p:sldId id="286" r:id="rId36"/>
    <p:sldId id="282" r:id="rId37"/>
    <p:sldId id="287" r:id="rId3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008" autoAdjust="0"/>
    <p:restoredTop sz="94660"/>
  </p:normalViewPr>
  <p:slideViewPr>
    <p:cSldViewPr snapToGrid="0">
      <p:cViewPr varScale="1">
        <p:scale>
          <a:sx n="94" d="100"/>
          <a:sy n="94" d="100"/>
        </p:scale>
        <p:origin x="115" y="11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notesMaster" Target="notesMasters/notesMaster1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heme" Target="theme/theme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tableStyles" Target="tableStyle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B400AA-101D-490E-9D4E-C89A20702DB7}" type="datetimeFigureOut">
              <a:rPr lang="en-CA" smtClean="0"/>
              <a:t>2026-02-10</a:t>
            </a:fld>
            <a:endParaRPr lang="en-CA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CA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CA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E3026F-2F57-4911-B7AF-7A689FB873B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826315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52C467B-3273-4353-9FBF-06D73C896B70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89908605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8E3026F-2F57-4911-B7AF-7A689FB873B1}" type="slidenum">
              <a:rPr lang="en-CA" smtClean="0"/>
              <a:t>31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0239797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5C20F8-4895-94C2-8FA2-66E560A3DD3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713532E-8058-C5C8-2506-01C74706A4D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2E20B31-ECF3-1B78-C88E-2148C3B109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9B572FD-17C4-4195-9A46-AE8481F14B8C}" type="datetime1">
              <a:rPr lang="en-CA" smtClean="0"/>
              <a:t>2026-02-10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C11BAD8-50A4-147C-2CD6-F410FAA50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C7736EB-F489-50CF-C0A0-04EB3CCF9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3437897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A7FFDF-AD45-70DA-DBFC-39804BF3F9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12D168-5FB0-0976-8F46-0E62B223093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31FBDD-8676-E7A6-9767-AB25F16F1E4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ED474CF-B37F-47E1-344C-FD179A8E2F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19AB56-2130-1784-C270-DE61E834A0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80190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E6BE87-9176-DC6D-7E6D-AED5F1B4A3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6EC646E-906C-DE6E-F460-1AC7588A236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D40353-D6E5-F285-0B15-2DB721750A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74D8C76-B400-4F53-8805-742D98EC80C2}" type="datetime1">
              <a:rPr lang="en-CA" smtClean="0"/>
              <a:t>2026-02-10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80EB755-C4F9-EE1D-2472-393D0DBAB5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453E9-EC5D-3196-40C9-35FA1716D7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316980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5D1056-F3E9-D796-0188-DB7047707C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4928AF2-16F2-34A3-7D15-A28F084D7F9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7200C63-AE05-0355-4E48-2A59004280B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E35A27-2CA0-DA96-DE81-30258991976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18C1D2-65BD-4030-B320-CFCAC7C2CF77}" type="datetime1">
              <a:rPr lang="en-CA" smtClean="0"/>
              <a:t>2026-02-10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CA28EA9-8003-DD37-3C59-F8052CFF86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64FAD97-AD46-797F-A73B-AF034EAEA2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332389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48877C-0091-8117-3240-C15EE80976F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604D97-6B5B-4B40-4797-44D7356E7D7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F4142B3-B5E2-E0F0-2A8C-A393861C7D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C2CD81-F1F0-AA13-E635-956E2240D58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FFAB232-10B9-29C1-5C2E-2889B2CE38E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D6067B-4CB1-4ADC-0871-7F90B6EA98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216206-5BA6-460D-9780-A5A1F3FC520F}" type="datetime1">
              <a:rPr lang="en-CA" smtClean="0"/>
              <a:t>2026-02-10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972D8B8-EC13-2FE1-4AC1-DA30BE305D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04DC02A-2269-D62D-A2F6-4EF60E0918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946083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6441633-4B93-3962-0831-3F79E9ABFD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F8BB15-178F-4440-5C62-42B7740A352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04C05AF-8116-461A-AD38-E69AB126D756}" type="datetime1">
              <a:rPr lang="en-CA" smtClean="0"/>
              <a:t>2026-02-10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D4C8318-4472-251E-FF42-F757E5147B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9E9102C-45D2-0478-F645-1A88A7A117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02568211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CA25DD8B-C610-0C5A-B29C-D1B094483C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E6A9D55-1BF1-40D6-87EC-FFE4362AD15D}" type="datetime1">
              <a:rPr lang="en-CA" smtClean="0"/>
              <a:t>2026-02-10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AF6B6D3F-76F9-6977-7F11-BE45F2EC0A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25A9206-29F6-A2E5-EDBE-A7B2B18CD4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9411743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D47E14-E8C6-533B-D648-163F2F54E0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FA9B72-F8AD-A435-F12C-6AD72286F3A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A7432E5-2EAF-0407-8CD8-9B140466B1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002223D-CE1E-B50D-3F81-A623369198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EA4D12-9B66-4D3F-BFEA-EB6939410680}" type="datetime1">
              <a:rPr lang="en-CA" smtClean="0"/>
              <a:t>2026-02-10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BEA51B3-198E-8FF6-7810-ABDEB19C29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17FA87D-3783-15DA-A1C4-C367745B7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77592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C1862D-A78F-02BE-CD84-089873284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1463AF3-1586-FA07-67E3-0C17B2BA1EE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72F072-26D7-47EA-01F2-D095376AD2A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D645053-29D5-8E85-C3A3-7FE2C872683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90ECAEB-FDAC-4944-A700-E5025FBDCFB8}" type="datetime1">
              <a:rPr lang="en-CA" smtClean="0"/>
              <a:t>2026-02-10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6246A4-4AA2-74B5-1BEF-D6B2F5758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B84B5FB-02D4-18AB-B564-1BE49B678CA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498006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CECA42-0B39-62AD-0647-16416EEC94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7A3D16F-BC9B-504D-20C9-5B9DDFCF7F8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07887E-9BD0-50E7-7855-5A6892289E1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FF888EE-D2E8-458C-B025-86AB65CB2342}" type="datetime1">
              <a:rPr lang="en-CA" smtClean="0"/>
              <a:t>2026-02-10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152909D-9B71-3004-5853-0865DFCA6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FEAFD81-4FDD-5E6A-7EF0-A0AF3D9E8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3302450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040C928-04C0-FFD8-6FB7-52544F5E6A9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37AE9ED-B388-AC41-6080-6F91ABFBFF8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255B1A-AF28-25B7-80B2-2EF9AF2FA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4ED418E-0BAA-477E-AE93-7DEEFAFBE002}" type="datetime1">
              <a:rPr lang="en-CA" smtClean="0"/>
              <a:t>2026-02-10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DA1F440-1924-B1AA-DA08-FF6D4D5C92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ED20E6E-67ED-9028-647B-5F9E902E69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231013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A25F461-5089-4FA6-F30A-FEECC0377B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2A3026-0C22-41E8-F2F9-B44737EDE9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B52E1FB-D0DD-0542-98E0-F8AD6C0C622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E9C524-F283-4997-8372-EC621E6F8B97}" type="datetime1">
              <a:rPr lang="en-CA" smtClean="0"/>
              <a:t>2026-02-10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BF4F27-F292-F8E1-8EEB-4B04DCFE556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46F6AB7-62BE-C74A-0375-1B18D98B1BB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F25CC40-D0F6-4666-ABAA-DE78F621EF61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231222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hyperlink" Target="https://medium.com/@levinet.nicolai/bit-banding-in-arm-cortex-m-a-brilliant-feature-but-why-was-it-abandoned-139f7ed04685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hyperlink" Target="https://developer.arm.com/documentation/107706/0100/System-exceptions/Fault-exceptions-and-their-causes" TargetMode="Externa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A40332-C356-1B1E-0B6B-B1E4E812BA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38201" y="1122363"/>
            <a:ext cx="10665278" cy="2387600"/>
          </a:xfrm>
        </p:spPr>
        <p:txBody>
          <a:bodyPr>
            <a:normAutofit fontScale="90000"/>
          </a:bodyPr>
          <a:lstStyle/>
          <a:p>
            <a:r>
              <a:rPr lang="en-CA" dirty="0"/>
              <a:t>Computer Architecture:</a:t>
            </a:r>
            <a:br>
              <a:rPr lang="en-CA" dirty="0"/>
            </a:br>
            <a:r>
              <a:rPr lang="en-CA" i="1" dirty="0"/>
              <a:t>Exceptions &amp; Interrupts</a:t>
            </a:r>
            <a:br>
              <a:rPr lang="en-CA" i="1" dirty="0"/>
            </a:br>
            <a:r>
              <a:rPr lang="en-CA" i="1" dirty="0"/>
              <a:t>Part 2: Atomics, Nesting, and Faults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3A56E0B-2030-B06C-4A76-67F52B07E9C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CA" dirty="0"/>
              <a:t>Dr. Colin O’Flynn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286F8-7046-B580-89F1-4F0575352D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0105903-4A42-43A9-9B07-0A555E8C01D2}" type="datetime1">
              <a:rPr lang="en-CA" smtClean="0"/>
              <a:t>2026-02-10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D94224-0D5F-188B-78F3-15A498B54B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6417701-B7BA-E8D0-BE9E-EECDE6DB3B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59493068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19ADA9-27CC-7B3F-58A4-E641BF35C50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Lectures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B49C3AB-3011-E0FF-7C9F-80D0766372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11259509" cy="4351338"/>
          </a:xfrm>
        </p:spPr>
        <p:txBody>
          <a:bodyPr/>
          <a:lstStyle/>
          <a:p>
            <a:r>
              <a:rPr lang="en-CA" dirty="0"/>
              <a:t>How does a program run on a machine?</a:t>
            </a:r>
          </a:p>
          <a:p>
            <a:r>
              <a:rPr lang="en-CA" dirty="0"/>
              <a:t>How do you compile from high-level code to machine code?</a:t>
            </a:r>
          </a:p>
          <a:p>
            <a:r>
              <a:rPr lang="en-CA" dirty="0"/>
              <a:t>How do you observe the machine running?</a:t>
            </a:r>
          </a:p>
          <a:p>
            <a:r>
              <a:rPr lang="en-CA" dirty="0"/>
              <a:t>How do we define the machine?</a:t>
            </a:r>
          </a:p>
          <a:p>
            <a:r>
              <a:rPr lang="en-CA" dirty="0"/>
              <a:t>How does the machine control flow change (planned)?</a:t>
            </a:r>
          </a:p>
          <a:p>
            <a:r>
              <a:rPr lang="en-CA" dirty="0"/>
              <a:t>How does the machine control flow change (unplanned)?</a:t>
            </a:r>
          </a:p>
          <a:p>
            <a:r>
              <a:rPr lang="en-CA" b="1" dirty="0">
                <a:solidFill>
                  <a:srgbClr val="FF0000"/>
                </a:solidFill>
              </a:rPr>
              <a:t>How does the machine control flow change (chaotic unplanned)?</a:t>
            </a:r>
          </a:p>
          <a:p>
            <a:pPr marL="0" indent="0">
              <a:buNone/>
            </a:pPr>
            <a:endParaRPr lang="en-CA" b="1" dirty="0">
              <a:solidFill>
                <a:srgbClr val="FF0000"/>
              </a:solidFill>
            </a:endParaRPr>
          </a:p>
          <a:p>
            <a:endParaRPr lang="en-CA" dirty="0">
              <a:solidFill>
                <a:schemeClr val="bg1">
                  <a:lumMod val="65000"/>
                </a:schemeClr>
              </a:solidFill>
            </a:endParaRPr>
          </a:p>
          <a:p>
            <a:pPr marL="0" indent="0">
              <a:buNone/>
            </a:pPr>
            <a:endParaRPr lang="en-CA" b="1" dirty="0">
              <a:solidFill>
                <a:srgbClr val="FF0000"/>
              </a:solidFill>
            </a:endParaRPr>
          </a:p>
          <a:p>
            <a:endParaRPr lang="en-CA" b="1" dirty="0">
              <a:solidFill>
                <a:srgbClr val="FF000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316FB1E-13D4-AF84-CD57-0DE2780360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165975C-2D17-4D58-BAA2-AE3D2D8697E0}" type="datetime1">
              <a:rPr lang="en-CA" smtClean="0"/>
              <a:t>2026-02-10</a:t>
            </a:fld>
            <a:endParaRPr lang="en-CA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A42B00-C73D-1737-27CD-9FFFCF5338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CC70CA-A863-53D2-59FA-8884AFF82B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3FE6AF-7EC0-4502-9F71-820950EA8DB2}" type="slidenum">
              <a:rPr lang="en-CA" smtClean="0"/>
              <a:t>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233931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B77D0BE7-4694-CD55-3E95-74FD481A6A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Part 2-1: Atomic Operations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5E47AE3F-48FA-0266-9C2A-99E9E758E49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B13E5D-CE0A-F087-DE9A-D9004151DE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08D73E-A817-C83D-977D-8BDCAD7F6A7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71F8322-0AA1-004D-AEF5-16154195F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863083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F575E0-698E-F699-0742-556FD47A8CB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Interrupting Work</a:t>
            </a:r>
          </a:p>
        </p:txBody>
      </p:sp>
      <p:pic>
        <p:nvPicPr>
          <p:cNvPr id="8" name="Content Placeholder 7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B064B550-F837-2599-37A4-5C7DC7DFB6FF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71212" y="3429000"/>
            <a:ext cx="6592845" cy="1923466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13FB99-E3EC-2ED2-697D-8FE6C9CDF0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2C91165-CFFD-FDBF-B2B4-1144A42ADD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AC2AA2-BBE7-A975-F71B-55319129F8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4</a:t>
            </a:fld>
            <a:endParaRPr lang="en-CA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8251D98-7B8E-9E16-8087-218D94EEF72F}"/>
              </a:ext>
            </a:extLst>
          </p:cNvPr>
          <p:cNvSpPr txBox="1"/>
          <p:nvPr/>
        </p:nvSpPr>
        <p:spPr>
          <a:xfrm>
            <a:off x="1771212" y="2194283"/>
            <a:ext cx="678892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CA" sz="2400" dirty="0">
                <a:latin typeface="Courier New" panose="02070309020205020404" pitchFamily="49" charset="0"/>
                <a:cs typeface="Courier New" panose="02070309020205020404" pitchFamily="49" charset="0"/>
              </a:rPr>
              <a:t>counter++;</a:t>
            </a:r>
          </a:p>
        </p:txBody>
      </p:sp>
    </p:spTree>
    <p:extLst>
      <p:ext uri="{BB962C8B-B14F-4D97-AF65-F5344CB8AC3E}">
        <p14:creationId xmlns:p14="http://schemas.microsoft.com/office/powerpoint/2010/main" val="312901763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0CAE55-0A6A-362A-5E21-3687C9DB3D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Race Condition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98504F-73DA-D972-815C-446DF9778F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694089" y="1825625"/>
            <a:ext cx="2743201" cy="697139"/>
          </a:xfrm>
        </p:spPr>
        <p:txBody>
          <a:bodyPr/>
          <a:lstStyle/>
          <a:p>
            <a:pPr marL="0" indent="0">
              <a:buNone/>
            </a:pPr>
            <a:r>
              <a:rPr lang="en-CA" dirty="0"/>
              <a:t>Main Function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04AD10B-53F8-5456-B321-6801254BDA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ED3EEFF-C0AD-A33E-FA70-7D51A45DFB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28BC024-E43F-5F67-6C1D-2B3199436A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5</a:t>
            </a:fld>
            <a:endParaRPr lang="en-CA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727BC59C-7DE1-5B6C-AE9B-6751994E7FB5}"/>
              </a:ext>
            </a:extLst>
          </p:cNvPr>
          <p:cNvSpPr txBox="1">
            <a:spLocks/>
          </p:cNvSpPr>
          <p:nvPr/>
        </p:nvSpPr>
        <p:spPr>
          <a:xfrm>
            <a:off x="7536996" y="1825624"/>
            <a:ext cx="2743201" cy="69713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Arial" panose="020B0604020202020204" pitchFamily="34" charset="0"/>
              <a:buNone/>
            </a:pPr>
            <a:r>
              <a:rPr lang="en-CA" dirty="0"/>
              <a:t>Interrupt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92B77609-95F7-FE73-DA65-B96EFCCF9376}"/>
              </a:ext>
            </a:extLst>
          </p:cNvPr>
          <p:cNvSpPr/>
          <p:nvPr/>
        </p:nvSpPr>
        <p:spPr>
          <a:xfrm>
            <a:off x="4167368" y="2812384"/>
            <a:ext cx="3056164" cy="693964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CA" dirty="0"/>
              <a:t>Variable in memory</a:t>
            </a:r>
          </a:p>
        </p:txBody>
      </p:sp>
    </p:spTree>
    <p:extLst>
      <p:ext uri="{BB962C8B-B14F-4D97-AF65-F5344CB8AC3E}">
        <p14:creationId xmlns:p14="http://schemas.microsoft.com/office/powerpoint/2010/main" val="38029511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C0E14F-F1DB-6F30-E9A6-1BD97D7BA9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Introducing Atomic Operations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5E10F00-D4DF-ACF6-BE57-B77FDFD0B09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An </a:t>
            </a:r>
            <a:r>
              <a:rPr lang="en-CA" i="1" dirty="0"/>
              <a:t>atomic operation</a:t>
            </a:r>
            <a:r>
              <a:rPr lang="en-CA" dirty="0"/>
              <a:t> is one which is guaranteed to </a:t>
            </a:r>
            <a:r>
              <a:rPr lang="en-CA" i="1" dirty="0"/>
              <a:t>complete without interruption</a:t>
            </a:r>
            <a:endParaRPr lang="en-CA" dirty="0"/>
          </a:p>
          <a:p>
            <a:endParaRPr lang="en-CA" dirty="0"/>
          </a:p>
          <a:p>
            <a:r>
              <a:rPr lang="en-CA" dirty="0"/>
              <a:t>The previous example of a load, increment, store is a classic example of something which </a:t>
            </a:r>
            <a:r>
              <a:rPr lang="en-CA" i="1" dirty="0"/>
              <a:t>may</a:t>
            </a:r>
            <a:r>
              <a:rPr lang="en-CA" dirty="0"/>
              <a:t> require an atomic operation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359897-CCF3-F4CF-AF46-D08A365DAE9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9B9792-46DD-B593-05A3-32D98F658C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121C2B0-D404-A5D7-8C2A-CD18FE02C3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838003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2C7F54-FCB1-82D0-6048-284B5A13822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 #1: No Interrupts!</a:t>
            </a:r>
          </a:p>
        </p:txBody>
      </p:sp>
      <p:pic>
        <p:nvPicPr>
          <p:cNvPr id="8" name="Content Placeholder 7" descr="A close-up of a sign&#10;&#10;AI-generated content may be incorrect.">
            <a:extLst>
              <a:ext uri="{FF2B5EF4-FFF2-40B4-BE49-F238E27FC236}">
                <a16:creationId xmlns:a16="http://schemas.microsoft.com/office/drawing/2014/main" id="{73640B80-F803-9FD4-BC7E-C8D82AC4A9A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78798" y="3192273"/>
            <a:ext cx="3743847" cy="109552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2FFEAB5-CF37-898A-097A-E0E0D86EFE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8BE161C-23CA-374F-BE3C-E752B84E67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53210CD-776C-DA12-2D2B-2BC427EAF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7</a:t>
            </a:fld>
            <a:endParaRPr lang="en-CA"/>
          </a:p>
        </p:txBody>
      </p:sp>
      <p:pic>
        <p:nvPicPr>
          <p:cNvPr id="10" name="Picture 9" descr="A screenshot of a computer program&#10;&#10;AI-generated content may be incorrect.">
            <a:extLst>
              <a:ext uri="{FF2B5EF4-FFF2-40B4-BE49-F238E27FC236}">
                <a16:creationId xmlns:a16="http://schemas.microsoft.com/office/drawing/2014/main" id="{0666D9EA-6AB7-A485-650E-216926D98F0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60170" y="1690688"/>
            <a:ext cx="5753903" cy="42773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169429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C661E8-8651-F9C6-E0C4-97E8D2B048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Arm CPSID / CPSIE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34E959-015B-43E5-91D3-E8A58DD258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/>
              <a:t>CPSID = Change Processor State - Interrupt Disable</a:t>
            </a:r>
          </a:p>
          <a:p>
            <a:pPr marL="0" indent="0">
              <a:buNone/>
            </a:pPr>
            <a:r>
              <a:rPr lang="en-CA" dirty="0"/>
              <a:t>CPSIE  = Change Processor State - Interrupt Enable</a:t>
            </a:r>
          </a:p>
          <a:p>
            <a:pPr marL="0" indent="0">
              <a:buNone/>
            </a:pPr>
            <a:endParaRPr lang="en-CA" dirty="0"/>
          </a:p>
          <a:p>
            <a:pPr marL="0" indent="0">
              <a:buNone/>
            </a:pPr>
            <a:r>
              <a:rPr lang="en-CA" dirty="0"/>
              <a:t>	</a:t>
            </a:r>
            <a:r>
              <a:rPr lang="en-CA" dirty="0" err="1"/>
              <a:t>i</a:t>
            </a:r>
            <a:r>
              <a:rPr lang="en-CA" dirty="0"/>
              <a:t> = configurable interrupts (NMI, Faults still enabled)</a:t>
            </a:r>
          </a:p>
          <a:p>
            <a:pPr marL="0" indent="0">
              <a:buNone/>
            </a:pPr>
            <a:r>
              <a:rPr lang="en-CA" dirty="0"/>
              <a:t>	f = faults (too be discussed)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1720EF0-7239-6386-1098-E90EB5164C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8F6142-7802-C65D-69AA-E5AC493BD5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61D39E-11D4-C281-0626-234ACEE219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8896931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80EE89-D330-26F9-AACE-8184244147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 #2: Arm Exclusive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7CE6AF3-B226-59A8-A217-8B7DF4318B9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78418" y="1825625"/>
            <a:ext cx="4775382" cy="4351338"/>
          </a:xfrm>
        </p:spPr>
        <p:txBody>
          <a:bodyPr/>
          <a:lstStyle/>
          <a:p>
            <a:r>
              <a:rPr lang="en-CA" dirty="0"/>
              <a:t>Load value + mark “exclusive”</a:t>
            </a:r>
          </a:p>
          <a:p>
            <a:r>
              <a:rPr lang="en-US" dirty="0"/>
              <a:t>Attempt store</a:t>
            </a:r>
          </a:p>
          <a:p>
            <a:r>
              <a:rPr lang="en-US" dirty="0"/>
              <a:t>Store succeeds only if no interference occurred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dirty="0"/>
              <a:t>If Interference:</a:t>
            </a:r>
          </a:p>
          <a:p>
            <a:r>
              <a:rPr lang="en-CA" dirty="0"/>
              <a:t>Store fails</a:t>
            </a:r>
          </a:p>
          <a:p>
            <a:r>
              <a:rPr lang="en-CA" dirty="0"/>
              <a:t>Software retries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D941C47-191E-901F-EB2A-F875575136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3AFD01-B59D-FB22-02FB-FC40308AAD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93A5784-EDFA-9F8B-9B21-3AF2FF6E83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9</a:t>
            </a:fld>
            <a:endParaRPr lang="en-CA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96BEB0C-34CB-3FC1-18B4-563D3C9C9162}"/>
              </a:ext>
            </a:extLst>
          </p:cNvPr>
          <p:cNvSpPr txBox="1"/>
          <p:nvPr/>
        </p:nvSpPr>
        <p:spPr>
          <a:xfrm>
            <a:off x="624950" y="2804171"/>
            <a:ext cx="6045565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int </a:t>
            </a:r>
            <a:r>
              <a:rPr lang="en-US" sz="2000" b="1" dirty="0" err="1">
                <a:latin typeface="Courier New" panose="02070309020205020404" pitchFamily="49" charset="0"/>
                <a:cs typeface="Courier New" panose="02070309020205020404" pitchFamily="49" charset="0"/>
              </a:rPr>
              <a:t>atomic_inc</a:t>
            </a:r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(int *p) {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int old, status;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do {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old = __LDREXW(p);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    status = __STREXW(old + 1, p);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} while (status != 0);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    return old + 1;</a:t>
            </a:r>
          </a:p>
          <a:p>
            <a:r>
              <a:rPr lang="en-US" sz="2000" b="1" dirty="0">
                <a:latin typeface="Courier New" panose="02070309020205020404" pitchFamily="49" charset="0"/>
                <a:cs typeface="Courier New" panose="02070309020205020404" pitchFamily="49" charset="0"/>
              </a:rPr>
              <a:t>}</a:t>
            </a:r>
            <a:endParaRPr lang="en-CA" sz="2000" b="1" dirty="0">
              <a:latin typeface="Courier New" panose="02070309020205020404" pitchFamily="49" charset="0"/>
              <a:cs typeface="Courier New" panose="020703090202050204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7449069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621A11-66C0-980F-CE2B-76B1B73B73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Exclusive Access vs. Disabling Interrupts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1576D6-1D8D-822D-D8F2-193CB20F24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Disabling interrupts can be a risk in a system with time-critical operations</a:t>
            </a:r>
          </a:p>
          <a:p>
            <a:endParaRPr lang="en-CA" dirty="0"/>
          </a:p>
          <a:p>
            <a:r>
              <a:rPr lang="en-CA" b="1" i="1" dirty="0"/>
              <a:t>Global</a:t>
            </a:r>
            <a:r>
              <a:rPr lang="en-CA" dirty="0"/>
              <a:t> interrupt disabling can be very impactful on a complex system</a:t>
            </a:r>
          </a:p>
          <a:p>
            <a:endParaRPr lang="en-CA" dirty="0"/>
          </a:p>
          <a:p>
            <a:r>
              <a:rPr lang="en-CA" dirty="0"/>
              <a:t>Exclusive access avoids these problems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65EFB85-34E0-0E3C-BD3E-9C3B9AED4A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163FA7-7FFE-D9F9-4020-19277925A70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8A55A92-1140-F363-B8EF-DEF62C2379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30677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45D34A-2C0D-B5E5-137E-7CD8093D20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Solution #3: Bit-Banding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573A9-4DB7-93A9-1E32-003B59697E2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5018247"/>
            <a:ext cx="10515600" cy="1229993"/>
          </a:xfrm>
        </p:spPr>
        <p:txBody>
          <a:bodyPr/>
          <a:lstStyle/>
          <a:p>
            <a:r>
              <a:rPr lang="en-CA" dirty="0">
                <a:hlinkClick r:id="rId2"/>
              </a:rPr>
              <a:t>https://medium.com/@levinet.nicolai/bit-banding-in-arm-cortex-m-a-brilliant-feature-but-why-was-it-abandoned-139f7ed04685</a:t>
            </a:r>
            <a:r>
              <a:rPr lang="en-CA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E7B0A38-F3ED-C2BC-4724-966473F74C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F67C75C-4F54-15CF-DEFA-145942071A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8E8DBA9-93E0-0B57-15FB-5824C0CE3C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11</a:t>
            </a:fld>
            <a:endParaRPr lang="en-CA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1FB7C7E8-C8CB-4C12-A3E1-4E8F04B8583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28813" y="1690688"/>
            <a:ext cx="8334375" cy="32194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2822770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D5F688-138A-C52C-76E7-9A64B9AFF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Bit Banding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AFE8B6-5C6C-D5F6-57E2-FA2A181885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Each word represents a </a:t>
            </a:r>
            <a:r>
              <a:rPr lang="en-CA" u="sng" dirty="0"/>
              <a:t>single bit</a:t>
            </a:r>
            <a:r>
              <a:rPr lang="en-CA" i="1" dirty="0"/>
              <a:t> </a:t>
            </a:r>
            <a:r>
              <a:rPr lang="en-CA" dirty="0"/>
              <a:t>- this allows writes &amp; clears to affect only one bit</a:t>
            </a:r>
          </a:p>
          <a:p>
            <a:endParaRPr lang="en-CA" dirty="0"/>
          </a:p>
          <a:p>
            <a:r>
              <a:rPr lang="en-CA" dirty="0"/>
              <a:t>This is </a:t>
            </a:r>
            <a:r>
              <a:rPr lang="en-CA" u="sng" dirty="0"/>
              <a:t>different</a:t>
            </a:r>
            <a:r>
              <a:rPr lang="en-CA" dirty="0"/>
              <a:t> from devices which often offer a “set” and “clear” bit register (which is more efficient)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9B3702-E022-FD08-55C0-70E989A427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075936-AD83-D8A9-808A-125C8199AB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315ADF-A737-5A1D-3C9E-D25C90ACC2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12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0555458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6E9947-6D6D-7815-2247-8DDDB3BEF43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2151" y="304444"/>
            <a:ext cx="10515600" cy="1325563"/>
          </a:xfrm>
        </p:spPr>
        <p:txBody>
          <a:bodyPr/>
          <a:lstStyle/>
          <a:p>
            <a:r>
              <a:rPr lang="en-CA" dirty="0"/>
              <a:t>Solution #4: Set / Clear Registers </a:t>
            </a:r>
            <a:r>
              <a:rPr lang="en-CA" i="1" dirty="0"/>
              <a:t>(Peripherals Only)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37B9EEE-386D-7B1A-C9D4-B6AF8CEBED0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7A5922-2EB7-AD12-876C-878F463BC9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730A5D-BF0D-5A7A-1A4A-CA111C92D81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13</a:t>
            </a:fld>
            <a:endParaRPr lang="en-CA"/>
          </a:p>
        </p:txBody>
      </p:sp>
      <p:pic>
        <p:nvPicPr>
          <p:cNvPr id="8" name="Picture 7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AE18CF31-F904-764A-B726-F5575E33E3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98403" y="1630007"/>
            <a:ext cx="8094254" cy="4635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234137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1D2C80-BF9B-CA38-D8D3-B34941C1FB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Reminder on bit set/clear in registers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0E34B1B-1303-852B-F407-18470173C75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With </a:t>
            </a:r>
            <a:r>
              <a:rPr lang="en-CA" u="sng" dirty="0"/>
              <a:t>registers</a:t>
            </a:r>
            <a:r>
              <a:rPr lang="en-CA" dirty="0"/>
              <a:t> we can set or clear bits directly</a:t>
            </a:r>
          </a:p>
          <a:p>
            <a:r>
              <a:rPr lang="en-CA" dirty="0"/>
              <a:t>Remember as Arm is load-store architecture we </a:t>
            </a:r>
            <a:r>
              <a:rPr lang="en-CA" b="1" dirty="0"/>
              <a:t>always have load and store when dealing with memory</a:t>
            </a:r>
          </a:p>
          <a:p>
            <a:r>
              <a:rPr lang="en-CA" dirty="0"/>
              <a:t>Atomic operations are normally referencing atomic operations </a:t>
            </a:r>
            <a:r>
              <a:rPr lang="en-CA" b="1" dirty="0"/>
              <a:t>on memory</a:t>
            </a:r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C6302F-CEE4-731B-15F7-E8CA90604E5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C503F9-4227-B866-B090-0F1EC7E860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ADE44AA-DA48-92D7-4D95-9D05587CB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14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82648499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176426E-8521-3D84-E8CB-2E9A1D001B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Atomic Operation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3A9A1C9-09D0-A4BF-E54B-9D9F0720B9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If disabling interrupts, keep this very short</a:t>
            </a:r>
          </a:p>
          <a:p>
            <a:pPr lvl="1"/>
            <a:r>
              <a:rPr lang="en-CA" dirty="0"/>
              <a:t>Watch out for function calls would normally avoid! And other things that “could” be slow</a:t>
            </a:r>
          </a:p>
          <a:p>
            <a:pPr lvl="1"/>
            <a:endParaRPr lang="en-CA" dirty="0"/>
          </a:p>
          <a:p>
            <a:r>
              <a:rPr lang="en-CA" dirty="0"/>
              <a:t>Difficult to debug problems with this as debugging may change timing</a:t>
            </a:r>
          </a:p>
          <a:p>
            <a:endParaRPr lang="en-CA" dirty="0"/>
          </a:p>
          <a:p>
            <a:r>
              <a:rPr lang="en-CA" dirty="0"/>
              <a:t>Atomic operations can be needed inside of interrupts if we can nest….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CB4B2BA-1BAC-402E-38E2-6D1D74B951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CF20A5-9AB5-DD4B-712C-2C835923D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EECA8-79DD-FC35-FAD6-4636BC02B9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6460449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C7FAFD-6CDE-D59A-311C-B47A25B851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6655057-6D5E-741C-ED6C-14258A0153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Part 2-2: Nesting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A3D7AF9-FAC0-24A6-E571-B32DC1BFAE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DFA77B9-27A7-0EDB-7490-60E520D5B3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8FAFC4C-8A29-B788-8EE3-2AA86A31E3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51DEFF-F05B-9CCC-D239-44C8070BB5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4226021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2A7C53-6172-5565-FA4F-D0C97A10DC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Reminder: Exception Entry / Returns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ED72B05-EE4B-5E74-868B-C4C70EF5AE0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EDA3FF-FFB9-5EAA-AAE6-E4E99F0AC7C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CFFA330-10D8-E02C-D984-E9D21B7DDB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17</a:t>
            </a:fld>
            <a:endParaRPr lang="en-CA"/>
          </a:p>
        </p:txBody>
      </p:sp>
      <p:pic>
        <p:nvPicPr>
          <p:cNvPr id="7" name="Content Placeholder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3DB04E86-0622-9953-CBB7-67B1434C5E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200" y="1846017"/>
            <a:ext cx="10329361" cy="4074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84490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495B7C-881C-ED80-729A-1E47F016FC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Endless Interrupt Risks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A153C8-F2CD-1ADA-4FC5-DDCC55C780C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970768"/>
          </a:xfrm>
        </p:spPr>
        <p:txBody>
          <a:bodyPr>
            <a:normAutofit fontScale="92500" lnSpcReduction="10000"/>
          </a:bodyPr>
          <a:lstStyle/>
          <a:p>
            <a:r>
              <a:rPr lang="en-CA" dirty="0"/>
              <a:t>Interrupts which re-occur too quickly have a risk of </a:t>
            </a:r>
            <a:r>
              <a:rPr lang="en-CA" u="sng" dirty="0"/>
              <a:t>overloading a system</a:t>
            </a:r>
            <a:r>
              <a:rPr lang="en-CA" dirty="0"/>
              <a:t>.</a:t>
            </a:r>
          </a:p>
          <a:p>
            <a:endParaRPr lang="en-CA" dirty="0"/>
          </a:p>
          <a:p>
            <a:r>
              <a:rPr lang="en-CA" dirty="0"/>
              <a:t>Some architectures such as AVR disable global interrupts initially, letting the user decide to re-enable them: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7B6096-62A7-9E8E-D0B7-5FAB4DCE9A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2026-02-10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9149E50-5C20-20A6-D08C-C8C139AA1C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BA8BC4A-62AF-EB8D-0E43-884856AE9B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18</a:t>
            </a:fld>
            <a:endParaRPr lang="en-CA"/>
          </a:p>
        </p:txBody>
      </p:sp>
      <p:pic>
        <p:nvPicPr>
          <p:cNvPr id="8" name="Picture 7" descr="A close-up of a text&#10;&#10;AI-generated content may be incorrect.">
            <a:extLst>
              <a:ext uri="{FF2B5EF4-FFF2-40B4-BE49-F238E27FC236}">
                <a16:creationId xmlns:a16="http://schemas.microsoft.com/office/drawing/2014/main" id="{6CD34ACA-AE5D-CFA5-67F4-D73C3E20B1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3628" y="3931330"/>
            <a:ext cx="11831701" cy="1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432356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AF3EE5C-4CDC-BF9D-9AE7-C076EE28234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Exception Priorities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2F35A9C-6B4F-6818-0F2B-ECBDB7F8AE6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199" y="1825625"/>
            <a:ext cx="4792926" cy="4351338"/>
          </a:xfrm>
        </p:spPr>
        <p:txBody>
          <a:bodyPr>
            <a:normAutofit fontScale="92500" lnSpcReduction="10000"/>
          </a:bodyPr>
          <a:lstStyle/>
          <a:p>
            <a:r>
              <a:rPr lang="en-CA" i="1" dirty="0"/>
              <a:t>Most</a:t>
            </a:r>
            <a:r>
              <a:rPr lang="en-CA" dirty="0"/>
              <a:t> interrupts have a changeable priority</a:t>
            </a:r>
          </a:p>
          <a:p>
            <a:endParaRPr lang="en-CA" i="1" dirty="0"/>
          </a:p>
          <a:p>
            <a:r>
              <a:rPr lang="en-CA" dirty="0"/>
              <a:t>Remember lower number = higher priority</a:t>
            </a:r>
          </a:p>
          <a:p>
            <a:endParaRPr lang="en-CA" dirty="0"/>
          </a:p>
          <a:p>
            <a:r>
              <a:rPr lang="en-CA" dirty="0"/>
              <a:t>Set priority based on:</a:t>
            </a:r>
          </a:p>
          <a:p>
            <a:pPr lvl="1"/>
            <a:r>
              <a:rPr lang="en-CA" dirty="0"/>
              <a:t>Interrupt handler speed (short code can have higher priority)</a:t>
            </a:r>
          </a:p>
          <a:p>
            <a:pPr lvl="1"/>
            <a:r>
              <a:rPr lang="en-CA" dirty="0"/>
              <a:t>System requirements</a:t>
            </a:r>
          </a:p>
          <a:p>
            <a:pPr lvl="1"/>
            <a:r>
              <a:rPr lang="en-CA" dirty="0"/>
              <a:t>Interrupt frequency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3ECC1AF-D440-7C37-3131-ABB2042A5A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8C250B4-0844-0983-AA01-E176E9A9031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21FABA-10BF-5ECF-65E5-AD07333F21D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19</a:t>
            </a:fld>
            <a:endParaRPr lang="en-CA"/>
          </a:p>
        </p:txBody>
      </p:sp>
      <p:pic>
        <p:nvPicPr>
          <p:cNvPr id="7" name="Content Placeholder 7" descr="A white box with black text&#10;&#10;AI-generated content may be incorrect.">
            <a:extLst>
              <a:ext uri="{FF2B5EF4-FFF2-40B4-BE49-F238E27FC236}">
                <a16:creationId xmlns:a16="http://schemas.microsoft.com/office/drawing/2014/main" id="{61656BB4-B804-8E10-8FEF-F92AD8EF1C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42383" y="2006638"/>
            <a:ext cx="6401283" cy="339812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9ACC7503-25AC-A847-3F3C-C36110049626}"/>
              </a:ext>
            </a:extLst>
          </p:cNvPr>
          <p:cNvSpPr/>
          <p:nvPr/>
        </p:nvSpPr>
        <p:spPr>
          <a:xfrm>
            <a:off x="5894614" y="2006638"/>
            <a:ext cx="473529" cy="3912469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3FC49D7-C946-6174-142A-D9492E7BE236}"/>
              </a:ext>
            </a:extLst>
          </p:cNvPr>
          <p:cNvSpPr/>
          <p:nvPr/>
        </p:nvSpPr>
        <p:spPr>
          <a:xfrm>
            <a:off x="5710066" y="4183873"/>
            <a:ext cx="1217007" cy="23682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709208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35CBB26-A227-B54A-F2F7-8983FF86D8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Higher Priority Interrupts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3F2625-0AA3-06B2-420B-8857B4CB50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A367780-ADB1-0711-874F-3B57F894B8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D66315-B389-84BA-EF2E-77A1AAAF68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20</a:t>
            </a:fld>
            <a:endParaRPr lang="en-CA"/>
          </a:p>
        </p:txBody>
      </p:sp>
      <p:pic>
        <p:nvPicPr>
          <p:cNvPr id="6146" name="Picture 2" descr="Figure 2: Nested Interrupt support">
            <a:extLst>
              <a:ext uri="{FF2B5EF4-FFF2-40B4-BE49-F238E27FC236}">
                <a16:creationId xmlns:a16="http://schemas.microsoft.com/office/drawing/2014/main" id="{DCC211CD-DD9C-0F58-3484-448D42691616}"/>
              </a:ext>
            </a:extLst>
          </p:cNvPr>
          <p:cNvPicPr>
            <a:picLocks noGrp="1" noChangeAspect="1" noChangeArrowheads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41676" y="2187462"/>
            <a:ext cx="8954844" cy="360101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45823875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3EC44E4-124D-DAB8-67E6-A8F46DB866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Lower Priority Interrupts &amp; Tail Chaining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8C1635-5EF0-1A0A-479C-DAB2D76229B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 </a:t>
            </a:r>
            <a:r>
              <a:rPr lang="en-CA" i="1" dirty="0"/>
              <a:t>lower priority</a:t>
            </a:r>
            <a:r>
              <a:rPr lang="en-CA" dirty="0"/>
              <a:t> interrupt that occurs during a </a:t>
            </a:r>
            <a:r>
              <a:rPr lang="en-CA" i="1" dirty="0"/>
              <a:t>higher priority</a:t>
            </a:r>
            <a:r>
              <a:rPr lang="en-CA" dirty="0"/>
              <a:t> interrupt will start executing at the end of the interrupt.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20EE7A1-AFD7-DF5D-D13B-6864CD4018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A3AAAF-9512-5FC5-43EE-134DB5681A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5E1E89-7F9A-B297-49C4-27C75D7B95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21</a:t>
            </a:fld>
            <a:endParaRPr lang="en-CA"/>
          </a:p>
        </p:txBody>
      </p:sp>
      <p:pic>
        <p:nvPicPr>
          <p:cNvPr id="5122" name="Picture 2" descr="Tail Chain Control by NVIC">
            <a:extLst>
              <a:ext uri="{FF2B5EF4-FFF2-40B4-BE49-F238E27FC236}">
                <a16:creationId xmlns:a16="http://schemas.microsoft.com/office/drawing/2014/main" id="{780541F5-C3AA-4954-A53E-D786AD97E99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9490"/>
          <a:stretch>
            <a:fillRect/>
          </a:stretch>
        </p:blipFill>
        <p:spPr bwMode="auto">
          <a:xfrm>
            <a:off x="569459" y="3001737"/>
            <a:ext cx="10285301" cy="19213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4" name="Picture 4" descr="Tail Chain Control by NVIC">
            <a:extLst>
              <a:ext uri="{FF2B5EF4-FFF2-40B4-BE49-F238E27FC236}">
                <a16:creationId xmlns:a16="http://schemas.microsoft.com/office/drawing/2014/main" id="{84FE4458-44C3-F501-0364-0379D57576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31590" y="2666207"/>
            <a:ext cx="3876675" cy="1143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05838591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DE98DC-BA22-C03B-50A9-2A027090EB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F7A1DC-3119-1FD2-71F1-16D60221B8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Lower Priority Interrupts &amp; Tail Chaining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581310-96C5-C03D-4C1B-793D28BEE08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A </a:t>
            </a:r>
            <a:r>
              <a:rPr lang="en-CA" i="1" dirty="0"/>
              <a:t>lower priority</a:t>
            </a:r>
            <a:r>
              <a:rPr lang="en-CA" dirty="0"/>
              <a:t> interrupt that occurs during a </a:t>
            </a:r>
            <a:r>
              <a:rPr lang="en-CA" i="1" dirty="0"/>
              <a:t>higher priority</a:t>
            </a:r>
            <a:r>
              <a:rPr lang="en-CA" dirty="0"/>
              <a:t> interrupt will start executing at the end of the interrupt.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60CF30-AACA-F190-06DF-E3B918636E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B953E3-8851-4AB2-BE5A-1D2D5B444A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BB9BC3B-A733-5907-DEBE-B906B957C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22</a:t>
            </a:fld>
            <a:endParaRPr lang="en-CA"/>
          </a:p>
        </p:txBody>
      </p:sp>
      <p:pic>
        <p:nvPicPr>
          <p:cNvPr id="5122" name="Picture 2" descr="Tail Chain Control by NVIC">
            <a:extLst>
              <a:ext uri="{FF2B5EF4-FFF2-40B4-BE49-F238E27FC236}">
                <a16:creationId xmlns:a16="http://schemas.microsoft.com/office/drawing/2014/main" id="{DD730D26-27E5-608F-0CAF-EBC055D1A65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9459" y="3001737"/>
            <a:ext cx="10285301" cy="31752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8572246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C833E8-8002-42C2-03F9-0DA379FB9A9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A6D963D-4A3C-6378-95F1-0872F2F6461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Part 2-3: Faults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1B6F47F8-8601-70C3-3D34-FFD37FEB6B1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524BDEB-7618-BB67-D842-ABE5CAA209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145AFD-7622-21E1-00C7-4E4E5C49F02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2183CB-75B9-CF9E-5FFC-736B8F74E2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193386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F2DA4-7AFD-C134-E602-63B954363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Faults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17480E8-0D48-2EA1-9264-3FCA95E3AD7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CPU Needs to deal with issues such as:</a:t>
            </a:r>
          </a:p>
          <a:p>
            <a:pPr lvl="1"/>
            <a:r>
              <a:rPr lang="en-CA" dirty="0"/>
              <a:t>Invalid instructions</a:t>
            </a:r>
          </a:p>
          <a:p>
            <a:pPr lvl="1"/>
            <a:r>
              <a:rPr lang="en-CA" dirty="0"/>
              <a:t>Accessing memory that doesn’t exist</a:t>
            </a:r>
          </a:p>
          <a:p>
            <a:pPr lvl="1"/>
            <a:r>
              <a:rPr lang="en-CA" dirty="0"/>
              <a:t>Conflicts on the bus</a:t>
            </a:r>
          </a:p>
          <a:p>
            <a:pPr lvl="1"/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503C10D-9EF2-1B47-9F92-E298CAA958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228822-439B-F5A1-BC4F-AB4C3A3077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8FD63F-7580-4525-5BE3-E794A287B7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24</a:t>
            </a:fld>
            <a:endParaRPr lang="en-CA"/>
          </a:p>
        </p:txBody>
      </p:sp>
      <p:pic>
        <p:nvPicPr>
          <p:cNvPr id="8" name="Picture 7" descr="A close up of a computer chip&#10;&#10;AI-generated content may be incorrect.">
            <a:extLst>
              <a:ext uri="{FF2B5EF4-FFF2-40B4-BE49-F238E27FC236}">
                <a16:creationId xmlns:a16="http://schemas.microsoft.com/office/drawing/2014/main" id="{E486005C-3D4B-A1FF-183D-DDF6F8721F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20578" y="4001294"/>
            <a:ext cx="4405415" cy="20531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276214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B8D32A-0033-F051-E580-41EA58E633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Faults vs. Aborts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7A205F4-0246-7449-5E16-3D3850615F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3600" b="1" dirty="0">
                <a:solidFill>
                  <a:schemeClr val="bg1">
                    <a:lumMod val="50000"/>
                  </a:schemeClr>
                </a:solidFill>
              </a:rPr>
              <a:t>Exception: </a:t>
            </a:r>
            <a:r>
              <a:rPr lang="en-US" sz="3600" dirty="0">
                <a:solidFill>
                  <a:schemeClr val="bg1">
                    <a:lumMod val="50000"/>
                  </a:schemeClr>
                </a:solidFill>
              </a:rPr>
              <a:t>any hardware-initiated control transfer</a:t>
            </a:r>
          </a:p>
          <a:p>
            <a:r>
              <a:rPr lang="en-US" sz="3600" b="1" dirty="0">
                <a:solidFill>
                  <a:schemeClr val="bg1">
                    <a:lumMod val="50000"/>
                  </a:schemeClr>
                </a:solidFill>
              </a:rPr>
              <a:t>Interrupt</a:t>
            </a:r>
            <a:r>
              <a:rPr lang="en-US" sz="3600" dirty="0">
                <a:solidFill>
                  <a:schemeClr val="bg1">
                    <a:lumMod val="50000"/>
                  </a:schemeClr>
                </a:solidFill>
              </a:rPr>
              <a:t>: asynchronous exception</a:t>
            </a:r>
          </a:p>
          <a:p>
            <a:r>
              <a:rPr lang="en-US" sz="3600" b="1" dirty="0">
                <a:solidFill>
                  <a:srgbClr val="C00000"/>
                </a:solidFill>
              </a:rPr>
              <a:t>Fault</a:t>
            </a:r>
            <a:r>
              <a:rPr lang="en-US" sz="3600" dirty="0">
                <a:solidFill>
                  <a:srgbClr val="C00000"/>
                </a:solidFill>
              </a:rPr>
              <a:t>: exception caused by illegal execution</a:t>
            </a:r>
          </a:p>
          <a:p>
            <a:r>
              <a:rPr lang="en-US" sz="3600" b="1" dirty="0">
                <a:solidFill>
                  <a:srgbClr val="C00000"/>
                </a:solidFill>
              </a:rPr>
              <a:t>Abort</a:t>
            </a:r>
            <a:r>
              <a:rPr lang="en-US" sz="3600" dirty="0">
                <a:solidFill>
                  <a:srgbClr val="C00000"/>
                </a:solidFill>
              </a:rPr>
              <a:t>: fault related to memory access</a:t>
            </a:r>
            <a:endParaRPr lang="en-CA" sz="3600" dirty="0">
              <a:solidFill>
                <a:srgbClr val="C00000"/>
              </a:solidFill>
            </a:endParaRP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C8A49E-D8ED-4951-565D-F2F97346C1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391F6B-F2A1-A25B-91BE-A7C8D78E8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9C3202-1838-6C5F-3F96-7C768009A1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041408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1D079C-D270-F540-F836-BCF961374BF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Cortex-M Faults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EDC293-C7F4-F1C5-A34D-F00EAA3622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 err="1"/>
              <a:t>HardFault</a:t>
            </a:r>
            <a:r>
              <a:rPr lang="en-US" dirty="0"/>
              <a:t> (catch-all)</a:t>
            </a:r>
          </a:p>
          <a:p>
            <a:r>
              <a:rPr lang="en-US" dirty="0"/>
              <a:t>Memory faults</a:t>
            </a:r>
          </a:p>
          <a:p>
            <a:r>
              <a:rPr lang="en-US" dirty="0"/>
              <a:t>Bus faults</a:t>
            </a:r>
          </a:p>
          <a:p>
            <a:r>
              <a:rPr lang="en-US" dirty="0"/>
              <a:t>Usage faults</a:t>
            </a:r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38BD75-2171-F8AB-6603-E9521C3313A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307E2D-8D14-99F8-3457-3374150DD79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769B90D-70D6-ADC0-E694-A5913FB7C2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26</a:t>
            </a:fld>
            <a:endParaRPr lang="en-CA"/>
          </a:p>
        </p:txBody>
      </p:sp>
      <p:pic>
        <p:nvPicPr>
          <p:cNvPr id="7" name="Content Placeholder 7" descr="A white box with black text&#10;&#10;AI-generated content may be incorrect.">
            <a:extLst>
              <a:ext uri="{FF2B5EF4-FFF2-40B4-BE49-F238E27FC236}">
                <a16:creationId xmlns:a16="http://schemas.microsoft.com/office/drawing/2014/main" id="{E6AE7F44-710C-7D1F-E81C-EA26657F215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32090" y="2463838"/>
            <a:ext cx="6401283" cy="33981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496717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E6D7F2-066E-C70C-06E8-62F189870C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Hard Fault: The Safety Net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6B96CFA-4298-E35B-C2F0-3D2D24A5D07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 err="1"/>
              <a:t>HardFault</a:t>
            </a:r>
            <a:r>
              <a:rPr lang="en-US" dirty="0"/>
              <a:t> occurs when:</a:t>
            </a:r>
          </a:p>
          <a:p>
            <a:r>
              <a:rPr lang="en-US" dirty="0"/>
              <a:t>A fault is not handled</a:t>
            </a:r>
          </a:p>
          <a:p>
            <a:r>
              <a:rPr lang="en-US" dirty="0"/>
              <a:t>Multiple faults happen simultaneously</a:t>
            </a:r>
          </a:p>
          <a:p>
            <a:r>
              <a:rPr lang="en-US" dirty="0"/>
              <a:t>System is in an unrecoverable state</a:t>
            </a:r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5CC49CC-707B-4A7D-E69A-16B199A257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5C3318F-B208-F55D-4910-D471495FE1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BDCE0A-2BE7-A2CD-51F6-DE1FB0F71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6889680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F3D691-799D-B90A-1C0E-28D91EA0E3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Memory Faults: Illegal Access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F3440E-3A73-88C3-D5CC-E459FA2A78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Memory faults occur when:</a:t>
            </a:r>
          </a:p>
          <a:p>
            <a:r>
              <a:rPr lang="en-US" dirty="0"/>
              <a:t>Accessing unmapped memory</a:t>
            </a:r>
          </a:p>
          <a:p>
            <a:r>
              <a:rPr lang="en-US" dirty="0"/>
              <a:t>Violating memory protection</a:t>
            </a:r>
          </a:p>
          <a:p>
            <a:r>
              <a:rPr lang="en-US" dirty="0"/>
              <a:t>Accessing forbidden regions</a:t>
            </a:r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r>
              <a:rPr lang="en-US" i="1" dirty="0"/>
              <a:t>General Ideal: Not all addresses are valid memory.</a:t>
            </a:r>
            <a:endParaRPr lang="en-CA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280584-A311-A173-ADD8-9059D3C04F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FE9670-32D7-23D1-45F2-5955E0542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9EE662-CAC8-3C7B-A824-A4F30BB65A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28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9578281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3E38D6-102D-1DD5-90E5-6A1A326F1E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Bus Faults: Access Failed Mid-Flight</a:t>
            </a:r>
            <a:endParaRPr lang="en-CA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F5CDD09-F8D1-E3AC-3459-D583EDBDDFD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Bus faults occur when:</a:t>
            </a:r>
          </a:p>
          <a:p>
            <a:r>
              <a:rPr lang="en-US" dirty="0"/>
              <a:t>Address is valid</a:t>
            </a:r>
          </a:p>
          <a:p>
            <a:r>
              <a:rPr lang="en-US" dirty="0"/>
              <a:t>Memory system fails</a:t>
            </a:r>
          </a:p>
          <a:p>
            <a:r>
              <a:rPr lang="en-US" dirty="0"/>
              <a:t>Peripheral error</a:t>
            </a:r>
          </a:p>
          <a:p>
            <a:r>
              <a:rPr lang="en-US" dirty="0"/>
              <a:t>Bus timeout</a:t>
            </a:r>
          </a:p>
          <a:p>
            <a:r>
              <a:rPr lang="en-US" dirty="0"/>
              <a:t>External memory failure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i="1" dirty="0"/>
              <a:t>General Idea: Address was mapped correctly but some other error</a:t>
            </a:r>
            <a:endParaRPr lang="en-CA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C609BB-68A6-6FEF-4644-22736014CE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4448FB-C7D6-E6AA-B2A3-948B996C18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7725B-B17D-B122-C987-0F9E7D5B06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29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25420930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37442-90CA-C029-AFCF-3FCA89DA5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Usage Fault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32E867-9573-58DC-3654-4C7E4BBD0D8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Usage faults occur when:</a:t>
            </a:r>
          </a:p>
          <a:p>
            <a:r>
              <a:rPr lang="en-US" dirty="0"/>
              <a:t>Invalid instruction encoding</a:t>
            </a:r>
          </a:p>
          <a:p>
            <a:r>
              <a:rPr lang="en-US" dirty="0"/>
              <a:t>Undefined instruction</a:t>
            </a:r>
          </a:p>
          <a:p>
            <a:r>
              <a:rPr lang="en-US" dirty="0"/>
              <a:t>Divide by zero (optional)</a:t>
            </a:r>
          </a:p>
          <a:p>
            <a:r>
              <a:rPr lang="en-US" dirty="0"/>
              <a:t>Unaligned access (optional)</a:t>
            </a:r>
          </a:p>
          <a:p>
            <a:endParaRPr lang="en-US" dirty="0"/>
          </a:p>
          <a:p>
            <a:pPr marL="0" indent="0">
              <a:buNone/>
            </a:pPr>
            <a:r>
              <a:rPr lang="en-US" i="1" dirty="0"/>
              <a:t>General Ideal: CPU cannot execute meaningless instruction</a:t>
            </a:r>
            <a:endParaRPr lang="en-CA" i="1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2942E5E-D629-C5AB-B5AC-01244E16E4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DF5483E-84EE-B79C-9E25-C818555375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80EE9C7-22B7-217B-0931-4A066BE53E4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30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282870358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person in a red shirt&#10;&#10;AI-generated content may be incorrect.">
            <a:extLst>
              <a:ext uri="{FF2B5EF4-FFF2-40B4-BE49-F238E27FC236}">
                <a16:creationId xmlns:a16="http://schemas.microsoft.com/office/drawing/2014/main" id="{A6DA84A1-8A53-9A10-3F4B-5ACEAC21EF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51021" y="681037"/>
            <a:ext cx="6608142" cy="536697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E10B108-BED3-AB8A-1C72-AECEA19903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 err="1"/>
              <a:t>HardFault</a:t>
            </a:r>
            <a:r>
              <a:rPr lang="en-CA" dirty="0"/>
              <a:t> Handler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4FA62B-93B6-3B0E-491E-FBB4F1CBC9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What do we do when a </a:t>
            </a:r>
            <a:r>
              <a:rPr lang="en-CA" dirty="0" err="1"/>
              <a:t>HardFault</a:t>
            </a:r>
            <a:r>
              <a:rPr lang="en-CA" dirty="0"/>
              <a:t> occurs?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9B0A8F7-B6EF-23E8-0926-A55C69640F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EA98A5-4FDB-307C-AC99-FFD8A3794C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8870C1-074C-DB6D-0E72-F964AD5626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31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4144119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99BE0-B343-7363-8BA6-F3DBB4A9B8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Remember The Exception Stack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EF7D073-28A9-A7D9-4360-A6CA6751CF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82AC08-855F-9F57-641E-9B2E8C38B8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FCEEFA-BE42-0A99-5C52-7CBDE28C97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32</a:t>
            </a:fld>
            <a:endParaRPr lang="en-CA"/>
          </a:p>
        </p:txBody>
      </p:sp>
      <p:pic>
        <p:nvPicPr>
          <p:cNvPr id="7" name="Content Placeholder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0559F17C-ADBD-F081-75AF-F29597479A19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46017"/>
            <a:ext cx="10329361" cy="4074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0641657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9FDAE7-8DB3-992C-41B8-008EA44123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Stack Inspection Saves Us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6CBF967-6F21-01A2-B9A3-48337063A8A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The above registers were pushed onto the stack at the moment of the exception.</a:t>
            </a:r>
          </a:p>
          <a:p>
            <a:endParaRPr lang="en-CA" dirty="0"/>
          </a:p>
          <a:p>
            <a:r>
              <a:rPr lang="en-CA" dirty="0"/>
              <a:t>We can analyze the exception to understand </a:t>
            </a:r>
            <a:r>
              <a:rPr lang="en-CA" u="sng" dirty="0"/>
              <a:t>what</a:t>
            </a:r>
            <a:r>
              <a:rPr lang="en-CA" dirty="0"/>
              <a:t> was on the stack at that moment in time.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6C4D77-CF7B-82CA-C24A-4F113C5D60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A8FCCA-0C17-A012-D321-3552A9A0D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0BF226-9725-D4DF-21E8-91012B3AEC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33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77814231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15C003-8CE4-521B-AE4A-F06AB22E675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CA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05FB6F4-2330-CC09-5897-791EF3C284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695EE69-A280-5D54-D6DD-AB4E49ACF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75ED75-A6A7-83B1-0A2A-8F97E1C3F3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34</a:t>
            </a:fld>
            <a:endParaRPr lang="en-CA"/>
          </a:p>
        </p:txBody>
      </p:sp>
      <p:pic>
        <p:nvPicPr>
          <p:cNvPr id="8" name="Picture 7" descr="A computer code with blue text&#10;&#10;AI-generated content may be incorrect.">
            <a:extLst>
              <a:ext uri="{FF2B5EF4-FFF2-40B4-BE49-F238E27FC236}">
                <a16:creationId xmlns:a16="http://schemas.microsoft.com/office/drawing/2014/main" id="{0D4FB97B-F28E-D7D2-39E9-803709DCE4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7627" y="1216932"/>
            <a:ext cx="6477904" cy="1629002"/>
          </a:xfrm>
          <a:prstGeom prst="rect">
            <a:avLst/>
          </a:prstGeom>
        </p:spPr>
      </p:pic>
      <p:pic>
        <p:nvPicPr>
          <p:cNvPr id="10" name="Picture 9" descr="A screen shot of a computer code&#10;&#10;AI-generated content may be incorrect.">
            <a:extLst>
              <a:ext uri="{FF2B5EF4-FFF2-40B4-BE49-F238E27FC236}">
                <a16:creationId xmlns:a16="http://schemas.microsoft.com/office/drawing/2014/main" id="{1C650119-00DD-A993-F044-519274FDACA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2935" y="2982459"/>
            <a:ext cx="5249065" cy="3510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8144186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21E9E-08CE-DA0F-1326-57CCB297D9C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Demo: Triggering Faults</a:t>
            </a:r>
          </a:p>
        </p:txBody>
      </p:sp>
      <p:pic>
        <p:nvPicPr>
          <p:cNvPr id="8" name="Content Placeholder 7" descr="A computer code with text&#10;&#10;AI-generated content may be incorrect.">
            <a:extLst>
              <a:ext uri="{FF2B5EF4-FFF2-40B4-BE49-F238E27FC236}">
                <a16:creationId xmlns:a16="http://schemas.microsoft.com/office/drawing/2014/main" id="{18207A2F-70CE-F65D-913F-CB0671A4B4B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110092" y="1825625"/>
            <a:ext cx="9971816" cy="4351338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799C460-A1CE-328E-8936-804F7EA41F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E302FE-8851-3EC9-466F-EAD139538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4446C4-84A4-99CF-E0E6-4E099B7F6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35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88272858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89CF7-A096-077A-F870-4F7F2FEFC0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More information on registers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6B6C2FE-9429-DD7C-CE82-A4B2E0851BB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CA" dirty="0">
                <a:hlinkClick r:id="rId2"/>
              </a:rPr>
              <a:t>Several other registers we can inspect – see:</a:t>
            </a:r>
          </a:p>
          <a:p>
            <a:pPr marL="0" indent="0">
              <a:buNone/>
            </a:pPr>
            <a:endParaRPr lang="en-CA" dirty="0">
              <a:hlinkClick r:id="rId2"/>
            </a:endParaRPr>
          </a:p>
          <a:p>
            <a:pPr marL="0" indent="0">
              <a:buNone/>
            </a:pPr>
            <a:r>
              <a:rPr lang="en-CA" dirty="0">
                <a:hlinkClick r:id="rId2"/>
              </a:rPr>
              <a:t>https://developer.arm.com/documentation/107706/0100/System-exceptions/Fault-exceptions-and-their-causes</a:t>
            </a:r>
            <a:r>
              <a:rPr lang="en-CA" dirty="0"/>
              <a:t> 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03AE45C-AF21-91B9-BF58-68C8A1203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FC44C80-82C2-E8C7-6DC1-60A81CCBEB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78070D3-0E2F-38A2-E6C9-9FB0916C7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36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495488327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C9EE6F-5E0B-235F-E3F1-884EFDF3BC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CA" dirty="0"/>
              <a:t>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3650431-C8CE-8DE5-815A-DC7DF3669D6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CA" dirty="0"/>
              <a:t>Interrupts &amp; Exceptions can introduce </a:t>
            </a:r>
            <a:r>
              <a:rPr lang="en-CA" i="1" dirty="0"/>
              <a:t>race conditions</a:t>
            </a:r>
            <a:endParaRPr lang="en-CA" dirty="0"/>
          </a:p>
          <a:p>
            <a:r>
              <a:rPr lang="en-CA" dirty="0"/>
              <a:t>Using </a:t>
            </a:r>
            <a:r>
              <a:rPr lang="en-CA" i="1" dirty="0"/>
              <a:t>atomic access</a:t>
            </a:r>
            <a:r>
              <a:rPr lang="en-CA" dirty="0"/>
              <a:t> in sections where we cannot have interrupts is important</a:t>
            </a:r>
          </a:p>
          <a:p>
            <a:r>
              <a:rPr lang="en-CA" dirty="0"/>
              <a:t>Most architectures have some form of </a:t>
            </a:r>
            <a:r>
              <a:rPr lang="en-CA" i="1" dirty="0"/>
              <a:t>interrupt priority</a:t>
            </a:r>
          </a:p>
          <a:p>
            <a:pPr lvl="1"/>
            <a:r>
              <a:rPr lang="en-CA" dirty="0"/>
              <a:t>Implementation details vary</a:t>
            </a:r>
          </a:p>
          <a:p>
            <a:r>
              <a:rPr lang="en-CA" dirty="0"/>
              <a:t>Faults are an exception used for hard errors</a:t>
            </a:r>
          </a:p>
          <a:p>
            <a:r>
              <a:rPr lang="en-CA" dirty="0"/>
              <a:t>The </a:t>
            </a:r>
            <a:r>
              <a:rPr lang="en-CA" dirty="0" err="1"/>
              <a:t>HardFault</a:t>
            </a:r>
            <a:r>
              <a:rPr lang="en-CA" dirty="0"/>
              <a:t> handler on Arm provides considerable additional detail to help you debug.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B668BB-BDCF-01C5-3A44-5F7DECBBEB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DC1A3F7-612D-48D0-A380-86227BC8600F}" type="datetime1">
              <a:rPr lang="en-CA" smtClean="0"/>
              <a:t>2026-02-11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E488BE-BB3E-6DCD-249B-D7AF127ABC4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ECED3403 Computer Architecture. Colin O'Flynn.</a:t>
            </a:r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FAEB9A9-ECC7-925F-3262-7EBF894168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25CC40-D0F6-4666-ABAA-DE78F621EF61}" type="slidenum">
              <a:rPr lang="en-CA" smtClean="0"/>
              <a:t>37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138612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1979</TotalTime>
  <Words>1266</Words>
  <Application>Microsoft Office PowerPoint</Application>
  <PresentationFormat>Widescreen</PresentationFormat>
  <Paragraphs>268</Paragraphs>
  <Slides>37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2" baseType="lpstr">
      <vt:lpstr>Aptos</vt:lpstr>
      <vt:lpstr>Aptos Display</vt:lpstr>
      <vt:lpstr>Arial</vt:lpstr>
      <vt:lpstr>Courier New</vt:lpstr>
      <vt:lpstr>Office Theme</vt:lpstr>
      <vt:lpstr>Computer Architecture: Exceptions &amp; Interrupts Part 2: Atomics, Nesting, and Faults</vt:lpstr>
      <vt:lpstr>Lectures</vt:lpstr>
      <vt:lpstr>Part 2-1: Atomic Operations</vt:lpstr>
      <vt:lpstr>Interrupting Work</vt:lpstr>
      <vt:lpstr>Race Condition</vt:lpstr>
      <vt:lpstr>Introducing Atomic Operations</vt:lpstr>
      <vt:lpstr>Solution #1: No Interrupts!</vt:lpstr>
      <vt:lpstr>Arm CPSID / CPSIE</vt:lpstr>
      <vt:lpstr>Solution #2: Arm Exclusive Access</vt:lpstr>
      <vt:lpstr>Exclusive Access vs. Disabling Interrupts</vt:lpstr>
      <vt:lpstr>Solution #3: Bit-Banding</vt:lpstr>
      <vt:lpstr>Bit Banding</vt:lpstr>
      <vt:lpstr>Solution #4: Set / Clear Registers (Peripherals Only)</vt:lpstr>
      <vt:lpstr>Reminder on bit set/clear in registers</vt:lpstr>
      <vt:lpstr>Atomic Operation Summary</vt:lpstr>
      <vt:lpstr>Part 2-2: Nesting</vt:lpstr>
      <vt:lpstr>Reminder: Exception Entry / Returns</vt:lpstr>
      <vt:lpstr>Endless Interrupt Risks</vt:lpstr>
      <vt:lpstr>Exception Priorities</vt:lpstr>
      <vt:lpstr>Higher Priority Interrupts</vt:lpstr>
      <vt:lpstr>Lower Priority Interrupts &amp; Tail Chaining</vt:lpstr>
      <vt:lpstr>Lower Priority Interrupts &amp; Tail Chaining</vt:lpstr>
      <vt:lpstr>Part 2-3: Faults</vt:lpstr>
      <vt:lpstr>Faults</vt:lpstr>
      <vt:lpstr>Faults vs. Aborts</vt:lpstr>
      <vt:lpstr>Cortex-M Faults</vt:lpstr>
      <vt:lpstr>Hard Fault: The Safety Net</vt:lpstr>
      <vt:lpstr>Memory Faults: Illegal Access</vt:lpstr>
      <vt:lpstr>Bus Faults: Access Failed Mid-Flight</vt:lpstr>
      <vt:lpstr>Usage Fault</vt:lpstr>
      <vt:lpstr>HardFault Handler</vt:lpstr>
      <vt:lpstr>Remember The Exception Stack</vt:lpstr>
      <vt:lpstr>Stack Inspection Saves Us</vt:lpstr>
      <vt:lpstr>PowerPoint Presentation</vt:lpstr>
      <vt:lpstr>Demo: Triggering Faults</vt:lpstr>
      <vt:lpstr>More information on registers</vt:lpstr>
      <vt:lpstr>Summary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Colin O'Flynn</dc:creator>
  <cp:lastModifiedBy>Colin O'Flynn</cp:lastModifiedBy>
  <cp:revision>12</cp:revision>
  <dcterms:created xsi:type="dcterms:W3CDTF">2026-02-08T23:56:58Z</dcterms:created>
  <dcterms:modified xsi:type="dcterms:W3CDTF">2026-02-11T14:00:39Z</dcterms:modified>
</cp:coreProperties>
</file>