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92" r:id="rId4"/>
    <p:sldId id="262" r:id="rId5"/>
    <p:sldId id="264" r:id="rId6"/>
    <p:sldId id="261" r:id="rId7"/>
    <p:sldId id="265" r:id="rId8"/>
    <p:sldId id="263" r:id="rId9"/>
    <p:sldId id="266" r:id="rId10"/>
    <p:sldId id="267" r:id="rId11"/>
    <p:sldId id="268" r:id="rId12"/>
    <p:sldId id="269" r:id="rId13"/>
    <p:sldId id="270" r:id="rId14"/>
    <p:sldId id="291" r:id="rId15"/>
    <p:sldId id="272" r:id="rId16"/>
    <p:sldId id="293" r:id="rId17"/>
    <p:sldId id="258" r:id="rId18"/>
    <p:sldId id="260" r:id="rId19"/>
    <p:sldId id="259" r:id="rId20"/>
    <p:sldId id="289" r:id="rId21"/>
    <p:sldId id="288" r:id="rId22"/>
    <p:sldId id="290" r:id="rId23"/>
    <p:sldId id="294" r:id="rId24"/>
    <p:sldId id="275" r:id="rId25"/>
    <p:sldId id="276" r:id="rId26"/>
    <p:sldId id="277" r:id="rId27"/>
    <p:sldId id="280" r:id="rId28"/>
    <p:sldId id="278" r:id="rId29"/>
    <p:sldId id="279" r:id="rId30"/>
    <p:sldId id="273" r:id="rId31"/>
    <p:sldId id="281" r:id="rId32"/>
    <p:sldId id="283" r:id="rId33"/>
    <p:sldId id="284" r:id="rId34"/>
    <p:sldId id="285" r:id="rId35"/>
    <p:sldId id="286" r:id="rId36"/>
    <p:sldId id="282" r:id="rId37"/>
    <p:sldId id="28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9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400AA-101D-490E-9D4E-C89A20702DB7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3026F-2F57-4911-B7AF-7A689FB873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263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C467B-3273-4353-9FBF-06D73C896B7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9908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3026F-2F57-4911-B7AF-7A689FB873B1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2397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C20F8-4895-94C2-8FA2-66E560A3D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3532E-8058-C5C8-2506-01C74706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20B31-ECF3-1B78-C88E-2148C3B10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72FD-17C4-4195-9A46-AE8481F14B8C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1BAD8-50A4-147C-2CD6-F410FAA5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736EB-F489-50CF-C0A0-04EB3CCF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3789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FFDF-AD45-70DA-DBFC-39804BF3F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2D168-5FB0-0976-8F46-0E62B2230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1FBDD-8676-E7A6-9767-AB25F16F1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474CF-B37F-47E1-344C-FD179A8E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9AB56-2130-1784-C270-DE61E834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801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6BE87-9176-DC6D-7E6D-AED5F1B4A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C646E-906C-DE6E-F460-1AC7588A2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40353-D6E5-F285-0B15-2DB721750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D8C76-B400-4F53-8805-742D98EC80C2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B755-C4F9-EE1D-2472-393D0DBA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453E9-EC5D-3196-40C9-35FA1716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169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1056-F3E9-D796-0188-DB704770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28AF2-16F2-34A3-7D15-A28F084D7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00C63-AE05-0355-4E48-2A5900428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35A27-2CA0-DA96-DE81-30258991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C1D2-65BD-4030-B320-CFCAC7C2CF77}" type="datetime1">
              <a:rPr lang="en-CA" smtClean="0"/>
              <a:t>2026-02-11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28EA9-8003-DD37-3C59-F8052CFF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FAD97-AD46-797F-A73B-AF034EAE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323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8877C-0091-8117-3240-C15EE8097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04D97-6B5B-4B40-4797-44D7356E7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142B3-B5E2-E0F0-2A8C-A393861C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2CD81-F1F0-AA13-E635-956E2240D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FAB232-10B9-29C1-5C2E-2889B2CE38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6067B-4CB1-4ADC-0871-7F90B6EA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6206-5BA6-460D-9780-A5A1F3FC520F}" type="datetime1">
              <a:rPr lang="en-CA" smtClean="0"/>
              <a:t>2026-02-11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72D8B8-EC13-2FE1-4AC1-DA30BE30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4DC02A-2269-D62D-A2F6-4EF60E09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4608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41633-4B93-3962-0831-3F79E9ABF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F8BB15-178F-4440-5C62-42B7740A3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C05AF-8116-461A-AD38-E69AB126D756}" type="datetime1">
              <a:rPr lang="en-CA" smtClean="0"/>
              <a:t>2026-02-11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C8318-4472-251E-FF42-F757E514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9102C-45D2-0478-F645-1A88A7A1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568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25DD8B-C610-0C5A-B29C-D1B094483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9D55-1BF1-40D6-87EC-FFE4362AD15D}" type="datetime1">
              <a:rPr lang="en-CA" smtClean="0"/>
              <a:t>2026-02-11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B6D3F-76F9-6977-7F11-BE45F2EC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A9206-29F6-A2E5-EDBE-A7B2B18C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1174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7E14-E8C6-533B-D648-163F2F54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A9B72-F8AD-A435-F12C-6AD72286F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432E5-2EAF-0407-8CD8-9B140466B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2223D-CE1E-B50D-3F81-A6233691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4D12-9B66-4D3F-BFEA-EB6939410680}" type="datetime1">
              <a:rPr lang="en-CA" smtClean="0"/>
              <a:t>2026-02-11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A51B3-198E-8FF6-7810-ABDEB19C2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FA87D-3783-15DA-A1C4-C367745B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7592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1862D-A78F-02BE-CD84-089873284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63AF3-1586-FA07-67E3-0C17B2BA1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2F072-26D7-47EA-01F2-D095376AD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45053-29D5-8E85-C3A3-7FE2C872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CAEB-FDAC-4944-A700-E5025FBDCFB8}" type="datetime1">
              <a:rPr lang="en-CA" smtClean="0"/>
              <a:t>2026-02-11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246A4-4AA2-74B5-1BEF-D6B2F575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4B5FB-02D4-18AB-B564-1BE49B67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800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ECA42-0B39-62AD-0647-16416EEC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3D16F-BC9B-504D-20C9-5B9DDFCF7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7887E-9BD0-50E7-7855-5A6892289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88EE-D2E8-458C-B025-86AB65CB2342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2909D-9B71-3004-5853-0865DFCA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AFD81-4FDD-5E6A-7EF0-A0AF3D9E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302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0C928-04C0-FFD8-6FB7-52544F5E6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AE9ED-B388-AC41-6080-6F91ABFBF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55B1A-AF28-25B7-80B2-2EF9AF2FA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D418E-0BAA-477E-AE93-7DEEFAFBE002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1F440-1924-B1AA-DA08-FF6D4D5C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20E6E-67ED-9028-647B-5F9E902E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3101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5F461-5089-4FA6-F30A-FEECC0377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A3026-0C22-41E8-F2F9-B44737EDE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2E1FB-D0DD-0542-98E0-F8AD6C0C62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9C524-F283-4997-8372-EC621E6F8B97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F4F27-F292-F8E1-8EEB-4B04DCFE5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F6AB7-62BE-C74A-0375-1B18D98B1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31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medium.com/@levinet.nicolai/bit-banding-in-arm-cortex-m-a-brilliant-feature-but-why-was-it-abandoned-139f7ed04685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rm.com/documentation/107706/0100/System-exceptions/Fault-exceptions-and-their-causes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0332-C356-1B1E-0B6B-B1E4E812B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122363"/>
            <a:ext cx="10665278" cy="2387600"/>
          </a:xfrm>
        </p:spPr>
        <p:txBody>
          <a:bodyPr>
            <a:normAutofit fontScale="90000"/>
          </a:bodyPr>
          <a:lstStyle/>
          <a:p>
            <a:r>
              <a:rPr lang="en-CA" dirty="0"/>
              <a:t>Computer Architecture:</a:t>
            </a:r>
            <a:br>
              <a:rPr lang="en-CA" dirty="0"/>
            </a:br>
            <a:r>
              <a:rPr lang="en-CA" i="1" dirty="0"/>
              <a:t>Exceptions &amp; Interrupts</a:t>
            </a:r>
            <a:br>
              <a:rPr lang="en-CA" i="1" dirty="0"/>
            </a:br>
            <a:r>
              <a:rPr lang="en-CA" i="1" dirty="0"/>
              <a:t>Part 2: Atomics, Nesting, and Faults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56E0B-2030-B06C-4A76-67F52B07E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Dr. Colin O’Flynn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286F8-7046-B580-89F1-4F057535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5903-4A42-43A9-9B07-0A555E8C01D2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94224-0D5F-188B-78F3-15A498B54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17701-B7BA-E8D0-BE9E-EECDE6DB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493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ADA9-27CC-7B3F-58A4-E641BF35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9C3AB-3011-E0FF-7C9F-80D076637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59509" cy="4351338"/>
          </a:xfrm>
        </p:spPr>
        <p:txBody>
          <a:bodyPr/>
          <a:lstStyle/>
          <a:p>
            <a:r>
              <a:rPr lang="en-CA" dirty="0"/>
              <a:t>How does a program run on a machine?</a:t>
            </a:r>
          </a:p>
          <a:p>
            <a:r>
              <a:rPr lang="en-CA" dirty="0"/>
              <a:t>How do you compile from high-level code to machine code?</a:t>
            </a:r>
          </a:p>
          <a:p>
            <a:r>
              <a:rPr lang="en-CA" dirty="0"/>
              <a:t>How do you observe the machine running?</a:t>
            </a:r>
          </a:p>
          <a:p>
            <a:r>
              <a:rPr lang="en-CA" dirty="0"/>
              <a:t>How do we define the machine?</a:t>
            </a:r>
          </a:p>
          <a:p>
            <a:r>
              <a:rPr lang="en-CA" dirty="0"/>
              <a:t>How does the machine control flow change (planned)?</a:t>
            </a:r>
          </a:p>
          <a:p>
            <a:r>
              <a:rPr lang="en-CA" dirty="0"/>
              <a:t>How does the machine control flow change (unplanned)?</a:t>
            </a:r>
          </a:p>
          <a:p>
            <a:r>
              <a:rPr lang="en-CA" b="1" dirty="0">
                <a:solidFill>
                  <a:srgbClr val="FF0000"/>
                </a:solidFill>
              </a:rPr>
              <a:t>How does the machine control flow change (chaotic unplanned)?</a:t>
            </a:r>
          </a:p>
          <a:p>
            <a:pPr marL="0" indent="0">
              <a:buNone/>
            </a:pPr>
            <a:endParaRPr lang="en-CA" b="1" dirty="0">
              <a:solidFill>
                <a:srgbClr val="FF0000"/>
              </a:solidFill>
            </a:endParaRPr>
          </a:p>
          <a:p>
            <a:endParaRPr lang="en-CA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endParaRPr lang="en-CA" b="1" dirty="0">
              <a:solidFill>
                <a:srgbClr val="FF0000"/>
              </a:solidFill>
            </a:endParaRPr>
          </a:p>
          <a:p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6FB1E-13D4-AF84-CD57-0DE27803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975C-2D17-4D58-BAA2-AE3D2D8697E0}" type="datetime1">
              <a:rPr lang="en-CA" smtClean="0"/>
              <a:t>2026-02-11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42B00-C73D-1737-27CD-9FFFCF53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C70CA-A863-53D2-59FA-8884AFF8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39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77D0BE7-4694-CD55-3E95-74FD481A6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2-1: Atomic Operations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E47AE3F-48FA-0266-9C2A-99E9E7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13E5D-CE0A-F087-DE9A-D9004151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8D73E-A817-C83D-977D-8BDCAD7F6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F8322-0AA1-004D-AEF5-16154195F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6308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575E0-698E-F699-0742-556FD47A8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Interrupting Work</a:t>
            </a:r>
          </a:p>
        </p:txBody>
      </p:sp>
      <p:pic>
        <p:nvPicPr>
          <p:cNvPr id="8" name="Content Placeholder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064B550-F837-2599-37A4-5C7DC7DFB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1212" y="3429000"/>
            <a:ext cx="6592845" cy="192346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3FB99-E3EC-2ED2-697D-8FE6C9CDF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91165-CFFD-FDBF-B2B4-1144A42A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C2AA2-BBE7-A975-F71B-55319129F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</a:t>
            </a:fld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251D98-7B8E-9E16-8087-218D94EEF72F}"/>
              </a:ext>
            </a:extLst>
          </p:cNvPr>
          <p:cNvSpPr txBox="1"/>
          <p:nvPr/>
        </p:nvSpPr>
        <p:spPr>
          <a:xfrm>
            <a:off x="1771212" y="2194283"/>
            <a:ext cx="6788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counter++;</a:t>
            </a:r>
          </a:p>
        </p:txBody>
      </p:sp>
    </p:spTree>
    <p:extLst>
      <p:ext uri="{BB962C8B-B14F-4D97-AF65-F5344CB8AC3E}">
        <p14:creationId xmlns:p14="http://schemas.microsoft.com/office/powerpoint/2010/main" val="3129017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CAE55-0A6A-362A-5E21-3687C9DB3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Race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8504F-73DA-D972-815C-446DF9778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4089" y="1825625"/>
            <a:ext cx="2743201" cy="697139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Main Function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AD10B-53F8-5456-B321-6801254BD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3EEFF-C0AD-A33E-FA70-7D51A45D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BC024-E43F-5F67-6C1D-2B3199436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5</a:t>
            </a:fld>
            <a:endParaRPr lang="en-CA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7BC59C-7DE1-5B6C-AE9B-6751994E7FB5}"/>
              </a:ext>
            </a:extLst>
          </p:cNvPr>
          <p:cNvSpPr txBox="1">
            <a:spLocks/>
          </p:cNvSpPr>
          <p:nvPr/>
        </p:nvSpPr>
        <p:spPr>
          <a:xfrm>
            <a:off x="7536996" y="1825624"/>
            <a:ext cx="2743201" cy="697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dirty="0"/>
              <a:t>Interrupt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B77609-95F7-FE73-DA65-B96EFCCF9376}"/>
              </a:ext>
            </a:extLst>
          </p:cNvPr>
          <p:cNvSpPr/>
          <p:nvPr/>
        </p:nvSpPr>
        <p:spPr>
          <a:xfrm>
            <a:off x="4167368" y="2812384"/>
            <a:ext cx="3056164" cy="693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Variable in memory</a:t>
            </a:r>
          </a:p>
        </p:txBody>
      </p:sp>
    </p:spTree>
    <p:extLst>
      <p:ext uri="{BB962C8B-B14F-4D97-AF65-F5344CB8AC3E}">
        <p14:creationId xmlns:p14="http://schemas.microsoft.com/office/powerpoint/2010/main" val="3802951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0E14F-F1DB-6F30-E9A6-1BD97D7BA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Introducing Atomic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10F00-D4DF-ACF6-BE57-B77FDFD0B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An </a:t>
            </a:r>
            <a:r>
              <a:rPr lang="en-CA" i="1" dirty="0"/>
              <a:t>atomic operation</a:t>
            </a:r>
            <a:r>
              <a:rPr lang="en-CA" dirty="0"/>
              <a:t> is one which is guaranteed to </a:t>
            </a:r>
            <a:r>
              <a:rPr lang="en-CA" i="1" dirty="0"/>
              <a:t>complete without interruption</a:t>
            </a:r>
            <a:endParaRPr lang="en-CA" dirty="0"/>
          </a:p>
          <a:p>
            <a:endParaRPr lang="en-CA" dirty="0"/>
          </a:p>
          <a:p>
            <a:r>
              <a:rPr lang="en-CA" dirty="0"/>
              <a:t>The previous example of a load, increment, store is a classic example of something which </a:t>
            </a:r>
            <a:r>
              <a:rPr lang="en-CA" i="1" dirty="0"/>
              <a:t>may</a:t>
            </a:r>
            <a:r>
              <a:rPr lang="en-CA" dirty="0"/>
              <a:t> require an atomic operation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59897-CCF3-F4CF-AF46-D08A365DA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B9792-46DD-B593-05A3-32D98F65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1C2B0-D404-A5D7-8C2A-CD18FE02C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3800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C7F54-FCB1-82D0-6048-284B5A138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Solution #1: No Interrupts!</a:t>
            </a:r>
          </a:p>
        </p:txBody>
      </p:sp>
      <p:pic>
        <p:nvPicPr>
          <p:cNvPr id="8" name="Content Placeholder 7" descr="A close-up of a sign&#10;&#10;AI-generated content may be incorrect.">
            <a:extLst>
              <a:ext uri="{FF2B5EF4-FFF2-40B4-BE49-F238E27FC236}">
                <a16:creationId xmlns:a16="http://schemas.microsoft.com/office/drawing/2014/main" id="{73640B80-F803-9FD4-BC7E-C8D82AC4A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8798" y="3192273"/>
            <a:ext cx="3743847" cy="109552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FEAB5-CF37-898A-097A-E0E0D86EF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E161C-23CA-374F-BE3C-E752B84E6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210CD-776C-DA12-2D2B-2BC427EAF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7</a:t>
            </a:fld>
            <a:endParaRPr lang="en-CA"/>
          </a:p>
        </p:txBody>
      </p:sp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666D9EA-6AB7-A485-650E-216926D98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70" y="1690688"/>
            <a:ext cx="5753903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42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661E8-8651-F9C6-E0C4-97E8D2B04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Arm CPSID / CPSIE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4E959-015B-43E5-91D3-E8A58DD25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CPSID = Change Processor State - Interrupt Disable</a:t>
            </a:r>
          </a:p>
          <a:p>
            <a:pPr marL="0" indent="0">
              <a:buNone/>
            </a:pPr>
            <a:r>
              <a:rPr lang="en-CA" dirty="0"/>
              <a:t>CPSIE  = Change Processor State - Interrupt Enable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dirty="0" err="1"/>
              <a:t>i</a:t>
            </a:r>
            <a:r>
              <a:rPr lang="en-CA" dirty="0"/>
              <a:t> = configurable interrupts (NMI, Faults still enabled)</a:t>
            </a:r>
          </a:p>
          <a:p>
            <a:pPr marL="0" indent="0">
              <a:buNone/>
            </a:pPr>
            <a:r>
              <a:rPr lang="en-CA" dirty="0"/>
              <a:t>	f = faults (to be discussed)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20EF0-7239-6386-1098-E90EB5164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F6142-7802-C65D-69AA-E5AC493BD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1D39E-11D4-C281-0626-234ACEE2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8969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0EE89-D330-26F9-AACE-818424414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Solution #2: Arm Exclusive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E6AF3-B226-59A8-A217-8B7DF4318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8418" y="1825625"/>
            <a:ext cx="4775382" cy="4351338"/>
          </a:xfrm>
        </p:spPr>
        <p:txBody>
          <a:bodyPr/>
          <a:lstStyle/>
          <a:p>
            <a:r>
              <a:rPr lang="en-CA" dirty="0"/>
              <a:t>Load value + mark “exclusive”</a:t>
            </a:r>
          </a:p>
          <a:p>
            <a:r>
              <a:rPr lang="en-US" dirty="0"/>
              <a:t>Attempt store</a:t>
            </a:r>
          </a:p>
          <a:p>
            <a:r>
              <a:rPr lang="en-US" dirty="0"/>
              <a:t>Store succeeds only if no interference occurred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Interference:</a:t>
            </a:r>
          </a:p>
          <a:p>
            <a:r>
              <a:rPr lang="en-CA" dirty="0"/>
              <a:t>Store fails</a:t>
            </a:r>
          </a:p>
          <a:p>
            <a:r>
              <a:rPr lang="en-CA" dirty="0"/>
              <a:t>Software retries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41C47-191E-901F-EB2A-F87557513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AFD01-B59D-FB22-02FB-FC40308AA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A5784-EDFA-9F8B-9B21-3AF2FF6E8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9</a:t>
            </a:fld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6BEB0C-34CB-3FC1-18B4-563D3C9C9162}"/>
              </a:ext>
            </a:extLst>
          </p:cNvPr>
          <p:cNvSpPr txBox="1"/>
          <p:nvPr/>
        </p:nvSpPr>
        <p:spPr>
          <a:xfrm>
            <a:off x="624950" y="2804171"/>
            <a:ext cx="60455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atomic_inc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(int *p) {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old, status;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do {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old = __LDREXW(p);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status = __STREXW(old + 1, p);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while (status != 0);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old + 1;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A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490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1A11-66C0-980F-CE2B-76B1B73B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Exclusive Access vs. Disabling Interrupts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576D6-1D8D-822D-D8F2-193CB20F2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Disabling interrupts can be a risk in a system with time-critical operations</a:t>
            </a:r>
          </a:p>
          <a:p>
            <a:endParaRPr lang="en-CA" dirty="0"/>
          </a:p>
          <a:p>
            <a:r>
              <a:rPr lang="en-CA" b="1" i="1" dirty="0"/>
              <a:t>Global</a:t>
            </a:r>
            <a:r>
              <a:rPr lang="en-CA" dirty="0"/>
              <a:t> interrupt disabling can be very impactful on a complex system</a:t>
            </a:r>
          </a:p>
          <a:p>
            <a:endParaRPr lang="en-CA" dirty="0"/>
          </a:p>
          <a:p>
            <a:r>
              <a:rPr lang="en-CA" dirty="0"/>
              <a:t>Exclusive access avoids these problems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EFB85-34E0-0E3C-BD3E-9C3B9AED4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63FA7-7FFE-D9F9-4020-19277925A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55A92-1140-F363-B8EF-DEF62C237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3067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D34A-2C0D-B5E5-137E-7CD8093D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Solution #3: Bit-Banding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573A9-4DB7-93A9-1E32-003B59697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8247"/>
            <a:ext cx="10515600" cy="1229993"/>
          </a:xfrm>
        </p:spPr>
        <p:txBody>
          <a:bodyPr/>
          <a:lstStyle/>
          <a:p>
            <a:r>
              <a:rPr lang="en-CA" dirty="0">
                <a:hlinkClick r:id="rId2"/>
              </a:rPr>
              <a:t>https://medium.com/@levinet.nicolai/bit-banding-in-arm-cortex-m-a-brilliant-feature-but-why-was-it-abandoned-139f7ed04685</a:t>
            </a:r>
            <a:r>
              <a:rPr lang="en-CA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B0A38-F3ED-C2BC-4724-966473F74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7C75C-4F54-15CF-DEFA-145942071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8DBA9-93E0-0B57-15FB-5824C0CE3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11</a:t>
            </a:fld>
            <a:endParaRPr lang="en-CA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FB7C7E8-C8CB-4C12-A3E1-4E8F04B85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690688"/>
            <a:ext cx="8334375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227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5F688-138A-C52C-76E7-9A64B9AFF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Bit Banding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FE8B6-5C6C-D5F6-57E2-FA2A18188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Each word represents a </a:t>
            </a:r>
            <a:r>
              <a:rPr lang="en-CA" u="sng" dirty="0"/>
              <a:t>single bit</a:t>
            </a:r>
            <a:r>
              <a:rPr lang="en-CA" i="1" dirty="0"/>
              <a:t> </a:t>
            </a:r>
            <a:r>
              <a:rPr lang="en-CA" dirty="0"/>
              <a:t>- this allows writes &amp; clears to affect only one bit</a:t>
            </a:r>
          </a:p>
          <a:p>
            <a:endParaRPr lang="en-CA" dirty="0"/>
          </a:p>
          <a:p>
            <a:r>
              <a:rPr lang="en-CA" dirty="0"/>
              <a:t>This is </a:t>
            </a:r>
            <a:r>
              <a:rPr lang="en-CA" u="sng" dirty="0"/>
              <a:t>different</a:t>
            </a:r>
            <a:r>
              <a:rPr lang="en-CA" dirty="0"/>
              <a:t> from devices which often offer a “set” and “clear” bit register (which is more efficient)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B3702-E022-FD08-55C0-70E989A4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75936-AD83-D8A9-808A-125C8199A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15ADF-A737-5A1D-3C9E-D25C90ACC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5554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E9947-6D6D-7815-2247-8DDDB3BE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51" y="304444"/>
            <a:ext cx="10515600" cy="1325563"/>
          </a:xfrm>
        </p:spPr>
        <p:txBody>
          <a:bodyPr/>
          <a:lstStyle/>
          <a:p>
            <a:r>
              <a:rPr lang="en-CA" dirty="0"/>
              <a:t>Solution #4: Set / Clear Registers </a:t>
            </a:r>
            <a:r>
              <a:rPr lang="en-CA" i="1" dirty="0"/>
              <a:t>(Peripherals Only)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B9EEE-386D-7B1A-C9D4-B6AF8CEBE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A5922-2EB7-AD12-876C-878F463BC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30A5D-BF0D-5A7A-1A4A-CA111C92D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13</a:t>
            </a:fld>
            <a:endParaRPr lang="en-CA"/>
          </a:p>
        </p:txBody>
      </p:sp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E18CF31-F904-764A-B726-F5575E33E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403" y="1630007"/>
            <a:ext cx="8094254" cy="463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341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D2C80-BF9B-CA38-D8D3-B34941C1F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Reminder on bit set/clear in 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34B1B-1303-852B-F407-18470173C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With </a:t>
            </a:r>
            <a:r>
              <a:rPr lang="en-CA" u="sng" dirty="0"/>
              <a:t>registers</a:t>
            </a:r>
            <a:r>
              <a:rPr lang="en-CA" dirty="0"/>
              <a:t> we can set or clear bits directly</a:t>
            </a:r>
          </a:p>
          <a:p>
            <a:r>
              <a:rPr lang="en-CA" dirty="0"/>
              <a:t>Remember as Arm is load-store architecture we </a:t>
            </a:r>
            <a:r>
              <a:rPr lang="en-CA" b="1" dirty="0"/>
              <a:t>always have load and store when dealing with memory</a:t>
            </a:r>
          </a:p>
          <a:p>
            <a:r>
              <a:rPr lang="en-CA" dirty="0"/>
              <a:t>Atomic operations are normally referencing atomic operations </a:t>
            </a:r>
            <a:r>
              <a:rPr lang="en-CA" b="1" dirty="0"/>
              <a:t>on memory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6302F-CEE4-731B-15F7-E8CA90604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503F9-4227-B866-B090-0F1EC7E86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E44AA-DA48-92D7-4D95-9D05587CB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6484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6426E-8521-3D84-E8CB-2E9A1D001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Atomic Operation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9A1C9-09D0-A4BF-E54B-9D9F0720B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If disabling interrupts, keep this very short</a:t>
            </a:r>
          </a:p>
          <a:p>
            <a:pPr lvl="1"/>
            <a:r>
              <a:rPr lang="en-CA" dirty="0"/>
              <a:t>Watch out for function calls would normally avoid! And other things that “could” be slow</a:t>
            </a:r>
          </a:p>
          <a:p>
            <a:pPr lvl="1"/>
            <a:endParaRPr lang="en-CA" dirty="0"/>
          </a:p>
          <a:p>
            <a:r>
              <a:rPr lang="en-CA" dirty="0"/>
              <a:t>Difficult to debug problems with this as debugging may change timing</a:t>
            </a:r>
          </a:p>
          <a:p>
            <a:endParaRPr lang="en-CA" dirty="0"/>
          </a:p>
          <a:p>
            <a:r>
              <a:rPr lang="en-CA" dirty="0"/>
              <a:t>Atomic operations can be needed inside of interrupts if we can nest….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4B2BA-1BAC-402E-38E2-6D1D74B95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F20A5-9AB5-DD4B-712C-2C835923D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EECA8-79DD-FC35-FAD6-4636BC02B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4604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7FAFD-6CDE-D59A-311C-B47A25B85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6655057-6D5E-741C-ED6C-14258A015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2-2: Nesting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3D7AF9-FAC0-24A6-E571-B32DC1BFA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A77B9-27A7-0EDB-7490-60E520D5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AFC4C-8A29-B788-8EE3-2AA86A31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1DEFF-F05B-9CCC-D239-44C8070B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2260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A7C53-6172-5565-FA4F-D0C97A10D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Reminder: Exception Entry / Returns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72B05-EE4B-5E74-868B-C4C70EF5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DA3FF-FFB9-5EAA-AAE6-E4E99F0AC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FA330-10D8-E02C-D984-E9D21B7DD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17</a:t>
            </a:fld>
            <a:endParaRPr lang="en-CA"/>
          </a:p>
        </p:txBody>
      </p:sp>
      <p:pic>
        <p:nvPicPr>
          <p:cNvPr id="7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B04E86-0622-9953-CBB7-67B1434C5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46017"/>
            <a:ext cx="10329361" cy="407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844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95B7C-881C-ED80-729A-1E47F016F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Endless Interrupt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153C8-F2CD-1ADA-4FC5-DDCC55C78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70768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Interrupts which re-occur too quickly have a risk of </a:t>
            </a:r>
            <a:r>
              <a:rPr lang="en-CA" u="sng" dirty="0"/>
              <a:t>overloading a system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Some architectures such as AVR disable global interrupts initially, letting the user decide to re-enable them: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B6096-62A7-9E8E-D0B7-5FAB4DCE9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49E50-5C20-20A6-D08C-C8C139AA1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8BC4A-62AF-EB8D-0E43-884856AE9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18</a:t>
            </a:fld>
            <a:endParaRPr lang="en-CA"/>
          </a:p>
        </p:txBody>
      </p:sp>
      <p:pic>
        <p:nvPicPr>
          <p:cNvPr id="8" name="Picture 7" descr="A close-up of a text&#10;&#10;AI-generated content may be incorrect.">
            <a:extLst>
              <a:ext uri="{FF2B5EF4-FFF2-40B4-BE49-F238E27FC236}">
                <a16:creationId xmlns:a16="http://schemas.microsoft.com/office/drawing/2014/main" id="{6CD34ACA-AE5D-CFA5-67F4-D73C3E20B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28" y="3931330"/>
            <a:ext cx="11831701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323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3EE5C-4CDC-BF9D-9AE7-C076EE282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Exception Priorities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35A9C-6B4F-6818-0F2B-ECBDB7F8A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792926" cy="4351338"/>
          </a:xfrm>
        </p:spPr>
        <p:txBody>
          <a:bodyPr>
            <a:normAutofit fontScale="92500" lnSpcReduction="10000"/>
          </a:bodyPr>
          <a:lstStyle/>
          <a:p>
            <a:r>
              <a:rPr lang="en-CA" i="1" dirty="0"/>
              <a:t>Most</a:t>
            </a:r>
            <a:r>
              <a:rPr lang="en-CA" dirty="0"/>
              <a:t> interrupts have a changeable priority</a:t>
            </a:r>
          </a:p>
          <a:p>
            <a:endParaRPr lang="en-CA" i="1" dirty="0"/>
          </a:p>
          <a:p>
            <a:r>
              <a:rPr lang="en-CA" dirty="0"/>
              <a:t>Remember lower number = higher priority</a:t>
            </a:r>
          </a:p>
          <a:p>
            <a:endParaRPr lang="en-CA" dirty="0"/>
          </a:p>
          <a:p>
            <a:r>
              <a:rPr lang="en-CA" dirty="0"/>
              <a:t>Set priority based on:</a:t>
            </a:r>
          </a:p>
          <a:p>
            <a:pPr lvl="1"/>
            <a:r>
              <a:rPr lang="en-CA" dirty="0"/>
              <a:t>Interrupt handler speed (short code can have higher priority)</a:t>
            </a:r>
          </a:p>
          <a:p>
            <a:pPr lvl="1"/>
            <a:r>
              <a:rPr lang="en-CA" dirty="0"/>
              <a:t>System requirements</a:t>
            </a:r>
          </a:p>
          <a:p>
            <a:pPr lvl="1"/>
            <a:r>
              <a:rPr lang="en-CA" dirty="0"/>
              <a:t>Interrupt frequency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CC1AF-D440-7C37-3131-ABB2042A5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250B4-0844-0983-AA01-E176E9A90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1FABA-10BF-5ECF-65E5-AD07333F2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19</a:t>
            </a:fld>
            <a:endParaRPr lang="en-CA"/>
          </a:p>
        </p:txBody>
      </p:sp>
      <p:pic>
        <p:nvPicPr>
          <p:cNvPr id="7" name="Content Placeholder 7" descr="A white box with black text&#10;&#10;AI-generated content may be incorrect.">
            <a:extLst>
              <a:ext uri="{FF2B5EF4-FFF2-40B4-BE49-F238E27FC236}">
                <a16:creationId xmlns:a16="http://schemas.microsoft.com/office/drawing/2014/main" id="{61656BB4-B804-8E10-8FEF-F92AD8EF1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383" y="2006638"/>
            <a:ext cx="6401283" cy="339812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ACC7503-25AC-A847-3F3C-C36110049626}"/>
              </a:ext>
            </a:extLst>
          </p:cNvPr>
          <p:cNvSpPr/>
          <p:nvPr/>
        </p:nvSpPr>
        <p:spPr>
          <a:xfrm>
            <a:off x="5894614" y="2006638"/>
            <a:ext cx="473529" cy="391246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FC49D7-C946-6174-142A-D9492E7BE236}"/>
              </a:ext>
            </a:extLst>
          </p:cNvPr>
          <p:cNvSpPr/>
          <p:nvPr/>
        </p:nvSpPr>
        <p:spPr>
          <a:xfrm>
            <a:off x="5710066" y="4183873"/>
            <a:ext cx="1217007" cy="2368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0920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CBB26-A227-B54A-F2F7-8983FF86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Higher Priority Interrupts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F2625-0AA3-06B2-420B-8857B4CB5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67780-ADB1-0711-874F-3B57F894B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66315-B389-84BA-EF2E-77A1AAAF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20</a:t>
            </a:fld>
            <a:endParaRPr lang="en-CA"/>
          </a:p>
        </p:txBody>
      </p:sp>
      <p:pic>
        <p:nvPicPr>
          <p:cNvPr id="6146" name="Picture 2" descr="Figure 2: Nested Interrupt support">
            <a:extLst>
              <a:ext uri="{FF2B5EF4-FFF2-40B4-BE49-F238E27FC236}">
                <a16:creationId xmlns:a16="http://schemas.microsoft.com/office/drawing/2014/main" id="{DCC211CD-DD9C-0F58-3484-448D426916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676" y="2187462"/>
            <a:ext cx="8954844" cy="3601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8238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C44E4-124D-DAB8-67E6-A8F46DB86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Lower Priority Interrupts &amp; Tail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C1635-5EF0-1A0A-479C-DAB2D7622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</a:t>
            </a:r>
            <a:r>
              <a:rPr lang="en-CA" i="1" dirty="0"/>
              <a:t>lower priority</a:t>
            </a:r>
            <a:r>
              <a:rPr lang="en-CA" dirty="0"/>
              <a:t> interrupt that occurs during a </a:t>
            </a:r>
            <a:r>
              <a:rPr lang="en-CA" i="1" dirty="0"/>
              <a:t>higher priority</a:t>
            </a:r>
            <a:r>
              <a:rPr lang="en-CA" dirty="0"/>
              <a:t> interrupt will start executing at the end of the interrupt.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EE7A1-AFD7-DF5D-D13B-6864CD401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3AAAF-9512-5FC5-43EE-134DB568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E1E89-7F9A-B297-49C4-27C75D7B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21</a:t>
            </a:fld>
            <a:endParaRPr lang="en-CA"/>
          </a:p>
        </p:txBody>
      </p:sp>
      <p:pic>
        <p:nvPicPr>
          <p:cNvPr id="5122" name="Picture 2" descr="Tail Chain Control by NVIC">
            <a:extLst>
              <a:ext uri="{FF2B5EF4-FFF2-40B4-BE49-F238E27FC236}">
                <a16:creationId xmlns:a16="http://schemas.microsoft.com/office/drawing/2014/main" id="{780541F5-C3AA-4954-A53E-D786AD97E9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490"/>
          <a:stretch>
            <a:fillRect/>
          </a:stretch>
        </p:blipFill>
        <p:spPr bwMode="auto">
          <a:xfrm>
            <a:off x="569459" y="3001737"/>
            <a:ext cx="10285301" cy="1921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Tail Chain Control by NVIC">
            <a:extLst>
              <a:ext uri="{FF2B5EF4-FFF2-40B4-BE49-F238E27FC236}">
                <a16:creationId xmlns:a16="http://schemas.microsoft.com/office/drawing/2014/main" id="{84FE4458-44C3-F501-0364-0379D575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590" y="2666207"/>
            <a:ext cx="3876675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8385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E98DC-BA22-C03B-50A9-2A027090E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A1DC-3119-1FD2-71F1-16D60221B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Lower Priority Interrupts &amp; Tail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81310-96C5-C03D-4C1B-793D28BEE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</a:t>
            </a:r>
            <a:r>
              <a:rPr lang="en-CA" i="1" dirty="0"/>
              <a:t>lower priority</a:t>
            </a:r>
            <a:r>
              <a:rPr lang="en-CA" dirty="0"/>
              <a:t> interrupt that occurs during a </a:t>
            </a:r>
            <a:r>
              <a:rPr lang="en-CA" i="1" dirty="0"/>
              <a:t>higher priority</a:t>
            </a:r>
            <a:r>
              <a:rPr lang="en-CA" dirty="0"/>
              <a:t> interrupt will start executing at the end of the interrupt.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0CF30-AACA-F190-06DF-E3B918636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953E3-8851-4AB2-BE5A-1D2D5B444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9BC3B-A733-5907-DEBE-B906B957C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22</a:t>
            </a:fld>
            <a:endParaRPr lang="en-CA"/>
          </a:p>
        </p:txBody>
      </p:sp>
      <p:pic>
        <p:nvPicPr>
          <p:cNvPr id="5122" name="Picture 2" descr="Tail Chain Control by NVIC">
            <a:extLst>
              <a:ext uri="{FF2B5EF4-FFF2-40B4-BE49-F238E27FC236}">
                <a16:creationId xmlns:a16="http://schemas.microsoft.com/office/drawing/2014/main" id="{DD730D26-27E5-608F-0CAF-EBC055D1A6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59" y="3001737"/>
            <a:ext cx="10285301" cy="3175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722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833E8-8002-42C2-03F9-0DA379FB9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6D963D-4A3C-6378-95F1-0872F2F6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2-3: Faults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B6F47F8-8601-70C3-3D34-FFD37FEB6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4BDEB-7618-BB67-D842-ABE5CAA20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45AFD-7622-21E1-00C7-4E4E5C49F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183CB-75B9-CF9E-5FFC-736B8F74E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9338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F2DA4-7AFD-C134-E602-63B95436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480E8-0D48-2EA1-9264-3FCA95E3A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CPU Needs to deal with issues such as:</a:t>
            </a:r>
          </a:p>
          <a:p>
            <a:pPr lvl="1"/>
            <a:r>
              <a:rPr lang="en-CA" dirty="0"/>
              <a:t>Invalid instructions</a:t>
            </a:r>
          </a:p>
          <a:p>
            <a:pPr lvl="1"/>
            <a:r>
              <a:rPr lang="en-CA" dirty="0"/>
              <a:t>Accessing memory that doesn’t exist</a:t>
            </a:r>
          </a:p>
          <a:p>
            <a:pPr lvl="1"/>
            <a:r>
              <a:rPr lang="en-CA" dirty="0"/>
              <a:t>Conflicts on the bus</a:t>
            </a:r>
          </a:p>
          <a:p>
            <a:pPr lvl="1"/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3C10D-9EF2-1B47-9F92-E298CAA95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28822-439B-F5A1-BC4F-AB4C3A307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FD63F-7580-4525-5BE3-E794A287B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24</a:t>
            </a:fld>
            <a:endParaRPr lang="en-CA"/>
          </a:p>
        </p:txBody>
      </p:sp>
      <p:pic>
        <p:nvPicPr>
          <p:cNvPr id="8" name="Picture 7" descr="A close up of a computer chip&#10;&#10;AI-generated content may be incorrect.">
            <a:extLst>
              <a:ext uri="{FF2B5EF4-FFF2-40B4-BE49-F238E27FC236}">
                <a16:creationId xmlns:a16="http://schemas.microsoft.com/office/drawing/2014/main" id="{E486005C-3D4B-A1FF-183D-DDF6F8721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578" y="4001294"/>
            <a:ext cx="4405415" cy="205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762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8D32A-0033-F051-E580-41EA58E63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Faults vs. Aborts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205F4-0246-7449-5E16-3D3850615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>
                    <a:lumMod val="50000"/>
                  </a:schemeClr>
                </a:solidFill>
              </a:rPr>
              <a:t>Exception: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any hardware-initiated control transfer</a:t>
            </a:r>
          </a:p>
          <a:p>
            <a:r>
              <a:rPr lang="en-US" sz="3600" b="1" dirty="0">
                <a:solidFill>
                  <a:schemeClr val="bg1">
                    <a:lumMod val="50000"/>
                  </a:schemeClr>
                </a:solidFill>
              </a:rPr>
              <a:t>Interrupt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: asynchronous exception</a:t>
            </a:r>
          </a:p>
          <a:p>
            <a:r>
              <a:rPr lang="en-US" sz="3600" b="1" dirty="0">
                <a:solidFill>
                  <a:srgbClr val="C00000"/>
                </a:solidFill>
              </a:rPr>
              <a:t>Fault</a:t>
            </a:r>
            <a:r>
              <a:rPr lang="en-US" sz="3600" dirty="0">
                <a:solidFill>
                  <a:srgbClr val="C00000"/>
                </a:solidFill>
              </a:rPr>
              <a:t>: exception caused by illegal execution</a:t>
            </a:r>
          </a:p>
          <a:p>
            <a:r>
              <a:rPr lang="en-US" sz="3600" b="1" dirty="0">
                <a:solidFill>
                  <a:srgbClr val="C00000"/>
                </a:solidFill>
              </a:rPr>
              <a:t>Abort</a:t>
            </a:r>
            <a:r>
              <a:rPr lang="en-US" sz="3600" dirty="0">
                <a:solidFill>
                  <a:srgbClr val="C00000"/>
                </a:solidFill>
              </a:rPr>
              <a:t>: fault related to memory access</a:t>
            </a:r>
            <a:endParaRPr lang="en-CA" sz="3600" dirty="0">
              <a:solidFill>
                <a:srgbClr val="C0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8A49E-D8ED-4951-565D-F2F97346C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91F6B-F2A1-A25B-91BE-A7C8D78E8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C3202-1838-6C5F-3F96-7C768009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140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D079C-D270-F540-F836-BCF961374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Cortex-M Faults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DC293-C7F4-F1C5-A34D-F00EAA362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HardFault</a:t>
            </a:r>
            <a:r>
              <a:rPr lang="en-US" dirty="0"/>
              <a:t> (catch-all)</a:t>
            </a:r>
          </a:p>
          <a:p>
            <a:r>
              <a:rPr lang="en-US" dirty="0"/>
              <a:t>Memory faults</a:t>
            </a:r>
          </a:p>
          <a:p>
            <a:r>
              <a:rPr lang="en-US" dirty="0"/>
              <a:t>Bus faults</a:t>
            </a:r>
          </a:p>
          <a:p>
            <a:r>
              <a:rPr lang="en-US" dirty="0"/>
              <a:t>Usage faults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8BD75-2171-F8AB-6603-E9521C331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07E2D-8D14-99F8-3457-3374150DD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9B90D-70D6-ADC0-E694-A5913FB7C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26</a:t>
            </a:fld>
            <a:endParaRPr lang="en-CA"/>
          </a:p>
        </p:txBody>
      </p:sp>
      <p:pic>
        <p:nvPicPr>
          <p:cNvPr id="7" name="Content Placeholder 7" descr="A white box with black text&#10;&#10;AI-generated content may be incorrect.">
            <a:extLst>
              <a:ext uri="{FF2B5EF4-FFF2-40B4-BE49-F238E27FC236}">
                <a16:creationId xmlns:a16="http://schemas.microsoft.com/office/drawing/2014/main" id="{E6AE7F44-710C-7D1F-E81C-EA26657F2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090" y="2463838"/>
            <a:ext cx="6401283" cy="339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67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6D7F2-066E-C70C-06E8-62F189870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Hard Fault: The Safety 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96CFA-4298-E35B-C2F0-3D2D24A5D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HardFault</a:t>
            </a:r>
            <a:r>
              <a:rPr lang="en-US" dirty="0"/>
              <a:t> occurs when:</a:t>
            </a:r>
          </a:p>
          <a:p>
            <a:r>
              <a:rPr lang="en-US" dirty="0"/>
              <a:t>A fault is not handled</a:t>
            </a:r>
          </a:p>
          <a:p>
            <a:r>
              <a:rPr lang="en-US" dirty="0"/>
              <a:t>Multiple faults happen simultaneously</a:t>
            </a:r>
          </a:p>
          <a:p>
            <a:r>
              <a:rPr lang="en-US" dirty="0"/>
              <a:t>System is in an unrecoverable state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C49CC-707B-4A7D-E69A-16B199A25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3318F-B208-F55D-4910-D471495FE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DCE0A-2BE7-A2CD-51F6-DE1FB0F7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8896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3D691-799D-B90A-1C0E-28D91EA0E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Faults: Illegal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3440E-3A73-88C3-D5CC-E459FA2A7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Memory faults occur when:</a:t>
            </a:r>
          </a:p>
          <a:p>
            <a:r>
              <a:rPr lang="en-US" dirty="0"/>
              <a:t>Accessing unmapped memory</a:t>
            </a:r>
          </a:p>
          <a:p>
            <a:r>
              <a:rPr lang="en-US" dirty="0"/>
              <a:t>Violating memory protection</a:t>
            </a:r>
          </a:p>
          <a:p>
            <a:r>
              <a:rPr lang="en-US" dirty="0"/>
              <a:t>Accessing forbidden regions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General Ideal: Not all addresses are valid memory.</a:t>
            </a:r>
            <a:endParaRPr lang="en-CA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80584-A311-A173-ADD8-9059D3C04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E9670-32D7-23D1-45F2-5955E0542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EE662-CAC8-3C7B-A824-A4F30BB65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5782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E38D6-102D-1DD5-90E5-6A1A326F1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 Faults: Access Failed Mid-Flight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CDD09-F8D1-E3AC-3459-D583EDBDD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Bus faults occur when:</a:t>
            </a:r>
          </a:p>
          <a:p>
            <a:r>
              <a:rPr lang="en-US" dirty="0"/>
              <a:t>Address is valid</a:t>
            </a:r>
          </a:p>
          <a:p>
            <a:r>
              <a:rPr lang="en-US" dirty="0"/>
              <a:t>Memory system fails</a:t>
            </a:r>
          </a:p>
          <a:p>
            <a:r>
              <a:rPr lang="en-US" dirty="0"/>
              <a:t>Peripheral error</a:t>
            </a:r>
          </a:p>
          <a:p>
            <a:r>
              <a:rPr lang="en-US" dirty="0"/>
              <a:t>Bus timeout</a:t>
            </a:r>
          </a:p>
          <a:p>
            <a:r>
              <a:rPr lang="en-US" dirty="0"/>
              <a:t>External memory failure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General Idea: Address was mapped correctly but some other error</a:t>
            </a:r>
            <a:endParaRPr lang="en-CA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609BB-68A6-6FEF-4644-22736014C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448FB-C7D6-E6AA-B2A3-948B996C1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7725B-B17D-B122-C987-0F9E7D5B0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42093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7442-90CA-C029-AFCF-3FCA89DA5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Usage Fault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2E867-9573-58DC-3654-4C7E4BBD0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Usage faults occur when:</a:t>
            </a:r>
          </a:p>
          <a:p>
            <a:r>
              <a:rPr lang="en-US" dirty="0"/>
              <a:t>Invalid instruction encoding</a:t>
            </a:r>
          </a:p>
          <a:p>
            <a:r>
              <a:rPr lang="en-US" dirty="0"/>
              <a:t>Undefined instruction</a:t>
            </a:r>
          </a:p>
          <a:p>
            <a:r>
              <a:rPr lang="en-US" dirty="0"/>
              <a:t>Divide by zero (optional)</a:t>
            </a:r>
          </a:p>
          <a:p>
            <a:r>
              <a:rPr lang="en-US" dirty="0"/>
              <a:t>Unaligned access (optional)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General Ideal: CPU cannot execute meaningless instruction</a:t>
            </a:r>
            <a:endParaRPr lang="en-CA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42E5E-D629-C5AB-B5AC-01244E16E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5483E-84EE-B79C-9E25-C81855537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EE9C7-22B7-217B-0931-4A066BE5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28703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erson in a red shirt&#10;&#10;AI-generated content may be incorrect.">
            <a:extLst>
              <a:ext uri="{FF2B5EF4-FFF2-40B4-BE49-F238E27FC236}">
                <a16:creationId xmlns:a16="http://schemas.microsoft.com/office/drawing/2014/main" id="{A6DA84A1-8A53-9A10-3F4B-5ACEAC21E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021" y="681037"/>
            <a:ext cx="6608142" cy="53669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10B108-BED3-AB8A-1C72-AECEA199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HardFault</a:t>
            </a:r>
            <a:r>
              <a:rPr lang="en-CA" dirty="0"/>
              <a:t> Handler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FA62B-93B6-3B0E-491E-FBB4F1CBC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do we do when a </a:t>
            </a:r>
            <a:r>
              <a:rPr lang="en-CA" dirty="0" err="1"/>
              <a:t>HardFault</a:t>
            </a:r>
            <a:r>
              <a:rPr lang="en-CA" dirty="0"/>
              <a:t> occurs?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0A8F7-B6EF-23E8-0926-A55C69640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A98A5-4FDB-307C-AC99-FFD8A3794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870C1-074C-DB6D-0E72-F964AD562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14411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9BE0-B343-7363-8BA6-F3DBB4A9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Remember The Exception Stack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7D073-28A9-A7D9-4360-A6CA6751C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2AC08-855F-9F57-641E-9B2E8C38B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CEEFA-BE42-0A99-5C52-7CBDE28C9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32</a:t>
            </a:fld>
            <a:endParaRPr lang="en-CA"/>
          </a:p>
        </p:txBody>
      </p:sp>
      <p:pic>
        <p:nvPicPr>
          <p:cNvPr id="7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59F17C-ADBD-F081-75AF-F29597479A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6017"/>
            <a:ext cx="10329361" cy="407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4165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FDAE7-8DB3-992C-41B8-008EA4412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Stack Inspection Saves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BF967-6F21-01A2-B9A3-48337063A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above registers were pushed onto the stack at the moment of the exception.</a:t>
            </a:r>
          </a:p>
          <a:p>
            <a:endParaRPr lang="en-CA" dirty="0"/>
          </a:p>
          <a:p>
            <a:r>
              <a:rPr lang="en-CA" dirty="0"/>
              <a:t>We can analyze the exception to understand </a:t>
            </a:r>
            <a:r>
              <a:rPr lang="en-CA" u="sng" dirty="0"/>
              <a:t>what</a:t>
            </a:r>
            <a:r>
              <a:rPr lang="en-CA" dirty="0"/>
              <a:t> was on the stack at that moment in time.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C4D77-CF7B-82CA-C24A-4F113C5D6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8FCCA-0C17-A012-D321-3552A9A0D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BF226-9725-D4DF-21E8-91012B3AE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81423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5C003-8CE4-521B-AE4A-F06AB22E6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FB6F4-2330-CC09-5897-791EF3C28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5EE69-A280-5D54-D6DD-AB4E49ACF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5ED75-A6A7-83B1-0A2A-8F97E1C3F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34</a:t>
            </a:fld>
            <a:endParaRPr lang="en-CA"/>
          </a:p>
        </p:txBody>
      </p:sp>
      <p:pic>
        <p:nvPicPr>
          <p:cNvPr id="8" name="Picture 7" descr="A computer code with blue text&#10;&#10;AI-generated content may be incorrect.">
            <a:extLst>
              <a:ext uri="{FF2B5EF4-FFF2-40B4-BE49-F238E27FC236}">
                <a16:creationId xmlns:a16="http://schemas.microsoft.com/office/drawing/2014/main" id="{0D4FB97B-F28E-D7D2-39E9-803709DCE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627" y="1216932"/>
            <a:ext cx="6477904" cy="1629002"/>
          </a:xfrm>
          <a:prstGeom prst="rect">
            <a:avLst/>
          </a:prstGeom>
        </p:spPr>
      </p:pic>
      <p:pic>
        <p:nvPicPr>
          <p:cNvPr id="10" name="Picture 9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C650119-00DD-A993-F044-519274FDA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935" y="2982459"/>
            <a:ext cx="5249065" cy="351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4418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1E9E-08CE-DA0F-1326-57CCB297D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Demo: Triggering Faults</a:t>
            </a:r>
          </a:p>
        </p:txBody>
      </p:sp>
      <p:pic>
        <p:nvPicPr>
          <p:cNvPr id="8" name="Content Placeholder 7" descr="A computer code with text&#10;&#10;AI-generated content may be incorrect.">
            <a:extLst>
              <a:ext uri="{FF2B5EF4-FFF2-40B4-BE49-F238E27FC236}">
                <a16:creationId xmlns:a16="http://schemas.microsoft.com/office/drawing/2014/main" id="{18207A2F-70CE-F65D-913F-CB0671A4B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0092" y="1825625"/>
            <a:ext cx="9971816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9C460-A1CE-328E-8936-804F7EA41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302FE-8851-3EC9-466F-EAD139538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446C4-84A4-99CF-E0E6-4E099B7F6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2728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9CF7-A096-077A-F870-4F7F2FEFC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More information on 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6C2FE-9429-DD7C-CE82-A4B2E0851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hlinkClick r:id="rId2"/>
              </a:rPr>
              <a:t>Several other registers we can inspect – see:</a:t>
            </a:r>
          </a:p>
          <a:p>
            <a:pPr marL="0" indent="0">
              <a:buNone/>
            </a:pPr>
            <a:endParaRPr lang="en-CA" dirty="0">
              <a:hlinkClick r:id="rId2"/>
            </a:endParaRPr>
          </a:p>
          <a:p>
            <a:pPr marL="0" indent="0">
              <a:buNone/>
            </a:pPr>
            <a:r>
              <a:rPr lang="en-CA" dirty="0">
                <a:hlinkClick r:id="rId2"/>
              </a:rPr>
              <a:t>https://developer.arm.com/documentation/107706/0100/System-exceptions/Fault-exceptions-and-their-causes</a:t>
            </a:r>
            <a:r>
              <a:rPr lang="en-CA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AE45C-AF21-91B9-BF58-68C8A1203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44C80-82C2-E8C7-6DC1-60A81CCBE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070D3-0E2F-38A2-E6C9-9FB0916C7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54883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9EE6F-5E0B-235F-E3F1-884EFDF3B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50431-C8CE-8DE5-815A-DC7DF3669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Interrupts &amp; Exceptions can introduce </a:t>
            </a:r>
            <a:r>
              <a:rPr lang="en-CA" i="1" dirty="0"/>
              <a:t>race conditions</a:t>
            </a:r>
            <a:endParaRPr lang="en-CA" dirty="0"/>
          </a:p>
          <a:p>
            <a:r>
              <a:rPr lang="en-CA" dirty="0"/>
              <a:t>Using </a:t>
            </a:r>
            <a:r>
              <a:rPr lang="en-CA" i="1" dirty="0"/>
              <a:t>atomic access</a:t>
            </a:r>
            <a:r>
              <a:rPr lang="en-CA" dirty="0"/>
              <a:t> in sections where we cannot have interrupts is important</a:t>
            </a:r>
          </a:p>
          <a:p>
            <a:r>
              <a:rPr lang="en-CA" dirty="0"/>
              <a:t>Most architectures have some form of </a:t>
            </a:r>
            <a:r>
              <a:rPr lang="en-CA" i="1" dirty="0"/>
              <a:t>interrupt priority</a:t>
            </a:r>
          </a:p>
          <a:p>
            <a:pPr lvl="1"/>
            <a:r>
              <a:rPr lang="en-CA" dirty="0"/>
              <a:t>Implementation details vary</a:t>
            </a:r>
          </a:p>
          <a:p>
            <a:r>
              <a:rPr lang="en-CA" dirty="0"/>
              <a:t>Faults are an exception used for hard errors</a:t>
            </a:r>
          </a:p>
          <a:p>
            <a:r>
              <a:rPr lang="en-CA" dirty="0"/>
              <a:t>The </a:t>
            </a:r>
            <a:r>
              <a:rPr lang="en-CA" dirty="0" err="1"/>
              <a:t>HardFault</a:t>
            </a:r>
            <a:r>
              <a:rPr lang="en-CA" dirty="0"/>
              <a:t> handler on Arm provides considerable additional detail to help you debug.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668BB-BDCF-01C5-3A44-5F7DECBBE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488BE-BB3E-6DCD-249B-D7AF127AB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EB9A9-ECC7-925F-3262-7EBF8941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3861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2010</TotalTime>
  <Words>1266</Words>
  <Application>Microsoft Office PowerPoint</Application>
  <PresentationFormat>Widescreen</PresentationFormat>
  <Paragraphs>268</Paragraphs>
  <Slides>37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Courier New</vt:lpstr>
      <vt:lpstr>Office Theme</vt:lpstr>
      <vt:lpstr>Computer Architecture: Exceptions &amp; Interrupts Part 2: Atomics, Nesting, and Faults</vt:lpstr>
      <vt:lpstr>Lectures</vt:lpstr>
      <vt:lpstr>Part 2-1: Atomic Operations</vt:lpstr>
      <vt:lpstr>Interrupting Work</vt:lpstr>
      <vt:lpstr>Race Condition</vt:lpstr>
      <vt:lpstr>Introducing Atomic Operations</vt:lpstr>
      <vt:lpstr>Solution #1: No Interrupts!</vt:lpstr>
      <vt:lpstr>Arm CPSID / CPSIE</vt:lpstr>
      <vt:lpstr>Solution #2: Arm Exclusive Access</vt:lpstr>
      <vt:lpstr>Exclusive Access vs. Disabling Interrupts</vt:lpstr>
      <vt:lpstr>Solution #3: Bit-Banding</vt:lpstr>
      <vt:lpstr>Bit Banding</vt:lpstr>
      <vt:lpstr>Solution #4: Set / Clear Registers (Peripherals Only)</vt:lpstr>
      <vt:lpstr>Reminder on bit set/clear in registers</vt:lpstr>
      <vt:lpstr>Atomic Operation Summary</vt:lpstr>
      <vt:lpstr>Part 2-2: Nesting</vt:lpstr>
      <vt:lpstr>Reminder: Exception Entry / Returns</vt:lpstr>
      <vt:lpstr>Endless Interrupt Risks</vt:lpstr>
      <vt:lpstr>Exception Priorities</vt:lpstr>
      <vt:lpstr>Higher Priority Interrupts</vt:lpstr>
      <vt:lpstr>Lower Priority Interrupts &amp; Tail Chaining</vt:lpstr>
      <vt:lpstr>Lower Priority Interrupts &amp; Tail Chaining</vt:lpstr>
      <vt:lpstr>Part 2-3: Faults</vt:lpstr>
      <vt:lpstr>Faults</vt:lpstr>
      <vt:lpstr>Faults vs. Aborts</vt:lpstr>
      <vt:lpstr>Cortex-M Faults</vt:lpstr>
      <vt:lpstr>Hard Fault: The Safety Net</vt:lpstr>
      <vt:lpstr>Memory Faults: Illegal Access</vt:lpstr>
      <vt:lpstr>Bus Faults: Access Failed Mid-Flight</vt:lpstr>
      <vt:lpstr>Usage Fault</vt:lpstr>
      <vt:lpstr>HardFault Handler</vt:lpstr>
      <vt:lpstr>Remember The Exception Stack</vt:lpstr>
      <vt:lpstr>Stack Inspection Saves Us</vt:lpstr>
      <vt:lpstr>PowerPoint Presentation</vt:lpstr>
      <vt:lpstr>Demo: Triggering Faults</vt:lpstr>
      <vt:lpstr>More information on registers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Colin O'Flynn</dc:creator>
  <cp:lastModifiedBy>Colin O'Flynn</cp:lastModifiedBy>
  <cp:revision>13</cp:revision>
  <dcterms:created xsi:type="dcterms:W3CDTF">2026-02-08T23:56:58Z</dcterms:created>
  <dcterms:modified xsi:type="dcterms:W3CDTF">2026-02-11T18:16:09Z</dcterms:modified>
</cp:coreProperties>
</file>