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1" r:id="rId5"/>
    <p:sldId id="278" r:id="rId6"/>
    <p:sldId id="262" r:id="rId7"/>
    <p:sldId id="263" r:id="rId8"/>
    <p:sldId id="277" r:id="rId9"/>
    <p:sldId id="266" r:id="rId10"/>
    <p:sldId id="265" r:id="rId11"/>
    <p:sldId id="280" r:id="rId12"/>
    <p:sldId id="281" r:id="rId13"/>
    <p:sldId id="268" r:id="rId14"/>
    <p:sldId id="269" r:id="rId15"/>
    <p:sldId id="282" r:id="rId16"/>
    <p:sldId id="271" r:id="rId17"/>
    <p:sldId id="27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273" r:id="rId26"/>
    <p:sldId id="300" r:id="rId27"/>
    <p:sldId id="301" r:id="rId28"/>
    <p:sldId id="288" r:id="rId29"/>
    <p:sldId id="289" r:id="rId30"/>
    <p:sldId id="291" r:id="rId31"/>
    <p:sldId id="290" r:id="rId32"/>
    <p:sldId id="274" r:id="rId33"/>
    <p:sldId id="283" r:id="rId34"/>
    <p:sldId id="284" r:id="rId35"/>
    <p:sldId id="285" r:id="rId36"/>
    <p:sldId id="275" r:id="rId37"/>
    <p:sldId id="286" r:id="rId38"/>
    <p:sldId id="287" r:id="rId39"/>
    <p:sldId id="276" r:id="rId40"/>
    <p:sldId id="30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660"/>
  </p:normalViewPr>
  <p:slideViewPr>
    <p:cSldViewPr snapToGrid="0">
      <p:cViewPr>
        <p:scale>
          <a:sx n="75" d="100"/>
          <a:sy n="75" d="100"/>
        </p:scale>
        <p:origin x="960" y="15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2026-02-21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1959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72FD-17C4-4195-9A46-AE8481F14B8C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8C76-B400-4F53-8805-742D98EC80C2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C1D2-65BD-4030-B320-CFCAC7C2CF77}" type="datetime1">
              <a:rPr lang="en-CA" smtClean="0"/>
              <a:t>2026-02-21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6206-5BA6-460D-9780-A5A1F3FC520F}" type="datetime1">
              <a:rPr lang="en-CA" smtClean="0"/>
              <a:t>2026-02-21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05AF-8116-461A-AD38-E69AB126D756}" type="datetime1">
              <a:rPr lang="en-CA" smtClean="0"/>
              <a:t>2026-02-21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9D55-1BF1-40D6-87EC-FFE4362AD15D}" type="datetime1">
              <a:rPr lang="en-CA" smtClean="0"/>
              <a:t>2026-02-21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4D12-9B66-4D3F-BFEA-EB6939410680}" type="datetime1">
              <a:rPr lang="en-CA" smtClean="0"/>
              <a:t>2026-02-21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CAEB-FDAC-4944-A700-E5025FBDCFB8}" type="datetime1">
              <a:rPr lang="en-CA" smtClean="0"/>
              <a:t>2026-02-21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88EE-D2E8-458C-B025-86AB65CB2342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418E-0BAA-477E-AE93-7DEEFAFBE002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9C524-F283-4997-8372-EC621E6F8B97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Memory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5903-4A42-43A9-9B07-0A555E8C01D2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b="1" dirty="0">
                <a:solidFill>
                  <a:srgbClr val="FF0000"/>
                </a:solidFill>
              </a:rPr>
              <a:t>How does the machine store data?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How does the machine interface using buses?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What does it mean to have “allowed” memory?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How does the machine speed up data access?</a:t>
            </a: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19EC-D327-B33E-1FF0-ADC0829D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9E815-94D4-83F1-421D-FD28D818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BECB-6278-42F7-9C88-BC81EA3B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8D38B-34D2-9588-88A8-3167E2D1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DAB4130-2EFF-842E-7532-D70C72A61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memory?</a:t>
            </a:r>
          </a:p>
        </p:txBody>
      </p:sp>
    </p:spTree>
    <p:extLst>
      <p:ext uri="{BB962C8B-B14F-4D97-AF65-F5344CB8AC3E}">
        <p14:creationId xmlns:p14="http://schemas.microsoft.com/office/powerpoint/2010/main" val="119003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317A-5314-7FC3-E033-ADE4E78A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Addressing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417E4-D105-0435-5039-310FD7C3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D2F79-73B6-846C-FB0E-AACC0843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6A1B1-BC85-5395-52C1-89618F3E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A3E5486-6CB2-A437-3A72-C76C6ADA5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9493" y="136525"/>
            <a:ext cx="4764614" cy="59039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DD1E59-452A-F470-D5C1-D7E4E967C69A}"/>
              </a:ext>
            </a:extLst>
          </p:cNvPr>
          <p:cNvSpPr txBox="1"/>
          <p:nvPr/>
        </p:nvSpPr>
        <p:spPr>
          <a:xfrm>
            <a:off x="744583" y="1690688"/>
            <a:ext cx="61949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entire memory space is defined by the number of bits in the address bus: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16-bit = 65 KB (</a:t>
            </a:r>
            <a:r>
              <a:rPr lang="en-CA" b="1" dirty="0"/>
              <a:t>65,536</a:t>
            </a:r>
            <a:r>
              <a:rPr lang="en-CA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32-bit = 4 GB (</a:t>
            </a:r>
            <a:r>
              <a:rPr lang="en-CA" b="1" dirty="0"/>
              <a:t>4,294,967,296</a:t>
            </a:r>
            <a:r>
              <a:rPr lang="en-CA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64-bit = 16 EB (</a:t>
            </a:r>
            <a:r>
              <a:rPr lang="en-CA" b="1" dirty="0"/>
              <a:t>18,446,744,073,709,551,616 </a:t>
            </a:r>
            <a:r>
              <a:rPr lang="en-CA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There is </a:t>
            </a:r>
            <a:r>
              <a:rPr lang="en-CA" i="1" dirty="0"/>
              <a:t>no standard</a:t>
            </a:r>
            <a:r>
              <a:rPr lang="en-CA" dirty="0"/>
              <a:t> when it comes to what address to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Address “0” may be </a:t>
            </a:r>
            <a:r>
              <a:rPr lang="en-CA" i="1" dirty="0"/>
              <a:t>invalid</a:t>
            </a:r>
            <a:r>
              <a:rPr lang="en-CA" dirty="0"/>
              <a:t> – blocks get assigned anywhere in the address space. Sometimes for historical reasons.</a:t>
            </a:r>
          </a:p>
        </p:txBody>
      </p:sp>
    </p:spTree>
    <p:extLst>
      <p:ext uri="{BB962C8B-B14F-4D97-AF65-F5344CB8AC3E}">
        <p14:creationId xmlns:p14="http://schemas.microsoft.com/office/powerpoint/2010/main" val="175219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6116-6D8B-5434-4803-3BDDA74C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Banking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6D8E-208F-9914-53A2-C937AB654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happens if you run out of memory (e.g., 16-bit, 32-bit)?</a:t>
            </a:r>
          </a:p>
          <a:p>
            <a:pPr lvl="1"/>
            <a:r>
              <a:rPr lang="en-CA" dirty="0"/>
              <a:t>Requires </a:t>
            </a:r>
            <a:r>
              <a:rPr lang="en-CA" u="sng" dirty="0"/>
              <a:t>banking out</a:t>
            </a:r>
            <a:r>
              <a:rPr lang="en-CA" dirty="0"/>
              <a:t> memory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Older devices often have memory banks you switch between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9619B-E424-A248-6017-4F1FF789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25853-1D48-14DC-2F50-197FC955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92D57-5C07-EAB5-60BB-7534C40C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301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5984-2DB2-0EE1-6422-B27C990CA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03A66-79ED-39B5-6F93-54509D26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CA" dirty="0"/>
              <a:t>This is the width of the </a:t>
            </a:r>
            <a:r>
              <a:rPr lang="en-CA" u="sng" dirty="0"/>
              <a:t>memory itself</a:t>
            </a:r>
            <a:endParaRPr lang="en-CA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1AEB6-35E7-39C2-D72E-BD149C42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1F753-7936-1F25-859C-E6976D8D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80806-5D06-4DE1-447A-EDB2F944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  <p:pic>
        <p:nvPicPr>
          <p:cNvPr id="1026" name="Picture 2" descr="Random-access memory - Wikipedia">
            <a:extLst>
              <a:ext uri="{FF2B5EF4-FFF2-40B4-BE49-F238E27FC236}">
                <a16:creationId xmlns:a16="http://schemas.microsoft.com/office/drawing/2014/main" id="{00A15C46-F6AF-391A-46ED-49363D106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440" y="2212060"/>
            <a:ext cx="7945120" cy="414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39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F4D7-3273-2A2D-6912-6C579C1C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Byte Addressing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D8788-27B0-AD05-F632-18EE0DBB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6D2A3-B3EB-EAF4-CCD1-F2EC578D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BBC47-6D7B-4332-B855-7A273211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7</a:t>
            </a:fld>
            <a:endParaRPr lang="en-CA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D4FE02-E1CD-8F61-40F3-53BE8E17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858" y="2186775"/>
            <a:ext cx="4114799" cy="329184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6A453B-4B3F-86B1-9370-26366AB2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91" b="22342"/>
          <a:stretch>
            <a:fillRect/>
          </a:stretch>
        </p:blipFill>
        <p:spPr>
          <a:xfrm>
            <a:off x="5626832" y="2186775"/>
            <a:ext cx="4848128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26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CE5C7-6CA9-8BA1-7880-EC4AE6B1D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E4C6-DAF9-175B-CB55-8F47C1C1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Computer Data 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C0FE8-EFB0-C7FE-B25D-0A34DF9A8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1320" cy="4351338"/>
          </a:xfrm>
        </p:spPr>
        <p:txBody>
          <a:bodyPr/>
          <a:lstStyle/>
          <a:p>
            <a:r>
              <a:rPr lang="en-CA" dirty="0"/>
              <a:t>This is the width of the </a:t>
            </a:r>
            <a:r>
              <a:rPr lang="en-CA" u="sng" dirty="0"/>
              <a:t>computer bus</a:t>
            </a:r>
            <a:endParaRPr lang="en-CA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B8468-FD46-105A-AD1E-D5A9E9607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11E5-0EB6-38C3-FF1A-7A5FBBDC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60818-EA88-D004-90B0-E69ABECD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8</a:t>
            </a:fld>
            <a:endParaRPr lang="en-CA"/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D7DCEA2E-CB7C-3BB1-181D-FE2FF229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84"/>
          <a:stretch>
            <a:fillRect/>
          </a:stretch>
        </p:blipFill>
        <p:spPr>
          <a:xfrm>
            <a:off x="6467427" y="1027906"/>
            <a:ext cx="5104813" cy="495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1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67C1-F43B-C4FE-711B-8646FD4F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Address Space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2C2B7-1EB4-F421-A797-F6D26422B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72615"/>
          </a:xfrm>
        </p:spPr>
        <p:txBody>
          <a:bodyPr/>
          <a:lstStyle/>
          <a:p>
            <a:r>
              <a:rPr lang="en-CA" dirty="0"/>
              <a:t>Peripherals are mapped into address space – this may include many small RAMs for example or other small blocks.</a:t>
            </a:r>
          </a:p>
          <a:p>
            <a:r>
              <a:rPr lang="en-CA" dirty="0"/>
              <a:t>It may be possible to </a:t>
            </a:r>
            <a:r>
              <a:rPr lang="en-CA" u="sng" dirty="0"/>
              <a:t>move</a:t>
            </a:r>
            <a:r>
              <a:rPr lang="en-CA" dirty="0"/>
              <a:t> these, often in datasheets/manuals you see registers as an </a:t>
            </a:r>
            <a:r>
              <a:rPr lang="en-CA" u="sng" dirty="0"/>
              <a:t>offset</a:t>
            </a:r>
            <a:r>
              <a:rPr lang="en-CA" dirty="0"/>
              <a:t> for this reason: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508B0-AF04-230D-27F2-A94CEDF8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A2972-AD79-232A-B368-DDBE73A1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D140C-87C0-C4BF-0287-CF26F2A1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BA2E2F-C1ED-C90E-9D78-664C985C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356" y="3698240"/>
            <a:ext cx="6343604" cy="250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43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1A39-2C53-08F8-F5C9-EE5E0FAC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von Neumann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DFFFE-0F63-23BE-D0F5-F932C9A8F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One bus with everything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C1037-B833-0C4E-6478-2081D8DF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54FF4-F4B2-F521-7812-BED66078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CBF68-A5EB-0500-9276-EDA4DCE2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489FE7-A18A-FEF1-1FE2-E40BEE84E2BD}"/>
              </a:ext>
            </a:extLst>
          </p:cNvPr>
          <p:cNvSpPr/>
          <p:nvPr/>
        </p:nvSpPr>
        <p:spPr>
          <a:xfrm>
            <a:off x="2819401" y="3190240"/>
            <a:ext cx="2082800" cy="2326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D35DAD-4E3F-4BEF-3002-DF3DBE0E80AC}"/>
              </a:ext>
            </a:extLst>
          </p:cNvPr>
          <p:cNvSpPr/>
          <p:nvPr/>
        </p:nvSpPr>
        <p:spPr>
          <a:xfrm>
            <a:off x="6845300" y="2966720"/>
            <a:ext cx="2082800" cy="12293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Flash (Code)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F13736-9491-198B-1744-373539B11ABD}"/>
              </a:ext>
            </a:extLst>
          </p:cNvPr>
          <p:cNvSpPr/>
          <p:nvPr/>
        </p:nvSpPr>
        <p:spPr>
          <a:xfrm>
            <a:off x="6845300" y="4586922"/>
            <a:ext cx="2082800" cy="12293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RAM (Data)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BCB398-7DAA-E124-1514-F5442D2C1B93}"/>
              </a:ext>
            </a:extLst>
          </p:cNvPr>
          <p:cNvSpPr/>
          <p:nvPr/>
        </p:nvSpPr>
        <p:spPr>
          <a:xfrm>
            <a:off x="5566411" y="2869882"/>
            <a:ext cx="548640" cy="2946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B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U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29A746F0-0262-7D8F-5272-09F1C0433DEF}"/>
              </a:ext>
            </a:extLst>
          </p:cNvPr>
          <p:cNvSpPr/>
          <p:nvPr/>
        </p:nvSpPr>
        <p:spPr>
          <a:xfrm>
            <a:off x="4902201" y="3553618"/>
            <a:ext cx="664210" cy="43211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A54A854F-32CE-5B86-BF67-DDB055F18B87}"/>
              </a:ext>
            </a:extLst>
          </p:cNvPr>
          <p:cNvSpPr/>
          <p:nvPr/>
        </p:nvSpPr>
        <p:spPr>
          <a:xfrm>
            <a:off x="6115050" y="3365341"/>
            <a:ext cx="730249" cy="43211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7DE7BAAE-4A8F-ECAB-DBD0-623CF7132F55}"/>
              </a:ext>
            </a:extLst>
          </p:cNvPr>
          <p:cNvSpPr/>
          <p:nvPr/>
        </p:nvSpPr>
        <p:spPr>
          <a:xfrm>
            <a:off x="6115050" y="4989432"/>
            <a:ext cx="730249" cy="43211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93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6DEE93E6-8A3E-8DD6-B493-9CBD45A85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676" y="574558"/>
            <a:ext cx="6284324" cy="53487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0955C9-0EEA-2F8E-1DCC-122A29206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Harvard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31F53-B972-68BB-7377-BDD2BA741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0040" cy="4351338"/>
          </a:xfrm>
        </p:spPr>
        <p:txBody>
          <a:bodyPr/>
          <a:lstStyle/>
          <a:p>
            <a:r>
              <a:rPr lang="en-CA" dirty="0"/>
              <a:t>Separate code &amp; data busses</a:t>
            </a:r>
          </a:p>
          <a:p>
            <a:r>
              <a:rPr lang="en-CA" dirty="0"/>
              <a:t>Hardcoded access logic – addresses </a:t>
            </a:r>
            <a:r>
              <a:rPr lang="en-CA" u="sng" dirty="0"/>
              <a:t>overlap</a:t>
            </a:r>
            <a:endParaRPr lang="en-CA" dirty="0"/>
          </a:p>
          <a:p>
            <a:pPr lvl="1"/>
            <a:r>
              <a:rPr lang="en-CA" dirty="0"/>
              <a:t>Address 0x0000 exists on both memories</a:t>
            </a:r>
          </a:p>
          <a:p>
            <a:pPr lvl="1"/>
            <a:r>
              <a:rPr lang="en-CA" dirty="0"/>
              <a:t>Impossible to execute from SRAM</a:t>
            </a:r>
          </a:p>
          <a:p>
            <a:r>
              <a:rPr lang="en-CA" dirty="0"/>
              <a:t>E.g., AVR  (ATMega328P at right)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AFE8E-1E80-2AD0-8757-B0032C841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DB8A6-4245-5471-CFA9-B947651E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6229-DD85-C6E0-6BDE-D78804B5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538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6C2C6572-EC9F-147E-6C73-7F28C4B5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84"/>
          <a:stretch>
            <a:fillRect/>
          </a:stretch>
        </p:blipFill>
        <p:spPr>
          <a:xfrm>
            <a:off x="6650307" y="1027906"/>
            <a:ext cx="5104813" cy="49523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A49A15-1C20-90D5-C486-AF192B17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Modified Harvard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9CE1-AD7C-2697-5942-45E3825D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One address space</a:t>
            </a:r>
          </a:p>
          <a:p>
            <a:pPr lvl="1"/>
            <a:r>
              <a:rPr lang="en-CA" dirty="0"/>
              <a:t>Possible to execute from any memory</a:t>
            </a:r>
          </a:p>
          <a:p>
            <a:r>
              <a:rPr lang="en-CA" dirty="0"/>
              <a:t>Separate code &amp; data busses</a:t>
            </a:r>
          </a:p>
          <a:p>
            <a:pPr lvl="1"/>
            <a:r>
              <a:rPr lang="en-CA" dirty="0"/>
              <a:t>Enables more efficient caching</a:t>
            </a:r>
          </a:p>
          <a:p>
            <a:r>
              <a:rPr lang="en-CA" dirty="0"/>
              <a:t>E.g., Cortex-M (STM32F3 at right)</a:t>
            </a:r>
          </a:p>
          <a:p>
            <a:r>
              <a:rPr lang="en-CA" dirty="0"/>
              <a:t>Most microcontrollers are this now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FB49E-FFBD-F5AC-5A00-61237226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ADE89-51ED-C41E-EFF0-E8D0A76F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F5A7E-4B5F-C620-9039-BA6EE17E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1946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7B17-389C-FA74-D843-E01C0B36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4A8FB-E6FB-9560-A73B-EFD74E57F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Different memory will have different times</a:t>
            </a:r>
          </a:p>
          <a:p>
            <a:r>
              <a:rPr lang="en-CA" dirty="0"/>
              <a:t>What happens if memory is not fast enough?</a:t>
            </a:r>
          </a:p>
          <a:p>
            <a:pPr lvl="1"/>
            <a:r>
              <a:rPr lang="en-CA" i="1" dirty="0"/>
              <a:t>CPU Stall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24CDA-4DE1-EF2E-0B78-D067BFCC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C2DE3-A66C-ACF1-5951-D16F3995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1FEFB-39E0-CCB7-8B59-1A961A0F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1991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C156B-52E8-59B2-C4CF-BCC1F2F6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Memory-Mapped I/O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1FB77-84BE-88C7-100F-9D4CC3C5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A165-987C-9648-5231-C6672AD5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C3F6C-5604-1194-5C29-21427461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  <p:pic>
        <p:nvPicPr>
          <p:cNvPr id="8" name="Picture 7" descr="A screenshot of a document&#10;&#10;AI-generated content may be incorrect.">
            <a:extLst>
              <a:ext uri="{FF2B5EF4-FFF2-40B4-BE49-F238E27FC236}">
                <a16:creationId xmlns:a16="http://schemas.microsoft.com/office/drawing/2014/main" id="{F2D15445-44CE-8AFF-BC2A-C08FCD045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618" y="1476550"/>
            <a:ext cx="5999382" cy="509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74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3468-A6B9-B0B9-7E30-9A718CB1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1C121-8760-0A24-413B-0BD787302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Alignment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7169E-FE88-B9BA-70DB-B549EE29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C0F28-9A9B-8983-DFE0-A8DAFF0C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5F8F0-8376-4A8A-1F6F-616352BF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48EE1D7-A8C9-D490-3B1F-0B93731956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6095999" y="2010291"/>
            <a:ext cx="5206139" cy="398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484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1D89-3FBE-8ADE-8E61-413E2423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Alignment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EC159-2232-CE29-3DDF-ED2B43FE4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123F2-79B1-330A-6EDC-9FA975F7A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20BC7-CD18-383C-1BA5-AC755C65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A0BE43C-4B38-98B2-69FE-625BA2DA61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61" y="2010291"/>
            <a:ext cx="10412278" cy="398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588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3EC8-52F2-1528-1E01-161FA96B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Misaligned Memory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D4FB4-94D4-E318-BB72-ED0623F4F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33575"/>
          </a:xfrm>
        </p:spPr>
        <p:txBody>
          <a:bodyPr/>
          <a:lstStyle/>
          <a:p>
            <a:r>
              <a:rPr lang="en-CA" dirty="0"/>
              <a:t>Some devices will throw a fault exception when accessing </a:t>
            </a:r>
            <a:r>
              <a:rPr lang="en-CA" u="sng" dirty="0"/>
              <a:t>unaligned</a:t>
            </a:r>
            <a:r>
              <a:rPr lang="en-CA" dirty="0"/>
              <a:t> data, e.g.:</a:t>
            </a:r>
          </a:p>
          <a:p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436A4-1660-ED61-A8EF-41DE6944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AF9A-29FB-F95E-984A-2E5E6EAF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32C9C-78E9-6935-CF82-659D5173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  <p:pic>
        <p:nvPicPr>
          <p:cNvPr id="8" name="Picture 7" descr="A group of red letters and numbers&#10;&#10;AI-generated content may be incorrect.">
            <a:extLst>
              <a:ext uri="{FF2B5EF4-FFF2-40B4-BE49-F238E27FC236}">
                <a16:creationId xmlns:a16="http://schemas.microsoft.com/office/drawing/2014/main" id="{2806A361-BBAD-A563-F99C-EE18116E6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935" y="2740580"/>
            <a:ext cx="5128392" cy="7951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E320E4-8685-261A-BF76-A83BBDDB68F5}"/>
              </a:ext>
            </a:extLst>
          </p:cNvPr>
          <p:cNvSpPr txBox="1">
            <a:spLocks/>
          </p:cNvSpPr>
          <p:nvPr/>
        </p:nvSpPr>
        <p:spPr>
          <a:xfrm>
            <a:off x="838200" y="3979545"/>
            <a:ext cx="10515600" cy="1933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Cortex-M0, M1 do not support unaligned access like above</a:t>
            </a:r>
          </a:p>
          <a:p>
            <a:r>
              <a:rPr lang="en-CA" dirty="0"/>
              <a:t>Cortex-M3 </a:t>
            </a:r>
            <a:r>
              <a:rPr lang="en-CA" u="sng" dirty="0"/>
              <a:t>do work</a:t>
            </a:r>
            <a:r>
              <a:rPr lang="en-CA" dirty="0"/>
              <a:t>, but hardware is doing multiple accesses (slower)</a:t>
            </a:r>
          </a:p>
          <a:p>
            <a:endParaRPr lang="en-CA" dirty="0"/>
          </a:p>
          <a:p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30533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515D7-9EC2-EB96-FC3C-E9A83EF3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Generic Aligned Access – Normal Read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C601A-EF83-387F-A30B-859AC8FE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AAD50-427E-867F-16B0-394FBEB1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F97C0-B1E7-DC79-BC0E-FA0C34EF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66B4ABA-D00A-FE1E-7840-5B22D5EB1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146DE-18A5-F81B-0820-082B6C792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341"/>
            <a:ext cx="12192000" cy="423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05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7BB5C-CA48-46B4-4202-01BFC9A09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5D9A-FEB4-B8C7-55AE-A4A33497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Generic Unaligned Access – Half Off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225C2-7131-3CE9-3D6B-3D7FFFD5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228DF-1D01-BD1E-BC81-68893862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863DB-9B2F-EF44-E362-26330E4B2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BBD7847-3A53-EA74-8F41-8B0C34AED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8B87AE-0257-2896-E82F-B6622572A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1476102"/>
            <a:ext cx="11145805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8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6509C-67F8-8F04-DCEC-8AFB36453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6BF1-1FBD-1664-35C4-2A519F86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Generic Aligned Access – Half Off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C8257-9769-12B6-103B-8565C3F0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94427-01EC-07C5-F0D4-FCF25996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A5B94-6D62-3805-A324-6B7A9166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AAEE3-ABA9-362E-83E3-77C2392DB69D}"/>
              </a:ext>
            </a:extLst>
          </p:cNvPr>
          <p:cNvSpPr/>
          <p:nvPr/>
        </p:nvSpPr>
        <p:spPr>
          <a:xfrm>
            <a:off x="4267200" y="2661920"/>
            <a:ext cx="2570480" cy="528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+2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08DDBD-9CD3-C398-9DC1-43E87C2F2B23}"/>
              </a:ext>
            </a:extLst>
          </p:cNvPr>
          <p:cNvSpPr/>
          <p:nvPr/>
        </p:nvSpPr>
        <p:spPr>
          <a:xfrm>
            <a:off x="4267200" y="3342640"/>
            <a:ext cx="2570480" cy="528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+4</a:t>
            </a:r>
          </a:p>
        </p:txBody>
      </p:sp>
    </p:spTree>
    <p:extLst>
      <p:ext uri="{BB962C8B-B14F-4D97-AF65-F5344CB8AC3E}">
        <p14:creationId xmlns:p14="http://schemas.microsoft.com/office/powerpoint/2010/main" val="1586096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8880-A7B0-B822-B617-1AD4DFC3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96EE-B507-3217-D6AC-560868AE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Generic Unaligned Access – 1 Off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88D9F-B5C2-2529-9662-D5FCBB13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C811-772F-B6E1-0D40-00F5F03F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A12A-C9F5-CABE-8DE3-87A20649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E85337-C022-E251-5565-BD3232B87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67" y="1500131"/>
            <a:ext cx="10165266" cy="46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4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F6B5-FD7E-9EF1-9C97-4E8AF70B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D1DC-0C08-F57B-8945-9BFC478E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Generic Unaligned Access – 1 Off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77CD9-0AF9-102E-218A-43A2765D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A05FC-DCF1-8949-ABBD-E16062DC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6DB40-3EC2-84D4-C8C7-35DE4ED0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C6C02D-72D7-3808-84DB-634B4ED47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67" y="1500131"/>
            <a:ext cx="10165266" cy="46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95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9870-D09D-E513-2C99-518DEA830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Generic Unaligned access – 1 byte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F94C1F-49C7-9205-31C1-174E81CA1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9415"/>
            <a:ext cx="10515600" cy="37837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43C29-A30A-3835-4B6D-9CB486D7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8B478-141D-5242-39A2-3C59B3D6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A616-FE2C-636E-821F-408A5B23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2436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3F04-7D73-78BB-0285-CC54CFC5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2CF9-AC26-CAA3-3F28-BC718AE2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Single Byte Access Without </a:t>
            </a:r>
            <a:r>
              <a:rPr lang="en-CA" dirty="0" err="1"/>
              <a:t>ldrb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4AE37-753F-B0BF-CD55-9314109F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E8086-9788-91D7-68DB-CEE678F14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8090A-C8AA-DBEC-A4CA-5171DFAD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24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C58E52-FFE7-F65D-AD7C-34DB4E797E25}"/>
              </a:ext>
            </a:extLst>
          </p:cNvPr>
          <p:cNvSpPr/>
          <p:nvPr/>
        </p:nvSpPr>
        <p:spPr>
          <a:xfrm>
            <a:off x="3423920" y="3037840"/>
            <a:ext cx="1097280" cy="528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5366FF-4080-D17A-283D-FD195288B3A6}"/>
              </a:ext>
            </a:extLst>
          </p:cNvPr>
          <p:cNvSpPr/>
          <p:nvPr/>
        </p:nvSpPr>
        <p:spPr>
          <a:xfrm>
            <a:off x="4521200" y="3037840"/>
            <a:ext cx="1097280" cy="528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F6C20A-E413-FF35-F4EE-F829123D4301}"/>
              </a:ext>
            </a:extLst>
          </p:cNvPr>
          <p:cNvSpPr/>
          <p:nvPr/>
        </p:nvSpPr>
        <p:spPr>
          <a:xfrm>
            <a:off x="5618480" y="3037840"/>
            <a:ext cx="1097280" cy="528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9E1505-A65D-32C3-E9B3-E02DF678C5B0}"/>
              </a:ext>
            </a:extLst>
          </p:cNvPr>
          <p:cNvSpPr/>
          <p:nvPr/>
        </p:nvSpPr>
        <p:spPr>
          <a:xfrm>
            <a:off x="6715760" y="3037840"/>
            <a:ext cx="1097280" cy="528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50871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0EE2-89E3-B46E-08FC-BE62AED2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Struct Padding /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F5C56-53B8-468D-ABC5-2957E611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0A157-D132-7AC5-7DDE-51D1985A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18F9A-BED2-5720-AF05-BF787457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25</a:t>
            </a:fld>
            <a:endParaRPr lang="en-CA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55179F-D623-DCF1-2521-02CFEA1E8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74" y="1551466"/>
            <a:ext cx="10261950" cy="457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34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12A8-19FE-D9D9-459B-5F46991A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Struct Padding / Layout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454E19-0E90-4E6E-18ED-53E99F41D4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809" y="1825625"/>
            <a:ext cx="9804381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E5A21-5842-6DBD-68B5-EE323A33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89A60-77B8-A5AF-3EA6-274C057B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C404E-CCE2-3541-0BA5-00B4C5CC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668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2DB5-D172-5C4A-2815-D2254F68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Struct Packing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5DA4-C0A1-6015-E832-13379B987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79575"/>
          </a:xfrm>
        </p:spPr>
        <p:txBody>
          <a:bodyPr/>
          <a:lstStyle/>
          <a:p>
            <a:r>
              <a:rPr lang="en-CA" dirty="0"/>
              <a:t>When dealing with protocols &amp; structs – be </a:t>
            </a:r>
            <a:r>
              <a:rPr lang="en-CA" u="sng" dirty="0"/>
              <a:t>very careful ensuring this is working as intended.</a:t>
            </a:r>
          </a:p>
          <a:p>
            <a:r>
              <a:rPr lang="en-CA" dirty="0"/>
              <a:t>Quick tip: use </a:t>
            </a:r>
            <a:r>
              <a:rPr lang="en-CA" dirty="0" err="1"/>
              <a:t>sizeof</a:t>
            </a:r>
            <a:r>
              <a:rPr lang="en-CA" dirty="0"/>
              <a:t>() on the struct to detect packing: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E9AD5-EE74-013F-3615-5FF7AE45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57857-E1CB-FA5C-407E-658D4862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052F1-C9C8-20F7-3A69-47BDD0EE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906774-B4FE-0603-E5A9-2ABBDE55F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11" y="3281680"/>
            <a:ext cx="9627049" cy="286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86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7DF37-EBC5-CD80-A8D8-93DA4AE5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Endianness – Little Endian Byte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56C5-0421-B3AF-3E6F-42EBD7916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460500"/>
            <a:ext cx="10515600" cy="15932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b="1" dirty="0"/>
              <a:t>0x20001000 = EE</a:t>
            </a:r>
          </a:p>
          <a:p>
            <a:pPr marL="0" indent="0">
              <a:buNone/>
            </a:pPr>
            <a:r>
              <a:rPr lang="en-CA" b="1" dirty="0"/>
              <a:t>0x20001001 = 5D</a:t>
            </a:r>
          </a:p>
          <a:p>
            <a:pPr marL="0" indent="0">
              <a:buNone/>
            </a:pPr>
            <a:r>
              <a:rPr lang="en-CA" b="1" dirty="0"/>
              <a:t>0x20001002 = 04</a:t>
            </a:r>
          </a:p>
          <a:p>
            <a:pPr marL="0" indent="0">
              <a:buNone/>
            </a:pPr>
            <a:r>
              <a:rPr lang="en-CA" b="1" dirty="0"/>
              <a:t>0x20001003 = F7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B823D-08DE-D12A-E505-EBE7832A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26AA1-6EB8-2859-B03C-D0CB16B1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9258-0E96-6828-A032-8C07F410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85E01C-85A6-0069-CAFD-37C087467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178" y="3201035"/>
            <a:ext cx="4114799" cy="329184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05AA35-2BAA-FB2E-0EEF-44F00D80A5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91" b="22342"/>
          <a:stretch>
            <a:fillRect/>
          </a:stretch>
        </p:blipFill>
        <p:spPr>
          <a:xfrm>
            <a:off x="5647152" y="3201035"/>
            <a:ext cx="4848128" cy="32918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D6DF0D-5859-3FC4-D339-7A9E332565C4}"/>
              </a:ext>
            </a:extLst>
          </p:cNvPr>
          <p:cNvSpPr txBox="1">
            <a:spLocks/>
          </p:cNvSpPr>
          <p:nvPr/>
        </p:nvSpPr>
        <p:spPr>
          <a:xfrm>
            <a:off x="3232577" y="1386840"/>
            <a:ext cx="3970863" cy="159321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b="1" dirty="0"/>
              <a:t>Least Significant Byte (LSB)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b="1" dirty="0"/>
          </a:p>
          <a:p>
            <a:pPr marL="0" indent="0">
              <a:buFont typeface="Arial" panose="020B0604020202020204" pitchFamily="34" charset="0"/>
              <a:buNone/>
            </a:pPr>
            <a:endParaRPr lang="en-CA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CA" b="1" dirty="0"/>
              <a:t>Most Significant Byte (MSB)</a:t>
            </a:r>
          </a:p>
        </p:txBody>
      </p:sp>
    </p:spTree>
    <p:extLst>
      <p:ext uri="{BB962C8B-B14F-4D97-AF65-F5344CB8AC3E}">
        <p14:creationId xmlns:p14="http://schemas.microsoft.com/office/powerpoint/2010/main" val="2516195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69C6F-85AE-BD40-874A-67137919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Network &amp; Host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6E17-F198-D46B-97ED-8CFAAFB75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computer programs we often have a </a:t>
            </a:r>
            <a:r>
              <a:rPr lang="en-CA" b="1" i="1" dirty="0"/>
              <a:t>host order</a:t>
            </a:r>
            <a:r>
              <a:rPr lang="en-CA" b="1" dirty="0"/>
              <a:t> </a:t>
            </a:r>
            <a:r>
              <a:rPr lang="en-CA" dirty="0"/>
              <a:t>representing the native format that load &amp; store will use.</a:t>
            </a:r>
          </a:p>
          <a:p>
            <a:endParaRPr lang="en-CA" dirty="0"/>
          </a:p>
          <a:p>
            <a:r>
              <a:rPr lang="en-CA" dirty="0"/>
              <a:t>If we need to send out on a protocol (“network”), we need to convert to </a:t>
            </a:r>
            <a:r>
              <a:rPr lang="en-CA" b="1" i="1" dirty="0"/>
              <a:t>network order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You may run across “host to network” and “network to host” macros that do this.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339C-058B-6A66-CB2F-FC6A4DFE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B567B-B7DC-77FD-6787-F42A97E6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A3075-10EB-1A2B-8043-5FBB5439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57429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4000-AEC0-2764-D6C7-1F704E4E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</a:t>
            </a:r>
            <a:r>
              <a:rPr lang="en-CA" dirty="0" err="1"/>
              <a:t>htons</a:t>
            </a:r>
            <a:r>
              <a:rPr lang="en-CA" dirty="0"/>
              <a:t>() macro in some random code:</a:t>
            </a:r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B14C08B-AFE1-ED33-0A61-C871CD9B0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871" y="2254280"/>
            <a:ext cx="7547716" cy="29882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83F1-065C-C6BB-4BD6-C8F30B5B2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A8758-C274-C5D5-252D-7DCAC293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CAFA9-1F29-64A6-674F-A0DACA19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2538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E3A5-7F55-33E1-E64A-257FF3B57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Endianness – Bit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D6C7-566A-D6BD-D27D-CB1F7388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CA" dirty="0"/>
              <a:t>Be aware processors can use </a:t>
            </a:r>
            <a:r>
              <a:rPr lang="en-CA" i="1" dirty="0"/>
              <a:t>big endian</a:t>
            </a:r>
            <a:r>
              <a:rPr lang="en-CA" dirty="0"/>
              <a:t> – in which case watch carefully in datasheets, as for example peripheral bit maps will look “backwards”. </a:t>
            </a:r>
            <a:r>
              <a:rPr lang="en-CA" i="1" dirty="0"/>
              <a:t>MPC5676R, PowerPC, example: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234F4-93DC-0CE4-B643-5B39F8DEE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BCFF4-BDBA-1D3C-5B3F-520C1E08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C9547-3732-4EF0-A47A-E42519AC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31</a:t>
            </a:fld>
            <a:endParaRPr lang="en-CA"/>
          </a:p>
        </p:txBody>
      </p:sp>
      <p:pic>
        <p:nvPicPr>
          <p:cNvPr id="8" name="Picture 7" descr="A close-up of a survey&#10;&#10;AI-generated content may be incorrect.">
            <a:extLst>
              <a:ext uri="{FF2B5EF4-FFF2-40B4-BE49-F238E27FC236}">
                <a16:creationId xmlns:a16="http://schemas.microsoft.com/office/drawing/2014/main" id="{84158E4F-AC9E-E371-FA46-3B83E9914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41" y="3218656"/>
            <a:ext cx="10069918" cy="307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2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FF96C-5B45-4235-9AFA-D903AD9B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Reordering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3DFBC-134B-38EA-5200-3A5168A17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5707"/>
            <a:ext cx="3053080" cy="1202055"/>
          </a:xfrm>
        </p:spPr>
        <p:txBody>
          <a:bodyPr/>
          <a:lstStyle/>
          <a:p>
            <a:pPr marL="0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x + y;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y = 25 + d;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E79F6-730D-B859-A7AE-4F1A3F2E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40CA8-D215-EAC1-92D1-63CFA2F31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5BB4E-FBD9-1F07-0E93-ADD3B4EF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32</a:t>
            </a:fld>
            <a:endParaRPr lang="en-C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8854590-D318-3DDB-9C3A-24C576E3FF37}"/>
              </a:ext>
            </a:extLst>
          </p:cNvPr>
          <p:cNvSpPr/>
          <p:nvPr/>
        </p:nvSpPr>
        <p:spPr>
          <a:xfrm>
            <a:off x="4368800" y="1943734"/>
            <a:ext cx="1259840" cy="2286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3C52F5-3DC4-516F-79C1-4F79C3264C5E}"/>
              </a:ext>
            </a:extLst>
          </p:cNvPr>
          <p:cNvSpPr txBox="1">
            <a:spLocks/>
          </p:cNvSpPr>
          <p:nvPr/>
        </p:nvSpPr>
        <p:spPr>
          <a:xfrm>
            <a:off x="6370320" y="1690688"/>
            <a:ext cx="4579618" cy="34169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r0, [x]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r1, [y]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add r0, r0, r1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str [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], r0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r2, 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add r2, #25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str [y], r1</a:t>
            </a:r>
          </a:p>
        </p:txBody>
      </p:sp>
    </p:spTree>
    <p:extLst>
      <p:ext uri="{BB962C8B-B14F-4D97-AF65-F5344CB8AC3E}">
        <p14:creationId xmlns:p14="http://schemas.microsoft.com/office/powerpoint/2010/main" val="2459564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A357C-7FC5-7587-B384-F4296754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0744-CFEB-2D68-D588-27C136C12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Reordering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91572-57D4-1B64-187C-5CB360F22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5707"/>
            <a:ext cx="3053080" cy="1202055"/>
          </a:xfrm>
        </p:spPr>
        <p:txBody>
          <a:bodyPr/>
          <a:lstStyle/>
          <a:p>
            <a:pPr marL="0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x + y;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y = 25 + d;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812F1-708D-106F-4B73-9FF72240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E165B-0359-7A1B-2617-87BB867D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B31A5-0B76-6E41-861E-925229B9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33</a:t>
            </a:fld>
            <a:endParaRPr lang="en-CA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A13636C-B243-F065-CC90-6CB15E987877}"/>
              </a:ext>
            </a:extLst>
          </p:cNvPr>
          <p:cNvSpPr/>
          <p:nvPr/>
        </p:nvSpPr>
        <p:spPr>
          <a:xfrm>
            <a:off x="3581400" y="1872614"/>
            <a:ext cx="1259840" cy="2286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860533-2055-9C52-0C91-68D9C4A98951}"/>
              </a:ext>
            </a:extLst>
          </p:cNvPr>
          <p:cNvSpPr txBox="1">
            <a:spLocks/>
          </p:cNvSpPr>
          <p:nvPr/>
        </p:nvSpPr>
        <p:spPr>
          <a:xfrm>
            <a:off x="5294631" y="1720532"/>
            <a:ext cx="4579618" cy="34169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r0, [x]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r1, [y]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add r0, r0, r1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str [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], r0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r2, 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add r2, #25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str [y], r1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F4B4AA-1F2B-D33C-06B2-89284982779D}"/>
              </a:ext>
            </a:extLst>
          </p:cNvPr>
          <p:cNvSpPr/>
          <p:nvPr/>
        </p:nvSpPr>
        <p:spPr>
          <a:xfrm>
            <a:off x="9011920" y="1724660"/>
            <a:ext cx="2631440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Load [x]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1B6AC1-68E6-84D2-551F-3906BBD29FBF}"/>
              </a:ext>
            </a:extLst>
          </p:cNvPr>
          <p:cNvSpPr/>
          <p:nvPr/>
        </p:nvSpPr>
        <p:spPr>
          <a:xfrm>
            <a:off x="9011920" y="2151539"/>
            <a:ext cx="2631440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Load [y]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024F55-9DF7-EACF-C039-97D81A0B2AA7}"/>
              </a:ext>
            </a:extLst>
          </p:cNvPr>
          <p:cNvSpPr/>
          <p:nvPr/>
        </p:nvSpPr>
        <p:spPr>
          <a:xfrm>
            <a:off x="9011920" y="3126105"/>
            <a:ext cx="2631440" cy="3651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Store [</a:t>
            </a:r>
            <a:r>
              <a:rPr lang="en-CA" dirty="0" err="1"/>
              <a:t>i</a:t>
            </a:r>
            <a:r>
              <a:rPr lang="en-CA" dirty="0"/>
              <a:t>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D6558E-ED87-8490-BF05-BE97A260274D}"/>
              </a:ext>
            </a:extLst>
          </p:cNvPr>
          <p:cNvSpPr/>
          <p:nvPr/>
        </p:nvSpPr>
        <p:spPr>
          <a:xfrm>
            <a:off x="9011920" y="3584098"/>
            <a:ext cx="2631440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Load [d]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487600-36DE-B20C-9DE7-6607F4F8DB0C}"/>
              </a:ext>
            </a:extLst>
          </p:cNvPr>
          <p:cNvSpPr/>
          <p:nvPr/>
        </p:nvSpPr>
        <p:spPr>
          <a:xfrm>
            <a:off x="8980169" y="4558666"/>
            <a:ext cx="2631440" cy="3651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Store [y]</a:t>
            </a:r>
          </a:p>
        </p:txBody>
      </p:sp>
    </p:spTree>
    <p:extLst>
      <p:ext uri="{BB962C8B-B14F-4D97-AF65-F5344CB8AC3E}">
        <p14:creationId xmlns:p14="http://schemas.microsoft.com/office/powerpoint/2010/main" val="2114505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5A18-BDC1-FBCD-4A28-020D254A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Re-Ordering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0B3E0-F706-5BED-1421-192AC99CC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Provided functionality is not impacted, memory access order may be optimized.</a:t>
            </a:r>
          </a:p>
          <a:p>
            <a:pPr lvl="1"/>
            <a:r>
              <a:rPr lang="en-CA" dirty="0"/>
              <a:t>Often this means accesses may be “merged”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This may happen especially due to slow memory that takes longer than a single cycle (otherwise processor stalls).</a:t>
            </a:r>
          </a:p>
          <a:p>
            <a:endParaRPr lang="en-CA" dirty="0"/>
          </a:p>
          <a:p>
            <a:r>
              <a:rPr lang="en-CA" dirty="0"/>
              <a:t>Arm calls this memory type “</a:t>
            </a:r>
            <a:r>
              <a:rPr lang="en-CA" b="1" i="1" dirty="0"/>
              <a:t>normal memory”</a:t>
            </a:r>
            <a:r>
              <a:rPr lang="en-CA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3DED6-1055-4F6D-A608-E84A9A70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76E58-4981-8B01-F3A4-AA7EA562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ACD3-49EE-94C9-BE15-FC3C1B9F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2133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04C6C-F8D6-AE0F-CAB3-13A16E58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DCB50-82CB-9148-DC52-FAF7F8B9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Special Memory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EB388-EB37-9781-F7E3-030CD0BF7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Arm defines a type of </a:t>
            </a:r>
            <a:r>
              <a:rPr lang="en-CA" b="1" i="1" dirty="0"/>
              <a:t>“device memory” </a:t>
            </a:r>
          </a:p>
          <a:p>
            <a:endParaRPr lang="en-CA" b="1" i="1" dirty="0"/>
          </a:p>
          <a:p>
            <a:pPr lvl="1"/>
            <a:r>
              <a:rPr lang="en-CA" dirty="0"/>
              <a:t>Think of peripherals where you </a:t>
            </a:r>
            <a:r>
              <a:rPr lang="en-CA" u="sng" dirty="0"/>
              <a:t>need</a:t>
            </a:r>
            <a:r>
              <a:rPr lang="en-CA" dirty="0"/>
              <a:t> access to occur in the right order – the actual write (or sometimes read) may have side effects or otherwise needs to happen in the program order.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Device memory can have different attributes allowing fine-tuning of these settings.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F8618-40E2-F4AC-57CD-4A2C5D38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E5CF2-FDB3-01EF-D6A7-A078134B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47F60-2F12-9B53-2304-4A2BD442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89307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B3B8-8C64-CEA6-46CA-F59CD120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Barriers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403ED-7AFD-4265-0043-39FE56141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Barriers provide special instructions to block execution until conditions met.</a:t>
            </a:r>
          </a:p>
          <a:p>
            <a:endParaRPr lang="en-CA" dirty="0"/>
          </a:p>
          <a:p>
            <a:r>
              <a:rPr lang="en-CA" dirty="0"/>
              <a:t>Data Memory Barrier</a:t>
            </a:r>
          </a:p>
          <a:p>
            <a:r>
              <a:rPr lang="en-CA" dirty="0"/>
              <a:t>Data Synchronization Barrier</a:t>
            </a:r>
          </a:p>
          <a:p>
            <a:r>
              <a:rPr lang="en-CA" dirty="0"/>
              <a:t>Instruction Synchronization Barrier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E9FE6-47E2-ABE2-E133-D96DC716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FCDE-254C-BA75-F385-2C5B2E06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45D80-678B-D837-B733-F9C97580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8315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171E-0411-9692-3D9C-A71F49DF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Memory Barrier (DMB)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A86E-3A9C-2966-D7AA-D7CB5717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EB2E5-A720-80B8-BC97-F19EEA4F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792DF-3ABC-A1D2-ED2E-29FF579A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37</a:t>
            </a:fld>
            <a:endParaRPr lang="en-CA"/>
          </a:p>
        </p:txBody>
      </p:sp>
      <p:pic>
        <p:nvPicPr>
          <p:cNvPr id="12" name="Picture 11" descr="A blue screen with black text&#10;&#10;AI-generated content may be incorrect.">
            <a:extLst>
              <a:ext uri="{FF2B5EF4-FFF2-40B4-BE49-F238E27FC236}">
                <a16:creationId xmlns:a16="http://schemas.microsoft.com/office/drawing/2014/main" id="{48C68D14-9383-7D5C-C290-0C9782BDF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0680"/>
            <a:ext cx="12192000" cy="1920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DB537B-881E-E584-A0A2-262BB849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0265"/>
          </a:xfrm>
        </p:spPr>
        <p:txBody>
          <a:bodyPr>
            <a:normAutofit lnSpcReduction="10000"/>
          </a:bodyPr>
          <a:lstStyle/>
          <a:p>
            <a:r>
              <a:rPr lang="en-CA" dirty="0"/>
              <a:t>Pauses program at the </a:t>
            </a:r>
            <a:r>
              <a:rPr lang="en-CA" i="1" dirty="0"/>
              <a:t>next memory access</a:t>
            </a:r>
            <a:r>
              <a:rPr lang="en-CA" dirty="0"/>
              <a:t> if the previous one isn’t complete</a:t>
            </a:r>
          </a:p>
        </p:txBody>
      </p:sp>
    </p:spTree>
    <p:extLst>
      <p:ext uri="{BB962C8B-B14F-4D97-AF65-F5344CB8AC3E}">
        <p14:creationId xmlns:p14="http://schemas.microsoft.com/office/powerpoint/2010/main" val="3979824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2108-7A08-6117-181A-7A44EA21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Synchronization Barrier (DSB)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8D80B-5C15-4CD3-AB4B-89BC71DCC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0265"/>
          </a:xfrm>
        </p:spPr>
        <p:txBody>
          <a:bodyPr/>
          <a:lstStyle/>
          <a:p>
            <a:r>
              <a:rPr lang="en-CA" dirty="0"/>
              <a:t>Pauses program execution until memory accesses are complete.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838F6-294B-7C7B-17A2-9C8A3441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674E3-D298-F50D-ED89-18A7A95C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E6D7E-42F9-2593-1AF1-47933808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38</a:t>
            </a:fld>
            <a:endParaRPr lang="en-CA"/>
          </a:p>
        </p:txBody>
      </p:sp>
      <p:pic>
        <p:nvPicPr>
          <p:cNvPr id="8" name="Picture 7" descr="A close-up of a line&#10;&#10;AI-generated content may be incorrect.">
            <a:extLst>
              <a:ext uri="{FF2B5EF4-FFF2-40B4-BE49-F238E27FC236}">
                <a16:creationId xmlns:a16="http://schemas.microsoft.com/office/drawing/2014/main" id="{4EDF4FD4-BFC1-A786-D569-61969CCBC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9490"/>
            <a:ext cx="12192000" cy="317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40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82B9-4F44-C5D7-4522-FCD73C15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Instruction Synchronization Barrier (ISB)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EE768-4C63-8611-8389-4D59E9E4C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is not related to memory – this flushes the </a:t>
            </a:r>
            <a:r>
              <a:rPr lang="en-CA" i="1" dirty="0"/>
              <a:t>pipeline</a:t>
            </a:r>
            <a:r>
              <a:rPr lang="en-CA" dirty="0"/>
              <a:t> which will discuss later.</a:t>
            </a:r>
          </a:p>
          <a:p>
            <a:endParaRPr lang="en-CA" dirty="0"/>
          </a:p>
          <a:p>
            <a:r>
              <a:rPr lang="en-CA" dirty="0"/>
              <a:t>Included here to complete the types…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334DC-BD68-D1DD-5F0C-B428167D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CAA7-916B-6039-2B74-DF161076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7AB8F-FEB5-980B-BE4D-9FD47AC6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4940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137F-91DC-CB1C-3C52-B2885674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C23D2-70C8-31CF-6C85-2DF0A6CB1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Memory is a critical component of our computer.</a:t>
            </a:r>
          </a:p>
          <a:p>
            <a:r>
              <a:rPr lang="en-CA" dirty="0"/>
              <a:t>More than just a data store – we use memory and addressing to </a:t>
            </a:r>
            <a:r>
              <a:rPr lang="en-CA" b="1" dirty="0"/>
              <a:t>interact with the world (I/O)</a:t>
            </a:r>
            <a:r>
              <a:rPr lang="en-CA" dirty="0"/>
              <a:t>.</a:t>
            </a:r>
          </a:p>
          <a:p>
            <a:r>
              <a:rPr lang="en-CA" dirty="0"/>
              <a:t>Addresses are a </a:t>
            </a:r>
            <a:r>
              <a:rPr lang="en-CA" b="1" dirty="0"/>
              <a:t>construct</a:t>
            </a:r>
            <a:r>
              <a:rPr lang="en-CA" dirty="0"/>
              <a:t> – we map different blocks into addresses.</a:t>
            </a:r>
          </a:p>
          <a:p>
            <a:r>
              <a:rPr lang="en-CA" dirty="0"/>
              <a:t>Memory </a:t>
            </a:r>
            <a:r>
              <a:rPr lang="en-CA" b="1" dirty="0"/>
              <a:t>alignment</a:t>
            </a:r>
            <a:r>
              <a:rPr lang="en-CA" dirty="0"/>
              <a:t> is an important concept, one you will run into many times in your programming life.</a:t>
            </a:r>
          </a:p>
          <a:p>
            <a:r>
              <a:rPr lang="en-CA" b="1" dirty="0"/>
              <a:t>Endianness</a:t>
            </a:r>
            <a:r>
              <a:rPr lang="en-CA" dirty="0"/>
              <a:t> defines the byte (or bit) order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3F7F5-7411-4BCF-AFDF-24ADA29E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4978F-6C87-C90B-B31E-709CA855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39D8A-67FB-ABBF-78C0-D6E0256B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941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1399</Words>
  <Application>Microsoft Office PowerPoint</Application>
  <PresentationFormat>Widescreen</PresentationFormat>
  <Paragraphs>281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Courier New</vt:lpstr>
      <vt:lpstr>Office Theme</vt:lpstr>
      <vt:lpstr>Computer Architecture: Memory Basics</vt:lpstr>
      <vt:lpstr>Lectures</vt:lpstr>
      <vt:lpstr>Memory</vt:lpstr>
      <vt:lpstr>Memory Addressing</vt:lpstr>
      <vt:lpstr>Memory Banking</vt:lpstr>
      <vt:lpstr>Memory Width</vt:lpstr>
      <vt:lpstr>Byte Addressing</vt:lpstr>
      <vt:lpstr>Computer Data Width</vt:lpstr>
      <vt:lpstr>Address Space Mapping</vt:lpstr>
      <vt:lpstr>von Neumann Architecture</vt:lpstr>
      <vt:lpstr>Harvard Architecture</vt:lpstr>
      <vt:lpstr>Modified Harvard Architecture</vt:lpstr>
      <vt:lpstr>Memory Behaviour</vt:lpstr>
      <vt:lpstr>Memory-Mapped I/O</vt:lpstr>
      <vt:lpstr>Memory Alignment</vt:lpstr>
      <vt:lpstr>Memory Alignment</vt:lpstr>
      <vt:lpstr>Misaligned Memory Access</vt:lpstr>
      <vt:lpstr>Generic Aligned Access – Normal Read</vt:lpstr>
      <vt:lpstr>Generic Unaligned Access – Half Off</vt:lpstr>
      <vt:lpstr>Generic Aligned Access – Half Off</vt:lpstr>
      <vt:lpstr>Generic Unaligned Access – 1 Off</vt:lpstr>
      <vt:lpstr>Generic Unaligned Access – 1 Off</vt:lpstr>
      <vt:lpstr>Generic Unaligned access – 1 byte</vt:lpstr>
      <vt:lpstr>Single Byte Access Without ldrb</vt:lpstr>
      <vt:lpstr>Memory Struct Padding / Layout</vt:lpstr>
      <vt:lpstr>Memory Struct Padding / Layout</vt:lpstr>
      <vt:lpstr>Struct Packing</vt:lpstr>
      <vt:lpstr>Endianness – Little Endian Byte Ordering</vt:lpstr>
      <vt:lpstr>Network &amp; Host Order</vt:lpstr>
      <vt:lpstr>e.g., htons() macro in some random code:</vt:lpstr>
      <vt:lpstr>Endianness – Bit Ordering</vt:lpstr>
      <vt:lpstr>Memory Reordering</vt:lpstr>
      <vt:lpstr>Memory Reordering</vt:lpstr>
      <vt:lpstr>Memory Re-Ordering</vt:lpstr>
      <vt:lpstr>Special Memory Types</vt:lpstr>
      <vt:lpstr>Barriers</vt:lpstr>
      <vt:lpstr>Data Memory Barrier (DMB)</vt:lpstr>
      <vt:lpstr>Data Synchronization Barrier (DSB)</vt:lpstr>
      <vt:lpstr>Instruction Synchronization Barrier (ISB)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11</cp:revision>
  <dcterms:created xsi:type="dcterms:W3CDTF">2026-02-08T23:56:58Z</dcterms:created>
  <dcterms:modified xsi:type="dcterms:W3CDTF">2026-02-22T00:54:56Z</dcterms:modified>
</cp:coreProperties>
</file>