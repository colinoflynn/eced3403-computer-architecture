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93" r:id="rId26"/>
    <p:sldId id="280" r:id="rId27"/>
    <p:sldId id="304" r:id="rId28"/>
    <p:sldId id="283" r:id="rId29"/>
    <p:sldId id="286" r:id="rId30"/>
    <p:sldId id="288" r:id="rId31"/>
    <p:sldId id="285" r:id="rId32"/>
    <p:sldId id="292" r:id="rId33"/>
    <p:sldId id="289" r:id="rId34"/>
    <p:sldId id="290" r:id="rId35"/>
    <p:sldId id="291" r:id="rId36"/>
    <p:sldId id="306" r:id="rId37"/>
    <p:sldId id="287" r:id="rId38"/>
    <p:sldId id="305" r:id="rId39"/>
    <p:sldId id="294" r:id="rId40"/>
    <p:sldId id="281" r:id="rId41"/>
    <p:sldId id="296" r:id="rId42"/>
    <p:sldId id="297" r:id="rId43"/>
    <p:sldId id="298" r:id="rId44"/>
    <p:sldId id="299" r:id="rId45"/>
    <p:sldId id="307" r:id="rId46"/>
    <p:sldId id="295" r:id="rId47"/>
    <p:sldId id="300" r:id="rId48"/>
    <p:sldId id="301" r:id="rId49"/>
    <p:sldId id="308" r:id="rId50"/>
    <p:sldId id="282" r:id="rId51"/>
    <p:sldId id="284" r:id="rId52"/>
    <p:sldId id="303" r:id="rId53"/>
    <p:sldId id="302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00AA-101D-490E-9D4E-C89A20702DB7}" type="datetimeFigureOut">
              <a:rPr lang="en-CA" smtClean="0"/>
              <a:t>2026-03-02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3026F-2F57-4911-B7AF-7A689FB873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6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08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20F8-4895-94C2-8FA2-66E560A3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3532E-8058-C5C8-2506-01C74706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20B31-ECF3-1B78-C88E-2148C3B1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72FD-17C4-4195-9A46-AE8481F14B8C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BAD8-50A4-147C-2CD6-F410FAA5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36EB-F489-50CF-C0A0-04EB3CCF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78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FFDF-AD45-70DA-DBFC-39804BF3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D168-5FB0-0976-8F46-0E62B223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FBDD-8676-E7A6-9767-AB25F16F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474CF-B37F-47E1-344C-FD179A8E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AB56-2130-1784-C270-DE61E834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801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BE87-9176-DC6D-7E6D-AED5F1B4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646E-906C-DE6E-F460-1AC7588A2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40353-D6E5-F285-0B15-2DB72175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8C76-B400-4F53-8805-742D98EC80C2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B755-C4F9-EE1D-2472-393D0DBA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453E9-EC5D-3196-40C9-35FA1716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69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1056-F3E9-D796-0188-DB70477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28AF2-16F2-34A3-7D15-A28F084D7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00C63-AE05-0355-4E48-2A5900428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35A27-2CA0-DA96-DE81-30258991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C1D2-65BD-4030-B320-CFCAC7C2CF77}" type="datetime1">
              <a:rPr lang="en-CA" smtClean="0"/>
              <a:t>2026-03-02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28EA9-8003-DD37-3C59-F8052CFF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FAD97-AD46-797F-A73B-AF034EAE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23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877C-0091-8117-3240-C15EE809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04D97-6B5B-4B40-4797-44D7356E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142B3-B5E2-E0F0-2A8C-A393861C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2CD81-F1F0-AA13-E635-956E2240D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AB232-10B9-29C1-5C2E-2889B2CE3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6067B-4CB1-4ADC-0871-7F90B6EA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6206-5BA6-460D-9780-A5A1F3FC520F}" type="datetime1">
              <a:rPr lang="en-CA" smtClean="0"/>
              <a:t>2026-03-02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2D8B8-EC13-2FE1-4AC1-DA30BE30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DC02A-2269-D62D-A2F6-4EF60E0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6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1633-4B93-3962-0831-3F79E9AB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8BB15-178F-4440-5C62-42B7740A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C05AF-8116-461A-AD38-E69AB126D756}" type="datetime1">
              <a:rPr lang="en-CA" smtClean="0"/>
              <a:t>2026-03-02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C8318-4472-251E-FF42-F757E514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9102C-45D2-0478-F645-1A88A7A1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568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5DD8B-C610-0C5A-B29C-D1B09448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9D55-1BF1-40D6-87EC-FFE4362AD15D}" type="datetime1">
              <a:rPr lang="en-CA" smtClean="0"/>
              <a:t>2026-03-02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B6D3F-76F9-6977-7F11-BE45F2EC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A9206-29F6-A2E5-EDBE-A7B2B18C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117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7E14-E8C6-533B-D648-163F2F54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9B72-F8AD-A435-F12C-6AD72286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432E5-2EAF-0407-8CD8-9B140466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2223D-CE1E-B50D-3F81-A6233691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4D12-9B66-4D3F-BFEA-EB6939410680}" type="datetime1">
              <a:rPr lang="en-CA" smtClean="0"/>
              <a:t>2026-03-02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A51B3-198E-8FF6-7810-ABDEB19C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FA87D-3783-15DA-A1C4-C367745B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759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862D-A78F-02BE-CD84-08987328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63AF3-1586-FA07-67E3-0C17B2BA1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2F072-26D7-47EA-01F2-D095376AD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5053-29D5-8E85-C3A3-7FE2C872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CAEB-FDAC-4944-A700-E5025FBDCFB8}" type="datetime1">
              <a:rPr lang="en-CA" smtClean="0"/>
              <a:t>2026-03-02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46A4-4AA2-74B5-1BEF-D6B2F575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B5FB-02D4-18AB-B564-1BE49B67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00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CA42-0B39-62AD-0647-16416EEC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3D16F-BC9B-504D-20C9-5B9DDFCF7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887E-9BD0-50E7-7855-5A689228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88EE-D2E8-458C-B025-86AB65CB2342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909D-9B71-3004-5853-0865DFCA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AFD81-4FDD-5E6A-7EF0-A0AF3D9E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302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0C928-04C0-FFD8-6FB7-52544F5E6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AE9ED-B388-AC41-6080-6F91ABFBF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55B1A-AF28-25B7-80B2-2EF9AF2F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D418E-0BAA-477E-AE93-7DEEFAFBE002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F440-1924-B1AA-DA08-FF6D4D5C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0E6E-67ED-9028-647B-5F9E902E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10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5F461-5089-4FA6-F30A-FEECC037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3026-0C22-41E8-F2F9-B44737EDE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E1FB-D0DD-0542-98E0-F8AD6C0C6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9C524-F283-4997-8372-EC621E6F8B97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4F27-F292-F8E1-8EEB-4B04DCFE5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6AB7-62BE-C74A-0375-1B18D98B1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1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eb2.qatar.cmu.edu/~mhhammou/15346-s13/resources/OriginsOfComputers/Origins%20Fate%20of%20EDVAC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madexp.it/2018/02/26/z80-single-board-computer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1.microchip.com/downloads/en/DeviceDoc/Atmel-6430-32-bit-Cortex-M3-Microcontroller-SAM3U4-SAM3U2-SAM3U1_Datasheet.pdf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si.com/WW/pdf/62-65C256AL.pdf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0332-C356-1B1E-0B6B-B1E4E812B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CA" i="1" dirty="0"/>
              <a:t>Memory Busses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56E0B-2030-B06C-4A76-67F52B07E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86F8-7046-B580-89F1-4F057535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5903-4A42-43A9-9B07-0A555E8C01D2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4224-0D5F-188B-78F3-15A498B5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7701-B7BA-E8D0-BE9E-EECDE6DB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93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DA9-27CC-7B3F-58A4-E641BF35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C3AB-3011-E0FF-7C9F-80D07663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How does a program run on a machine?</a:t>
            </a:r>
          </a:p>
          <a:p>
            <a:r>
              <a:rPr lang="en-CA" dirty="0"/>
              <a:t>How do you compile from high-level code to machine code?</a:t>
            </a:r>
          </a:p>
          <a:p>
            <a:r>
              <a:rPr lang="en-CA" dirty="0"/>
              <a:t>How does the machine run? (Control Flow)</a:t>
            </a:r>
          </a:p>
          <a:p>
            <a:r>
              <a:rPr lang="en-CA" dirty="0"/>
              <a:t>How does the machine store data?</a:t>
            </a:r>
          </a:p>
          <a:p>
            <a:r>
              <a:rPr lang="en-CA" b="1" dirty="0">
                <a:solidFill>
                  <a:srgbClr val="FF0000"/>
                </a:solidFill>
              </a:rPr>
              <a:t>How does the machine interface using buses?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What does it mean to have “allowed” memory?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How does the machine speed up data access?</a:t>
            </a:r>
          </a:p>
          <a:p>
            <a:endParaRPr lang="en-CA" dirty="0">
              <a:solidFill>
                <a:srgbClr val="FF0000"/>
              </a:solidFill>
            </a:endParaRP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FB1E-13D4-AF84-CD57-0DE2780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975C-2D17-4D58-BAA2-AE3D2D8697E0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2B00-C73D-1737-27CD-9FFFCF53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0CA-A863-53D2-59FA-8884AFF8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23" descr="A document with text on it&#10;&#10;AI-generated content may be incorrect.">
            <a:extLst>
              <a:ext uri="{FF2B5EF4-FFF2-40B4-BE49-F238E27FC236}">
                <a16:creationId xmlns:a16="http://schemas.microsoft.com/office/drawing/2014/main" id="{D9FD79D2-CD6D-D5D9-003E-2DBC33CE6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196" y="275980"/>
            <a:ext cx="5414540" cy="544268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FEEDE-B16E-AA74-E3F4-F93D2BB4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F80F8-E70D-5A74-E8D8-24E939EF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CC394-875C-BAD3-C7DC-18D893E2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</a:t>
            </a:fld>
            <a:endParaRPr lang="en-C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7FCE79-A621-8740-21B2-69CB8E002EE4}"/>
              </a:ext>
            </a:extLst>
          </p:cNvPr>
          <p:cNvSpPr txBox="1"/>
          <p:nvPr/>
        </p:nvSpPr>
        <p:spPr>
          <a:xfrm>
            <a:off x="5257800" y="53046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https://web2.qatar.cmu.edu/~mhhammou/15346-s13/resources/OriginsOfComputers/Origins%20Fate%20of%20EDVAC.pdf</a:t>
            </a:r>
            <a:r>
              <a:rPr lang="en-CA" dirty="0"/>
              <a:t> </a:t>
            </a:r>
          </a:p>
        </p:txBody>
      </p:sp>
      <p:pic>
        <p:nvPicPr>
          <p:cNvPr id="28" name="Picture 27" descr="A blueprint of a computer&#10;&#10;AI-generated content may be incorrect.">
            <a:extLst>
              <a:ext uri="{FF2B5EF4-FFF2-40B4-BE49-F238E27FC236}">
                <a16:creationId xmlns:a16="http://schemas.microsoft.com/office/drawing/2014/main" id="{33B67440-6430-E1CD-DFC5-8306FAE5D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605" y="753015"/>
            <a:ext cx="7110199" cy="423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4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E89E7-6C58-4C65-306C-CC7092BEB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von Neumann computer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987C6-996E-B13D-2BA2-66F3FE0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8BF59-7D19-B5A2-C38F-080F8E0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94026-5477-DC61-461A-539E1D12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</a:t>
            </a:fld>
            <a:endParaRPr lang="en-CA"/>
          </a:p>
        </p:txBody>
      </p:sp>
      <p:pic>
        <p:nvPicPr>
          <p:cNvPr id="8" name="Picture 7" descr="A diagram of a program control unit&#10;&#10;AI-generated content may be incorrect.">
            <a:extLst>
              <a:ext uri="{FF2B5EF4-FFF2-40B4-BE49-F238E27FC236}">
                <a16:creationId xmlns:a16="http://schemas.microsoft.com/office/drawing/2014/main" id="{DFF7E922-8585-85D1-5583-4AE32957A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877" y="1508575"/>
            <a:ext cx="8678217" cy="473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81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1A49-B4C0-A8AE-5E1A-5E72F184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i="1" dirty="0"/>
              <a:t>What</a:t>
            </a:r>
            <a:r>
              <a:rPr lang="en-CA" dirty="0"/>
              <a:t> is a bus actually?</a:t>
            </a:r>
            <a:endParaRPr lang="en-CA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17A53-B5C5-C5E7-3D09-E0F34467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650BD-3396-E28C-7B2E-310C1BBC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6BAAE-FF4E-934A-1532-FE982B8C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BDC3B-C21F-2632-EE05-52814745E2CC}"/>
              </a:ext>
            </a:extLst>
          </p:cNvPr>
          <p:cNvSpPr txBox="1"/>
          <p:nvPr/>
        </p:nvSpPr>
        <p:spPr>
          <a:xfrm>
            <a:off x="1393064" y="5710019"/>
            <a:ext cx="9013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2"/>
              </a:rPr>
              <a:t>https://www.madexp.it/2018/02/26/z80-single-board-computer/</a:t>
            </a:r>
            <a:r>
              <a:rPr lang="en-CA" dirty="0"/>
              <a:t> </a:t>
            </a:r>
          </a:p>
        </p:txBody>
      </p:sp>
      <p:pic>
        <p:nvPicPr>
          <p:cNvPr id="10" name="Picture 9" descr="A diagram of a chip&#10;&#10;AI-generated content may be incorrect.">
            <a:extLst>
              <a:ext uri="{FF2B5EF4-FFF2-40B4-BE49-F238E27FC236}">
                <a16:creationId xmlns:a16="http://schemas.microsoft.com/office/drawing/2014/main" id="{E3DF3695-5B85-160A-FEAA-7F2D42D5B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184" y="1283086"/>
            <a:ext cx="6413920" cy="44269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3960DF-4F34-F601-53E2-65BA5F614943}"/>
              </a:ext>
            </a:extLst>
          </p:cNvPr>
          <p:cNvSpPr txBox="1"/>
          <p:nvPr/>
        </p:nvSpPr>
        <p:spPr>
          <a:xfrm>
            <a:off x="9234152" y="3232597"/>
            <a:ext cx="2427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(Go to next slide for bigger version)</a:t>
            </a:r>
          </a:p>
        </p:txBody>
      </p:sp>
    </p:spTree>
    <p:extLst>
      <p:ext uri="{BB962C8B-B14F-4D97-AF65-F5344CB8AC3E}">
        <p14:creationId xmlns:p14="http://schemas.microsoft.com/office/powerpoint/2010/main" val="149737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1A319-4E8E-E138-DB9B-CF84AFB4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15714-E450-35C6-D43A-1852CF3A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5070E-6C7F-5FD9-055B-E1AAAA6A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6</a:t>
            </a:fld>
            <a:endParaRPr lang="en-CA"/>
          </a:p>
        </p:txBody>
      </p:sp>
      <p:pic>
        <p:nvPicPr>
          <p:cNvPr id="7" name="Picture 6" descr="A diagram of a chip&#10;&#10;AI-generated content may be incorrect.">
            <a:extLst>
              <a:ext uri="{FF2B5EF4-FFF2-40B4-BE49-F238E27FC236}">
                <a16:creationId xmlns:a16="http://schemas.microsoft.com/office/drawing/2014/main" id="{3E254841-4C75-46DC-48B1-AE8CCBA32A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51" b="8170"/>
          <a:stretch>
            <a:fillRect/>
          </a:stretch>
        </p:blipFill>
        <p:spPr>
          <a:xfrm>
            <a:off x="449383" y="136526"/>
            <a:ext cx="11083484" cy="65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62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9EF2-D51E-61D3-EA13-5FFFFAA32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Note shared signals: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C0550-EB94-E71E-E884-7D75512C2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72459" cy="4351338"/>
          </a:xfrm>
        </p:spPr>
        <p:txBody>
          <a:bodyPr/>
          <a:lstStyle/>
          <a:p>
            <a:r>
              <a:rPr lang="en-CA" dirty="0"/>
              <a:t>Address</a:t>
            </a:r>
          </a:p>
          <a:p>
            <a:pPr lvl="1"/>
            <a:r>
              <a:rPr lang="en-CA" dirty="0"/>
              <a:t>Even this simple system has a “memory map” – note use of A15 to select </a:t>
            </a:r>
          </a:p>
          <a:p>
            <a:r>
              <a:rPr lang="en-CA" dirty="0"/>
              <a:t>Data</a:t>
            </a:r>
          </a:p>
          <a:p>
            <a:r>
              <a:rPr lang="en-CA" dirty="0"/>
              <a:t>Some “extra stuff”</a:t>
            </a:r>
          </a:p>
          <a:p>
            <a:r>
              <a:rPr lang="en-CA" dirty="0"/>
              <a:t>Note U3 also on the bus!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B795B-AB36-B0B9-E7AB-3754CC72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2D19C-6923-D38E-1F22-07749E243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30A09-C407-E31A-37E7-23A24C90C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7</a:t>
            </a:fld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E195AD-8A66-DE6F-4D19-C1D39C6BB3B5}"/>
              </a:ext>
            </a:extLst>
          </p:cNvPr>
          <p:cNvSpPr/>
          <p:nvPr/>
        </p:nvSpPr>
        <p:spPr>
          <a:xfrm>
            <a:off x="8968925" y="1207477"/>
            <a:ext cx="1186068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03E2DA-CBBE-9A72-89A0-CD0774BD0F69}"/>
              </a:ext>
            </a:extLst>
          </p:cNvPr>
          <p:cNvSpPr/>
          <p:nvPr/>
        </p:nvSpPr>
        <p:spPr>
          <a:xfrm>
            <a:off x="8968925" y="3821724"/>
            <a:ext cx="1186068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RAM</a:t>
            </a:r>
          </a:p>
        </p:txBody>
      </p:sp>
    </p:spTree>
    <p:extLst>
      <p:ext uri="{BB962C8B-B14F-4D97-AF65-F5344CB8AC3E}">
        <p14:creationId xmlns:p14="http://schemas.microsoft.com/office/powerpoint/2010/main" val="2273035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9329C6C8-EE1A-B21A-5390-4BF577A75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263" y="1393703"/>
            <a:ext cx="6996352" cy="51802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A411B3-4770-C353-0D3A-78C35FBC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Physical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E5F7A-0CE5-E498-E79A-1E8A7D9A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709B0-2E72-EC01-1A00-C2FE1E745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1C2C6-2B03-0A42-B605-34B82582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766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39C0-1EC8-CE78-D464-DB3AD39A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Advantages of Buses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08680-8637-B4A2-D3C9-318584319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11597"/>
            <a:ext cx="10515600" cy="2465366"/>
          </a:xfrm>
        </p:spPr>
        <p:txBody>
          <a:bodyPr>
            <a:normAutofit lnSpcReduction="10000"/>
          </a:bodyPr>
          <a:lstStyle/>
          <a:p>
            <a:pPr>
              <a:spcBef>
                <a:spcPct val="20000"/>
              </a:spcBef>
            </a:pPr>
            <a:r>
              <a:rPr lang="en-US" altLang="en-US" dirty="0"/>
              <a:t>Versatility:</a:t>
            </a:r>
          </a:p>
          <a:p>
            <a:pPr lvl="1">
              <a:spcBef>
                <a:spcPct val="20000"/>
              </a:spcBef>
            </a:pPr>
            <a:r>
              <a:rPr lang="en-US" altLang="en-US" dirty="0"/>
              <a:t>New devices can be added easily</a:t>
            </a:r>
          </a:p>
          <a:p>
            <a:pPr lvl="1">
              <a:spcBef>
                <a:spcPct val="20000"/>
              </a:spcBef>
            </a:pPr>
            <a:r>
              <a:rPr lang="en-US" altLang="en-US" dirty="0"/>
              <a:t>Peripherals can be moved between computer</a:t>
            </a:r>
            <a:br>
              <a:rPr lang="en-US" altLang="en-US" dirty="0"/>
            </a:br>
            <a:r>
              <a:rPr lang="en-US" altLang="en-US" dirty="0"/>
              <a:t>systems that use the same bus standard</a:t>
            </a:r>
          </a:p>
          <a:p>
            <a:pPr>
              <a:spcBef>
                <a:spcPct val="20000"/>
              </a:spcBef>
            </a:pPr>
            <a:r>
              <a:rPr lang="en-US" altLang="en-US" dirty="0"/>
              <a:t>Low Cost:</a:t>
            </a:r>
          </a:p>
          <a:p>
            <a:pPr lvl="1">
              <a:spcBef>
                <a:spcPct val="20000"/>
              </a:spcBef>
            </a:pPr>
            <a:r>
              <a:rPr lang="en-US" altLang="en-US" dirty="0"/>
              <a:t>A single set of wires is shared in multiple ways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3B6B8-C990-48EB-1E14-4915537D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23504-2E47-0EA9-57EF-115D0C9D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2F293-E656-553A-E083-46FC0042E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9</a:t>
            </a:fld>
            <a:endParaRPr lang="en-CA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43A856E7-6BE3-E997-8DE2-1CBA477E6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6886" y="1500208"/>
            <a:ext cx="7010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F75AE3-AAB8-DE70-B3AF-C971A848A6DF}"/>
              </a:ext>
            </a:extLst>
          </p:cNvPr>
          <p:cNvGrpSpPr>
            <a:grpSpLocks/>
          </p:cNvGrpSpPr>
          <p:nvPr/>
        </p:nvGrpSpPr>
        <p:grpSpPr bwMode="auto">
          <a:xfrm>
            <a:off x="8299986" y="2567008"/>
            <a:ext cx="1295400" cy="812800"/>
            <a:chOff x="4472" y="1448"/>
            <a:chExt cx="656" cy="51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0175245-4C07-24CD-FCC0-FA8092839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1448"/>
              <a:ext cx="656" cy="5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A63F829-0986-66F6-B6DA-4D9736239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" y="1601"/>
              <a:ext cx="5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600" b="1">
                  <a:latin typeface="Times New Roman" panose="02020603050405020304" pitchFamily="18" charset="0"/>
                </a:rPr>
                <a:t>Memory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1722F6A-CFCD-840F-64C2-181EE022E8B3}"/>
              </a:ext>
            </a:extLst>
          </p:cNvPr>
          <p:cNvGrpSpPr>
            <a:grpSpLocks/>
          </p:cNvGrpSpPr>
          <p:nvPr/>
        </p:nvGrpSpPr>
        <p:grpSpPr bwMode="auto">
          <a:xfrm>
            <a:off x="2673886" y="2579708"/>
            <a:ext cx="1574800" cy="889000"/>
            <a:chOff x="920" y="1448"/>
            <a:chExt cx="992" cy="5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1ED626A-4778-443B-0691-C19E666C3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1448"/>
              <a:ext cx="992" cy="56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FD78244-88E0-2812-F486-89BD40E38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1632"/>
              <a:ext cx="64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600" b="1">
                  <a:latin typeface="Times New Roman" panose="02020603050405020304" pitchFamily="18" charset="0"/>
                </a:rPr>
                <a:t>Processer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3B7631A-A281-FFD1-0DAF-B45D39236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086" y="2579708"/>
            <a:ext cx="965200" cy="542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80878E-A226-26DF-E9DA-91D628191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486" y="2567008"/>
            <a:ext cx="950913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>
                <a:latin typeface="Times New Roman" panose="02020603050405020304" pitchFamily="18" charset="0"/>
              </a:rPr>
              <a:t>I/O Device</a:t>
            </a: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26F69405-7360-EE46-0353-AEA4D61B3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7486" y="1500208"/>
            <a:ext cx="0" cy="1066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03A68A89-BBE5-0E19-C616-B0151F3B2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1486" y="1500208"/>
            <a:ext cx="0" cy="1066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717D8F9A-F82F-215B-733B-718808354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7686" y="1500208"/>
            <a:ext cx="0" cy="1066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BBC5EE07-5BEA-6F76-AF8B-90F604F24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686" y="1500208"/>
            <a:ext cx="0" cy="1066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BC3E03-4BB9-B76D-7086-C30696D9D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8086" y="2579708"/>
            <a:ext cx="965200" cy="542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04E209-9686-6F76-49B9-2747CB299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3486" y="2567008"/>
            <a:ext cx="950913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>
                <a:latin typeface="Times New Roman" panose="02020603050405020304" pitchFamily="18" charset="0"/>
              </a:rPr>
              <a:t>I/O Device</a:t>
            </a:r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AED8EA11-5C2C-1BE7-646B-9A2AC071C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3686" y="1500208"/>
            <a:ext cx="0" cy="1066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8C5904-4A94-85DF-FEE4-6DD0B889E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1086" y="2579708"/>
            <a:ext cx="965200" cy="542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C3D0DE-DEE3-89B4-7E80-81F304C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6486" y="2567008"/>
            <a:ext cx="950913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>
                <a:latin typeface="Times New Roman" panose="02020603050405020304" pitchFamily="18" charset="0"/>
              </a:rPr>
              <a:t>I/O Device</a:t>
            </a:r>
          </a:p>
        </p:txBody>
      </p:sp>
    </p:spTree>
    <p:extLst>
      <p:ext uri="{BB962C8B-B14F-4D97-AF65-F5344CB8AC3E}">
        <p14:creationId xmlns:p14="http://schemas.microsoft.com/office/powerpoint/2010/main" val="3617642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3A28F-B50A-FBAF-76ED-02E1755DC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6D450-EBC1-E389-B36D-64637B41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Disadvantages of Buses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2AA05-1725-F411-A406-6C9703528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28153"/>
            <a:ext cx="10515600" cy="2548809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ct val="20000"/>
              </a:spcBef>
            </a:pPr>
            <a:r>
              <a:rPr lang="en-US" altLang="en-US" dirty="0"/>
              <a:t>It creates a communication bottleneck</a:t>
            </a:r>
          </a:p>
          <a:p>
            <a:pPr lvl="1">
              <a:spcBef>
                <a:spcPct val="20000"/>
              </a:spcBef>
            </a:pPr>
            <a:r>
              <a:rPr lang="en-US" altLang="en-US" dirty="0"/>
              <a:t>The bandwidth of that bus can limit the maximum I/O throughput</a:t>
            </a:r>
          </a:p>
          <a:p>
            <a:pPr>
              <a:spcBef>
                <a:spcPct val="20000"/>
              </a:spcBef>
            </a:pPr>
            <a:r>
              <a:rPr lang="en-US" altLang="en-US" dirty="0"/>
              <a:t>The maximum bus speed is largely limited by:</a:t>
            </a:r>
          </a:p>
          <a:p>
            <a:pPr lvl="1">
              <a:spcBef>
                <a:spcPct val="20000"/>
              </a:spcBef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chemeClr val="accent1"/>
                </a:solidFill>
              </a:rPr>
              <a:t>length</a:t>
            </a:r>
            <a:r>
              <a:rPr lang="en-US" altLang="en-US" dirty="0"/>
              <a:t> of the bus</a:t>
            </a:r>
          </a:p>
          <a:p>
            <a:pPr lvl="1">
              <a:spcBef>
                <a:spcPct val="20000"/>
              </a:spcBef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chemeClr val="accent1"/>
                </a:solidFill>
              </a:rPr>
              <a:t>number</a:t>
            </a:r>
            <a:r>
              <a:rPr lang="en-US" altLang="en-US" dirty="0"/>
              <a:t> of devices on the bus</a:t>
            </a:r>
          </a:p>
          <a:p>
            <a:pPr lvl="1">
              <a:spcBef>
                <a:spcPct val="20000"/>
              </a:spcBef>
            </a:pPr>
            <a:r>
              <a:rPr lang="en-US" altLang="en-US" dirty="0"/>
              <a:t>The need to support a range of devices with:</a:t>
            </a:r>
          </a:p>
          <a:p>
            <a:pPr lvl="2">
              <a:spcBef>
                <a:spcPct val="20000"/>
              </a:spcBef>
            </a:pPr>
            <a:r>
              <a:rPr lang="en-US" altLang="en-US" dirty="0"/>
              <a:t>Widely varying latencies </a:t>
            </a:r>
          </a:p>
          <a:p>
            <a:pPr lvl="2">
              <a:spcBef>
                <a:spcPct val="20000"/>
              </a:spcBef>
            </a:pPr>
            <a:r>
              <a:rPr lang="en-US" altLang="en-US" dirty="0"/>
              <a:t>Widely varying data transfer rates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CEF1A-E720-53DB-1C08-45E7F86F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7736B-89F0-F798-2821-D8B429DE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89803-0164-0277-A209-CE8F845F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10</a:t>
            </a:fld>
            <a:endParaRPr lang="en-CA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BB2DDD33-3A0D-E863-C0EC-F45B20774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0" y="1505666"/>
            <a:ext cx="7010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51F0FA-8DF3-D524-41A6-35421859B75B}"/>
              </a:ext>
            </a:extLst>
          </p:cNvPr>
          <p:cNvGrpSpPr>
            <a:grpSpLocks/>
          </p:cNvGrpSpPr>
          <p:nvPr/>
        </p:nvGrpSpPr>
        <p:grpSpPr bwMode="auto">
          <a:xfrm>
            <a:off x="8261350" y="2572466"/>
            <a:ext cx="1295400" cy="812800"/>
            <a:chOff x="4472" y="1448"/>
            <a:chExt cx="656" cy="51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BEB3158-52F1-66A5-E2BA-FD0289614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1448"/>
              <a:ext cx="656" cy="5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435F8DA-2B9C-ECBC-343A-48335D2EF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" y="1601"/>
              <a:ext cx="5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600" b="1">
                  <a:latin typeface="Times New Roman" panose="02020603050405020304" pitchFamily="18" charset="0"/>
                </a:rPr>
                <a:t>Memory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43AC8B0-2216-54CD-A18C-C8AACCDEAF64}"/>
              </a:ext>
            </a:extLst>
          </p:cNvPr>
          <p:cNvGrpSpPr>
            <a:grpSpLocks/>
          </p:cNvGrpSpPr>
          <p:nvPr/>
        </p:nvGrpSpPr>
        <p:grpSpPr bwMode="auto">
          <a:xfrm>
            <a:off x="2635250" y="2585166"/>
            <a:ext cx="1574800" cy="889000"/>
            <a:chOff x="920" y="1448"/>
            <a:chExt cx="992" cy="5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1B58278-428D-9080-921A-7B2F85A89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1448"/>
              <a:ext cx="992" cy="56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C0919B-CAC2-A5D9-0F9C-388DFFDF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" y="1632"/>
              <a:ext cx="64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600" b="1">
                  <a:latin typeface="Times New Roman" panose="02020603050405020304" pitchFamily="18" charset="0"/>
                </a:rPr>
                <a:t>Processer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62A03F3-80AF-090E-4F84-9B990E26A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450" y="2585166"/>
            <a:ext cx="965200" cy="542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CD0CBB-9FDE-245D-737B-F4A36DA36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2572466"/>
            <a:ext cx="950913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>
                <a:latin typeface="Times New Roman" panose="02020603050405020304" pitchFamily="18" charset="0"/>
              </a:rPr>
              <a:t>I/O Device</a:t>
            </a: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6B067F39-9C34-A680-EE92-F569D16E6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8850" y="1505666"/>
            <a:ext cx="0" cy="1066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3E55657F-AFE4-568C-A574-B5682399D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850" y="1505666"/>
            <a:ext cx="0" cy="1066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2DE2737C-43FA-7A47-B30E-5DE8FBFF4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9050" y="1505666"/>
            <a:ext cx="0" cy="1066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A1ED6757-592F-A269-2595-CC911A5AF3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050" y="1505666"/>
            <a:ext cx="0" cy="1066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B6644-2696-1C7A-D317-1278E67B2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450" y="2585166"/>
            <a:ext cx="965200" cy="542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F1A0C1-789D-ABE6-295C-4964C0F2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850" y="2572466"/>
            <a:ext cx="950913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>
                <a:latin typeface="Times New Roman" panose="02020603050405020304" pitchFamily="18" charset="0"/>
              </a:rPr>
              <a:t>I/O Device</a:t>
            </a:r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FFFB02A3-D106-FE32-9866-FB4EEC3DA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5050" y="1505666"/>
            <a:ext cx="0" cy="1066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667D20-89B9-2336-EC58-D34C1306C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2585166"/>
            <a:ext cx="965200" cy="542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55515A-D96F-2B42-48AC-A680A9DF9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850" y="2572466"/>
            <a:ext cx="950913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>
                <a:latin typeface="Times New Roman" panose="02020603050405020304" pitchFamily="18" charset="0"/>
              </a:rPr>
              <a:t>I/O Device</a:t>
            </a:r>
          </a:p>
        </p:txBody>
      </p:sp>
    </p:spTree>
    <p:extLst>
      <p:ext uri="{BB962C8B-B14F-4D97-AF65-F5344CB8AC3E}">
        <p14:creationId xmlns:p14="http://schemas.microsoft.com/office/powerpoint/2010/main" val="60729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0CBC-462A-61A2-74D0-8B431CD29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Bus Controller vs. Peripheral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281F4-6E4F-CA2B-C63D-1AA395912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747963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A </a:t>
            </a:r>
            <a:r>
              <a:rPr lang="en-US" altLang="en-US" u="sng" dirty="0">
                <a:solidFill>
                  <a:schemeClr val="accent1"/>
                </a:solidFill>
              </a:rPr>
              <a:t>bus transaction </a:t>
            </a:r>
            <a:r>
              <a:rPr lang="en-US" altLang="en-US" dirty="0"/>
              <a:t>includes two parts:</a:t>
            </a:r>
          </a:p>
          <a:p>
            <a:pPr lvl="1"/>
            <a:r>
              <a:rPr lang="en-US" altLang="en-US" dirty="0"/>
              <a:t>Issuing the command (and address)     	– request</a:t>
            </a:r>
          </a:p>
          <a:p>
            <a:pPr lvl="1"/>
            <a:r>
              <a:rPr lang="en-US" altLang="en-US" dirty="0"/>
              <a:t>Transferring the data                               	– action</a:t>
            </a:r>
          </a:p>
          <a:p>
            <a:r>
              <a:rPr lang="en-US" altLang="en-US" dirty="0"/>
              <a:t>Controller is the one who starts the bus transaction by:</a:t>
            </a:r>
          </a:p>
          <a:p>
            <a:pPr lvl="1"/>
            <a:r>
              <a:rPr lang="en-US" altLang="en-US" dirty="0"/>
              <a:t>issuing the  command (and address)</a:t>
            </a:r>
          </a:p>
          <a:p>
            <a:r>
              <a:rPr lang="en-US" altLang="en-US" dirty="0"/>
              <a:t>Peripheral is the one who responds to the address by:</a:t>
            </a:r>
          </a:p>
          <a:p>
            <a:pPr lvl="1"/>
            <a:r>
              <a:rPr lang="en-US" altLang="en-US" dirty="0"/>
              <a:t>Sending data to the controller if the controller ask for data</a:t>
            </a:r>
          </a:p>
          <a:p>
            <a:pPr lvl="1"/>
            <a:r>
              <a:rPr lang="en-US" altLang="en-US" dirty="0"/>
              <a:t>Receiving data from the controller if the controller wants to send data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1059E-ABB2-F670-233C-C44E94142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13329-EE15-A393-940F-37F4D7DB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8C965-57C3-767C-068C-B282DB56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11</a:t>
            </a:fld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D09698-A713-D3C2-06E7-E296C6A92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9396" y="1779588"/>
            <a:ext cx="13462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740BBA-48C3-0F1D-6667-0B0F9BF98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5280" y="1919288"/>
            <a:ext cx="1103958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 dirty="0">
                <a:latin typeface="Times New Roman" panose="02020603050405020304" pitchFamily="18" charset="0"/>
              </a:rPr>
              <a:t>Bus</a:t>
            </a:r>
          </a:p>
          <a:p>
            <a:pPr algn="ctr"/>
            <a:r>
              <a:rPr lang="en-US" altLang="en-US" sz="1600" b="1" dirty="0">
                <a:latin typeface="Times New Roman" panose="02020603050405020304" pitchFamily="18" charset="0"/>
              </a:rPr>
              <a:t>Controller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0E23D4-4E46-8A75-EF17-EF988755E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1396" y="1779588"/>
            <a:ext cx="1346200" cy="81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B12831-092A-9D80-04C9-0FF6B6FCB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9812" y="1919288"/>
            <a:ext cx="1118898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en-US" sz="1600" b="1" dirty="0">
                <a:latin typeface="Times New Roman" panose="02020603050405020304" pitchFamily="18" charset="0"/>
              </a:rPr>
              <a:t>Bus</a:t>
            </a:r>
          </a:p>
          <a:p>
            <a:pPr algn="ctr"/>
            <a:r>
              <a:rPr lang="en-US" altLang="en-US" sz="1600" b="1" dirty="0">
                <a:latin typeface="Times New Roman" panose="02020603050405020304" pitchFamily="18" charset="0"/>
              </a:rPr>
              <a:t>Peripheral</a:t>
            </a: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4B641C44-24DB-30E4-7DC1-0D339CEA1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0996" y="1995488"/>
            <a:ext cx="31750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50026B-85FC-BB30-A7D0-3C3A31BAD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598" y="1690688"/>
            <a:ext cx="2573398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1600" b="1" dirty="0">
                <a:latin typeface="Times New Roman" panose="02020603050405020304" pitchFamily="18" charset="0"/>
              </a:rPr>
              <a:t>Controller issues command</a:t>
            </a:r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13430DC8-9AB5-6D5B-DA2D-16326AE906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5596" y="2376488"/>
            <a:ext cx="3225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42A3BB-5753-057C-89E0-506CDBF36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609" y="2071688"/>
            <a:ext cx="2168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1600" b="1">
                <a:latin typeface="Times New Roman" panose="02020603050405020304" pitchFamily="18" charset="0"/>
              </a:rPr>
              <a:t>Data can go either way</a:t>
            </a:r>
          </a:p>
        </p:txBody>
      </p:sp>
    </p:spTree>
    <p:extLst>
      <p:ext uri="{BB962C8B-B14F-4D97-AF65-F5344CB8AC3E}">
        <p14:creationId xmlns:p14="http://schemas.microsoft.com/office/powerpoint/2010/main" val="727382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D89F-BB44-ECCC-D50B-A359878D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Bus Organization: One 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7198B-4467-D14B-8186-737607BAC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747963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A single bus (the backplane bus) is used for:</a:t>
            </a:r>
          </a:p>
          <a:p>
            <a:pPr lvl="1"/>
            <a:r>
              <a:rPr lang="en-US" altLang="en-US" dirty="0"/>
              <a:t>Processor to memory communication</a:t>
            </a:r>
          </a:p>
          <a:p>
            <a:pPr lvl="1"/>
            <a:r>
              <a:rPr lang="en-US" altLang="en-US" dirty="0"/>
              <a:t>Communication between I/O devices and memory</a:t>
            </a:r>
          </a:p>
          <a:p>
            <a:r>
              <a:rPr lang="en-US" altLang="en-US" dirty="0"/>
              <a:t>Advantages: Simple and low cost</a:t>
            </a:r>
          </a:p>
          <a:p>
            <a:r>
              <a:rPr lang="en-US" altLang="en-US" dirty="0"/>
              <a:t>Disadvantages: slow and the bus can become a major bottleneck</a:t>
            </a:r>
          </a:p>
          <a:p>
            <a:r>
              <a:rPr lang="en-US" altLang="en-US" dirty="0"/>
              <a:t>Example: IBM PC - AT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CE8E9-0924-B117-A759-55003159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DBAE1-F4DB-058C-2292-06E3C40EE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26213-51AD-5A05-C3C5-DDC24B40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12</a:t>
            </a:fld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4F26DB-9845-F585-AEC0-24D4F2E0E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46" y="1855788"/>
            <a:ext cx="1346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9CFE1C-032E-CC3B-016E-A5C10465CE30}"/>
              </a:ext>
            </a:extLst>
          </p:cNvPr>
          <p:cNvGrpSpPr>
            <a:grpSpLocks/>
          </p:cNvGrpSpPr>
          <p:nvPr/>
        </p:nvGrpSpPr>
        <p:grpSpPr bwMode="auto">
          <a:xfrm>
            <a:off x="3884246" y="2389188"/>
            <a:ext cx="609600" cy="431800"/>
            <a:chOff x="1680" y="1160"/>
            <a:chExt cx="384" cy="27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2B3B663-9342-3664-4E2A-8FA5BB974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8" y="1160"/>
              <a:ext cx="368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8" name="Arc 7">
              <a:extLst>
                <a:ext uri="{FF2B5EF4-FFF2-40B4-BE49-F238E27FC236}">
                  <a16:creationId xmlns:a16="http://schemas.microsoft.com/office/drawing/2014/main" id="{5AEE7F0C-66FA-694F-D979-56B79DA37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1392"/>
              <a:ext cx="184" cy="4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9" name="Arc 8">
              <a:extLst>
                <a:ext uri="{FF2B5EF4-FFF2-40B4-BE49-F238E27FC236}">
                  <a16:creationId xmlns:a16="http://schemas.microsoft.com/office/drawing/2014/main" id="{C64CDB93-CB69-4D3A-AD04-164A63029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1392"/>
              <a:ext cx="184" cy="40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0" name="Line 9">
              <a:extLst>
                <a:ext uri="{FF2B5EF4-FFF2-40B4-BE49-F238E27FC236}">
                  <a16:creationId xmlns:a16="http://schemas.microsoft.com/office/drawing/2014/main" id="{B1043856-4913-A7F9-8A46-31BC0E9C1C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20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1" name="Line 10">
              <a:extLst>
                <a:ext uri="{FF2B5EF4-FFF2-40B4-BE49-F238E27FC236}">
                  <a16:creationId xmlns:a16="http://schemas.microsoft.com/office/drawing/2014/main" id="{DF512636-EB70-C0C6-C07C-BAE62FE4A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20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D30D475-387B-10D7-D05A-B931CBB34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959" y="1995488"/>
            <a:ext cx="1028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1600" b="1">
                <a:latin typeface="Times New Roman" panose="02020603050405020304" pitchFamily="18" charset="0"/>
              </a:rPr>
              <a:t>Processor</a:t>
            </a: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F7186839-23DF-DAA3-632A-718FFB2D9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1146" y="1995488"/>
            <a:ext cx="500380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93F5C1C3-1709-A35F-DE55-E833D60FC3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9046" y="2008188"/>
            <a:ext cx="0" cy="4318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C26414-504D-8E50-08C0-191C6B813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0346" y="1855788"/>
            <a:ext cx="13462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029FDD-8BE2-9A52-2424-5173BA9C2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959" y="1995488"/>
            <a:ext cx="927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1600" b="1">
                <a:latin typeface="Times New Roman" panose="02020603050405020304" pitchFamily="18" charset="0"/>
              </a:rPr>
              <a:t>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872FD5-9F8B-BA01-8085-86DD4E22F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559" y="2833688"/>
            <a:ext cx="11826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1600" b="1">
                <a:latin typeface="Times New Roman" panose="02020603050405020304" pitchFamily="18" charset="0"/>
              </a:rPr>
              <a:t>I/O Devices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653105-8BEE-0972-588F-8F1243F4241E}"/>
              </a:ext>
            </a:extLst>
          </p:cNvPr>
          <p:cNvGrpSpPr>
            <a:grpSpLocks/>
          </p:cNvGrpSpPr>
          <p:nvPr/>
        </p:nvGrpSpPr>
        <p:grpSpPr bwMode="auto">
          <a:xfrm>
            <a:off x="4798646" y="2389188"/>
            <a:ext cx="609600" cy="431800"/>
            <a:chOff x="2256" y="1160"/>
            <a:chExt cx="384" cy="272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6D10F68-D7F5-9D53-4100-8A6805B5D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4" y="1160"/>
              <a:ext cx="368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3" name="Arc 19">
              <a:extLst>
                <a:ext uri="{FF2B5EF4-FFF2-40B4-BE49-F238E27FC236}">
                  <a16:creationId xmlns:a16="http://schemas.microsoft.com/office/drawing/2014/main" id="{90554FA4-973F-04BF-64EA-61D14CC3F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1392"/>
              <a:ext cx="184" cy="4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4" name="Arc 20">
              <a:extLst>
                <a:ext uri="{FF2B5EF4-FFF2-40B4-BE49-F238E27FC236}">
                  <a16:creationId xmlns:a16="http://schemas.microsoft.com/office/drawing/2014/main" id="{72A83336-8271-7DCD-DE43-AB1E961AE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" y="1392"/>
              <a:ext cx="184" cy="40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5" name="Line 21">
              <a:extLst>
                <a:ext uri="{FF2B5EF4-FFF2-40B4-BE49-F238E27FC236}">
                  <a16:creationId xmlns:a16="http://schemas.microsoft.com/office/drawing/2014/main" id="{E46A9852-A409-9E29-18A5-5E563CAAE6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20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6" name="Line 22">
              <a:extLst>
                <a:ext uri="{FF2B5EF4-FFF2-40B4-BE49-F238E27FC236}">
                  <a16:creationId xmlns:a16="http://schemas.microsoft.com/office/drawing/2014/main" id="{E1AC8367-8301-2CDC-51B3-1EAC1BFBE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20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</p:grpSp>
      <p:sp>
        <p:nvSpPr>
          <p:cNvPr id="16" name="Line 23">
            <a:extLst>
              <a:ext uri="{FF2B5EF4-FFF2-40B4-BE49-F238E27FC236}">
                <a16:creationId xmlns:a16="http://schemas.microsoft.com/office/drawing/2014/main" id="{17BA9C12-BFC3-614E-F59B-ED97F1695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446" y="2008188"/>
            <a:ext cx="0" cy="4318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E75C3A9-D9FD-C065-78D0-2834C36AD236}"/>
              </a:ext>
            </a:extLst>
          </p:cNvPr>
          <p:cNvGrpSpPr>
            <a:grpSpLocks/>
          </p:cNvGrpSpPr>
          <p:nvPr/>
        </p:nvGrpSpPr>
        <p:grpSpPr bwMode="auto">
          <a:xfrm>
            <a:off x="5713046" y="2389188"/>
            <a:ext cx="609600" cy="431800"/>
            <a:chOff x="2832" y="1160"/>
            <a:chExt cx="384" cy="27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87C5D6A-99C1-ED50-9BA6-44721C5EC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1160"/>
              <a:ext cx="368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8" name="Arc 26">
              <a:extLst>
                <a:ext uri="{FF2B5EF4-FFF2-40B4-BE49-F238E27FC236}">
                  <a16:creationId xmlns:a16="http://schemas.microsoft.com/office/drawing/2014/main" id="{686F110C-DAF0-C0CF-7241-273CEB9AD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1392"/>
              <a:ext cx="184" cy="4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9" name="Arc 27">
              <a:extLst>
                <a:ext uri="{FF2B5EF4-FFF2-40B4-BE49-F238E27FC236}">
                  <a16:creationId xmlns:a16="http://schemas.microsoft.com/office/drawing/2014/main" id="{95C7FEF9-7669-6958-D105-A554A627D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1392"/>
              <a:ext cx="184" cy="40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6E5EF369-55CB-9302-637D-87D715EF5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20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9F2A7F66-18F0-B8CA-7A11-09862404A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20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</p:grpSp>
      <p:sp>
        <p:nvSpPr>
          <p:cNvPr id="18" name="Line 30">
            <a:extLst>
              <a:ext uri="{FF2B5EF4-FFF2-40B4-BE49-F238E27FC236}">
                <a16:creationId xmlns:a16="http://schemas.microsoft.com/office/drawing/2014/main" id="{7D1C6264-878B-6C96-CDC6-68458329E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7846" y="2008188"/>
            <a:ext cx="0" cy="4318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4F2F06-67D3-A647-701F-6394588B20A4}"/>
              </a:ext>
            </a:extLst>
          </p:cNvPr>
          <p:cNvGrpSpPr>
            <a:grpSpLocks/>
          </p:cNvGrpSpPr>
          <p:nvPr/>
        </p:nvGrpSpPr>
        <p:grpSpPr bwMode="auto">
          <a:xfrm>
            <a:off x="6627446" y="2389188"/>
            <a:ext cx="609600" cy="431800"/>
            <a:chOff x="3408" y="1160"/>
            <a:chExt cx="384" cy="27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A7C14EF-3C92-8684-EB3F-0F82D1DDA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" y="1160"/>
              <a:ext cx="368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3" name="Arc 33">
              <a:extLst>
                <a:ext uri="{FF2B5EF4-FFF2-40B4-BE49-F238E27FC236}">
                  <a16:creationId xmlns:a16="http://schemas.microsoft.com/office/drawing/2014/main" id="{D2C5BF4F-A92F-7106-5DBE-4DB83DF8A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1392"/>
              <a:ext cx="184" cy="4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599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4" name="Arc 34">
              <a:extLst>
                <a:ext uri="{FF2B5EF4-FFF2-40B4-BE49-F238E27FC236}">
                  <a16:creationId xmlns:a16="http://schemas.microsoft.com/office/drawing/2014/main" id="{700AC348-9EFD-46DF-900C-2AACC3B77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392"/>
              <a:ext cx="184" cy="40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599"/>
                  </a:moveTo>
                  <a:cubicBezTo>
                    <a:pt x="9670" y="21599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5" name="Line 35">
              <a:extLst>
                <a:ext uri="{FF2B5EF4-FFF2-40B4-BE49-F238E27FC236}">
                  <a16:creationId xmlns:a16="http://schemas.microsoft.com/office/drawing/2014/main" id="{35DF61FD-83B7-54A9-6688-3AD41C868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20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6" name="Line 36">
              <a:extLst>
                <a:ext uri="{FF2B5EF4-FFF2-40B4-BE49-F238E27FC236}">
                  <a16:creationId xmlns:a16="http://schemas.microsoft.com/office/drawing/2014/main" id="{C783BD0A-BE34-1F08-3DA2-C7F0B305F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20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</p:grpSp>
      <p:sp>
        <p:nvSpPr>
          <p:cNvPr id="20" name="Line 37">
            <a:extLst>
              <a:ext uri="{FF2B5EF4-FFF2-40B4-BE49-F238E27FC236}">
                <a16:creationId xmlns:a16="http://schemas.microsoft.com/office/drawing/2014/main" id="{2171CC32-9B82-15B2-9CCB-B5CFA3F12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2246" y="2008188"/>
            <a:ext cx="0" cy="4318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997090-1EC4-F7CE-3EE0-ECF05CEA1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559" y="1690688"/>
            <a:ext cx="14732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1600" b="1">
                <a:latin typeface="Times New Roman" panose="02020603050405020304" pitchFamily="18" charset="0"/>
              </a:rPr>
              <a:t>Backplane Bus</a:t>
            </a:r>
          </a:p>
        </p:txBody>
      </p:sp>
    </p:spTree>
    <p:extLst>
      <p:ext uri="{BB962C8B-B14F-4D97-AF65-F5344CB8AC3E}">
        <p14:creationId xmlns:p14="http://schemas.microsoft.com/office/powerpoint/2010/main" val="1305626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70018-5CA4-6233-6701-3DDCC9EF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76A87-2689-8D54-073D-B33F1C2D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Bus Organization: Two Buses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43A19-3CED-8218-1D5A-EA7F7828F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831" y="3868162"/>
            <a:ext cx="10515600" cy="2418197"/>
          </a:xfrm>
        </p:spPr>
        <p:txBody>
          <a:bodyPr>
            <a:normAutofit lnSpcReduction="10000"/>
          </a:bodyPr>
          <a:lstStyle/>
          <a:p>
            <a:pPr>
              <a:spcBef>
                <a:spcPct val="15000"/>
              </a:spcBef>
            </a:pPr>
            <a:r>
              <a:rPr lang="en-US" altLang="en-US" dirty="0"/>
              <a:t>I/O buses tap into the processor-memory bus via bus adaptors:</a:t>
            </a:r>
          </a:p>
          <a:p>
            <a:pPr lvl="1">
              <a:spcBef>
                <a:spcPct val="15000"/>
              </a:spcBef>
            </a:pPr>
            <a:r>
              <a:rPr lang="en-US" altLang="en-US" dirty="0"/>
              <a:t>Processor-memory bus: mainly for processor-memory traffic</a:t>
            </a:r>
          </a:p>
          <a:p>
            <a:pPr lvl="1">
              <a:spcBef>
                <a:spcPct val="15000"/>
              </a:spcBef>
            </a:pPr>
            <a:r>
              <a:rPr lang="en-US" altLang="en-US" dirty="0"/>
              <a:t>I/O buses: provide expansion slots for I/O devices</a:t>
            </a:r>
          </a:p>
          <a:p>
            <a:pPr>
              <a:spcBef>
                <a:spcPct val="15000"/>
              </a:spcBef>
            </a:pPr>
            <a:r>
              <a:rPr lang="en-US" altLang="en-US" dirty="0"/>
              <a:t>Apple Macintosh-II</a:t>
            </a:r>
          </a:p>
          <a:p>
            <a:pPr lvl="1">
              <a:spcBef>
                <a:spcPct val="15000"/>
              </a:spcBef>
            </a:pPr>
            <a:r>
              <a:rPr lang="en-US" altLang="en-US" dirty="0" err="1"/>
              <a:t>NuBus</a:t>
            </a:r>
            <a:r>
              <a:rPr lang="en-US" altLang="en-US" dirty="0"/>
              <a:t>: Processor, memory, and a few selected I/O devices</a:t>
            </a:r>
          </a:p>
          <a:p>
            <a:pPr lvl="1">
              <a:spcBef>
                <a:spcPct val="15000"/>
              </a:spcBef>
            </a:pPr>
            <a:r>
              <a:rPr lang="en-US" altLang="en-US" dirty="0"/>
              <a:t>SCCI Bus: the rest of the I/O devices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552DD-3FA9-46B3-446B-F5A8DB0F0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4F0D6-C5EC-9299-93FB-959F4FBB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C4AF3-00B7-FFC0-6E8E-E42C802C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13</a:t>
            </a:fld>
            <a:endParaRPr lang="en-CA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1ED50A3-CC3C-78A2-8BEC-6D65B01EB353}"/>
              </a:ext>
            </a:extLst>
          </p:cNvPr>
          <p:cNvGrpSpPr>
            <a:grpSpLocks/>
          </p:cNvGrpSpPr>
          <p:nvPr/>
        </p:nvGrpSpPr>
        <p:grpSpPr bwMode="auto">
          <a:xfrm>
            <a:off x="1494843" y="1405317"/>
            <a:ext cx="7115757" cy="2298040"/>
            <a:chOff x="440" y="672"/>
            <a:chExt cx="4880" cy="157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7CFFF61-A16D-5FE4-19E0-19E5FBFC3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" y="776"/>
              <a:ext cx="84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79D648C-49F3-E36D-5698-A08B2834CD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976"/>
              <a:ext cx="384" cy="272"/>
              <a:chOff x="1968" y="1976"/>
              <a:chExt cx="384" cy="272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C7F4BC33-E49D-5A7F-242D-E2C2292CF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6" y="1976"/>
                <a:ext cx="368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102" name="Arc 7">
                <a:extLst>
                  <a:ext uri="{FF2B5EF4-FFF2-40B4-BE49-F238E27FC236}">
                    <a16:creationId xmlns:a16="http://schemas.microsoft.com/office/drawing/2014/main" id="{306CEA3A-9A71-A491-E7FC-237F02F22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0" y="2208"/>
                <a:ext cx="184" cy="4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103" name="Arc 8">
                <a:extLst>
                  <a:ext uri="{FF2B5EF4-FFF2-40B4-BE49-F238E27FC236}">
                    <a16:creationId xmlns:a16="http://schemas.microsoft.com/office/drawing/2014/main" id="{7B46BCD8-58E9-0D17-38F6-A12B16937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7" y="2208"/>
                <a:ext cx="184" cy="4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104" name="Line 9">
                <a:extLst>
                  <a:ext uri="{FF2B5EF4-FFF2-40B4-BE49-F238E27FC236}">
                    <a16:creationId xmlns:a16="http://schemas.microsoft.com/office/drawing/2014/main" id="{CB2D3B91-2F57-CCB7-AEDD-A902E1FDAB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0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105" name="Line 10">
                <a:extLst>
                  <a:ext uri="{FF2B5EF4-FFF2-40B4-BE49-F238E27FC236}">
                    <a16:creationId xmlns:a16="http://schemas.microsoft.com/office/drawing/2014/main" id="{69554C0A-A516-D7AA-20C1-B2C6B7E8C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0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DD29C6B-EA12-B5F4-C0B3-BE3B9B60D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" y="864"/>
              <a:ext cx="64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600" b="1">
                  <a:latin typeface="Times New Roman" panose="02020603050405020304" pitchFamily="18" charset="0"/>
                </a:rPr>
                <a:t>Processor</a:t>
              </a:r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F75D1241-E9FA-7937-30E3-073495508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4" y="864"/>
              <a:ext cx="315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9A4749F7-9BE7-52B6-7EA7-4AAF12D5C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872"/>
              <a:ext cx="0" cy="272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93C43B8-7452-A305-1ED7-50590E735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776"/>
              <a:ext cx="84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7248706-1E54-C1F1-BFB6-483B3097B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864"/>
              <a:ext cx="58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600" b="1">
                  <a:latin typeface="Times New Roman" panose="02020603050405020304" pitchFamily="18" charset="0"/>
                </a:rPr>
                <a:t>Memory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4F4D5E8-B109-0BBE-F600-B8DAD823D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1632"/>
              <a:ext cx="320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I/O</a:t>
              </a:r>
            </a:p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Bus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9F63215-46B2-8F17-15AD-736CF3F9E2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592"/>
              <a:ext cx="384" cy="272"/>
              <a:chOff x="1968" y="1592"/>
              <a:chExt cx="384" cy="272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EEEB28A7-8841-BCB1-A5EB-32D97BB87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6" y="1592"/>
                <a:ext cx="368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97" name="Arc 19">
                <a:extLst>
                  <a:ext uri="{FF2B5EF4-FFF2-40B4-BE49-F238E27FC236}">
                    <a16:creationId xmlns:a16="http://schemas.microsoft.com/office/drawing/2014/main" id="{5F8B955D-4645-5B99-5E6A-ADC3AF721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0" y="1824"/>
                <a:ext cx="184" cy="4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98" name="Arc 20">
                <a:extLst>
                  <a:ext uri="{FF2B5EF4-FFF2-40B4-BE49-F238E27FC236}">
                    <a16:creationId xmlns:a16="http://schemas.microsoft.com/office/drawing/2014/main" id="{9C931937-348C-75A9-E7B4-F69F34072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7" y="1824"/>
                <a:ext cx="184" cy="4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99" name="Line 21">
                <a:extLst>
                  <a:ext uri="{FF2B5EF4-FFF2-40B4-BE49-F238E27FC236}">
                    <a16:creationId xmlns:a16="http://schemas.microsoft.com/office/drawing/2014/main" id="{9DBD0A6B-F66A-6A21-7C2E-BE230C1EE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164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100" name="Line 22">
                <a:extLst>
                  <a:ext uri="{FF2B5EF4-FFF2-40B4-BE49-F238E27FC236}">
                    <a16:creationId xmlns:a16="http://schemas.microsoft.com/office/drawing/2014/main" id="{3A527BF3-D7F6-4A17-99EA-36152066D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64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</p:grpSp>
        <p:sp>
          <p:nvSpPr>
            <p:cNvPr id="52" name="Line 23">
              <a:extLst>
                <a:ext uri="{FF2B5EF4-FFF2-40B4-BE49-F238E27FC236}">
                  <a16:creationId xmlns:a16="http://schemas.microsoft.com/office/drawing/2014/main" id="{3046CB6D-3F29-8BDF-540E-FED7A0504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872"/>
              <a:ext cx="0" cy="272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3" name="Line 24">
              <a:extLst>
                <a:ext uri="{FF2B5EF4-FFF2-40B4-BE49-F238E27FC236}">
                  <a16:creationId xmlns:a16="http://schemas.microsoft.com/office/drawing/2014/main" id="{8BECA6A3-B9ED-B4E6-CD09-F470F4D18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872"/>
              <a:ext cx="0" cy="272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D60C1A2-6A66-AD7D-9DBB-00B525C6C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672"/>
              <a:ext cx="138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600" b="1">
                  <a:latin typeface="Times New Roman" panose="02020603050405020304" pitchFamily="18" charset="0"/>
                </a:rPr>
                <a:t>Processor Memory Bus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69BC3E2-1DBF-BC59-1F2D-8CA17D96B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" y="1160"/>
              <a:ext cx="704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85C58D9-3A42-0A47-B84F-AC06713FD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7" y="1152"/>
              <a:ext cx="576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Bus</a:t>
              </a:r>
            </a:p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Adaptor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ABBFD84-10E2-EB18-BDD8-42327BFB8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1160"/>
              <a:ext cx="704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6507F3E-DA89-7D7A-65E2-46E90707C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152"/>
              <a:ext cx="576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Bus</a:t>
              </a:r>
            </a:p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Adaptor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98AF469-5C26-BF10-2408-A6645DC7D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4" y="1160"/>
              <a:ext cx="704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308D552-AB03-A1BC-5B67-F05B5EC02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1152"/>
              <a:ext cx="576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Bus</a:t>
              </a:r>
            </a:p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Adaptor</a:t>
              </a:r>
            </a:p>
          </p:txBody>
        </p:sp>
        <p:sp>
          <p:nvSpPr>
            <p:cNvPr id="61" name="Line 32">
              <a:extLst>
                <a:ext uri="{FF2B5EF4-FFF2-40B4-BE49-F238E27FC236}">
                  <a16:creationId xmlns:a16="http://schemas.microsoft.com/office/drawing/2014/main" id="{D58EFC05-68FF-7DC3-E16F-694BF88CB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544"/>
              <a:ext cx="0" cy="56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62" name="Line 33">
              <a:extLst>
                <a:ext uri="{FF2B5EF4-FFF2-40B4-BE49-F238E27FC236}">
                  <a16:creationId xmlns:a16="http://schemas.microsoft.com/office/drawing/2014/main" id="{9E306887-18C2-25F2-1627-2AAF87B98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4" y="2112"/>
              <a:ext cx="176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63" name="Line 34">
              <a:extLst>
                <a:ext uri="{FF2B5EF4-FFF2-40B4-BE49-F238E27FC236}">
                  <a16:creationId xmlns:a16="http://schemas.microsoft.com/office/drawing/2014/main" id="{42A18735-3C2B-6E1A-FD6F-032FACFB94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8" y="1728"/>
              <a:ext cx="20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39A13734-9B17-6E17-8375-C593F612A5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976"/>
              <a:ext cx="384" cy="272"/>
              <a:chOff x="3168" y="1976"/>
              <a:chExt cx="384" cy="272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4200402C-A8EE-1987-07D5-A7E4A9107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6" y="1976"/>
                <a:ext cx="368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92" name="Arc 37">
                <a:extLst>
                  <a:ext uri="{FF2B5EF4-FFF2-40B4-BE49-F238E27FC236}">
                    <a16:creationId xmlns:a16="http://schemas.microsoft.com/office/drawing/2014/main" id="{D8300E95-EE97-5288-5D33-B8D214A5C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2208"/>
                <a:ext cx="184" cy="4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93" name="Arc 38">
                <a:extLst>
                  <a:ext uri="{FF2B5EF4-FFF2-40B4-BE49-F238E27FC236}">
                    <a16:creationId xmlns:a16="http://schemas.microsoft.com/office/drawing/2014/main" id="{F65F4DF8-B1B8-6587-562D-A09F2DE86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7" y="2208"/>
                <a:ext cx="184" cy="4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94" name="Line 39">
                <a:extLst>
                  <a:ext uri="{FF2B5EF4-FFF2-40B4-BE49-F238E27FC236}">
                    <a16:creationId xmlns:a16="http://schemas.microsoft.com/office/drawing/2014/main" id="{D11084D6-F13E-1215-8E91-AFBAA81E39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0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95" name="Line 40">
                <a:extLst>
                  <a:ext uri="{FF2B5EF4-FFF2-40B4-BE49-F238E27FC236}">
                    <a16:creationId xmlns:a16="http://schemas.microsoft.com/office/drawing/2014/main" id="{1341D4A6-6A10-2D66-85DA-59D78F268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0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890F2A2-EC42-9007-1500-F628676258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592"/>
              <a:ext cx="384" cy="272"/>
              <a:chOff x="3168" y="1592"/>
              <a:chExt cx="384" cy="272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FD76F38F-81A1-FC61-5D90-96B29C94E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6" y="1592"/>
                <a:ext cx="368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87" name="Arc 43">
                <a:extLst>
                  <a:ext uri="{FF2B5EF4-FFF2-40B4-BE49-F238E27FC236}">
                    <a16:creationId xmlns:a16="http://schemas.microsoft.com/office/drawing/2014/main" id="{B9EBAF62-0017-7143-DDD2-67CDACC4A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824"/>
                <a:ext cx="184" cy="4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88" name="Arc 44">
                <a:extLst>
                  <a:ext uri="{FF2B5EF4-FFF2-40B4-BE49-F238E27FC236}">
                    <a16:creationId xmlns:a16="http://schemas.microsoft.com/office/drawing/2014/main" id="{26BC1A66-0379-646D-27D1-54F68BAD6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7" y="1824"/>
                <a:ext cx="184" cy="4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89" name="Line 45">
                <a:extLst>
                  <a:ext uri="{FF2B5EF4-FFF2-40B4-BE49-F238E27FC236}">
                    <a16:creationId xmlns:a16="http://schemas.microsoft.com/office/drawing/2014/main" id="{8CB9E93D-4D3B-0D72-3B18-1D271F52AC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64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90" name="Line 46">
                <a:extLst>
                  <a:ext uri="{FF2B5EF4-FFF2-40B4-BE49-F238E27FC236}">
                    <a16:creationId xmlns:a16="http://schemas.microsoft.com/office/drawing/2014/main" id="{359C6BE4-7590-6050-4D43-71ED995489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64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</p:grpSp>
        <p:sp>
          <p:nvSpPr>
            <p:cNvPr id="66" name="Line 47">
              <a:extLst>
                <a:ext uri="{FF2B5EF4-FFF2-40B4-BE49-F238E27FC236}">
                  <a16:creationId xmlns:a16="http://schemas.microsoft.com/office/drawing/2014/main" id="{C857CBC6-1833-2E4B-4528-93D5F3F0A6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544"/>
              <a:ext cx="0" cy="56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67" name="Line 48">
              <a:extLst>
                <a:ext uri="{FF2B5EF4-FFF2-40B4-BE49-F238E27FC236}">
                  <a16:creationId xmlns:a16="http://schemas.microsoft.com/office/drawing/2014/main" id="{71F967D3-CB3B-6D9E-20E4-039E5B058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" y="2112"/>
              <a:ext cx="176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68" name="Line 49">
              <a:extLst>
                <a:ext uri="{FF2B5EF4-FFF2-40B4-BE49-F238E27FC236}">
                  <a16:creationId xmlns:a16="http://schemas.microsoft.com/office/drawing/2014/main" id="{917E7718-E3D4-95CA-CF67-C9B7E37FD7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8" y="1728"/>
              <a:ext cx="20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34A0821-5AFD-39FD-5197-5747F78C1B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1976"/>
              <a:ext cx="384" cy="272"/>
              <a:chOff x="4272" y="1976"/>
              <a:chExt cx="384" cy="272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CA86864C-FCE9-417C-2ABE-F6AFE18F1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0" y="1976"/>
                <a:ext cx="368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82" name="Arc 52">
                <a:extLst>
                  <a:ext uri="{FF2B5EF4-FFF2-40B4-BE49-F238E27FC236}">
                    <a16:creationId xmlns:a16="http://schemas.microsoft.com/office/drawing/2014/main" id="{99DF25AA-9B50-47CA-236D-666BEC4F6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2208"/>
                <a:ext cx="184" cy="4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83" name="Arc 53">
                <a:extLst>
                  <a:ext uri="{FF2B5EF4-FFF2-40B4-BE49-F238E27FC236}">
                    <a16:creationId xmlns:a16="http://schemas.microsoft.com/office/drawing/2014/main" id="{229B886F-3097-7836-4CE7-C43112278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1" y="2208"/>
                <a:ext cx="184" cy="4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84" name="Line 54">
                <a:extLst>
                  <a:ext uri="{FF2B5EF4-FFF2-40B4-BE49-F238E27FC236}">
                    <a16:creationId xmlns:a16="http://schemas.microsoft.com/office/drawing/2014/main" id="{D11B2F99-939F-5265-1735-9B2EE5C8A8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0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85" name="Line 55">
                <a:extLst>
                  <a:ext uri="{FF2B5EF4-FFF2-40B4-BE49-F238E27FC236}">
                    <a16:creationId xmlns:a16="http://schemas.microsoft.com/office/drawing/2014/main" id="{79DC2B5C-FFEC-10E3-41B5-52F62AC00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0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DA2EECC6-0C7A-2259-A701-E786173AC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1592"/>
              <a:ext cx="384" cy="272"/>
              <a:chOff x="4272" y="1592"/>
              <a:chExt cx="384" cy="272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4365A43F-FFA5-64E2-AB9A-8CE9D4408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0" y="1592"/>
                <a:ext cx="368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77" name="Arc 58">
                <a:extLst>
                  <a:ext uri="{FF2B5EF4-FFF2-40B4-BE49-F238E27FC236}">
                    <a16:creationId xmlns:a16="http://schemas.microsoft.com/office/drawing/2014/main" id="{81E6E68E-D764-A13C-8D18-6C2669507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4" y="1824"/>
                <a:ext cx="184" cy="4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78" name="Arc 59">
                <a:extLst>
                  <a:ext uri="{FF2B5EF4-FFF2-40B4-BE49-F238E27FC236}">
                    <a16:creationId xmlns:a16="http://schemas.microsoft.com/office/drawing/2014/main" id="{518BAA42-BED6-07A8-BD48-38385E910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1" y="1824"/>
                <a:ext cx="184" cy="4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79" name="Line 60">
                <a:extLst>
                  <a:ext uri="{FF2B5EF4-FFF2-40B4-BE49-F238E27FC236}">
                    <a16:creationId xmlns:a16="http://schemas.microsoft.com/office/drawing/2014/main" id="{B9804473-DD6B-4E9E-A105-49A455DCE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64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80" name="Line 61">
                <a:extLst>
                  <a:ext uri="{FF2B5EF4-FFF2-40B4-BE49-F238E27FC236}">
                    <a16:creationId xmlns:a16="http://schemas.microsoft.com/office/drawing/2014/main" id="{C7EE7B01-BA52-BF0A-3EAD-7E8EE9B8D2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64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</p:grpSp>
        <p:sp>
          <p:nvSpPr>
            <p:cNvPr id="71" name="Line 62">
              <a:extLst>
                <a:ext uri="{FF2B5EF4-FFF2-40B4-BE49-F238E27FC236}">
                  <a16:creationId xmlns:a16="http://schemas.microsoft.com/office/drawing/2014/main" id="{77A737A2-5317-66EA-C3CA-607168941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544"/>
              <a:ext cx="0" cy="56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72" name="Line 63">
              <a:extLst>
                <a:ext uri="{FF2B5EF4-FFF2-40B4-BE49-F238E27FC236}">
                  <a16:creationId xmlns:a16="http://schemas.microsoft.com/office/drawing/2014/main" id="{662EAFFB-6CEF-F68C-715C-F6F40649C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8" y="2112"/>
              <a:ext cx="176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73" name="Line 64">
              <a:extLst>
                <a:ext uri="{FF2B5EF4-FFF2-40B4-BE49-F238E27FC236}">
                  <a16:creationId xmlns:a16="http://schemas.microsoft.com/office/drawing/2014/main" id="{00955C26-742E-98DF-A633-01788E34DA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2" y="1728"/>
              <a:ext cx="20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2F73CF1-30A7-F7C2-5467-CD1D966FD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632"/>
              <a:ext cx="320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I/O</a:t>
              </a:r>
            </a:p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Bus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550F2E0-04B2-A423-B506-7BB70509F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" y="1632"/>
              <a:ext cx="320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I/O</a:t>
              </a:r>
            </a:p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Bus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3727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A33F-1D2E-2C76-522E-BAADBB2B0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Bus Organization: Three Busses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FE35A-BDB2-1E96-FA1F-BEAFB4753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96287"/>
            <a:ext cx="10515600" cy="1680676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ct val="20000"/>
              </a:spcBef>
            </a:pPr>
            <a:r>
              <a:rPr lang="en-US" altLang="en-US" dirty="0"/>
              <a:t>A small number of backplane buses tap into the processor-memory bus</a:t>
            </a:r>
          </a:p>
          <a:p>
            <a:pPr lvl="1">
              <a:spcBef>
                <a:spcPct val="20000"/>
              </a:spcBef>
            </a:pPr>
            <a:r>
              <a:rPr lang="en-US" altLang="en-US" dirty="0"/>
              <a:t>Processor-memory bus is only used for processor-memory traffic</a:t>
            </a:r>
          </a:p>
          <a:p>
            <a:pPr lvl="1">
              <a:spcBef>
                <a:spcPct val="20000"/>
              </a:spcBef>
            </a:pPr>
            <a:r>
              <a:rPr lang="en-US" altLang="en-US" dirty="0"/>
              <a:t>I/O buses are connected to the backplane bus</a:t>
            </a:r>
          </a:p>
          <a:p>
            <a:pPr>
              <a:spcBef>
                <a:spcPct val="20000"/>
              </a:spcBef>
            </a:pPr>
            <a:r>
              <a:rPr lang="en-US" altLang="en-US" dirty="0"/>
              <a:t>Advantage: loading on the processor bus is greatly reduced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78C50-CD25-3EB7-E517-AA1C43BAF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B1675-8F5E-1F20-C9EA-F6CE38B23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907D-C693-278B-3A36-55664E1B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14</a:t>
            </a:fld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72CF91B-9A32-D53E-2FB0-33265525F6D1}"/>
              </a:ext>
            </a:extLst>
          </p:cNvPr>
          <p:cNvGrpSpPr>
            <a:grpSpLocks/>
          </p:cNvGrpSpPr>
          <p:nvPr/>
        </p:nvGrpSpPr>
        <p:grpSpPr bwMode="auto">
          <a:xfrm>
            <a:off x="1931377" y="1372088"/>
            <a:ext cx="8204200" cy="3035300"/>
            <a:chOff x="96" y="528"/>
            <a:chExt cx="5168" cy="191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AAD8744-3095-8CD7-A195-80BFD8A31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632"/>
              <a:ext cx="84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C780B9-D285-5291-8006-C2CE97964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" y="720"/>
              <a:ext cx="64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600" b="1">
                  <a:latin typeface="Times New Roman" panose="02020603050405020304" pitchFamily="18" charset="0"/>
                </a:rPr>
                <a:t>Processor</a:t>
              </a:r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1271671C-5BBD-FAC3-30FE-CE2A86556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720"/>
              <a:ext cx="3152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8C242D8B-537D-75D1-3F1C-7AE2D1D60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4" y="728"/>
              <a:ext cx="0" cy="272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01DB5A-144C-CE62-0B55-F94C3BC68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632"/>
              <a:ext cx="84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BD42DD8-EDB7-8BCF-A46C-915CE4A6C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" y="720"/>
              <a:ext cx="58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600" b="1">
                  <a:latin typeface="Times New Roman" panose="02020603050405020304" pitchFamily="18" charset="0"/>
                </a:rPr>
                <a:t>Memory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693D88-DBCC-C603-4F3B-FADA80969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528"/>
              <a:ext cx="138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r>
                <a:rPr lang="en-US" altLang="en-US" sz="1600" b="1">
                  <a:latin typeface="Times New Roman" panose="02020603050405020304" pitchFamily="18" charset="0"/>
                </a:rPr>
                <a:t>Processor Memory Bus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B209967-16A1-B94D-1810-2E840FE33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016"/>
              <a:ext cx="704" cy="3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8ADF5ED-957F-D8B3-22A9-6B2002E72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5" y="1008"/>
              <a:ext cx="576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Bus</a:t>
              </a:r>
            </a:p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Adaptor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05BD7DE-4442-614F-1E04-B39DE46DBE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1296"/>
              <a:ext cx="704" cy="376"/>
              <a:chOff x="2168" y="1440"/>
              <a:chExt cx="704" cy="376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04BA306-3B10-5E8E-E622-0124EB57C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8" y="1448"/>
                <a:ext cx="704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AB1B39F-4FB1-5C3D-6208-09FB9E7B2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" y="1440"/>
                <a:ext cx="576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600" b="1">
                    <a:latin typeface="Times New Roman" panose="02020603050405020304" pitchFamily="18" charset="0"/>
                  </a:rPr>
                  <a:t>Bus</a:t>
                </a:r>
              </a:p>
              <a:p>
                <a:pPr algn="ctr"/>
                <a:r>
                  <a:rPr lang="en-US" altLang="en-US" sz="1600" b="1">
                    <a:latin typeface="Times New Roman" panose="02020603050405020304" pitchFamily="18" charset="0"/>
                  </a:rPr>
                  <a:t>Adaptor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C73F528-19C2-A46A-17E7-88F989436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1776"/>
              <a:ext cx="704" cy="376"/>
              <a:chOff x="2168" y="1920"/>
              <a:chExt cx="704" cy="376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23B84D0-3B9C-8940-9381-589BAFD367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8" y="1928"/>
                <a:ext cx="704" cy="36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ADBA0D0-574A-4D18-7131-5F69A6394E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" y="1920"/>
                <a:ext cx="576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en-US" sz="1600" b="1">
                    <a:latin typeface="Times New Roman" panose="02020603050405020304" pitchFamily="18" charset="0"/>
                  </a:rPr>
                  <a:t>Bus</a:t>
                </a:r>
              </a:p>
              <a:p>
                <a:pPr algn="ctr"/>
                <a:r>
                  <a:rPr lang="en-US" altLang="en-US" sz="1600" b="1">
                    <a:latin typeface="Times New Roman" panose="02020603050405020304" pitchFamily="18" charset="0"/>
                  </a:rPr>
                  <a:t>Adaptor</a:t>
                </a:r>
              </a:p>
            </p:txBody>
          </p:sp>
        </p:grp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3CD9D384-87DA-5CE1-5B50-5556FD2D5B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4" y="1400"/>
              <a:ext cx="0" cy="56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70163D76-509F-F1CC-8B16-66374FC7F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968"/>
              <a:ext cx="46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49C77B5A-B46F-69BB-7843-339D0002F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6" y="1488"/>
              <a:ext cx="49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6C56BC3-A1D4-545A-D005-93EE9E3F3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" y="1016"/>
              <a:ext cx="384" cy="272"/>
              <a:chOff x="3792" y="1160"/>
              <a:chExt cx="384" cy="272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71BFFB69-9E22-6180-EEE8-3132285A7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1160"/>
                <a:ext cx="368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53" name="Arc 24">
                <a:extLst>
                  <a:ext uri="{FF2B5EF4-FFF2-40B4-BE49-F238E27FC236}">
                    <a16:creationId xmlns:a16="http://schemas.microsoft.com/office/drawing/2014/main" id="{C58D5773-9D43-0A35-4B75-BA7AE5E8C8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1392"/>
                <a:ext cx="184" cy="4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54" name="Arc 25">
                <a:extLst>
                  <a:ext uri="{FF2B5EF4-FFF2-40B4-BE49-F238E27FC236}">
                    <a16:creationId xmlns:a16="http://schemas.microsoft.com/office/drawing/2014/main" id="{1C6B0B92-505F-F128-5D03-9B7DF7589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1" y="1392"/>
                <a:ext cx="184" cy="4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55" name="Line 26">
                <a:extLst>
                  <a:ext uri="{FF2B5EF4-FFF2-40B4-BE49-F238E27FC236}">
                    <a16:creationId xmlns:a16="http://schemas.microsoft.com/office/drawing/2014/main" id="{AE2813EE-6456-28AB-5BA7-64E1037AC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20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56" name="Line 27">
                <a:extLst>
                  <a:ext uri="{FF2B5EF4-FFF2-40B4-BE49-F238E27FC236}">
                    <a16:creationId xmlns:a16="http://schemas.microsoft.com/office/drawing/2014/main" id="{20661526-EBCB-D62B-156C-7091C6D3D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120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014767E-BB46-F472-62BF-4DEE99F5E0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2" y="1016"/>
              <a:ext cx="384" cy="272"/>
              <a:chOff x="3168" y="1160"/>
              <a:chExt cx="384" cy="272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245CEE8-713D-DFCB-D2EF-3AA7A9022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6" y="1160"/>
                <a:ext cx="368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48" name="Arc 30">
                <a:extLst>
                  <a:ext uri="{FF2B5EF4-FFF2-40B4-BE49-F238E27FC236}">
                    <a16:creationId xmlns:a16="http://schemas.microsoft.com/office/drawing/2014/main" id="{8D83206E-E94F-82F2-DF0A-CD5567F863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392"/>
                <a:ext cx="184" cy="4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49" name="Arc 31">
                <a:extLst>
                  <a:ext uri="{FF2B5EF4-FFF2-40B4-BE49-F238E27FC236}">
                    <a16:creationId xmlns:a16="http://schemas.microsoft.com/office/drawing/2014/main" id="{D0E50AE5-18D1-87C6-7DCA-BCE18D5D2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7" y="1392"/>
                <a:ext cx="184" cy="4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50" name="Line 32">
                <a:extLst>
                  <a:ext uri="{FF2B5EF4-FFF2-40B4-BE49-F238E27FC236}">
                    <a16:creationId xmlns:a16="http://schemas.microsoft.com/office/drawing/2014/main" id="{69B420AC-54C5-67CD-F441-E03B1BAD3A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20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51" name="Line 33">
                <a:extLst>
                  <a:ext uri="{FF2B5EF4-FFF2-40B4-BE49-F238E27FC236}">
                    <a16:creationId xmlns:a16="http://schemas.microsoft.com/office/drawing/2014/main" id="{FB726FFE-7B15-DB69-1207-C37D052B5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20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</p:grpSp>
        <p:sp>
          <p:nvSpPr>
            <p:cNvPr id="24" name="Line 34">
              <a:extLst>
                <a:ext uri="{FF2B5EF4-FFF2-40B4-BE49-F238E27FC236}">
                  <a16:creationId xmlns:a16="http://schemas.microsoft.com/office/drawing/2014/main" id="{73170618-0BE7-67C5-07C8-5085B38DA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488"/>
              <a:ext cx="108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5" name="Line 35">
              <a:extLst>
                <a:ext uri="{FF2B5EF4-FFF2-40B4-BE49-F238E27FC236}">
                  <a16:creationId xmlns:a16="http://schemas.microsoft.com/office/drawing/2014/main" id="{FF501322-BA02-7048-62E4-80D5C4A8C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1304"/>
              <a:ext cx="0" cy="17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3DF0112-20A2-8D80-21CF-54805E160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" y="1488"/>
              <a:ext cx="5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I/O Bus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9C08523-C251-0FE7-D2EE-4C029374F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114"/>
              <a:ext cx="679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Backside</a:t>
              </a:r>
            </a:p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Cache bus</a:t>
              </a:r>
            </a:p>
          </p:txBody>
        </p:sp>
        <p:sp>
          <p:nvSpPr>
            <p:cNvPr id="28" name="Line 38">
              <a:extLst>
                <a:ext uri="{FF2B5EF4-FFF2-40B4-BE49-F238E27FC236}">
                  <a16:creationId xmlns:a16="http://schemas.microsoft.com/office/drawing/2014/main" id="{B99DBF0A-3412-584F-CFDA-73E7AACA9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8" y="1304"/>
              <a:ext cx="0" cy="17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29" name="Line 39">
              <a:extLst>
                <a:ext uri="{FF2B5EF4-FFF2-40B4-BE49-F238E27FC236}">
                  <a16:creationId xmlns:a16="http://schemas.microsoft.com/office/drawing/2014/main" id="{409F3624-D072-8B58-072B-42AE495C8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968"/>
              <a:ext cx="108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0" name="Line 40">
              <a:extLst>
                <a:ext uri="{FF2B5EF4-FFF2-40B4-BE49-F238E27FC236}">
                  <a16:creationId xmlns:a16="http://schemas.microsoft.com/office/drawing/2014/main" id="{5937F59D-95C0-7EB2-8D27-76D9D00A8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1976"/>
              <a:ext cx="0" cy="17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1" name="Line 41">
              <a:extLst>
                <a:ext uri="{FF2B5EF4-FFF2-40B4-BE49-F238E27FC236}">
                  <a16:creationId xmlns:a16="http://schemas.microsoft.com/office/drawing/2014/main" id="{4EB46E8C-EA41-E9A8-B85F-FC1127E56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8" y="1976"/>
              <a:ext cx="0" cy="17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A39A459-D88A-4BAE-73E5-7B6A41515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" y="1776"/>
              <a:ext cx="5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 sz="1600" b="1">
                  <a:latin typeface="Times New Roman" panose="02020603050405020304" pitchFamily="18" charset="0"/>
                </a:rPr>
                <a:t>I/O Bus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D7EC1E8-A8E2-F013-3D9F-B8726A2F5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" y="2168"/>
              <a:ext cx="384" cy="272"/>
              <a:chOff x="3792" y="2312"/>
              <a:chExt cx="384" cy="272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D7553E5-52A6-BEE5-94C7-440D6C4F2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2312"/>
                <a:ext cx="368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43" name="Arc 45">
                <a:extLst>
                  <a:ext uri="{FF2B5EF4-FFF2-40B4-BE49-F238E27FC236}">
                    <a16:creationId xmlns:a16="http://schemas.microsoft.com/office/drawing/2014/main" id="{D97C770D-0C4F-2103-1F22-48ABFAE6E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2544"/>
                <a:ext cx="184" cy="4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44" name="Arc 46">
                <a:extLst>
                  <a:ext uri="{FF2B5EF4-FFF2-40B4-BE49-F238E27FC236}">
                    <a16:creationId xmlns:a16="http://schemas.microsoft.com/office/drawing/2014/main" id="{B03AB63F-3578-C380-77C2-F30A69C16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1" y="2544"/>
                <a:ext cx="184" cy="4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45" name="Line 47">
                <a:extLst>
                  <a:ext uri="{FF2B5EF4-FFF2-40B4-BE49-F238E27FC236}">
                    <a16:creationId xmlns:a16="http://schemas.microsoft.com/office/drawing/2014/main" id="{4537B4DB-BCF2-E864-96B9-27B5561444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236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46" name="Line 48">
                <a:extLst>
                  <a:ext uri="{FF2B5EF4-FFF2-40B4-BE49-F238E27FC236}">
                    <a16:creationId xmlns:a16="http://schemas.microsoft.com/office/drawing/2014/main" id="{89AA0E24-AA3D-2EEF-1A69-701D409D63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36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340635D-2CDF-D6DC-2441-0BB342F57C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2" y="2168"/>
              <a:ext cx="384" cy="272"/>
              <a:chOff x="3168" y="2312"/>
              <a:chExt cx="384" cy="272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E61C333-DF18-1DAA-1978-3087CB1C4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6" y="2312"/>
                <a:ext cx="368" cy="8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38" name="Arc 51">
                <a:extLst>
                  <a:ext uri="{FF2B5EF4-FFF2-40B4-BE49-F238E27FC236}">
                    <a16:creationId xmlns:a16="http://schemas.microsoft.com/office/drawing/2014/main" id="{D23292D7-3B54-3532-A167-19267752B4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2544"/>
                <a:ext cx="184" cy="4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39" name="Arc 52">
                <a:extLst>
                  <a:ext uri="{FF2B5EF4-FFF2-40B4-BE49-F238E27FC236}">
                    <a16:creationId xmlns:a16="http://schemas.microsoft.com/office/drawing/2014/main" id="{0683248B-5ACB-9FE8-C737-3E2C19861D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7" y="2544"/>
                <a:ext cx="184" cy="4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599"/>
                    </a:moveTo>
                    <a:cubicBezTo>
                      <a:pt x="9670" y="21599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40" name="Line 53">
                <a:extLst>
                  <a:ext uri="{FF2B5EF4-FFF2-40B4-BE49-F238E27FC236}">
                    <a16:creationId xmlns:a16="http://schemas.microsoft.com/office/drawing/2014/main" id="{1F980FDF-E2A8-3E29-DEC1-4695B2893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36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  <p:sp>
            <p:nvSpPr>
              <p:cNvPr id="41" name="Line 54">
                <a:extLst>
                  <a:ext uri="{FF2B5EF4-FFF2-40B4-BE49-F238E27FC236}">
                    <a16:creationId xmlns:a16="http://schemas.microsoft.com/office/drawing/2014/main" id="{3FC35721-01E3-0193-FFEC-68AB22750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36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endParaRPr lang="en-CA"/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8C1998-C27A-0623-C31E-2127CF3E7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632"/>
              <a:ext cx="67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en-US"/>
                <a:t>L2 Cache</a:t>
              </a:r>
            </a:p>
          </p:txBody>
        </p:sp>
        <p:sp>
          <p:nvSpPr>
            <p:cNvPr id="36" name="Line 57">
              <a:extLst>
                <a:ext uri="{FF2B5EF4-FFF2-40B4-BE49-F238E27FC236}">
                  <a16:creationId xmlns:a16="http://schemas.microsoft.com/office/drawing/2014/main" id="{C7ABEAB3-B834-E774-FB3E-39CA1905AE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008"/>
              <a:ext cx="0" cy="633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132758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E6511-BFD3-2DE6-9C3C-C136B9473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Old Pentium II/III Organization: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AD696-E3AA-4C9E-DD2F-B06FE0CD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CAF61-B288-F4D0-C6BA-F5D0A65A6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3E559-4ADB-4A16-C823-D4D76B3B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15</a:t>
            </a:fld>
            <a:endParaRPr lang="en-C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7489B6-0CF2-C48D-E520-CF1CA66533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882" y="1498732"/>
            <a:ext cx="5959672" cy="504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151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4EF1C-70A8-9D22-5D70-95BCE300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4F895-40C4-CB6B-C482-FE8517221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2" y="1060694"/>
            <a:ext cx="4114799" cy="1325563"/>
          </a:xfrm>
        </p:spPr>
        <p:txBody>
          <a:bodyPr>
            <a:normAutofit/>
          </a:bodyPr>
          <a:lstStyle/>
          <a:p>
            <a:r>
              <a:rPr lang="en-CA" dirty="0"/>
              <a:t>e.g., Newer Gen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06ACE-1907-24BB-B93B-A894D7ACD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76239-E88A-8898-0772-7CA63BEBD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A4D1-C5E9-7572-9050-662EDECE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16</a:t>
            </a:fld>
            <a:endParaRPr lang="en-CA"/>
          </a:p>
        </p:txBody>
      </p:sp>
      <p:pic>
        <p:nvPicPr>
          <p:cNvPr id="2050" name="Picture 2" descr="12th Gen Intel Core Multi Tasking Workflow Content Creation">
            <a:extLst>
              <a:ext uri="{FF2B5EF4-FFF2-40B4-BE49-F238E27FC236}">
                <a16:creationId xmlns:a16="http://schemas.microsoft.com/office/drawing/2014/main" id="{3D4E1F1D-1C25-42A6-AF90-663499CF7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462" y="0"/>
            <a:ext cx="6619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CA92A1-6C9B-95AC-5BF1-DAF1A7C17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422" y="2602339"/>
            <a:ext cx="3835278" cy="3537929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</a:pPr>
            <a:r>
              <a:rPr lang="en-US" altLang="en-US" dirty="0"/>
              <a:t>More functions now integrated into the main chip.</a:t>
            </a:r>
          </a:p>
          <a:p>
            <a:pPr>
              <a:spcBef>
                <a:spcPct val="20000"/>
              </a:spcBef>
            </a:pPr>
            <a:endParaRPr lang="en-US" dirty="0"/>
          </a:p>
          <a:p>
            <a:pPr>
              <a:spcBef>
                <a:spcPct val="20000"/>
              </a:spcBef>
            </a:pPr>
            <a:r>
              <a:rPr lang="en-CA" dirty="0"/>
              <a:t>External busses are always slower…</a:t>
            </a:r>
          </a:p>
        </p:txBody>
      </p:sp>
    </p:spTree>
    <p:extLst>
      <p:ext uri="{BB962C8B-B14F-4D97-AF65-F5344CB8AC3E}">
        <p14:creationId xmlns:p14="http://schemas.microsoft.com/office/powerpoint/2010/main" val="615182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4F1A-E25C-D42E-4D49-7BCBF6B6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70969" cy="1325563"/>
          </a:xfrm>
        </p:spPr>
        <p:txBody>
          <a:bodyPr/>
          <a:lstStyle/>
          <a:p>
            <a:r>
              <a:rPr lang="en-CA" dirty="0"/>
              <a:t>Embedded Processor Busses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2D594-9BE2-F729-B14E-1CD61EC70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4415" cy="4351338"/>
          </a:xfrm>
        </p:spPr>
        <p:txBody>
          <a:bodyPr/>
          <a:lstStyle/>
          <a:p>
            <a:r>
              <a:rPr lang="en-CA" dirty="0"/>
              <a:t>Busses serve similar purposes even if not external.</a:t>
            </a:r>
          </a:p>
          <a:p>
            <a:endParaRPr lang="en-CA" dirty="0"/>
          </a:p>
          <a:p>
            <a:r>
              <a:rPr lang="en-CA" dirty="0"/>
              <a:t>Standard bus interface makes it easy to add/remove blocks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E4D77-A519-186B-4CB2-48CA3BDA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98ED9-B456-616B-464A-87506D11F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E0A88-FD3C-4A12-8FAF-AD5986C5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17</a:t>
            </a:fld>
            <a:endParaRPr lang="en-CA"/>
          </a:p>
        </p:txBody>
      </p:sp>
      <p:pic>
        <p:nvPicPr>
          <p:cNvPr id="8" name="Picture 7" descr="A diagram of a computer&#10;&#10;AI-generated content may be incorrect.">
            <a:extLst>
              <a:ext uri="{FF2B5EF4-FFF2-40B4-BE49-F238E27FC236}">
                <a16:creationId xmlns:a16="http://schemas.microsoft.com/office/drawing/2014/main" id="{AF7492F1-F4B3-93A5-C7E4-3472CD8EA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986" y="0"/>
            <a:ext cx="40883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79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5859-5702-472B-DF35-BFA510E70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Common </a:t>
            </a:r>
            <a:r>
              <a:rPr lang="en-CA" i="1" dirty="0"/>
              <a:t>On-Chip</a:t>
            </a:r>
            <a:r>
              <a:rPr lang="en-CA" dirty="0"/>
              <a:t> Bus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C0933-266F-50C9-E9EF-2EAC6DF2E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AHB</a:t>
            </a:r>
            <a:r>
              <a:rPr lang="en-CA" dirty="0"/>
              <a:t> (</a:t>
            </a:r>
            <a:r>
              <a:rPr lang="en-CA" b="1" dirty="0"/>
              <a:t>A</a:t>
            </a:r>
            <a:r>
              <a:rPr lang="en-CA" dirty="0"/>
              <a:t>dvanced </a:t>
            </a:r>
            <a:r>
              <a:rPr lang="en-CA" b="1" dirty="0"/>
              <a:t>H</a:t>
            </a:r>
            <a:r>
              <a:rPr lang="en-CA" dirty="0"/>
              <a:t>igh-performance </a:t>
            </a:r>
            <a:r>
              <a:rPr lang="en-CA" b="1" dirty="0"/>
              <a:t>B</a:t>
            </a:r>
            <a:r>
              <a:rPr lang="en-CA" dirty="0"/>
              <a:t>us)</a:t>
            </a:r>
          </a:p>
          <a:p>
            <a:pPr lvl="1"/>
            <a:r>
              <a:rPr lang="en-CA" dirty="0"/>
              <a:t>Large bus widths supported, advanced features like bursts</a:t>
            </a:r>
          </a:p>
          <a:p>
            <a:r>
              <a:rPr lang="en-CA" b="1" dirty="0"/>
              <a:t>APB</a:t>
            </a:r>
            <a:r>
              <a:rPr lang="en-CA" dirty="0"/>
              <a:t> (</a:t>
            </a:r>
            <a:r>
              <a:rPr lang="en-CA" b="1" dirty="0"/>
              <a:t>A</a:t>
            </a:r>
            <a:r>
              <a:rPr lang="en-CA" dirty="0"/>
              <a:t>dvanced </a:t>
            </a:r>
            <a:r>
              <a:rPr lang="en-CA" b="1" dirty="0"/>
              <a:t>P</a:t>
            </a:r>
            <a:r>
              <a:rPr lang="en-CA" dirty="0"/>
              <a:t>eripheral </a:t>
            </a:r>
            <a:r>
              <a:rPr lang="en-CA" b="1" dirty="0"/>
              <a:t>B</a:t>
            </a:r>
            <a:r>
              <a:rPr lang="en-CA" dirty="0"/>
              <a:t>us)</a:t>
            </a:r>
          </a:p>
          <a:p>
            <a:pPr lvl="1"/>
            <a:r>
              <a:rPr lang="en-CA" dirty="0"/>
              <a:t>Similar to AHBP but simpler signaling, designed for low-frequency peripherals</a:t>
            </a:r>
          </a:p>
          <a:p>
            <a:r>
              <a:rPr lang="en-CA" b="1" dirty="0"/>
              <a:t>AXI</a:t>
            </a:r>
            <a:r>
              <a:rPr lang="en-CA" dirty="0"/>
              <a:t> (</a:t>
            </a:r>
            <a:r>
              <a:rPr lang="en-CA" b="1" dirty="0"/>
              <a:t>A</a:t>
            </a:r>
            <a:r>
              <a:rPr lang="en-CA" dirty="0"/>
              <a:t>dvanced </a:t>
            </a:r>
            <a:r>
              <a:rPr lang="en-CA" dirty="0" err="1"/>
              <a:t>e</a:t>
            </a:r>
            <a:r>
              <a:rPr lang="en-CA" b="1" dirty="0" err="1"/>
              <a:t>X</a:t>
            </a:r>
            <a:r>
              <a:rPr lang="en-CA" dirty="0" err="1"/>
              <a:t>tensible</a:t>
            </a:r>
            <a:r>
              <a:rPr lang="en-CA" dirty="0"/>
              <a:t> </a:t>
            </a:r>
            <a:r>
              <a:rPr lang="en-CA" b="1" dirty="0"/>
              <a:t>I</a:t>
            </a:r>
            <a:r>
              <a:rPr lang="en-CA" dirty="0"/>
              <a:t>nterface)</a:t>
            </a:r>
          </a:p>
          <a:p>
            <a:pPr lvl="1"/>
            <a:r>
              <a:rPr lang="en-CA" dirty="0"/>
              <a:t>Higher performance than AHB – allows more features like multiple “outstanding transfers”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C46A7-844E-2E87-27CF-398A8D32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E6010-A675-52D9-3B6E-5D0B5A3BA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344DB-02BB-2F10-5F06-2445F485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1074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6A4A-E44E-FA11-564C-282EB221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Transfer Modes in Busses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B920A-4999-1FB7-1E71-BC014AA3D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56" y="1614111"/>
            <a:ext cx="10515600" cy="891817"/>
          </a:xfrm>
        </p:spPr>
        <p:txBody>
          <a:bodyPr/>
          <a:lstStyle/>
          <a:p>
            <a:r>
              <a:rPr lang="en-CA" dirty="0"/>
              <a:t>Naïve Bus Protocol Implementation (hope data is ready)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D9B9-F2BD-35ED-5D4C-4B6A4BA6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C872C-34B3-E157-38C0-2DE7893C0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972E3-D6CB-6D76-1A7D-EF5DCEA9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19</a:t>
            </a:fld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D1EED3-F753-A5C1-05C5-C5BDA222C9B2}"/>
              </a:ext>
            </a:extLst>
          </p:cNvPr>
          <p:cNvSpPr/>
          <p:nvPr/>
        </p:nvSpPr>
        <p:spPr>
          <a:xfrm>
            <a:off x="1244569" y="2381003"/>
            <a:ext cx="2833352" cy="891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Controller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FD0292-F140-5BC3-9DD8-DE0A416D2DE4}"/>
              </a:ext>
            </a:extLst>
          </p:cNvPr>
          <p:cNvSpPr/>
          <p:nvPr/>
        </p:nvSpPr>
        <p:spPr>
          <a:xfrm>
            <a:off x="7193924" y="2381002"/>
            <a:ext cx="2833352" cy="891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Peripheral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13404-F96E-BF2B-ABED-D45F1B1CC395}"/>
              </a:ext>
            </a:extLst>
          </p:cNvPr>
          <p:cNvCxnSpPr/>
          <p:nvPr/>
        </p:nvCxnSpPr>
        <p:spPr>
          <a:xfrm>
            <a:off x="838200" y="3718729"/>
            <a:ext cx="0" cy="2501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44DAE0-B0FD-B4E4-C6F8-9FA4E9BAC5AA}"/>
              </a:ext>
            </a:extLst>
          </p:cNvPr>
          <p:cNvSpPr txBox="1"/>
          <p:nvPr/>
        </p:nvSpPr>
        <p:spPr>
          <a:xfrm>
            <a:off x="521446" y="334939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456564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9470-8F04-1397-CE5D-E211C3BA9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5F68B-7D5D-EC8D-5164-CE3F36FF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Transfer Modes in Busses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88EDB-3B2B-7C6C-0D08-809774CF4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56" y="1614111"/>
            <a:ext cx="10515600" cy="891817"/>
          </a:xfrm>
        </p:spPr>
        <p:txBody>
          <a:bodyPr/>
          <a:lstStyle/>
          <a:p>
            <a:r>
              <a:rPr lang="en-CA" dirty="0"/>
              <a:t>Realistic Bus Protocol Implementation (acknowledge signal)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9793C-B207-DA44-9E0A-084E2962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31E73-E350-89FC-3BBE-190D3F0EB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24D05-1550-4F29-5564-4F97224F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20</a:t>
            </a:fld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855D2F-C08D-F667-DEDF-FE78F50BADDB}"/>
              </a:ext>
            </a:extLst>
          </p:cNvPr>
          <p:cNvSpPr/>
          <p:nvPr/>
        </p:nvSpPr>
        <p:spPr>
          <a:xfrm>
            <a:off x="1244569" y="2381003"/>
            <a:ext cx="2833352" cy="891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Controller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920A6E-1A2D-394C-392B-73DB42F05AEB}"/>
              </a:ext>
            </a:extLst>
          </p:cNvPr>
          <p:cNvSpPr/>
          <p:nvPr/>
        </p:nvSpPr>
        <p:spPr>
          <a:xfrm>
            <a:off x="7193924" y="2381002"/>
            <a:ext cx="2833352" cy="891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Peripheral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275964-2BF7-6A3D-B460-F7EDEBFB16DF}"/>
              </a:ext>
            </a:extLst>
          </p:cNvPr>
          <p:cNvCxnSpPr/>
          <p:nvPr/>
        </p:nvCxnSpPr>
        <p:spPr>
          <a:xfrm>
            <a:off x="838200" y="3718729"/>
            <a:ext cx="0" cy="2501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B1A3EC-8BD3-7D80-0CAF-491A838F6901}"/>
              </a:ext>
            </a:extLst>
          </p:cNvPr>
          <p:cNvSpPr txBox="1"/>
          <p:nvPr/>
        </p:nvSpPr>
        <p:spPr>
          <a:xfrm>
            <a:off x="521446" y="334939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4293791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90E3-937D-259A-E627-32D80C830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17F50-C030-97FB-88FF-1EC05B38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Transfer Modes in Busses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F7E71-F81F-8DEF-51FD-E4C98C683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56" y="1614111"/>
            <a:ext cx="10515600" cy="891817"/>
          </a:xfrm>
        </p:spPr>
        <p:txBody>
          <a:bodyPr/>
          <a:lstStyle/>
          <a:p>
            <a:r>
              <a:rPr lang="en-CA" dirty="0"/>
              <a:t>Avoiding Stalls: Outstanding Transactions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50338-1530-FE0B-8CD9-6F3EC715D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29E95-2BA8-DBAE-CBD0-2CBEC152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21BFB-45B1-39D5-C4FB-D43E2942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21</a:t>
            </a:fld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17551B-B08D-72A1-4F59-E68AD27A0CA0}"/>
              </a:ext>
            </a:extLst>
          </p:cNvPr>
          <p:cNvSpPr/>
          <p:nvPr/>
        </p:nvSpPr>
        <p:spPr>
          <a:xfrm>
            <a:off x="1244569" y="2381003"/>
            <a:ext cx="2833352" cy="891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Controller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A7427E-B537-5F52-EEB7-9AFF065BF1BD}"/>
              </a:ext>
            </a:extLst>
          </p:cNvPr>
          <p:cNvSpPr/>
          <p:nvPr/>
        </p:nvSpPr>
        <p:spPr>
          <a:xfrm>
            <a:off x="5280729" y="2381003"/>
            <a:ext cx="2833352" cy="891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Peripheral #1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1B1173-CB42-862D-3196-069621BD88FD}"/>
              </a:ext>
            </a:extLst>
          </p:cNvPr>
          <p:cNvCxnSpPr/>
          <p:nvPr/>
        </p:nvCxnSpPr>
        <p:spPr>
          <a:xfrm>
            <a:off x="838200" y="3718729"/>
            <a:ext cx="0" cy="2501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238FBEE-8932-8A7D-E7B5-F32CA95006A4}"/>
              </a:ext>
            </a:extLst>
          </p:cNvPr>
          <p:cNvSpPr txBox="1"/>
          <p:nvPr/>
        </p:nvSpPr>
        <p:spPr>
          <a:xfrm>
            <a:off x="521446" y="334939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BBCDC3-3FA6-D50C-3F5D-64C74D4B6F23}"/>
              </a:ext>
            </a:extLst>
          </p:cNvPr>
          <p:cNvSpPr/>
          <p:nvPr/>
        </p:nvSpPr>
        <p:spPr>
          <a:xfrm>
            <a:off x="8926817" y="2381002"/>
            <a:ext cx="2833352" cy="8918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Peripheral #2</a:t>
            </a:r>
          </a:p>
        </p:txBody>
      </p:sp>
    </p:spTree>
    <p:extLst>
      <p:ext uri="{BB962C8B-B14F-4D97-AF65-F5344CB8AC3E}">
        <p14:creationId xmlns:p14="http://schemas.microsoft.com/office/powerpoint/2010/main" val="2322510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F9F0-76AD-0F91-2E96-235087AE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AHB Signaling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BA68E-B007-90CD-BB93-84880F12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231D4-2547-9C61-708E-B2A718EC7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FF1B1-F728-771F-711F-5EA34100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22</a:t>
            </a:fld>
            <a:endParaRPr lang="en-CA"/>
          </a:p>
        </p:txBody>
      </p:sp>
      <p:pic>
        <p:nvPicPr>
          <p:cNvPr id="8" name="Picture 7" descr="A diagram of a computer&#10;&#10;AI-generated content may be incorrect.">
            <a:extLst>
              <a:ext uri="{FF2B5EF4-FFF2-40B4-BE49-F238E27FC236}">
                <a16:creationId xmlns:a16="http://schemas.microsoft.com/office/drawing/2014/main" id="{B7C75FBD-5781-B238-CB47-DC64DD3ED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539" y="1690688"/>
            <a:ext cx="7898708" cy="410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6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837A-2D83-E3DA-63C4-2ADF00DB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AHB Signals</a:t>
            </a:r>
          </a:p>
        </p:txBody>
      </p:sp>
      <p:pic>
        <p:nvPicPr>
          <p:cNvPr id="8" name="Content Placeholder 7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7B267BA1-05E7-17A2-B524-4283546E1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7995" y="2238923"/>
            <a:ext cx="6516009" cy="352474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FC77A-1414-C011-96E6-F435394B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D0749-B590-A69B-C626-D7B42061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FD9B-7CB6-1CCB-51C4-7E39C892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723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37BD-18B7-0219-B397-B7F946B3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Typical Internal Bus Signaling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C35B5-9FE1-17E2-72F6-5E618521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Not “pin limited”</a:t>
            </a:r>
          </a:p>
          <a:p>
            <a:pPr lvl="1"/>
            <a:r>
              <a:rPr lang="en-CA" dirty="0"/>
              <a:t>Note separate input &amp; output data lines</a:t>
            </a:r>
          </a:p>
          <a:p>
            <a:pPr lvl="1"/>
            <a:r>
              <a:rPr lang="en-CA" dirty="0"/>
              <a:t>Common to have many control signals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31499-BF3D-7215-1371-CF548F0A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9483B-F592-5FD3-7A9E-EC88BA15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3511F-4D45-6490-2969-16FCC38D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7142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A775-EC35-7C7C-B2CB-A483CF3EC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STM32F3 Bus Matrix</a:t>
            </a:r>
          </a:p>
        </p:txBody>
      </p:sp>
      <p:pic>
        <p:nvPicPr>
          <p:cNvPr id="8" name="Content Placeholder 7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536A7AF6-1B32-A37C-F82F-382C47207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5" y="1465832"/>
            <a:ext cx="6578439" cy="42523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A4E7B-691C-6D26-54B4-057882751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C40CD-40B2-B653-CD25-4FA3E000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2152D-F316-0320-29D4-D1293AD8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25</a:t>
            </a:fld>
            <a:endParaRPr lang="en-CA"/>
          </a:p>
        </p:txBody>
      </p:sp>
      <p:pic>
        <p:nvPicPr>
          <p:cNvPr id="10" name="Picture 9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1458C0BE-13E1-AE4B-3248-4CFE4919D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654" y="2221605"/>
            <a:ext cx="5324626" cy="307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55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963A-9900-DFFD-7629-73AEA71A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Bus Arbitration?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A205F-8F11-C5C2-8B1D-274D78642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456"/>
            <a:ext cx="10515600" cy="3171378"/>
          </a:xfrm>
        </p:spPr>
        <p:txBody>
          <a:bodyPr/>
          <a:lstStyle/>
          <a:p>
            <a:r>
              <a:rPr lang="en-CA" dirty="0"/>
              <a:t>A bus may have </a:t>
            </a:r>
            <a:r>
              <a:rPr lang="en-CA" u="sng" dirty="0"/>
              <a:t>more than one</a:t>
            </a:r>
            <a:r>
              <a:rPr lang="en-CA" dirty="0"/>
              <a:t> controller:</a:t>
            </a:r>
          </a:p>
          <a:p>
            <a:pPr lvl="1"/>
            <a:r>
              <a:rPr lang="en-CA" dirty="0"/>
              <a:t>Multi-core processors</a:t>
            </a:r>
          </a:p>
          <a:p>
            <a:pPr lvl="1"/>
            <a:r>
              <a:rPr lang="en-CA" dirty="0"/>
              <a:t>Systems with e.g., a high-performance &amp; low-performance processor</a:t>
            </a:r>
          </a:p>
          <a:p>
            <a:pPr lvl="1"/>
            <a:r>
              <a:rPr lang="en-CA" dirty="0"/>
              <a:t>Special blocks such as DMA</a:t>
            </a:r>
          </a:p>
          <a:p>
            <a:pPr lvl="1"/>
            <a:endParaRPr lang="en-CA" dirty="0"/>
          </a:p>
          <a:p>
            <a:r>
              <a:rPr lang="en-CA" dirty="0"/>
              <a:t>Bus arbitration determines </a:t>
            </a:r>
            <a:r>
              <a:rPr lang="en-CA" i="1" dirty="0"/>
              <a:t>who</a:t>
            </a:r>
            <a:r>
              <a:rPr lang="en-CA" dirty="0"/>
              <a:t> owns the bus, various algorithms used, but e.g., STM32F3: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5C196-E12A-676B-221D-58D8774FF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E4209-1CF3-0D1A-DE57-6DEABE858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74EFE-822F-1221-6B02-491651CBC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26</a:t>
            </a:fld>
            <a:endParaRPr lang="en-CA"/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4B1FFCF-CA43-F6A5-70AA-CCB84A184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47" y="4542344"/>
            <a:ext cx="10200068" cy="181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7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62CB-D3BB-B4B2-1863-D9F703C9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Round Robin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47D53-A37B-60C6-8C3C-4830E5A2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ECE2E-F92A-0961-2946-F5E3CA8EB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375F2-9AD2-A375-F6C5-DB95C71E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27</a:t>
            </a:fld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7EE353-3356-BBC8-E348-D8559EAB8ED4}"/>
              </a:ext>
            </a:extLst>
          </p:cNvPr>
          <p:cNvSpPr/>
          <p:nvPr/>
        </p:nvSpPr>
        <p:spPr>
          <a:xfrm>
            <a:off x="2188308" y="1690688"/>
            <a:ext cx="1393092" cy="1201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DMA2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39471E-C8D7-276A-121F-51964A6C1557}"/>
              </a:ext>
            </a:extLst>
          </p:cNvPr>
          <p:cNvSpPr/>
          <p:nvPr/>
        </p:nvSpPr>
        <p:spPr>
          <a:xfrm>
            <a:off x="6760308" y="1690688"/>
            <a:ext cx="1393092" cy="1201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Core: I-Bus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39CB4B-AC14-B99D-FFA5-9E8552C62575}"/>
              </a:ext>
            </a:extLst>
          </p:cNvPr>
          <p:cNvSpPr/>
          <p:nvPr/>
        </p:nvSpPr>
        <p:spPr>
          <a:xfrm>
            <a:off x="2188308" y="4023519"/>
            <a:ext cx="1393092" cy="1201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DMA1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5E825C-E93E-3D56-0427-EDD9BA528475}"/>
              </a:ext>
            </a:extLst>
          </p:cNvPr>
          <p:cNvSpPr/>
          <p:nvPr/>
        </p:nvSpPr>
        <p:spPr>
          <a:xfrm>
            <a:off x="6760308" y="4023519"/>
            <a:ext cx="1393092" cy="1201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Core: D-Bus</a:t>
            </a:r>
          </a:p>
        </p:txBody>
      </p:sp>
    </p:spTree>
    <p:extLst>
      <p:ext uri="{BB962C8B-B14F-4D97-AF65-F5344CB8AC3E}">
        <p14:creationId xmlns:p14="http://schemas.microsoft.com/office/powerpoint/2010/main" val="1129777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9865E-A43B-0BC0-2D00-920EFD4E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4537B-1124-BC2C-098F-DD7E3D97A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76" y="1521427"/>
            <a:ext cx="5472448" cy="4351338"/>
          </a:xfrm>
        </p:spPr>
        <p:txBody>
          <a:bodyPr/>
          <a:lstStyle/>
          <a:p>
            <a:r>
              <a:rPr lang="en-CA" dirty="0"/>
              <a:t>DMA is another </a:t>
            </a:r>
            <a:r>
              <a:rPr lang="en-CA" u="sng" dirty="0"/>
              <a:t>bus controller</a:t>
            </a:r>
            <a:r>
              <a:rPr lang="en-CA" dirty="0"/>
              <a:t> which can read/write from Memory &amp; Peripherals.</a:t>
            </a:r>
          </a:p>
          <a:p>
            <a:endParaRPr lang="en-CA" dirty="0"/>
          </a:p>
          <a:p>
            <a:r>
              <a:rPr lang="en-CA" dirty="0"/>
              <a:t>Can be </a:t>
            </a:r>
            <a:r>
              <a:rPr lang="en-CA" u="sng" dirty="0"/>
              <a:t>triggered by events</a:t>
            </a:r>
            <a:r>
              <a:rPr lang="en-CA" dirty="0"/>
              <a:t> such as:</a:t>
            </a:r>
          </a:p>
          <a:p>
            <a:pPr lvl="1"/>
            <a:r>
              <a:rPr lang="en-CA" dirty="0"/>
              <a:t>ADC complete</a:t>
            </a:r>
          </a:p>
          <a:p>
            <a:pPr lvl="1"/>
            <a:r>
              <a:rPr lang="en-CA" dirty="0"/>
              <a:t>Packet received (USB, Ethernet, </a:t>
            </a:r>
            <a:r>
              <a:rPr lang="en-CA" dirty="0" err="1"/>
              <a:t>etc</a:t>
            </a:r>
            <a:r>
              <a:rPr lang="en-CA" dirty="0"/>
              <a:t>)</a:t>
            </a:r>
          </a:p>
          <a:p>
            <a:pPr lvl="1"/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A4437-57DC-50ED-4591-0CE16D11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FA6F5-BA64-A87C-C0BD-0CCBAB137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8B34-9F4A-7D55-8F40-E3003BD4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28</a:t>
            </a:fld>
            <a:endParaRPr lang="en-CA"/>
          </a:p>
        </p:txBody>
      </p:sp>
      <p:pic>
        <p:nvPicPr>
          <p:cNvPr id="10" name="Picture 9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E5662076-5ACB-A8BE-DFCE-5793C8FD3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937" y="840390"/>
            <a:ext cx="5871869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75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5CE96-8B88-5FE6-9206-AB9709E4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DMA Keeps the CPU Free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C6024-3581-504A-48D5-B8B5C01D9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Examples of common DMA Usage:</a:t>
            </a:r>
          </a:p>
          <a:p>
            <a:pPr lvl="1"/>
            <a:r>
              <a:rPr lang="en-CA" dirty="0"/>
              <a:t>Copy large blocks of data</a:t>
            </a:r>
          </a:p>
          <a:p>
            <a:pPr lvl="1"/>
            <a:r>
              <a:rPr lang="en-CA" dirty="0"/>
              <a:t>Automatically receive incoming data to a buffer</a:t>
            </a:r>
          </a:p>
          <a:p>
            <a:pPr lvl="1"/>
            <a:r>
              <a:rPr lang="en-CA" dirty="0"/>
              <a:t>Take a transmit buffer, read a new “chunk” of data when the peripheral is ready</a:t>
            </a:r>
          </a:p>
          <a:p>
            <a:pPr marL="457200" lvl="1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844E5-DBB5-942E-4AAD-A63763A8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4B573-BA80-F983-1F3A-86ACE2D6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0F62C-D0BF-40C4-9405-633C369C3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29</a:t>
            </a:fld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0F2BBF-0301-96BC-4E9D-86F3472C92DB}"/>
              </a:ext>
            </a:extLst>
          </p:cNvPr>
          <p:cNvSpPr/>
          <p:nvPr/>
        </p:nvSpPr>
        <p:spPr>
          <a:xfrm>
            <a:off x="296214" y="3874355"/>
            <a:ext cx="9638461" cy="601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Large Buffer (&gt;1000 bytes)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5FC52F-DA33-4EBB-A2F5-E0FF73BE2777}"/>
              </a:ext>
            </a:extLst>
          </p:cNvPr>
          <p:cNvSpPr/>
          <p:nvPr/>
        </p:nvSpPr>
        <p:spPr>
          <a:xfrm>
            <a:off x="9196795" y="4814459"/>
            <a:ext cx="1570809" cy="6017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USB Packet (64 bytes)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E68F7D-E039-3C82-3E40-CC0FF2C9BC2D}"/>
              </a:ext>
            </a:extLst>
          </p:cNvPr>
          <p:cNvSpPr/>
          <p:nvPr/>
        </p:nvSpPr>
        <p:spPr>
          <a:xfrm>
            <a:off x="9196795" y="5595631"/>
            <a:ext cx="1570809" cy="6017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USB Packet (64 bytes)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A3D32A13-FFB8-1879-EC7C-C94108676371}"/>
              </a:ext>
            </a:extLst>
          </p:cNvPr>
          <p:cNvCxnSpPr>
            <a:endCxn id="8" idx="1"/>
          </p:cNvCxnSpPr>
          <p:nvPr/>
        </p:nvCxnSpPr>
        <p:spPr>
          <a:xfrm rot="16200000" flipH="1">
            <a:off x="8641144" y="4559700"/>
            <a:ext cx="575549" cy="5357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C77D6CE-9DF8-2417-9769-B3CD1B748DF0}"/>
              </a:ext>
            </a:extLst>
          </p:cNvPr>
          <p:cNvCxnSpPr/>
          <p:nvPr/>
        </p:nvCxnSpPr>
        <p:spPr>
          <a:xfrm rot="16200000" flipH="1">
            <a:off x="8641144" y="5365368"/>
            <a:ext cx="575549" cy="5357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671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CFB9-00FA-A9D4-7DEE-F0535B91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DMA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732EE-0CA9-F86C-3390-769D194BE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DMA is one of the </a:t>
            </a:r>
            <a:r>
              <a:rPr lang="en-CA" u="sng" dirty="0"/>
              <a:t>most powerful</a:t>
            </a:r>
            <a:r>
              <a:rPr lang="en-CA" dirty="0"/>
              <a:t> features of microcontrollers you can use with high I/O requirements.</a:t>
            </a:r>
          </a:p>
          <a:p>
            <a:r>
              <a:rPr lang="en-CA" dirty="0"/>
              <a:t>Many programs are </a:t>
            </a:r>
            <a:r>
              <a:rPr lang="en-CA" u="sng" dirty="0"/>
              <a:t>only possible</a:t>
            </a:r>
            <a:r>
              <a:rPr lang="en-CA" dirty="0"/>
              <a:t> with DMA, for example:</a:t>
            </a:r>
          </a:p>
          <a:p>
            <a:pPr lvl="1"/>
            <a:r>
              <a:rPr lang="en-CA" dirty="0"/>
              <a:t>USB Microphone would have:</a:t>
            </a:r>
          </a:p>
          <a:p>
            <a:pPr lvl="2"/>
            <a:r>
              <a:rPr lang="en-CA" dirty="0"/>
              <a:t>DMA from ADC</a:t>
            </a:r>
            <a:r>
              <a:rPr lang="en-CA" dirty="0">
                <a:sym typeface="Wingdings" panose="05000000000000000000" pitchFamily="2" charset="2"/>
              </a:rPr>
              <a:t> Memory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DMA from Memory  USB</a:t>
            </a:r>
          </a:p>
          <a:p>
            <a:pPr lvl="2"/>
            <a:r>
              <a:rPr lang="en-CA" dirty="0">
                <a:sym typeface="Wingdings" panose="05000000000000000000" pitchFamily="2" charset="2"/>
              </a:rPr>
              <a:t>Microcontroller does “housekeeping” keeping signals alive</a:t>
            </a:r>
          </a:p>
          <a:p>
            <a:pPr lvl="2"/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ym typeface="Wingdings" panose="05000000000000000000" pitchFamily="2" charset="2"/>
              </a:rPr>
              <a:t>Normally </a:t>
            </a:r>
            <a:r>
              <a:rPr lang="en-CA" u="sng" dirty="0">
                <a:sym typeface="Wingdings" panose="05000000000000000000" pitchFamily="2" charset="2"/>
              </a:rPr>
              <a:t>required</a:t>
            </a:r>
            <a:r>
              <a:rPr lang="en-CA" dirty="0">
                <a:sym typeface="Wingdings" panose="05000000000000000000" pitchFamily="2" charset="2"/>
              </a:rPr>
              <a:t> for sampling &amp; high-throughput communications</a:t>
            </a:r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CF7F5-B86F-C0A9-EC72-EACF8250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5D149-3179-6AFF-A703-D3425341C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CD4C3-D5CE-81B1-01B5-A04F41F1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6324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6572-F38C-F263-CB27-E695E3468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DMA Demo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8233B-94D1-12D3-A519-F2A225AB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A6427-1142-0C9C-3707-A406F2C97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11FAE-8452-6DC0-EF57-2CB975C9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31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AE9AFE-EDCF-5272-F3B6-9DE1E3215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26" y="1423628"/>
            <a:ext cx="6748976" cy="493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66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00BCF-94FC-06ED-2825-816062D81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Sidenote: Data Synchronization Barrier (DSB)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E5AC3-DA48-417A-6424-74788D087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Note the Data Synchronization Barrier (DSB)</a:t>
            </a:r>
          </a:p>
          <a:p>
            <a:pPr lvl="1"/>
            <a:r>
              <a:rPr lang="en-CA" dirty="0"/>
              <a:t>Technically </a:t>
            </a:r>
            <a:r>
              <a:rPr lang="en-CA" u="sng" dirty="0"/>
              <a:t>not</a:t>
            </a:r>
            <a:r>
              <a:rPr lang="en-CA" dirty="0"/>
              <a:t> needed as peripheral memory should not be reordered</a:t>
            </a:r>
          </a:p>
          <a:p>
            <a:pPr lvl="1"/>
            <a:r>
              <a:rPr lang="en-CA" dirty="0"/>
              <a:t>But if you were writing something to e.g., memory being read from before enabling may still want that (ensures memory consistency)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62E21-08BD-5232-0738-9E3B177C1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31DBB-4E52-A14A-AD53-816577C2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569DB-D203-8E10-F236-ABCD744D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8789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50D31-33B3-A8F8-9D55-D06EA88B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DMA Usage: High-Level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FE54F-A506-F088-A16F-1A6AC7F34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Set source &amp; destination addresses</a:t>
            </a:r>
          </a:p>
          <a:p>
            <a:r>
              <a:rPr lang="en-CA" dirty="0"/>
              <a:t>Set if either address should automatically increment (normally </a:t>
            </a:r>
            <a:r>
              <a:rPr lang="en-CA" b="1" dirty="0"/>
              <a:t>not</a:t>
            </a:r>
            <a:r>
              <a:rPr lang="en-CA" dirty="0"/>
              <a:t> incrementing for peripherals, but </a:t>
            </a:r>
            <a:r>
              <a:rPr lang="en-CA" b="1" dirty="0"/>
              <a:t>do</a:t>
            </a:r>
            <a:r>
              <a:rPr lang="en-CA" dirty="0"/>
              <a:t> increment for memory)</a:t>
            </a:r>
          </a:p>
          <a:p>
            <a:r>
              <a:rPr lang="en-CA" dirty="0"/>
              <a:t>Set word size (e.g., normally 32 bits)</a:t>
            </a:r>
          </a:p>
          <a:p>
            <a:r>
              <a:rPr lang="en-CA" dirty="0"/>
              <a:t>Set number of </a:t>
            </a:r>
            <a:r>
              <a:rPr lang="en-CA" b="1" dirty="0"/>
              <a:t>words</a:t>
            </a:r>
            <a:r>
              <a:rPr lang="en-CA" dirty="0"/>
              <a:t> to transfer</a:t>
            </a:r>
          </a:p>
          <a:p>
            <a:pPr lvl="1"/>
            <a:r>
              <a:rPr lang="en-CA" dirty="0"/>
              <a:t>Watch out for Bytes/Words confusion!</a:t>
            </a:r>
          </a:p>
          <a:p>
            <a:r>
              <a:rPr lang="en-CA" dirty="0"/>
              <a:t>Enable &amp; let it go!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49A94-3236-71D5-64A3-EC39D782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6CE07-0DBA-F7D9-F1AF-B9E35D20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675BB-FBC9-5ABA-1481-89452EFF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2556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B5030-E4A3-71A4-DA67-19D501444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STM32F3 DMA Hints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63C12-C886-442E-13B4-DFC7D2538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6688F-D4C8-CC8D-41D2-E2D520D1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B755A-CCAB-00B4-848A-2FC41EBA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34</a:t>
            </a:fld>
            <a:endParaRPr lang="en-CA"/>
          </a:p>
        </p:txBody>
      </p:sp>
      <p:pic>
        <p:nvPicPr>
          <p:cNvPr id="8" name="Picture 7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15E7F312-6E8A-BF95-CE25-3D297F32E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71" y="1576212"/>
            <a:ext cx="8808278" cy="28991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F0D0EF-6601-68D1-2630-691AD2E70DA6}"/>
              </a:ext>
            </a:extLst>
          </p:cNvPr>
          <p:cNvSpPr txBox="1"/>
          <p:nvPr/>
        </p:nvSpPr>
        <p:spPr>
          <a:xfrm>
            <a:off x="838200" y="4475340"/>
            <a:ext cx="9865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CPAR / CMAR can be source/</a:t>
            </a:r>
            <a:r>
              <a:rPr lang="en-CA" dirty="0" err="1"/>
              <a:t>dest</a:t>
            </a:r>
            <a:r>
              <a:rPr lang="en-CA" dirty="0"/>
              <a:t> depending on “DIR” bit in CCR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Watch out that not </a:t>
            </a:r>
            <a:r>
              <a:rPr lang="en-CA" u="sng" dirty="0"/>
              <a:t>all</a:t>
            </a:r>
            <a:r>
              <a:rPr lang="en-CA" dirty="0"/>
              <a:t> memory addresses are accessible (see next topic on TCM/CCM)</a:t>
            </a:r>
          </a:p>
        </p:txBody>
      </p:sp>
    </p:spTree>
    <p:extLst>
      <p:ext uri="{BB962C8B-B14F-4D97-AF65-F5344CB8AC3E}">
        <p14:creationId xmlns:p14="http://schemas.microsoft.com/office/powerpoint/2010/main" val="31293354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6C6B-0CF8-5743-BFED-0746E4C4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STM32F3: DMA Data Width &amp; Alignments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AC237-1EB5-71EB-2F31-C58DAAD98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28127" cy="4351338"/>
          </a:xfrm>
        </p:spPr>
        <p:txBody>
          <a:bodyPr>
            <a:normAutofit fontScale="92500"/>
          </a:bodyPr>
          <a:lstStyle/>
          <a:p>
            <a:r>
              <a:rPr lang="en-CA" dirty="0"/>
              <a:t>Many DMA problems (on all devices) are related to data widths.</a:t>
            </a:r>
          </a:p>
          <a:p>
            <a:endParaRPr lang="en-CA" dirty="0"/>
          </a:p>
          <a:p>
            <a:r>
              <a:rPr lang="en-CA" dirty="0"/>
              <a:t>If </a:t>
            </a:r>
            <a:r>
              <a:rPr lang="en-CA" u="sng" dirty="0"/>
              <a:t>not</a:t>
            </a:r>
            <a:r>
              <a:rPr lang="en-CA" dirty="0"/>
              <a:t> transferring the same data width, need to be very careful about order/alignment.</a:t>
            </a:r>
          </a:p>
          <a:p>
            <a:endParaRPr lang="en-CA" dirty="0"/>
          </a:p>
          <a:p>
            <a:r>
              <a:rPr lang="en-CA" dirty="0"/>
              <a:t>E.g., Table at right is from ST32F303 Ref Manual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0DF32-EF63-B4BB-73D0-A67632D7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0812D-6A4A-4712-0E38-6D8B49DD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25B1E-64A4-EF91-2FE8-7EBE9FEA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35</a:t>
            </a:fld>
            <a:endParaRPr lang="en-CA"/>
          </a:p>
        </p:txBody>
      </p:sp>
      <p:pic>
        <p:nvPicPr>
          <p:cNvPr id="8" name="Picture 7" descr="A table of data with numbers and letters&#10;&#10;AI-generated content may be incorrect.">
            <a:extLst>
              <a:ext uri="{FF2B5EF4-FFF2-40B4-BE49-F238E27FC236}">
                <a16:creationId xmlns:a16="http://schemas.microsoft.com/office/drawing/2014/main" id="{3E3EE223-A973-FCB8-86DE-7BC87102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219" y="1870075"/>
            <a:ext cx="49623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03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7DE8F-F26F-FFD2-F97A-8C2542180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DMA for Data Packing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5793C-2800-05CE-AD56-FB5C3FFEA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Sometimes you use this on purpose:</a:t>
            </a:r>
          </a:p>
          <a:p>
            <a:pPr lvl="1"/>
            <a:r>
              <a:rPr lang="en-CA" dirty="0"/>
              <a:t>8-bit or 16-bit data coming in from a peripheral</a:t>
            </a:r>
          </a:p>
          <a:p>
            <a:pPr lvl="1"/>
            <a:r>
              <a:rPr lang="en-CA" dirty="0"/>
              <a:t>You want this </a:t>
            </a:r>
            <a:r>
              <a:rPr lang="en-CA" u="sng" dirty="0"/>
              <a:t>packed</a:t>
            </a:r>
            <a:r>
              <a:rPr lang="en-CA" dirty="0"/>
              <a:t> into 32-bit array for memory efficiency</a:t>
            </a:r>
          </a:p>
          <a:p>
            <a:pPr lvl="2"/>
            <a:r>
              <a:rPr lang="en-CA" dirty="0"/>
              <a:t>DMA can do that automatically!</a:t>
            </a:r>
          </a:p>
          <a:p>
            <a:pPr lvl="1"/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C0584-8984-9301-6295-7DBF222D5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2149-C2FA-AAA6-4572-5C68FC984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B64EE-ED10-6B3F-9BC1-DC61EC3C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96092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8C5C-63EA-2647-C40A-02896CF5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Core Coupled Memory (CCM)</a:t>
            </a:r>
            <a:br>
              <a:rPr lang="en-CA" dirty="0"/>
            </a:br>
            <a:r>
              <a:rPr lang="en-CA" dirty="0"/>
              <a:t>Closely Coupled Memory (CCM)</a:t>
            </a:r>
            <a:br>
              <a:rPr lang="en-CA" dirty="0"/>
            </a:br>
            <a:r>
              <a:rPr lang="en-CA" dirty="0"/>
              <a:t>Tightly Coupled Memory (TCM)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C4847-E907-2BB5-F83D-3C87830B2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2817"/>
            <a:ext cx="10515600" cy="4084146"/>
          </a:xfrm>
        </p:spPr>
        <p:txBody>
          <a:bodyPr/>
          <a:lstStyle/>
          <a:p>
            <a:r>
              <a:rPr lang="en-CA" dirty="0"/>
              <a:t>All of those have the same idea – keep some special RAM that is </a:t>
            </a:r>
            <a:r>
              <a:rPr lang="en-CA" u="sng" dirty="0"/>
              <a:t>even faster</a:t>
            </a:r>
            <a:r>
              <a:rPr lang="en-CA" dirty="0"/>
              <a:t> than system memory.</a:t>
            </a:r>
          </a:p>
          <a:p>
            <a:endParaRPr lang="en-CA" dirty="0"/>
          </a:p>
          <a:p>
            <a:pPr lvl="1"/>
            <a:r>
              <a:rPr lang="en-CA" dirty="0"/>
              <a:t>Different than a </a:t>
            </a:r>
            <a:r>
              <a:rPr lang="en-CA" u="sng" dirty="0"/>
              <a:t>cache</a:t>
            </a:r>
            <a:r>
              <a:rPr lang="en-CA" dirty="0"/>
              <a:t> as this is separate memory, not mirroring main memory.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TCM is present in higher-performance cores, may bypass matrix entirely.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Arm CCM uses matrix, but is </a:t>
            </a:r>
            <a:r>
              <a:rPr lang="en-CA" u="sng" dirty="0"/>
              <a:t>not</a:t>
            </a:r>
            <a:r>
              <a:rPr lang="en-CA" dirty="0"/>
              <a:t> accessible to DMA as only for CPU usage.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91369-117C-A3BD-81E3-481414680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87D52-C18F-23AD-03B2-758E1857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88B34-8D33-AA55-1EE7-D77C6A58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34363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817E1-5B10-5114-9600-89A2B0D2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5FD83-6CD7-BAA8-8F7C-CC77441D1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1C84F-FCBD-AD9A-FB1F-DEF94C16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38</a:t>
            </a:fld>
            <a:endParaRPr lang="en-CA"/>
          </a:p>
        </p:txBody>
      </p:sp>
      <p:pic>
        <p:nvPicPr>
          <p:cNvPr id="7" name="Content Placeholder 7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AD4271DD-FDF8-9D4F-5961-BCEB40274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886" y="428266"/>
            <a:ext cx="9003562" cy="582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60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0F24-D808-A9D1-B3C8-B5F752F9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Cortex-M7 TCM Blocks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C2198-7177-821C-1BF6-DDE630AC7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8C5AF-6468-A3C9-F4B4-6F4115F4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99B3C-B36F-2726-7E37-91DAB833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39</a:t>
            </a:fld>
            <a:endParaRPr lang="en-CA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84AE9A7-8D32-B3AF-6229-9FE3E675BF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209" y="1690688"/>
            <a:ext cx="6007130" cy="4592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7249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F2EC-C2FB-44F6-2BD8-F3830B41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Simple External Busses: SRAM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7AC14-31BB-3CB8-7BDE-9F467D543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336" y="5825621"/>
            <a:ext cx="10515600" cy="594497"/>
          </a:xfrm>
        </p:spPr>
        <p:txBody>
          <a:bodyPr>
            <a:normAutofit/>
          </a:bodyPr>
          <a:lstStyle/>
          <a:p>
            <a:r>
              <a:rPr lang="en-CA" sz="1800" dirty="0">
                <a:hlinkClick r:id="rId2"/>
              </a:rPr>
              <a:t>https://ww1.microchip.com/downloads/en/DeviceDoc/Atmel-6430-32-bit-Cortex-M3-Microcontroller-SAM3U4-SAM3U2-SAM3U1_Datasheet.pdf</a:t>
            </a:r>
            <a:r>
              <a:rPr lang="en-CA" sz="180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99A27-7D53-407F-3C80-B3B91157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BCC7F-7E67-F152-34CD-AAB14FD68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E7669-2320-723F-C3DD-CB023D30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40</a:t>
            </a:fld>
            <a:endParaRPr lang="en-CA"/>
          </a:p>
        </p:txBody>
      </p:sp>
      <p:pic>
        <p:nvPicPr>
          <p:cNvPr id="8" name="Picture 7" descr="A diagram of a computer&#10;&#10;AI-generated content may be incorrect.">
            <a:extLst>
              <a:ext uri="{FF2B5EF4-FFF2-40B4-BE49-F238E27FC236}">
                <a16:creationId xmlns:a16="http://schemas.microsoft.com/office/drawing/2014/main" id="{BE6E356A-1BD0-2DF8-3B78-B884CB28C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451" y="1563321"/>
            <a:ext cx="7572777" cy="425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708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9C32-9ECE-96B3-8394-D3A6F4C8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Synchronous 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DF808-E22A-222A-A67B-FF6753AEC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Synchronous buses will have a </a:t>
            </a:r>
            <a:r>
              <a:rPr lang="en-CA" u="sng" dirty="0"/>
              <a:t>clock</a:t>
            </a:r>
          </a:p>
          <a:p>
            <a:r>
              <a:rPr lang="en-CA" dirty="0"/>
              <a:t>All data &amp; control signals only read on the </a:t>
            </a:r>
            <a:r>
              <a:rPr lang="en-CA" u="sng" dirty="0"/>
              <a:t>clock edge</a:t>
            </a:r>
            <a:endParaRPr lang="en-CA" dirty="0"/>
          </a:p>
          <a:p>
            <a:r>
              <a:rPr lang="en-CA" dirty="0"/>
              <a:t>Normally strict timing requirements</a:t>
            </a:r>
          </a:p>
          <a:p>
            <a:endParaRPr lang="en-CA" dirty="0"/>
          </a:p>
          <a:p>
            <a:r>
              <a:rPr lang="en-CA" dirty="0"/>
              <a:t>Many internal busses are synchronous (e.g., AHB)</a:t>
            </a:r>
          </a:p>
          <a:p>
            <a:r>
              <a:rPr lang="en-CA" dirty="0"/>
              <a:t>DDR Memory is an external example of synchronous bus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D80E8-EC08-190E-8089-52F8FD9B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43DC4-7FC4-099D-D6B7-60A56962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81C42-159D-FF43-D3F0-9FF118E6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51977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C9DB-39D2-3015-8093-A119DE08A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D114-445A-07F7-0397-C900CFA6F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Asynchronous 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828FC-630B-1C71-DD54-F88C4ABFA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Control signals define when data is ready or available</a:t>
            </a:r>
          </a:p>
          <a:p>
            <a:r>
              <a:rPr lang="en-CA" dirty="0"/>
              <a:t>Less strict timing requirements</a:t>
            </a:r>
          </a:p>
          <a:p>
            <a:r>
              <a:rPr lang="en-CA" dirty="0"/>
              <a:t>“Normal” (older) SRAM chips, many “slower” external memories are asynchronous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86F65-883E-4FA3-D8FB-E9C8ECC4B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C3B0C-6B83-1E76-003F-8E943BBA8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B8B29-E238-0EF5-A270-A881E05B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42</a:t>
            </a:fld>
            <a:endParaRPr lang="en-CA"/>
          </a:p>
        </p:txBody>
      </p:sp>
      <p:pic>
        <p:nvPicPr>
          <p:cNvPr id="1026" name="Picture 2" descr="Static random-access memory - Wikipedia">
            <a:extLst>
              <a:ext uri="{FF2B5EF4-FFF2-40B4-BE49-F238E27FC236}">
                <a16:creationId xmlns:a16="http://schemas.microsoft.com/office/drawing/2014/main" id="{90248727-739A-F21A-66BB-D896A6A6A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000842"/>
            <a:ext cx="3840913" cy="2311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1354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791B-58F8-2124-6898-702B9328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Async Read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81A54-DB71-FE74-8E6C-AB8DE8F12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65EF-4A2F-EF95-5253-D57782164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9EAC-D052-0BCB-4322-99EA25BA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43</a:t>
            </a:fld>
            <a:endParaRPr lang="en-C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773F32-404B-3153-A5E9-AC0B202A4D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507" y="1799292"/>
            <a:ext cx="7337508" cy="403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05CB12-7044-61E1-80CC-650FE016694D}"/>
              </a:ext>
            </a:extLst>
          </p:cNvPr>
          <p:cNvSpPr txBox="1"/>
          <p:nvPr/>
        </p:nvSpPr>
        <p:spPr>
          <a:xfrm>
            <a:off x="640861" y="2962980"/>
            <a:ext cx="397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Driven FROM controller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131990-E5B3-DEA8-1805-1754BD8FBB94}"/>
              </a:ext>
            </a:extLst>
          </p:cNvPr>
          <p:cNvSpPr txBox="1"/>
          <p:nvPr/>
        </p:nvSpPr>
        <p:spPr>
          <a:xfrm>
            <a:off x="640860" y="3821268"/>
            <a:ext cx="397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Driven FROM controller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7A9A1B-4A28-FF56-D529-F4A1FB46FE60}"/>
              </a:ext>
            </a:extLst>
          </p:cNvPr>
          <p:cNvSpPr txBox="1"/>
          <p:nvPr/>
        </p:nvSpPr>
        <p:spPr>
          <a:xfrm>
            <a:off x="640859" y="4488449"/>
            <a:ext cx="397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Driven TO controller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430CA-677B-52D4-2EF5-15F7611EE40F}"/>
              </a:ext>
            </a:extLst>
          </p:cNvPr>
          <p:cNvSpPr txBox="1"/>
          <p:nvPr/>
        </p:nvSpPr>
        <p:spPr>
          <a:xfrm>
            <a:off x="640860" y="5070938"/>
            <a:ext cx="397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Driven TO controller</a:t>
            </a:r>
          </a:p>
        </p:txBody>
      </p:sp>
    </p:spTree>
    <p:extLst>
      <p:ext uri="{BB962C8B-B14F-4D97-AF65-F5344CB8AC3E}">
        <p14:creationId xmlns:p14="http://schemas.microsoft.com/office/powerpoint/2010/main" val="20533641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6DFCF-135D-0135-10DF-A3FEB7710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05217-9106-3CCC-76E4-BE356DDD7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Async Write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57889-D661-DFE8-7645-051052CFB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82E65-579E-E11F-499B-6C219140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7A13A-047D-BC22-7E42-D406D61A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44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018812-D141-A48C-C5D1-E26D4D094495}"/>
              </a:ext>
            </a:extLst>
          </p:cNvPr>
          <p:cNvSpPr txBox="1"/>
          <p:nvPr/>
        </p:nvSpPr>
        <p:spPr>
          <a:xfrm>
            <a:off x="640861" y="2962980"/>
            <a:ext cx="397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Driven FROM controller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4A26A3-983A-4BCB-BCF9-4C3BE6EC0AC6}"/>
              </a:ext>
            </a:extLst>
          </p:cNvPr>
          <p:cNvSpPr txBox="1"/>
          <p:nvPr/>
        </p:nvSpPr>
        <p:spPr>
          <a:xfrm>
            <a:off x="640860" y="3821268"/>
            <a:ext cx="397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Driven FROM controller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BA015-5B54-46C6-D037-C1E02E0E6C25}"/>
              </a:ext>
            </a:extLst>
          </p:cNvPr>
          <p:cNvSpPr txBox="1"/>
          <p:nvPr/>
        </p:nvSpPr>
        <p:spPr>
          <a:xfrm>
            <a:off x="640859" y="4488449"/>
            <a:ext cx="397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Driven FROM controller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4683D-987F-AE98-2D39-6206999AF058}"/>
              </a:ext>
            </a:extLst>
          </p:cNvPr>
          <p:cNvSpPr txBox="1"/>
          <p:nvPr/>
        </p:nvSpPr>
        <p:spPr>
          <a:xfrm>
            <a:off x="640860" y="5070938"/>
            <a:ext cx="397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Driven TO controller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E8C5AC-5D22-59EE-8775-FDAD320C3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525" y="1839275"/>
            <a:ext cx="7779471" cy="403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0027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B884E-0D03-7209-D912-77A13688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SRAM Configuration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19C51E2-5987-491D-0DF3-38064815F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4142" y="1825625"/>
            <a:ext cx="5263715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646EF-F18E-13FD-F78D-4D5E40CB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DB417-1B9D-51D8-AB3B-D8B07700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36CC5-8038-101E-A5FA-C2EBB8AD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05592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2061-D561-FEF6-DEEB-080A7C055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Typical SRAM Signals</a:t>
            </a:r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1D4A800-CD4A-25A4-5BE1-8B3489AF7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6771" y="1825625"/>
            <a:ext cx="8518458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05DAF-79EE-424E-74BC-3AFD4CC7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F5226-3198-ADCB-5527-7674CAD1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25D7F-A1C8-3757-F876-2F70FB85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03064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3698-5CBD-57C0-6D69-7DC9AB6C3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SRAM Driven from STM32F3</a:t>
            </a:r>
          </a:p>
        </p:txBody>
      </p:sp>
      <p:pic>
        <p:nvPicPr>
          <p:cNvPr id="8" name="Content Placeholder 7" descr="A diagram of a memory processing process&#10;&#10;AI-generated content may be incorrect.">
            <a:extLst>
              <a:ext uri="{FF2B5EF4-FFF2-40B4-BE49-F238E27FC236}">
                <a16:creationId xmlns:a16="http://schemas.microsoft.com/office/drawing/2014/main" id="{A6AFF49E-B635-5666-24AF-8337573E1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137" y="1559901"/>
            <a:ext cx="6528097" cy="46455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3F684-FBA3-40C8-AC9B-9D9E947D2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78F7D-2690-551B-C7BA-5F9AC012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6FD-AFA5-0B3E-290E-9DCAA4B55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47</a:t>
            </a:fld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81D518-D20B-5652-FCF6-7CB6578D0323}"/>
              </a:ext>
            </a:extLst>
          </p:cNvPr>
          <p:cNvSpPr txBox="1"/>
          <p:nvPr/>
        </p:nvSpPr>
        <p:spPr>
          <a:xfrm>
            <a:off x="8292478" y="2719753"/>
            <a:ext cx="24520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NOTE: No “acknowledge” signal!</a:t>
            </a:r>
          </a:p>
          <a:p>
            <a:endParaRPr lang="en-CA" dirty="0"/>
          </a:p>
          <a:p>
            <a:r>
              <a:rPr lang="en-CA" dirty="0"/>
              <a:t>This requires setting up the timing, and the SRAM responds on definite timing.</a:t>
            </a:r>
          </a:p>
        </p:txBody>
      </p:sp>
    </p:spTree>
    <p:extLst>
      <p:ext uri="{BB962C8B-B14F-4D97-AF65-F5344CB8AC3E}">
        <p14:creationId xmlns:p14="http://schemas.microsoft.com/office/powerpoint/2010/main" val="23459794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1551-70F4-6464-E165-7404C40D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Interfacing to External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80240-B66B-9EAA-A35A-1AEC60C80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requires careful inspection of timing diagrams in your memory chip, comparison to microcontroller datasheet</a:t>
            </a:r>
          </a:p>
          <a:p>
            <a:endParaRPr lang="en-CA" dirty="0"/>
          </a:p>
          <a:p>
            <a:r>
              <a:rPr lang="en-CA" dirty="0"/>
              <a:t>This is one situation where you should </a:t>
            </a:r>
            <a:r>
              <a:rPr lang="en-CA" u="sng" dirty="0"/>
              <a:t>not</a:t>
            </a:r>
            <a:r>
              <a:rPr lang="en-CA" dirty="0"/>
              <a:t> trust auto-generated code (AI, unknown libraries), as it is often </a:t>
            </a:r>
            <a:r>
              <a:rPr lang="en-CA" u="sng" dirty="0"/>
              <a:t>off</a:t>
            </a:r>
            <a:endParaRPr lang="en-CA" dirty="0"/>
          </a:p>
          <a:p>
            <a:endParaRPr lang="en-CA" dirty="0"/>
          </a:p>
          <a:p>
            <a:r>
              <a:rPr lang="en-CA" dirty="0"/>
              <a:t>Timing errors mean code might work fine initially, but has errors as temperature change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02697-68F9-1D07-3D71-C3623D0C4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B8901-4F01-8ACB-703A-7C3DA34F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51951-64C5-58E8-1724-DE2894EE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97312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7248482-288C-EC6F-9244-64B4AAD72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31" y="1164097"/>
            <a:ext cx="5569799" cy="48007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27F183-9F92-AC12-E6E7-8A0D7C1B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of SRAM (Bus) Timing Settings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B5E62-315D-6421-81A2-E0359B40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D0819-E097-D6F7-7FCF-DBCA5D14C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8ECB3-85D4-3594-5AD7-5998CF97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49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C022CA-E58A-4F2E-4EFD-93779196058A}"/>
              </a:ext>
            </a:extLst>
          </p:cNvPr>
          <p:cNvSpPr txBox="1"/>
          <p:nvPr/>
        </p:nvSpPr>
        <p:spPr>
          <a:xfrm>
            <a:off x="2621370" y="5897325"/>
            <a:ext cx="6096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https://www.issi.com/WW/pdf/62-65C256AL.pdf</a:t>
            </a:r>
            <a:r>
              <a:rPr lang="en-CA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49664F-4FFA-A27F-0125-1BEE5CF493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965"/>
          <a:stretch>
            <a:fillRect/>
          </a:stretch>
        </p:blipFill>
        <p:spPr>
          <a:xfrm>
            <a:off x="6208718" y="1514531"/>
            <a:ext cx="5221821" cy="409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510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22808-A6C1-79D6-1C4D-98B882E6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Bus Wait-States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38714-44F2-9031-B018-497F9F5F1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03112"/>
          </a:xfrm>
        </p:spPr>
        <p:txBody>
          <a:bodyPr/>
          <a:lstStyle/>
          <a:p>
            <a:r>
              <a:rPr lang="en-CA" dirty="0"/>
              <a:t>It is common that busses support </a:t>
            </a:r>
            <a:r>
              <a:rPr lang="en-CA" u="sng" dirty="0"/>
              <a:t>wait states</a:t>
            </a:r>
            <a:endParaRPr lang="en-CA" dirty="0"/>
          </a:p>
          <a:p>
            <a:r>
              <a:rPr lang="en-CA" dirty="0"/>
              <a:t>You may need to configure wait states if memory access is slower than the bus is running.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278EC-1BA2-02B3-7DD3-D089BB7ED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63952-63B8-0F2D-9BC9-9990E5476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460E-51CB-BA93-FC45-03AADE31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50</a:t>
            </a:fld>
            <a:endParaRPr lang="en-CA"/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2F45634-CAA8-C8F5-3324-B9AAC0E80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95" y="4259012"/>
            <a:ext cx="10166754" cy="2097338"/>
          </a:xfrm>
          <a:prstGeom prst="rect">
            <a:avLst/>
          </a:prstGeom>
        </p:spPr>
      </p:pic>
      <p:pic>
        <p:nvPicPr>
          <p:cNvPr id="12" name="Picture 11" descr="A close-up of a sign&#10;&#10;AI-generated content may be incorrect.">
            <a:extLst>
              <a:ext uri="{FF2B5EF4-FFF2-40B4-BE49-F238E27FC236}">
                <a16:creationId xmlns:a16="http://schemas.microsoft.com/office/drawing/2014/main" id="{3B1B73A8-6598-891C-F203-C994EDBA2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53" y="3223829"/>
            <a:ext cx="7311171" cy="114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573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45C9-50DC-136C-1821-75C2DA9F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Busses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A95C2-BFE3-798F-C519-3E491C689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System performance is often </a:t>
            </a:r>
            <a:r>
              <a:rPr lang="en-CA" u="sng" dirty="0"/>
              <a:t>limited by bus performance</a:t>
            </a:r>
            <a:endParaRPr lang="en-CA" dirty="0"/>
          </a:p>
          <a:p>
            <a:r>
              <a:rPr lang="en-CA" dirty="0"/>
              <a:t>E.g., processor runs at 72 </a:t>
            </a:r>
            <a:r>
              <a:rPr lang="en-CA" dirty="0" err="1"/>
              <a:t>MHz..but</a:t>
            </a:r>
            <a:r>
              <a:rPr lang="en-CA" dirty="0"/>
              <a:t> if need 2 wait-states between every FLASH access:</a:t>
            </a:r>
          </a:p>
          <a:p>
            <a:pPr lvl="1"/>
            <a:r>
              <a:rPr lang="en-CA" dirty="0"/>
              <a:t>Naïve reading of flash in sequence slows things down</a:t>
            </a:r>
          </a:p>
          <a:p>
            <a:pPr lvl="1"/>
            <a:r>
              <a:rPr lang="en-CA" dirty="0"/>
              <a:t>Changes to architecture of memory &amp; caches improve that (future topics)</a:t>
            </a:r>
          </a:p>
          <a:p>
            <a:pPr lvl="1"/>
            <a:endParaRPr lang="en-CA" dirty="0"/>
          </a:p>
          <a:p>
            <a:r>
              <a:rPr lang="en-CA" dirty="0"/>
              <a:t>Avoiding wait states can be difficult in practice! </a:t>
            </a:r>
          </a:p>
          <a:p>
            <a:endParaRPr lang="en-CA" dirty="0"/>
          </a:p>
          <a:p>
            <a:r>
              <a:rPr lang="en-CA" dirty="0"/>
              <a:t>Multiple busses can greatly improve performance.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3CDE3-B0C4-E015-C7CF-487DBC685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C3CD5-2CC9-B579-FF64-48628F8C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5D3FE-FE71-A13A-C2EC-3FDB3F18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5885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B8F2-CBE7-F076-9C7F-375609BF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Careful Memory Management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26DF8-53CF-61D7-ACDA-BA8067D0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292F4-30C4-0417-1F36-83428168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799BB-D0EB-025F-5E4A-B9C9BA5F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52</a:t>
            </a:fld>
            <a:endParaRPr lang="en-CA"/>
          </a:p>
        </p:txBody>
      </p:sp>
      <p:pic>
        <p:nvPicPr>
          <p:cNvPr id="7" name="Content Placeholder 7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7308972E-5C56-0D1E-7F53-43CF01E26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80829"/>
            <a:ext cx="7697125" cy="4975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591D4A-9018-D321-A6DE-C625726377B4}"/>
              </a:ext>
            </a:extLst>
          </p:cNvPr>
          <p:cNvSpPr txBox="1"/>
          <p:nvPr/>
        </p:nvSpPr>
        <p:spPr>
          <a:xfrm>
            <a:off x="8975558" y="2213811"/>
            <a:ext cx="2743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e.g., Imagine DMA1 from ADC1 to SRAM</a:t>
            </a:r>
          </a:p>
          <a:p>
            <a:endParaRPr lang="en-CA" dirty="0"/>
          </a:p>
          <a:p>
            <a:r>
              <a:rPr lang="en-CA" dirty="0"/>
              <a:t>What else can happen at the same time?</a:t>
            </a:r>
          </a:p>
        </p:txBody>
      </p:sp>
    </p:spTree>
    <p:extLst>
      <p:ext uri="{BB962C8B-B14F-4D97-AF65-F5344CB8AC3E}">
        <p14:creationId xmlns:p14="http://schemas.microsoft.com/office/powerpoint/2010/main" val="27540462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24DC-539D-C33B-DC69-E0158F39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Summary: Memory Busses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8B8F5-903E-1A1C-B5A3-9A835F21C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Busses are collection of wires, on-chip or off-chip</a:t>
            </a:r>
          </a:p>
          <a:p>
            <a:r>
              <a:rPr lang="en-CA" dirty="0"/>
              <a:t>Typically we have </a:t>
            </a:r>
            <a:r>
              <a:rPr lang="en-CA" u="sng" dirty="0"/>
              <a:t>multiple busses </a:t>
            </a:r>
            <a:r>
              <a:rPr lang="en-CA" dirty="0"/>
              <a:t>with some buffer/interconnect to provide both high &amp; low performance busses, or to avoid needing to wait for other devices.</a:t>
            </a:r>
          </a:p>
          <a:p>
            <a:r>
              <a:rPr lang="en-CA" u="sng" dirty="0"/>
              <a:t>Split transactions </a:t>
            </a:r>
            <a:r>
              <a:rPr lang="en-CA" dirty="0"/>
              <a:t>and </a:t>
            </a:r>
            <a:r>
              <a:rPr lang="en-CA" u="sng" dirty="0"/>
              <a:t>bus arbitration </a:t>
            </a:r>
            <a:r>
              <a:rPr lang="en-CA" dirty="0"/>
              <a:t>allow busses to be shared among controllers</a:t>
            </a:r>
          </a:p>
          <a:p>
            <a:r>
              <a:rPr lang="en-CA" dirty="0"/>
              <a:t>Direct Memory Access (DMA) controller is an extremely powerful part of the microcontroller</a:t>
            </a:r>
          </a:p>
          <a:p>
            <a:r>
              <a:rPr lang="en-CA" dirty="0"/>
              <a:t>May need to manage wait-states &amp; timing to deal with different speed interfaces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A5A2E-1A29-C3E1-FFEB-A0B4541F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85852-90A7-1CCA-D9EE-98C1649D9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CAD3D-82C2-06C3-B83F-72A97D94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154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2199</TotalTime>
  <Words>2275</Words>
  <Application>Microsoft Office PowerPoint</Application>
  <PresentationFormat>Widescreen</PresentationFormat>
  <Paragraphs>444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Aptos</vt:lpstr>
      <vt:lpstr>Aptos Display</vt:lpstr>
      <vt:lpstr>Arial</vt:lpstr>
      <vt:lpstr>Times New Roman</vt:lpstr>
      <vt:lpstr>Wingdings</vt:lpstr>
      <vt:lpstr>Office Theme</vt:lpstr>
      <vt:lpstr>Computer Architecture: Memory Busses</vt:lpstr>
      <vt:lpstr>Lectures</vt:lpstr>
      <vt:lpstr>PowerPoint Presentation</vt:lpstr>
      <vt:lpstr>The von Neumann computer</vt:lpstr>
      <vt:lpstr>What is a bus actually?</vt:lpstr>
      <vt:lpstr>PowerPoint Presentation</vt:lpstr>
      <vt:lpstr>Note shared signals:</vt:lpstr>
      <vt:lpstr>Physical Implementation</vt:lpstr>
      <vt:lpstr>Advantages of Buses</vt:lpstr>
      <vt:lpstr>Disadvantages of Buses</vt:lpstr>
      <vt:lpstr>Bus Controller vs. Peripheral</vt:lpstr>
      <vt:lpstr>Bus Organization: One Bus</vt:lpstr>
      <vt:lpstr>Bus Organization: Two Buses</vt:lpstr>
      <vt:lpstr>Bus Organization: Three Busses</vt:lpstr>
      <vt:lpstr>e.g., Old Pentium II/III Organization:</vt:lpstr>
      <vt:lpstr>e.g., Newer Gen</vt:lpstr>
      <vt:lpstr>Embedded Processor Busses</vt:lpstr>
      <vt:lpstr>Common On-Chip Bus Protocols</vt:lpstr>
      <vt:lpstr>Transfer Modes in Busses</vt:lpstr>
      <vt:lpstr>Transfer Modes in Busses</vt:lpstr>
      <vt:lpstr>Transfer Modes in Busses</vt:lpstr>
      <vt:lpstr>AHB Signaling</vt:lpstr>
      <vt:lpstr>AHB Signals</vt:lpstr>
      <vt:lpstr>Typical Internal Bus Signaling</vt:lpstr>
      <vt:lpstr>e.g., STM32F3 Bus Matrix</vt:lpstr>
      <vt:lpstr>Bus Arbitration?</vt:lpstr>
      <vt:lpstr>Round Robin</vt:lpstr>
      <vt:lpstr>DMA</vt:lpstr>
      <vt:lpstr>DMA Keeps the CPU Free</vt:lpstr>
      <vt:lpstr>DMA Usage</vt:lpstr>
      <vt:lpstr>e.g., DMA Demo</vt:lpstr>
      <vt:lpstr>Sidenote: Data Synchronization Barrier (DSB)</vt:lpstr>
      <vt:lpstr>DMA Usage: High-Level</vt:lpstr>
      <vt:lpstr>STM32F3 DMA Hints</vt:lpstr>
      <vt:lpstr>STM32F3: DMA Data Width &amp; Alignments</vt:lpstr>
      <vt:lpstr>DMA for Data Packing</vt:lpstr>
      <vt:lpstr>Core Coupled Memory (CCM) Closely Coupled Memory (CCM) Tightly Coupled Memory (TCM)</vt:lpstr>
      <vt:lpstr>PowerPoint Presentation</vt:lpstr>
      <vt:lpstr>e.g., Cortex-M7 TCM Blocks</vt:lpstr>
      <vt:lpstr>Simple External Busses: SRAM</vt:lpstr>
      <vt:lpstr>Synchronous Bus</vt:lpstr>
      <vt:lpstr>Asynchronous Bus</vt:lpstr>
      <vt:lpstr>Async Read Example</vt:lpstr>
      <vt:lpstr>Async Write Example</vt:lpstr>
      <vt:lpstr>SRAM Configuration</vt:lpstr>
      <vt:lpstr>e.g., Typical SRAM Signals</vt:lpstr>
      <vt:lpstr>SRAM Driven from STM32F3</vt:lpstr>
      <vt:lpstr>Interfacing to External Memory</vt:lpstr>
      <vt:lpstr>Example of SRAM (Bus) Timing Settings</vt:lpstr>
      <vt:lpstr>Bus Wait-States</vt:lpstr>
      <vt:lpstr>Busses &amp; Performance</vt:lpstr>
      <vt:lpstr>Careful Memory Management</vt:lpstr>
      <vt:lpstr>Summary: Memory Busses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27</cp:revision>
  <dcterms:created xsi:type="dcterms:W3CDTF">2026-02-08T23:56:58Z</dcterms:created>
  <dcterms:modified xsi:type="dcterms:W3CDTF">2026-03-02T15:30:16Z</dcterms:modified>
</cp:coreProperties>
</file>