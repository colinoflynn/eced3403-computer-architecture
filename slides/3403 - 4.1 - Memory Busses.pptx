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93" r:id="rId26"/>
    <p:sldId id="280" r:id="rId27"/>
    <p:sldId id="283" r:id="rId28"/>
    <p:sldId id="286" r:id="rId29"/>
    <p:sldId id="288" r:id="rId30"/>
    <p:sldId id="285" r:id="rId31"/>
    <p:sldId id="292" r:id="rId32"/>
    <p:sldId id="289" r:id="rId33"/>
    <p:sldId id="290" r:id="rId34"/>
    <p:sldId id="291" r:id="rId35"/>
    <p:sldId id="287" r:id="rId36"/>
    <p:sldId id="294" r:id="rId37"/>
    <p:sldId id="281" r:id="rId38"/>
    <p:sldId id="296" r:id="rId39"/>
    <p:sldId id="297" r:id="rId40"/>
    <p:sldId id="298" r:id="rId41"/>
    <p:sldId id="299" r:id="rId42"/>
    <p:sldId id="295" r:id="rId43"/>
    <p:sldId id="300" r:id="rId44"/>
    <p:sldId id="301" r:id="rId45"/>
    <p:sldId id="282" r:id="rId46"/>
    <p:sldId id="284" r:id="rId47"/>
    <p:sldId id="303" r:id="rId48"/>
    <p:sldId id="302" r:id="rId4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8" autoAdjust="0"/>
    <p:restoredTop sz="94660"/>
  </p:normalViewPr>
  <p:slideViewPr>
    <p:cSldViewPr snapToGrid="0">
      <p:cViewPr varScale="1">
        <p:scale>
          <a:sx n="95" d="100"/>
          <a:sy n="95" d="100"/>
        </p:scale>
        <p:origin x="96" y="11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B400AA-101D-490E-9D4E-C89A20702DB7}" type="datetimeFigureOut">
              <a:rPr lang="en-CA" smtClean="0"/>
              <a:t>2026-03-01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E3026F-2F57-4911-B7AF-7A689FB873B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82631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2C467B-3273-4353-9FBF-06D73C896B70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899086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C20F8-4895-94C2-8FA2-66E560A3DD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13532E-8058-C5C8-2506-01C74706A4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E20B31-ECF3-1B78-C88E-2148C3B10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572FD-17C4-4195-9A46-AE8481F14B8C}" type="datetime1">
              <a:rPr lang="en-CA" smtClean="0"/>
              <a:t>2026-03-01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11BAD8-50A4-147C-2CD6-F410FAA50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736EB-F489-50CF-C0A0-04EB3CCF9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437897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7FFDF-AD45-70DA-DBFC-39804BF3F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2D168-5FB0-0976-8F46-0E62B22309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31FBDD-8676-E7A6-9767-AB25F16F1E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D474CF-B37F-47E1-344C-FD179A8E2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19AB56-2130-1784-C270-DE61E834A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880190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6BE87-9176-DC6D-7E6D-AED5F1B4A3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EC646E-906C-DE6E-F460-1AC7588A23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D40353-D6E5-F285-0B15-2DB721750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4D8C76-B400-4F53-8805-742D98EC80C2}" type="datetime1">
              <a:rPr lang="en-CA" smtClean="0"/>
              <a:t>2026-03-01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0EB755-C4F9-EE1D-2472-393D0DBAB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453E9-EC5D-3196-40C9-35FA1716D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316980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D1056-F3E9-D796-0188-DB7047707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928AF2-16F2-34A3-7D15-A28F084D7F9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200C63-AE05-0355-4E48-2A59004280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E35A27-2CA0-DA96-DE81-302589919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8C1D2-65BD-4030-B320-CFCAC7C2CF77}" type="datetime1">
              <a:rPr lang="en-CA" smtClean="0"/>
              <a:t>2026-03-01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A28EA9-8003-DD37-3C59-F8052CFF8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4FAD97-AD46-797F-A73B-AF034EAEA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332389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8877C-0091-8117-3240-C15EE8097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604D97-6B5B-4B40-4797-44D7356E7D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4142B3-B5E2-E0F0-2A8C-A393861C7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C2CD81-F1F0-AA13-E635-956E2240D5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FFAB232-10B9-29C1-5C2E-2889B2CE38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D6067B-4CB1-4ADC-0871-7F90B6EA98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16206-5BA6-460D-9780-A5A1F3FC520F}" type="datetime1">
              <a:rPr lang="en-CA" smtClean="0"/>
              <a:t>2026-03-01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972D8B8-EC13-2FE1-4AC1-DA30BE305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04DC02A-2269-D62D-A2F6-4EF60E091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94608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41633-4B93-3962-0831-3F79E9ABF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F8BB15-178F-4440-5C62-42B7740A3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4C05AF-8116-461A-AD38-E69AB126D756}" type="datetime1">
              <a:rPr lang="en-CA" smtClean="0"/>
              <a:t>2026-03-01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4C8318-4472-251E-FF42-F757E5147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E9102C-45D2-0478-F645-1A88A7A11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256821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25DD8B-C610-0C5A-B29C-D1B094483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A9D55-1BF1-40D6-87EC-FFE4362AD15D}" type="datetime1">
              <a:rPr lang="en-CA" smtClean="0"/>
              <a:t>2026-03-01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6B6D3F-76F9-6977-7F11-BE45F2EC0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5A9206-29F6-A2E5-EDBE-A7B2B18CD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411743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47E14-E8C6-533B-D648-163F2F54E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FA9B72-F8AD-A435-F12C-6AD72286F3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7432E5-2EAF-0407-8CD8-9B140466B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02223D-CE1E-B50D-3F81-A62336919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A4D12-9B66-4D3F-BFEA-EB6939410680}" type="datetime1">
              <a:rPr lang="en-CA" smtClean="0"/>
              <a:t>2026-03-01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EA51B3-198E-8FF6-7810-ABDEB19C29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7FA87D-3783-15DA-A1C4-C367745B7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77592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1862D-A78F-02BE-CD84-089873284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1463AF3-1586-FA07-67E3-0C17B2BA1E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72F072-26D7-47EA-01F2-D095376AD2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645053-29D5-8E85-C3A3-7FE2C8726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ECAEB-FDAC-4944-A700-E5025FBDCFB8}" type="datetime1">
              <a:rPr lang="en-CA" smtClean="0"/>
              <a:t>2026-03-01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6246A4-4AA2-74B5-1BEF-D6B2F5758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84B5FB-02D4-18AB-B564-1BE49B678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980068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ECA42-0B39-62AD-0647-16416EEC94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A3D16F-BC9B-504D-20C9-5B9DDFCF7F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07887E-9BD0-50E7-7855-5A6892289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F888EE-D2E8-458C-B025-86AB65CB2342}" type="datetime1">
              <a:rPr lang="en-CA" smtClean="0"/>
              <a:t>2026-03-01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52909D-9B71-3004-5853-0865DFCA6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EAFD81-4FDD-5E6A-7EF0-A0AF3D9E8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33024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040C928-04C0-FFD8-6FB7-52544F5E6A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7AE9ED-B388-AC41-6080-6F91ABFBFF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255B1A-AF28-25B7-80B2-2EF9AF2FA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D418E-0BAA-477E-AE93-7DEEFAFBE002}" type="datetime1">
              <a:rPr lang="en-CA" smtClean="0"/>
              <a:t>2026-03-01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1F440-1924-B1AA-DA08-FF6D4D5C9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D20E6E-67ED-9028-647B-5F9E902E6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231013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25F461-5089-4FA6-F30A-FEECC0377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2A3026-0C22-41E8-F2F9-B44737EDE9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52E1FB-D0DD-0542-98E0-F8AD6C0C62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E9C524-F283-4997-8372-EC621E6F8B97}" type="datetime1">
              <a:rPr lang="en-CA" smtClean="0"/>
              <a:t>2026-03-01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F4F27-F292-F8E1-8EEB-4B04DCFE55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6F6AB7-62BE-C74A-0375-1B18D98B1B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25CC40-D0F6-4666-ABAA-DE78F621EF6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23122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eb2.qatar.cmu.edu/~mhhammou/15346-s13/resources/OriginsOfComputers/Origins%20Fate%20of%20EDVAC.pdf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www.madexp.it/2018/02/26/z80-single-board-computer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ww1.microchip.com/downloads/en/DeviceDoc/Atmel-6430-32-bit-Cortex-M3-Microcontroller-SAM3U4-SAM3U2-SAM3U1_Datasheet.pdf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40332-C356-1B1E-0B6B-B1E4E812BA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CA" dirty="0"/>
              <a:t>Computer Architecture:</a:t>
            </a:r>
            <a:br>
              <a:rPr lang="en-CA" dirty="0"/>
            </a:br>
            <a:r>
              <a:rPr lang="en-CA" i="1" dirty="0"/>
              <a:t>Memory Busses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A56E0B-2030-B06C-4A76-67F52B07E9C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CA" dirty="0"/>
              <a:t>Dr. Colin O’Flynn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9286F8-7046-B580-89F1-4F0575352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05903-4A42-43A9-9B07-0A555E8C01D2}" type="datetime1">
              <a:rPr lang="en-CA" smtClean="0"/>
              <a:t>2026-03-01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94224-0D5F-188B-78F3-15A498B54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417701-B7BA-E8D0-BE9E-EECDE6DB3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949306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9ADA9-27CC-7B3F-58A4-E641BF35C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Lectures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49C3AB-3011-E0FF-7C9F-80D0766372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How does a program run on a machine?</a:t>
            </a:r>
          </a:p>
          <a:p>
            <a:r>
              <a:rPr lang="en-CA" dirty="0"/>
              <a:t>How do you compile from high-level code to machine code?</a:t>
            </a:r>
          </a:p>
          <a:p>
            <a:r>
              <a:rPr lang="en-CA" dirty="0"/>
              <a:t>How does the machine run? (Control Flow)</a:t>
            </a:r>
          </a:p>
          <a:p>
            <a:r>
              <a:rPr lang="en-CA" dirty="0"/>
              <a:t>How does the machine store data?</a:t>
            </a:r>
          </a:p>
          <a:p>
            <a:r>
              <a:rPr lang="en-CA" b="1" dirty="0">
                <a:solidFill>
                  <a:srgbClr val="FF0000"/>
                </a:solidFill>
              </a:rPr>
              <a:t>How does the machine interface using buses?</a:t>
            </a:r>
          </a:p>
          <a:p>
            <a:r>
              <a:rPr lang="en-CA" dirty="0">
                <a:solidFill>
                  <a:schemeClr val="bg1">
                    <a:lumMod val="75000"/>
                  </a:schemeClr>
                </a:solidFill>
              </a:rPr>
              <a:t>What does it mean to have “allowed” memory?</a:t>
            </a:r>
          </a:p>
          <a:p>
            <a:r>
              <a:rPr lang="en-CA" dirty="0">
                <a:solidFill>
                  <a:schemeClr val="bg1">
                    <a:lumMod val="75000"/>
                  </a:schemeClr>
                </a:solidFill>
              </a:rPr>
              <a:t>How does the machine speed up data access?</a:t>
            </a:r>
          </a:p>
          <a:p>
            <a:endParaRPr lang="en-CA" dirty="0">
              <a:solidFill>
                <a:srgbClr val="FF0000"/>
              </a:solidFill>
            </a:endParaRPr>
          </a:p>
          <a:p>
            <a:endParaRPr lang="en-CA" b="1" dirty="0">
              <a:solidFill>
                <a:srgbClr val="FF0000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16FB1E-13D4-AF84-CD57-0DE278036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5975C-2D17-4D58-BAA2-AE3D2D8697E0}" type="datetime1">
              <a:rPr lang="en-CA" smtClean="0"/>
              <a:t>2026-03-01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42B00-C73D-1737-27CD-9FFFCF5338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CC70CA-A863-53D2-59FA-8884AFF82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FE6AF-7EC0-4502-9F71-820950EA8DB2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23393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23" descr="A document with text on it&#10;&#10;AI-generated content may be incorrect.">
            <a:extLst>
              <a:ext uri="{FF2B5EF4-FFF2-40B4-BE49-F238E27FC236}">
                <a16:creationId xmlns:a16="http://schemas.microsoft.com/office/drawing/2014/main" id="{D9FD79D2-CD6D-D5D9-003E-2DBC33CE6F2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0196" y="275980"/>
            <a:ext cx="5414540" cy="5442683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1FEEDE-B16E-AA74-E3F4-F93D2BB4A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CF80F8-E70D-5A74-E8D8-24E939EF7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BCC394-875C-BAD3-C7DC-18D893E2C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3</a:t>
            </a:fld>
            <a:endParaRPr lang="en-CA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97FCE79-A621-8740-21B2-69CB8E002EE4}"/>
              </a:ext>
            </a:extLst>
          </p:cNvPr>
          <p:cNvSpPr txBox="1"/>
          <p:nvPr/>
        </p:nvSpPr>
        <p:spPr>
          <a:xfrm>
            <a:off x="5257800" y="5304602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hlinkClick r:id="rId3"/>
              </a:rPr>
              <a:t>https://web2.qatar.cmu.edu/~mhhammou/15346-s13/resources/OriginsOfComputers/Origins%20Fate%20of%20EDVAC.pdf</a:t>
            </a:r>
            <a:r>
              <a:rPr lang="en-CA" dirty="0"/>
              <a:t> </a:t>
            </a:r>
          </a:p>
        </p:txBody>
      </p:sp>
      <p:pic>
        <p:nvPicPr>
          <p:cNvPr id="28" name="Picture 27" descr="A blueprint of a computer&#10;&#10;AI-generated content may be incorrect.">
            <a:extLst>
              <a:ext uri="{FF2B5EF4-FFF2-40B4-BE49-F238E27FC236}">
                <a16:creationId xmlns:a16="http://schemas.microsoft.com/office/drawing/2014/main" id="{33B67440-6430-E1CD-DFC5-8306FAE5D5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1605" y="753015"/>
            <a:ext cx="7110199" cy="4232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1410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E89E7-6C58-4C65-306C-CC7092BEB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The von Neumann computer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9987C6-996E-B13D-2BA2-66F3FE0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8BF59-7D19-B5A2-C38F-080F8E008C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394026-5477-DC61-461A-539E1D12B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4</a:t>
            </a:fld>
            <a:endParaRPr lang="en-CA"/>
          </a:p>
        </p:txBody>
      </p:sp>
      <p:pic>
        <p:nvPicPr>
          <p:cNvPr id="8" name="Picture 7" descr="A diagram of a program control unit&#10;&#10;AI-generated content may be incorrect.">
            <a:extLst>
              <a:ext uri="{FF2B5EF4-FFF2-40B4-BE49-F238E27FC236}">
                <a16:creationId xmlns:a16="http://schemas.microsoft.com/office/drawing/2014/main" id="{DFF7E922-8585-85D1-5583-4AE32957AB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7877" y="1508575"/>
            <a:ext cx="8678217" cy="4730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5811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C1A49-B4C0-A8AE-5E1A-5E72F184C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i="1" dirty="0"/>
              <a:t>What</a:t>
            </a:r>
            <a:r>
              <a:rPr lang="en-CA" dirty="0"/>
              <a:t> is a bus actually?</a:t>
            </a:r>
            <a:endParaRPr lang="en-CA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717A53-B5C5-C5E7-3D09-E0F344673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7650BD-3396-E28C-7B2E-310C1BBC9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56BAAE-FF4E-934A-1532-FE982B8C0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5</a:t>
            </a:fld>
            <a:endParaRPr lang="en-CA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0CBDC3B-C21F-2632-EE05-52814745E2CC}"/>
              </a:ext>
            </a:extLst>
          </p:cNvPr>
          <p:cNvSpPr txBox="1"/>
          <p:nvPr/>
        </p:nvSpPr>
        <p:spPr>
          <a:xfrm>
            <a:off x="1393064" y="5710019"/>
            <a:ext cx="90130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>
                <a:hlinkClick r:id="rId2"/>
              </a:rPr>
              <a:t>https://www.madexp.it/2018/02/26/z80-single-board-computer/</a:t>
            </a:r>
            <a:r>
              <a:rPr lang="en-CA" dirty="0"/>
              <a:t> </a:t>
            </a:r>
          </a:p>
        </p:txBody>
      </p:sp>
      <p:pic>
        <p:nvPicPr>
          <p:cNvPr id="10" name="Picture 9" descr="A diagram of a chip&#10;&#10;AI-generated content may be incorrect.">
            <a:extLst>
              <a:ext uri="{FF2B5EF4-FFF2-40B4-BE49-F238E27FC236}">
                <a16:creationId xmlns:a16="http://schemas.microsoft.com/office/drawing/2014/main" id="{E3DF3695-5B85-160A-FEAA-7F2D42D5B8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8184" y="1283086"/>
            <a:ext cx="6413920" cy="4426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73737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21A319-4E8E-E138-DB9B-CF84AFB466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315714-E450-35C6-D43A-1852CF3AE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55070E-6C7F-5FD9-055B-E1AAAA6A8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6</a:t>
            </a:fld>
            <a:endParaRPr lang="en-CA"/>
          </a:p>
        </p:txBody>
      </p:sp>
      <p:pic>
        <p:nvPicPr>
          <p:cNvPr id="7" name="Picture 6" descr="A diagram of a chip&#10;&#10;AI-generated content may be incorrect.">
            <a:extLst>
              <a:ext uri="{FF2B5EF4-FFF2-40B4-BE49-F238E27FC236}">
                <a16:creationId xmlns:a16="http://schemas.microsoft.com/office/drawing/2014/main" id="{3E254841-4C75-46DC-48B1-AE8CCBA32A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751" b="8170"/>
          <a:stretch>
            <a:fillRect/>
          </a:stretch>
        </p:blipFill>
        <p:spPr>
          <a:xfrm>
            <a:off x="449383" y="136526"/>
            <a:ext cx="11083484" cy="6584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15625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D9EF2-D51E-61D3-EA13-5FFFFAA32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Note shared signals: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9C0550-EB94-E71E-E884-7D75512C24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280877" cy="4351338"/>
          </a:xfrm>
        </p:spPr>
        <p:txBody>
          <a:bodyPr/>
          <a:lstStyle/>
          <a:p>
            <a:r>
              <a:rPr lang="en-CA" dirty="0"/>
              <a:t>Address</a:t>
            </a:r>
          </a:p>
          <a:p>
            <a:pPr lvl="1"/>
            <a:r>
              <a:rPr lang="en-CA" dirty="0"/>
              <a:t>Even this simple system has a “memory map”</a:t>
            </a:r>
          </a:p>
          <a:p>
            <a:r>
              <a:rPr lang="en-CA" dirty="0"/>
              <a:t>Data</a:t>
            </a:r>
          </a:p>
          <a:p>
            <a:r>
              <a:rPr lang="en-CA" dirty="0"/>
              <a:t>Some “extra stuff”</a:t>
            </a:r>
          </a:p>
          <a:p>
            <a:r>
              <a:rPr lang="en-CA" dirty="0"/>
              <a:t>Note U3 also on the bus!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4B795B-AB36-B0B9-E7AB-3754CC725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D2D19C-6923-D38E-1F22-07749E2434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330A09-C407-E31A-37E7-23A24C90C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7</a:t>
            </a:fld>
            <a:endParaRPr lang="en-C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AE195AD-8A66-DE6F-4D19-C1D39C6BB3B5}"/>
              </a:ext>
            </a:extLst>
          </p:cNvPr>
          <p:cNvSpPr/>
          <p:nvPr/>
        </p:nvSpPr>
        <p:spPr>
          <a:xfrm>
            <a:off x="8968925" y="1207477"/>
            <a:ext cx="1186068" cy="1828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ROM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003E2DA-CBBE-9A72-89A0-CD0774BD0F69}"/>
              </a:ext>
            </a:extLst>
          </p:cNvPr>
          <p:cNvSpPr/>
          <p:nvPr/>
        </p:nvSpPr>
        <p:spPr>
          <a:xfrm>
            <a:off x="8968925" y="3821724"/>
            <a:ext cx="1186068" cy="1828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RAM</a:t>
            </a:r>
          </a:p>
        </p:txBody>
      </p:sp>
    </p:spTree>
    <p:extLst>
      <p:ext uri="{BB962C8B-B14F-4D97-AF65-F5344CB8AC3E}">
        <p14:creationId xmlns:p14="http://schemas.microsoft.com/office/powerpoint/2010/main" val="22730352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9329C6C8-EE1A-B21A-5390-4BF577A75F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2263" y="1393703"/>
            <a:ext cx="6996352" cy="518024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4A411B3-4770-C353-0D3A-78C35FBC0B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Physical Implementation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5AE5F7A-0CE5-E498-E79A-1E8A7D9A22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C709B0-2E72-EC01-1A00-C2FE1E7459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31C2C6-2B03-0A42-B605-34B8258243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57661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139C0-1EC8-CE78-D464-DB3AD39AF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Advantages of Buses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808680-8637-B4A2-D3C9-3185843194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711597"/>
            <a:ext cx="10515600" cy="2465366"/>
          </a:xfrm>
        </p:spPr>
        <p:txBody>
          <a:bodyPr>
            <a:normAutofit lnSpcReduction="10000"/>
          </a:bodyPr>
          <a:lstStyle/>
          <a:p>
            <a:pPr>
              <a:spcBef>
                <a:spcPct val="20000"/>
              </a:spcBef>
            </a:pPr>
            <a:r>
              <a:rPr lang="en-US" altLang="en-US" dirty="0"/>
              <a:t>Versatility:</a:t>
            </a:r>
          </a:p>
          <a:p>
            <a:pPr lvl="1">
              <a:spcBef>
                <a:spcPct val="20000"/>
              </a:spcBef>
            </a:pPr>
            <a:r>
              <a:rPr lang="en-US" altLang="en-US" dirty="0"/>
              <a:t>New devices can be added easily</a:t>
            </a:r>
          </a:p>
          <a:p>
            <a:pPr lvl="1">
              <a:spcBef>
                <a:spcPct val="20000"/>
              </a:spcBef>
            </a:pPr>
            <a:r>
              <a:rPr lang="en-US" altLang="en-US" dirty="0"/>
              <a:t>Peripherals can be moved between computer</a:t>
            </a:r>
            <a:br>
              <a:rPr lang="en-US" altLang="en-US" dirty="0"/>
            </a:br>
            <a:r>
              <a:rPr lang="en-US" altLang="en-US" dirty="0"/>
              <a:t>systems that use the same bus standard</a:t>
            </a:r>
          </a:p>
          <a:p>
            <a:pPr>
              <a:spcBef>
                <a:spcPct val="20000"/>
              </a:spcBef>
            </a:pPr>
            <a:r>
              <a:rPr lang="en-US" altLang="en-US" dirty="0"/>
              <a:t>Low Cost:</a:t>
            </a:r>
          </a:p>
          <a:p>
            <a:pPr lvl="1">
              <a:spcBef>
                <a:spcPct val="20000"/>
              </a:spcBef>
            </a:pPr>
            <a:r>
              <a:rPr lang="en-US" altLang="en-US" dirty="0"/>
              <a:t>A single set of wires is shared in multiple ways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F3B6B8-C990-48EB-1E14-4915537D4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F23504-2E47-0EA9-57EF-115D0C9DE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E2F293-E656-553A-E083-46FC0042E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9</a:t>
            </a:fld>
            <a:endParaRPr lang="en-CA"/>
          </a:p>
        </p:txBody>
      </p:sp>
      <p:sp>
        <p:nvSpPr>
          <p:cNvPr id="7" name="Line 4">
            <a:extLst>
              <a:ext uri="{FF2B5EF4-FFF2-40B4-BE49-F238E27FC236}">
                <a16:creationId xmlns:a16="http://schemas.microsoft.com/office/drawing/2014/main" id="{43A856E7-6BE3-E997-8DE2-1CBA477E6064}"/>
              </a:ext>
            </a:extLst>
          </p:cNvPr>
          <p:cNvSpPr>
            <a:spLocks noChangeShapeType="1"/>
          </p:cNvSpPr>
          <p:nvPr/>
        </p:nvSpPr>
        <p:spPr bwMode="auto">
          <a:xfrm>
            <a:off x="2546886" y="1500208"/>
            <a:ext cx="7010400" cy="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endParaRPr lang="en-CA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0F75AE3-AAB8-DE70-B3AF-C971A848A6DF}"/>
              </a:ext>
            </a:extLst>
          </p:cNvPr>
          <p:cNvGrpSpPr>
            <a:grpSpLocks/>
          </p:cNvGrpSpPr>
          <p:nvPr/>
        </p:nvGrpSpPr>
        <p:grpSpPr bwMode="auto">
          <a:xfrm>
            <a:off x="8299986" y="2567008"/>
            <a:ext cx="1295400" cy="812800"/>
            <a:chOff x="4472" y="1448"/>
            <a:chExt cx="656" cy="512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0175245-4C07-24CD-FCC0-FA80928397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72" y="1448"/>
              <a:ext cx="656" cy="512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8A63F829-0986-66F6-B6DA-4D97362391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7" y="1601"/>
              <a:ext cx="583" cy="2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r>
                <a:rPr lang="en-US" altLang="en-US" sz="1600" b="1">
                  <a:latin typeface="Times New Roman" panose="02020603050405020304" pitchFamily="18" charset="0"/>
                </a:rPr>
                <a:t>Memory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41722F6A-CFCD-840F-64C2-181EE022E8B3}"/>
              </a:ext>
            </a:extLst>
          </p:cNvPr>
          <p:cNvGrpSpPr>
            <a:grpSpLocks/>
          </p:cNvGrpSpPr>
          <p:nvPr/>
        </p:nvGrpSpPr>
        <p:grpSpPr bwMode="auto">
          <a:xfrm>
            <a:off x="2673886" y="2579708"/>
            <a:ext cx="1574800" cy="889000"/>
            <a:chOff x="920" y="1448"/>
            <a:chExt cx="992" cy="56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E1ED626A-4778-443B-0691-C19E666C32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20" y="1448"/>
              <a:ext cx="992" cy="560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FD78244-88E0-2812-F486-89BD40E383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95" y="1632"/>
              <a:ext cx="647" cy="2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r>
                <a:rPr lang="en-US" altLang="en-US" sz="1600" b="1">
                  <a:latin typeface="Times New Roman" panose="02020603050405020304" pitchFamily="18" charset="0"/>
                </a:rPr>
                <a:t>Processer</a:t>
              </a: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93B7631A-A281-FFD1-0DAF-B45D392364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5086" y="2579708"/>
            <a:ext cx="965200" cy="542925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endParaRPr lang="en-C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A80878E-A226-26DF-E9DA-91D628191B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80486" y="2567008"/>
            <a:ext cx="950913" cy="577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algn="ctr"/>
            <a:r>
              <a:rPr lang="en-US" altLang="en-US" sz="1600" b="1">
                <a:latin typeface="Times New Roman" panose="02020603050405020304" pitchFamily="18" charset="0"/>
              </a:rPr>
              <a:t>I/O Device</a:t>
            </a:r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26F69405-7360-EE46-0353-AEA4D61B33E7}"/>
              </a:ext>
            </a:extLst>
          </p:cNvPr>
          <p:cNvSpPr>
            <a:spLocks noChangeShapeType="1"/>
          </p:cNvSpPr>
          <p:nvPr/>
        </p:nvSpPr>
        <p:spPr bwMode="auto">
          <a:xfrm>
            <a:off x="3537486" y="1500208"/>
            <a:ext cx="0" cy="106680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endParaRPr lang="en-CA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03A68A89-BBE5-0E19-C616-B0151F3B263C}"/>
              </a:ext>
            </a:extLst>
          </p:cNvPr>
          <p:cNvSpPr>
            <a:spLocks noChangeShapeType="1"/>
          </p:cNvSpPr>
          <p:nvPr/>
        </p:nvSpPr>
        <p:spPr bwMode="auto">
          <a:xfrm>
            <a:off x="8871486" y="1500208"/>
            <a:ext cx="0" cy="106680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endParaRPr lang="en-CA"/>
          </a:p>
        </p:txBody>
      </p:sp>
      <p:sp>
        <p:nvSpPr>
          <p:cNvPr id="14" name="Line 15">
            <a:extLst>
              <a:ext uri="{FF2B5EF4-FFF2-40B4-BE49-F238E27FC236}">
                <a16:creationId xmlns:a16="http://schemas.microsoft.com/office/drawing/2014/main" id="{717D8F9A-F82F-215B-733B-718808354AF0}"/>
              </a:ext>
            </a:extLst>
          </p:cNvPr>
          <p:cNvSpPr>
            <a:spLocks noChangeShapeType="1"/>
          </p:cNvSpPr>
          <p:nvPr/>
        </p:nvSpPr>
        <p:spPr bwMode="auto">
          <a:xfrm>
            <a:off x="5137686" y="1500208"/>
            <a:ext cx="0" cy="106680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endParaRPr lang="en-CA"/>
          </a:p>
        </p:txBody>
      </p:sp>
      <p:sp>
        <p:nvSpPr>
          <p:cNvPr id="15" name="Line 16">
            <a:extLst>
              <a:ext uri="{FF2B5EF4-FFF2-40B4-BE49-F238E27FC236}">
                <a16:creationId xmlns:a16="http://schemas.microsoft.com/office/drawing/2014/main" id="{BBC5EE07-5BEA-6F76-AF8B-90F604F24B00}"/>
              </a:ext>
            </a:extLst>
          </p:cNvPr>
          <p:cNvSpPr>
            <a:spLocks noChangeShapeType="1"/>
          </p:cNvSpPr>
          <p:nvPr/>
        </p:nvSpPr>
        <p:spPr bwMode="auto">
          <a:xfrm>
            <a:off x="6280686" y="1500208"/>
            <a:ext cx="0" cy="106680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endParaRPr lang="en-C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CBC3E03-4BB9-B76D-7086-C30696D9D2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8086" y="2579708"/>
            <a:ext cx="965200" cy="542925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04E209-9686-6F76-49B9-2747CB2998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23486" y="2567008"/>
            <a:ext cx="950913" cy="577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algn="ctr"/>
            <a:r>
              <a:rPr lang="en-US" altLang="en-US" sz="1600" b="1">
                <a:latin typeface="Times New Roman" panose="02020603050405020304" pitchFamily="18" charset="0"/>
              </a:rPr>
              <a:t>I/O Device</a:t>
            </a:r>
          </a:p>
        </p:txBody>
      </p:sp>
      <p:sp>
        <p:nvSpPr>
          <p:cNvPr id="18" name="Line 19">
            <a:extLst>
              <a:ext uri="{FF2B5EF4-FFF2-40B4-BE49-F238E27FC236}">
                <a16:creationId xmlns:a16="http://schemas.microsoft.com/office/drawing/2014/main" id="{AED8EA11-5C2C-1BE7-646B-9A2AC071C4F6}"/>
              </a:ext>
            </a:extLst>
          </p:cNvPr>
          <p:cNvSpPr>
            <a:spLocks noChangeShapeType="1"/>
          </p:cNvSpPr>
          <p:nvPr/>
        </p:nvSpPr>
        <p:spPr bwMode="auto">
          <a:xfrm>
            <a:off x="7423686" y="1500208"/>
            <a:ext cx="0" cy="106680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endParaRPr lang="en-C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D8C5904-4A94-85DF-FEE4-6DD0B889E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1086" y="2579708"/>
            <a:ext cx="965200" cy="542925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endParaRPr lang="en-C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CC3D0DE-DEE3-89B4-7E80-81F304C9C8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66486" y="2567008"/>
            <a:ext cx="950913" cy="577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algn="ctr"/>
            <a:r>
              <a:rPr lang="en-US" altLang="en-US" sz="1600" b="1">
                <a:latin typeface="Times New Roman" panose="02020603050405020304" pitchFamily="18" charset="0"/>
              </a:rPr>
              <a:t>I/O Device</a:t>
            </a:r>
          </a:p>
        </p:txBody>
      </p:sp>
    </p:spTree>
    <p:extLst>
      <p:ext uri="{BB962C8B-B14F-4D97-AF65-F5344CB8AC3E}">
        <p14:creationId xmlns:p14="http://schemas.microsoft.com/office/powerpoint/2010/main" val="36176421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C3A28F-B50A-FBAF-76ED-02E1755DC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06D450-EBC1-E389-B36D-64637B415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Disadvantages of Buses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B2AA05-1725-F411-A406-6C9703528B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28153"/>
            <a:ext cx="10515600" cy="2548809"/>
          </a:xfrm>
        </p:spPr>
        <p:txBody>
          <a:bodyPr>
            <a:normAutofit fontScale="92500" lnSpcReduction="20000"/>
          </a:bodyPr>
          <a:lstStyle/>
          <a:p>
            <a:pPr>
              <a:spcBef>
                <a:spcPct val="20000"/>
              </a:spcBef>
            </a:pPr>
            <a:r>
              <a:rPr lang="en-US" altLang="en-US" dirty="0"/>
              <a:t>It creates a communication bottleneck</a:t>
            </a:r>
          </a:p>
          <a:p>
            <a:pPr lvl="1">
              <a:spcBef>
                <a:spcPct val="20000"/>
              </a:spcBef>
            </a:pPr>
            <a:r>
              <a:rPr lang="en-US" altLang="en-US" dirty="0"/>
              <a:t>The bandwidth of that bus can limit the maximum I/O throughput</a:t>
            </a:r>
          </a:p>
          <a:p>
            <a:pPr>
              <a:spcBef>
                <a:spcPct val="20000"/>
              </a:spcBef>
            </a:pPr>
            <a:r>
              <a:rPr lang="en-US" altLang="en-US" dirty="0"/>
              <a:t>The maximum bus speed is largely limited by:</a:t>
            </a:r>
          </a:p>
          <a:p>
            <a:pPr lvl="1">
              <a:spcBef>
                <a:spcPct val="20000"/>
              </a:spcBef>
            </a:pPr>
            <a:r>
              <a:rPr lang="en-US" altLang="en-US" dirty="0"/>
              <a:t>The </a:t>
            </a:r>
            <a:r>
              <a:rPr lang="en-US" altLang="en-US" dirty="0">
                <a:solidFill>
                  <a:schemeClr val="accent1"/>
                </a:solidFill>
              </a:rPr>
              <a:t>length</a:t>
            </a:r>
            <a:r>
              <a:rPr lang="en-US" altLang="en-US" dirty="0"/>
              <a:t> of the bus</a:t>
            </a:r>
          </a:p>
          <a:p>
            <a:pPr lvl="1">
              <a:spcBef>
                <a:spcPct val="20000"/>
              </a:spcBef>
            </a:pPr>
            <a:r>
              <a:rPr lang="en-US" altLang="en-US" dirty="0"/>
              <a:t>The </a:t>
            </a:r>
            <a:r>
              <a:rPr lang="en-US" altLang="en-US" dirty="0">
                <a:solidFill>
                  <a:schemeClr val="accent1"/>
                </a:solidFill>
              </a:rPr>
              <a:t>number</a:t>
            </a:r>
            <a:r>
              <a:rPr lang="en-US" altLang="en-US" dirty="0"/>
              <a:t> of devices on the bus</a:t>
            </a:r>
          </a:p>
          <a:p>
            <a:pPr lvl="1">
              <a:spcBef>
                <a:spcPct val="20000"/>
              </a:spcBef>
            </a:pPr>
            <a:r>
              <a:rPr lang="en-US" altLang="en-US" dirty="0"/>
              <a:t>The need to support a range of devices with:</a:t>
            </a:r>
          </a:p>
          <a:p>
            <a:pPr lvl="2">
              <a:spcBef>
                <a:spcPct val="20000"/>
              </a:spcBef>
            </a:pPr>
            <a:r>
              <a:rPr lang="en-US" altLang="en-US" dirty="0"/>
              <a:t>Widely varying latencies </a:t>
            </a:r>
          </a:p>
          <a:p>
            <a:pPr lvl="2">
              <a:spcBef>
                <a:spcPct val="20000"/>
              </a:spcBef>
            </a:pPr>
            <a:r>
              <a:rPr lang="en-US" altLang="en-US" dirty="0"/>
              <a:t>Widely varying data transfer rates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8CEF1A-E720-53DB-1C08-45E7F86F6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07736B-89F0-F798-2821-D8B429DE4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889803-0164-0277-A209-CE8F845F6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10</a:t>
            </a:fld>
            <a:endParaRPr lang="en-CA"/>
          </a:p>
        </p:txBody>
      </p:sp>
      <p:sp>
        <p:nvSpPr>
          <p:cNvPr id="7" name="Line 4">
            <a:extLst>
              <a:ext uri="{FF2B5EF4-FFF2-40B4-BE49-F238E27FC236}">
                <a16:creationId xmlns:a16="http://schemas.microsoft.com/office/drawing/2014/main" id="{BB2DDD33-3A0D-E863-C0EC-F45B2077408B}"/>
              </a:ext>
            </a:extLst>
          </p:cNvPr>
          <p:cNvSpPr>
            <a:spLocks noChangeShapeType="1"/>
          </p:cNvSpPr>
          <p:nvPr/>
        </p:nvSpPr>
        <p:spPr bwMode="auto">
          <a:xfrm>
            <a:off x="2508250" y="1505666"/>
            <a:ext cx="7010400" cy="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endParaRPr lang="en-CA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451F0FA-8DF3-D524-41A6-35421859B75B}"/>
              </a:ext>
            </a:extLst>
          </p:cNvPr>
          <p:cNvGrpSpPr>
            <a:grpSpLocks/>
          </p:cNvGrpSpPr>
          <p:nvPr/>
        </p:nvGrpSpPr>
        <p:grpSpPr bwMode="auto">
          <a:xfrm>
            <a:off x="8261350" y="2572466"/>
            <a:ext cx="1295400" cy="812800"/>
            <a:chOff x="4472" y="1448"/>
            <a:chExt cx="656" cy="512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BEB3158-52F1-66A5-E2BA-FD02896143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72" y="1448"/>
              <a:ext cx="656" cy="512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C435F8DA-2B9C-ECBC-343A-48335D2EFD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7" y="1601"/>
              <a:ext cx="583" cy="2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r>
                <a:rPr lang="en-US" altLang="en-US" sz="1600" b="1">
                  <a:latin typeface="Times New Roman" panose="02020603050405020304" pitchFamily="18" charset="0"/>
                </a:rPr>
                <a:t>Memory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C43AC8B0-2216-54CD-A18C-C8AACCDEAF64}"/>
              </a:ext>
            </a:extLst>
          </p:cNvPr>
          <p:cNvGrpSpPr>
            <a:grpSpLocks/>
          </p:cNvGrpSpPr>
          <p:nvPr/>
        </p:nvGrpSpPr>
        <p:grpSpPr bwMode="auto">
          <a:xfrm>
            <a:off x="2635250" y="2585166"/>
            <a:ext cx="1574800" cy="889000"/>
            <a:chOff x="920" y="1448"/>
            <a:chExt cx="992" cy="56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1B58278-428D-9080-921A-7B2F85A899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20" y="1448"/>
              <a:ext cx="992" cy="560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72C0919B-CAC2-A5D9-0F9C-388DFFDF6C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95" y="1632"/>
              <a:ext cx="647" cy="2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0488" tIns="44450" rIns="90488" bIns="44450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r>
                <a:rPr lang="en-US" altLang="en-US" sz="1600" b="1">
                  <a:latin typeface="Times New Roman" panose="02020603050405020304" pitchFamily="18" charset="0"/>
                </a:rPr>
                <a:t>Processer</a:t>
              </a: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62A03F3-80AF-090E-4F84-9B990E26AD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16450" y="2585166"/>
            <a:ext cx="965200" cy="542925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endParaRPr lang="en-CA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FCD0CBB-9FDE-245D-737B-F4A36DA366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1850" y="2572466"/>
            <a:ext cx="950913" cy="577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algn="ctr"/>
            <a:r>
              <a:rPr lang="en-US" altLang="en-US" sz="1600" b="1">
                <a:latin typeface="Times New Roman" panose="02020603050405020304" pitchFamily="18" charset="0"/>
              </a:rPr>
              <a:t>I/O Device</a:t>
            </a:r>
          </a:p>
        </p:txBody>
      </p:sp>
      <p:sp>
        <p:nvSpPr>
          <p:cNvPr id="12" name="Line 13">
            <a:extLst>
              <a:ext uri="{FF2B5EF4-FFF2-40B4-BE49-F238E27FC236}">
                <a16:creationId xmlns:a16="http://schemas.microsoft.com/office/drawing/2014/main" id="{6B067F39-9C34-A680-EE92-F569D16E6B54}"/>
              </a:ext>
            </a:extLst>
          </p:cNvPr>
          <p:cNvSpPr>
            <a:spLocks noChangeShapeType="1"/>
          </p:cNvSpPr>
          <p:nvPr/>
        </p:nvSpPr>
        <p:spPr bwMode="auto">
          <a:xfrm>
            <a:off x="3498850" y="1505666"/>
            <a:ext cx="0" cy="106680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endParaRPr lang="en-CA"/>
          </a:p>
        </p:txBody>
      </p:sp>
      <p:sp>
        <p:nvSpPr>
          <p:cNvPr id="13" name="Line 14">
            <a:extLst>
              <a:ext uri="{FF2B5EF4-FFF2-40B4-BE49-F238E27FC236}">
                <a16:creationId xmlns:a16="http://schemas.microsoft.com/office/drawing/2014/main" id="{3E55657F-AFE4-568C-A574-B5682399D374}"/>
              </a:ext>
            </a:extLst>
          </p:cNvPr>
          <p:cNvSpPr>
            <a:spLocks noChangeShapeType="1"/>
          </p:cNvSpPr>
          <p:nvPr/>
        </p:nvSpPr>
        <p:spPr bwMode="auto">
          <a:xfrm>
            <a:off x="8832850" y="1505666"/>
            <a:ext cx="0" cy="106680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endParaRPr lang="en-CA"/>
          </a:p>
        </p:txBody>
      </p:sp>
      <p:sp>
        <p:nvSpPr>
          <p:cNvPr id="14" name="Line 15">
            <a:extLst>
              <a:ext uri="{FF2B5EF4-FFF2-40B4-BE49-F238E27FC236}">
                <a16:creationId xmlns:a16="http://schemas.microsoft.com/office/drawing/2014/main" id="{2DE2737C-43FA-7A47-B30E-5DE8FBFF4BCE}"/>
              </a:ext>
            </a:extLst>
          </p:cNvPr>
          <p:cNvSpPr>
            <a:spLocks noChangeShapeType="1"/>
          </p:cNvSpPr>
          <p:nvPr/>
        </p:nvSpPr>
        <p:spPr bwMode="auto">
          <a:xfrm>
            <a:off x="5099050" y="1505666"/>
            <a:ext cx="0" cy="106680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endParaRPr lang="en-CA"/>
          </a:p>
        </p:txBody>
      </p:sp>
      <p:sp>
        <p:nvSpPr>
          <p:cNvPr id="15" name="Line 16">
            <a:extLst>
              <a:ext uri="{FF2B5EF4-FFF2-40B4-BE49-F238E27FC236}">
                <a16:creationId xmlns:a16="http://schemas.microsoft.com/office/drawing/2014/main" id="{A1ED6757-592F-A269-2595-CC911A5AF394}"/>
              </a:ext>
            </a:extLst>
          </p:cNvPr>
          <p:cNvSpPr>
            <a:spLocks noChangeShapeType="1"/>
          </p:cNvSpPr>
          <p:nvPr/>
        </p:nvSpPr>
        <p:spPr bwMode="auto">
          <a:xfrm>
            <a:off x="6242050" y="1505666"/>
            <a:ext cx="0" cy="106680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endParaRPr lang="en-CA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5BB6644-2696-1C7A-D317-1278E67B21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59450" y="2585166"/>
            <a:ext cx="965200" cy="542925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endParaRPr lang="en-CA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9F1A0C1-789D-ABE6-295C-4964C0F2DA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84850" y="2572466"/>
            <a:ext cx="950913" cy="577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algn="ctr"/>
            <a:r>
              <a:rPr lang="en-US" altLang="en-US" sz="1600" b="1">
                <a:latin typeface="Times New Roman" panose="02020603050405020304" pitchFamily="18" charset="0"/>
              </a:rPr>
              <a:t>I/O Device</a:t>
            </a:r>
          </a:p>
        </p:txBody>
      </p:sp>
      <p:sp>
        <p:nvSpPr>
          <p:cNvPr id="18" name="Line 19">
            <a:extLst>
              <a:ext uri="{FF2B5EF4-FFF2-40B4-BE49-F238E27FC236}">
                <a16:creationId xmlns:a16="http://schemas.microsoft.com/office/drawing/2014/main" id="{FFFB02A3-D106-FE32-9866-FB4EEC3DAF5C}"/>
              </a:ext>
            </a:extLst>
          </p:cNvPr>
          <p:cNvSpPr>
            <a:spLocks noChangeShapeType="1"/>
          </p:cNvSpPr>
          <p:nvPr/>
        </p:nvSpPr>
        <p:spPr bwMode="auto">
          <a:xfrm>
            <a:off x="7385050" y="1505666"/>
            <a:ext cx="0" cy="1066800"/>
          </a:xfrm>
          <a:prstGeom prst="line">
            <a:avLst/>
          </a:prstGeom>
          <a:noFill/>
          <a:ln w="76200">
            <a:solidFill>
              <a:schemeClr val="tx1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endParaRPr lang="en-CA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3667D20-89B9-2336-EC58-D34C1306CE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02450" y="2585166"/>
            <a:ext cx="965200" cy="542925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endParaRPr lang="en-CA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55515A-D96F-2B42-48AC-A680A9DF9F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27850" y="2572466"/>
            <a:ext cx="950913" cy="5778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0488" tIns="44450" rIns="90488" bIns="44450">
            <a:sp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algn="ctr"/>
            <a:r>
              <a:rPr lang="en-US" altLang="en-US" sz="1600" b="1">
                <a:latin typeface="Times New Roman" panose="02020603050405020304" pitchFamily="18" charset="0"/>
              </a:rPr>
              <a:t>I/O Device</a:t>
            </a:r>
          </a:p>
        </p:txBody>
      </p:sp>
    </p:spTree>
    <p:extLst>
      <p:ext uri="{BB962C8B-B14F-4D97-AF65-F5344CB8AC3E}">
        <p14:creationId xmlns:p14="http://schemas.microsoft.com/office/powerpoint/2010/main" val="6072959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80CBC-462A-61A2-74D0-8B431CD29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Bus Controller vs. Peripheral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A281F4-6E4F-CA2B-C63D-1AA395912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428999"/>
            <a:ext cx="10515600" cy="2747963"/>
          </a:xfrm>
        </p:spPr>
        <p:txBody>
          <a:bodyPr>
            <a:normAutofit fontScale="92500" lnSpcReduction="20000"/>
          </a:bodyPr>
          <a:lstStyle/>
          <a:p>
            <a:r>
              <a:rPr lang="en-US" altLang="en-US" dirty="0"/>
              <a:t>A </a:t>
            </a:r>
            <a:r>
              <a:rPr lang="en-US" altLang="en-US" u="sng" dirty="0">
                <a:solidFill>
                  <a:schemeClr val="accent1"/>
                </a:solidFill>
              </a:rPr>
              <a:t>bus transaction </a:t>
            </a:r>
            <a:r>
              <a:rPr lang="en-US" altLang="en-US" dirty="0"/>
              <a:t>includes two parts:</a:t>
            </a:r>
          </a:p>
          <a:p>
            <a:pPr lvl="1"/>
            <a:r>
              <a:rPr lang="en-US" altLang="en-US" dirty="0"/>
              <a:t>Issuing the command (and address)     	– request</a:t>
            </a:r>
          </a:p>
          <a:p>
            <a:pPr lvl="1"/>
            <a:r>
              <a:rPr lang="en-US" altLang="en-US" dirty="0"/>
              <a:t>Transferring the data                               	– action</a:t>
            </a:r>
          </a:p>
          <a:p>
            <a:r>
              <a:rPr lang="en-US" altLang="en-US" dirty="0"/>
              <a:t>Controller is the one who starts the bus transaction by:</a:t>
            </a:r>
          </a:p>
          <a:p>
            <a:pPr lvl="1"/>
            <a:r>
              <a:rPr lang="en-US" altLang="en-US" dirty="0"/>
              <a:t>issuing the  command (and address)</a:t>
            </a:r>
          </a:p>
          <a:p>
            <a:r>
              <a:rPr lang="en-US" altLang="en-US" dirty="0"/>
              <a:t>Peripheral is the one who responds to the address by:</a:t>
            </a:r>
          </a:p>
          <a:p>
            <a:pPr lvl="1"/>
            <a:r>
              <a:rPr lang="en-US" altLang="en-US" dirty="0"/>
              <a:t>Sending data to the controller if the controller ask for data</a:t>
            </a:r>
          </a:p>
          <a:p>
            <a:pPr lvl="1"/>
            <a:r>
              <a:rPr lang="en-US" altLang="en-US" dirty="0"/>
              <a:t>Receiving data from the controller if the controller wants to send data</a:t>
            </a:r>
          </a:p>
          <a:p>
            <a:endParaRPr lang="en-CA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71059E-ABB2-F670-233C-C44E94142F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713329-EE15-A393-940F-37F4D7DB3A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B8C965-57C3-767C-068C-B282DB561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11</a:t>
            </a:fld>
            <a:endParaRPr lang="en-C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4D09698-A713-D3C2-06E7-E296C6A92D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99396" y="1779588"/>
            <a:ext cx="1346200" cy="812800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endParaRPr lang="en-CA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740BBA-48C3-0F1D-6667-0B0F9BF98B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5280" y="1919288"/>
            <a:ext cx="1103958" cy="582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algn="ctr"/>
            <a:r>
              <a:rPr lang="en-US" altLang="en-US" sz="1600" b="1" dirty="0">
                <a:latin typeface="Times New Roman" panose="02020603050405020304" pitchFamily="18" charset="0"/>
              </a:rPr>
              <a:t>Bus</a:t>
            </a:r>
          </a:p>
          <a:p>
            <a:pPr algn="ctr"/>
            <a:r>
              <a:rPr lang="en-US" altLang="en-US" sz="1600" b="1" dirty="0">
                <a:latin typeface="Times New Roman" panose="02020603050405020304" pitchFamily="18" charset="0"/>
              </a:rPr>
              <a:t>Controller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20E23D4-4E46-8A75-EF17-EF988755E3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71396" y="1779588"/>
            <a:ext cx="1346200" cy="812800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endParaRPr lang="en-CA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B12831-092A-9D80-04C9-0FF6B6FCB5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89812" y="1919288"/>
            <a:ext cx="1118898" cy="5822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 algn="ctr"/>
            <a:r>
              <a:rPr lang="en-US" altLang="en-US" sz="1600" b="1" dirty="0">
                <a:latin typeface="Times New Roman" panose="02020603050405020304" pitchFamily="18" charset="0"/>
              </a:rPr>
              <a:t>Bus</a:t>
            </a:r>
          </a:p>
          <a:p>
            <a:pPr algn="ctr"/>
            <a:r>
              <a:rPr lang="en-US" altLang="en-US" sz="1600" b="1" dirty="0">
                <a:latin typeface="Times New Roman" panose="02020603050405020304" pitchFamily="18" charset="0"/>
              </a:rPr>
              <a:t>Peripheral</a:t>
            </a:r>
          </a:p>
        </p:txBody>
      </p:sp>
      <p:sp>
        <p:nvSpPr>
          <p:cNvPr id="11" name="Line 8">
            <a:extLst>
              <a:ext uri="{FF2B5EF4-FFF2-40B4-BE49-F238E27FC236}">
                <a16:creationId xmlns:a16="http://schemas.microsoft.com/office/drawing/2014/main" id="{4B641C44-24DB-30E4-7DC1-0D339CEA1A18}"/>
              </a:ext>
            </a:extLst>
          </p:cNvPr>
          <p:cNvSpPr>
            <a:spLocks noChangeShapeType="1"/>
          </p:cNvSpPr>
          <p:nvPr/>
        </p:nvSpPr>
        <p:spPr bwMode="auto">
          <a:xfrm>
            <a:off x="3870996" y="1995488"/>
            <a:ext cx="317500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endParaRPr lang="en-C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550026B-85FC-BB30-A7D0-3C3A31BADE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2598" y="1690688"/>
            <a:ext cx="2573398" cy="3359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r>
              <a:rPr lang="en-US" altLang="en-US" sz="1600" b="1" dirty="0">
                <a:latin typeface="Times New Roman" panose="02020603050405020304" pitchFamily="18" charset="0"/>
              </a:rPr>
              <a:t>Controller issues command</a:t>
            </a:r>
          </a:p>
        </p:txBody>
      </p:sp>
      <p:sp>
        <p:nvSpPr>
          <p:cNvPr id="13" name="Line 10">
            <a:extLst>
              <a:ext uri="{FF2B5EF4-FFF2-40B4-BE49-F238E27FC236}">
                <a16:creationId xmlns:a16="http://schemas.microsoft.com/office/drawing/2014/main" id="{13430DC8-9AB5-6D5B-DA2D-16326AE90685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3845596" y="2376488"/>
            <a:ext cx="3225800" cy="0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 type="triangle" w="med" len="med"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endParaRPr lang="en-CA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542A3BB-5753-057C-89E0-506CDBF368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609" y="2071688"/>
            <a:ext cx="2168525" cy="33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r>
              <a:rPr lang="en-US" altLang="en-US" sz="1600" b="1">
                <a:latin typeface="Times New Roman" panose="02020603050405020304" pitchFamily="18" charset="0"/>
              </a:rPr>
              <a:t>Data can go either way</a:t>
            </a:r>
          </a:p>
        </p:txBody>
      </p:sp>
    </p:spTree>
    <p:extLst>
      <p:ext uri="{BB962C8B-B14F-4D97-AF65-F5344CB8AC3E}">
        <p14:creationId xmlns:p14="http://schemas.microsoft.com/office/powerpoint/2010/main" val="7273826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76D89F-BB44-ECCC-D50B-A359878D9B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Bus Organization: One Bus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F7198B-4467-D14B-8186-737607BAC5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429000"/>
            <a:ext cx="10515600" cy="2747963"/>
          </a:xfrm>
        </p:spPr>
        <p:txBody>
          <a:bodyPr>
            <a:normAutofit lnSpcReduction="10000"/>
          </a:bodyPr>
          <a:lstStyle/>
          <a:p>
            <a:r>
              <a:rPr lang="en-US" altLang="en-US" dirty="0"/>
              <a:t>A single bus (the backplane bus) is used for:</a:t>
            </a:r>
          </a:p>
          <a:p>
            <a:pPr lvl="1"/>
            <a:r>
              <a:rPr lang="en-US" altLang="en-US" dirty="0"/>
              <a:t>Processor to memory communication</a:t>
            </a:r>
          </a:p>
          <a:p>
            <a:pPr lvl="1"/>
            <a:r>
              <a:rPr lang="en-US" altLang="en-US" dirty="0"/>
              <a:t>Communication between I/O devices and memory</a:t>
            </a:r>
          </a:p>
          <a:p>
            <a:r>
              <a:rPr lang="en-US" altLang="en-US" dirty="0"/>
              <a:t>Advantages: Simple and low cost</a:t>
            </a:r>
          </a:p>
          <a:p>
            <a:r>
              <a:rPr lang="en-US" altLang="en-US" dirty="0"/>
              <a:t>Disadvantages: slow and the bus can become a major bottleneck</a:t>
            </a:r>
          </a:p>
          <a:p>
            <a:r>
              <a:rPr lang="en-US" altLang="en-US" dirty="0"/>
              <a:t>Example: IBM PC - AT</a:t>
            </a:r>
          </a:p>
          <a:p>
            <a:endParaRPr lang="en-CA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0CE8E9-0924-B117-A759-550031597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EDBAE1-F4DB-058C-2292-06E3C40EE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526213-51AD-5A05-C3C5-DDC24B409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12</a:t>
            </a:fld>
            <a:endParaRPr lang="en-C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74F26DB-9845-F585-AEC0-24D4F2E0E9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39546" y="1855788"/>
            <a:ext cx="1346200" cy="584200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endParaRPr lang="en-CA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39CFE1C-032E-CC3B-016E-A5C10465CE30}"/>
              </a:ext>
            </a:extLst>
          </p:cNvPr>
          <p:cNvGrpSpPr>
            <a:grpSpLocks/>
          </p:cNvGrpSpPr>
          <p:nvPr/>
        </p:nvGrpSpPr>
        <p:grpSpPr bwMode="auto">
          <a:xfrm>
            <a:off x="3884246" y="2389188"/>
            <a:ext cx="609600" cy="431800"/>
            <a:chOff x="1680" y="1160"/>
            <a:chExt cx="384" cy="272"/>
          </a:xfrm>
        </p:grpSpPr>
        <p:sp>
          <p:nvSpPr>
            <p:cNvPr id="37" name="Oval 36">
              <a:extLst>
                <a:ext uri="{FF2B5EF4-FFF2-40B4-BE49-F238E27FC236}">
                  <a16:creationId xmlns:a16="http://schemas.microsoft.com/office/drawing/2014/main" id="{02B3B663-9342-3664-4E2A-8FA5BB9746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88" y="1160"/>
              <a:ext cx="368" cy="8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38" name="Arc 7">
              <a:extLst>
                <a:ext uri="{FF2B5EF4-FFF2-40B4-BE49-F238E27FC236}">
                  <a16:creationId xmlns:a16="http://schemas.microsoft.com/office/drawing/2014/main" id="{5AEE7F0C-66FA-694F-D979-56B79DA37CEC}"/>
                </a:ext>
              </a:extLst>
            </p:cNvPr>
            <p:cNvSpPr>
              <a:spLocks/>
            </p:cNvSpPr>
            <p:nvPr/>
          </p:nvSpPr>
          <p:spPr bwMode="auto">
            <a:xfrm>
              <a:off x="1872" y="1392"/>
              <a:ext cx="184" cy="40"/>
            </a:xfrm>
            <a:custGeom>
              <a:avLst/>
              <a:gdLst>
                <a:gd name="G0" fmla="+- 0 0 0"/>
                <a:gd name="G1" fmla="+- 0 0 0"/>
                <a:gd name="G2" fmla="+- 21600 0 0"/>
                <a:gd name="T0" fmla="*/ 21600 w 21600"/>
                <a:gd name="T1" fmla="*/ 0 h 21600"/>
                <a:gd name="T2" fmla="*/ 0 w 21600"/>
                <a:gd name="T3" fmla="*/ 21600 h 21600"/>
                <a:gd name="T4" fmla="*/ 0 w 21600"/>
                <a:gd name="T5" fmla="*/ 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599"/>
                  </a:cubicBezTo>
                </a:path>
                <a:path w="21600" h="21600" stroke="0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599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 w="25400" cap="rnd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39" name="Arc 8">
              <a:extLst>
                <a:ext uri="{FF2B5EF4-FFF2-40B4-BE49-F238E27FC236}">
                  <a16:creationId xmlns:a16="http://schemas.microsoft.com/office/drawing/2014/main" id="{C64CDB93-CB69-4D3A-AD04-164A63029927}"/>
                </a:ext>
              </a:extLst>
            </p:cNvPr>
            <p:cNvSpPr>
              <a:spLocks/>
            </p:cNvSpPr>
            <p:nvPr/>
          </p:nvSpPr>
          <p:spPr bwMode="auto">
            <a:xfrm>
              <a:off x="1689" y="1392"/>
              <a:ext cx="184" cy="40"/>
            </a:xfrm>
            <a:custGeom>
              <a:avLst/>
              <a:gdLst>
                <a:gd name="G0" fmla="+- 21600 0 0"/>
                <a:gd name="G1" fmla="+- 0 0 0"/>
                <a:gd name="G2" fmla="+- 21600 0 0"/>
                <a:gd name="T0" fmla="*/ 21600 w 21600"/>
                <a:gd name="T1" fmla="*/ 21600 h 21600"/>
                <a:gd name="T2" fmla="*/ 0 w 21600"/>
                <a:gd name="T3" fmla="*/ 0 h 21600"/>
                <a:gd name="T4" fmla="*/ 21600 w 21600"/>
                <a:gd name="T5" fmla="*/ 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599"/>
                  </a:moveTo>
                  <a:cubicBezTo>
                    <a:pt x="9670" y="21599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599"/>
                  </a:moveTo>
                  <a:cubicBezTo>
                    <a:pt x="9670" y="21599"/>
                    <a:pt x="0" y="11929"/>
                    <a:pt x="0" y="0"/>
                  </a:cubicBezTo>
                  <a:lnTo>
                    <a:pt x="21600" y="0"/>
                  </a:lnTo>
                  <a:close/>
                </a:path>
              </a:pathLst>
            </a:custGeom>
            <a:noFill/>
            <a:ln w="25400" cap="rnd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40" name="Line 9">
              <a:extLst>
                <a:ext uri="{FF2B5EF4-FFF2-40B4-BE49-F238E27FC236}">
                  <a16:creationId xmlns:a16="http://schemas.microsoft.com/office/drawing/2014/main" id="{B1043856-4913-A7F9-8A46-31BC0E9C1CF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64" y="1208"/>
              <a:ext cx="0" cy="17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41" name="Line 10">
              <a:extLst>
                <a:ext uri="{FF2B5EF4-FFF2-40B4-BE49-F238E27FC236}">
                  <a16:creationId xmlns:a16="http://schemas.microsoft.com/office/drawing/2014/main" id="{DF512636-EB70-C0C6-C07C-BAE62FE4AF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80" y="1208"/>
              <a:ext cx="0" cy="17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8D30D475-387B-10D7-D05A-B931CBB347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4959" y="1995488"/>
            <a:ext cx="1028700" cy="33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r>
              <a:rPr lang="en-US" altLang="en-US" sz="1600" b="1">
                <a:latin typeface="Times New Roman" panose="02020603050405020304" pitchFamily="18" charset="0"/>
              </a:rPr>
              <a:t>Processor</a:t>
            </a:r>
          </a:p>
        </p:txBody>
      </p:sp>
      <p:sp>
        <p:nvSpPr>
          <p:cNvPr id="10" name="Line 12">
            <a:extLst>
              <a:ext uri="{FF2B5EF4-FFF2-40B4-BE49-F238E27FC236}">
                <a16:creationId xmlns:a16="http://schemas.microsoft.com/office/drawing/2014/main" id="{F7186839-23DF-DAA3-632A-718FFB2D9BA3}"/>
              </a:ext>
            </a:extLst>
          </p:cNvPr>
          <p:cNvSpPr>
            <a:spLocks noChangeShapeType="1"/>
          </p:cNvSpPr>
          <p:nvPr/>
        </p:nvSpPr>
        <p:spPr bwMode="auto">
          <a:xfrm>
            <a:off x="3211146" y="1995488"/>
            <a:ext cx="500380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endParaRPr lang="en-CA"/>
          </a:p>
        </p:txBody>
      </p:sp>
      <p:sp>
        <p:nvSpPr>
          <p:cNvPr id="11" name="Line 13">
            <a:extLst>
              <a:ext uri="{FF2B5EF4-FFF2-40B4-BE49-F238E27FC236}">
                <a16:creationId xmlns:a16="http://schemas.microsoft.com/office/drawing/2014/main" id="{93F5C1C3-1709-A35F-DE55-E833D60FC321}"/>
              </a:ext>
            </a:extLst>
          </p:cNvPr>
          <p:cNvSpPr>
            <a:spLocks noChangeShapeType="1"/>
          </p:cNvSpPr>
          <p:nvPr/>
        </p:nvSpPr>
        <p:spPr bwMode="auto">
          <a:xfrm>
            <a:off x="4189046" y="2008188"/>
            <a:ext cx="0" cy="43180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endParaRPr lang="en-C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7C26414-504D-8E50-08C0-191C6B8139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240346" y="1855788"/>
            <a:ext cx="1346200" cy="584200"/>
          </a:xfrm>
          <a:prstGeom prst="rect">
            <a:avLst/>
          </a:prstGeom>
          <a:noFill/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endParaRPr lang="en-CA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A029FDD-8BE2-9A52-2424-5173BA9C24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41959" y="1995488"/>
            <a:ext cx="927100" cy="33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r>
              <a:rPr lang="en-US" altLang="en-US" sz="1600" b="1">
                <a:latin typeface="Times New Roman" panose="02020603050405020304" pitchFamily="18" charset="0"/>
              </a:rPr>
              <a:t>Memory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3872FD5-9F8B-BA01-8085-86DD4E22FC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41559" y="2833688"/>
            <a:ext cx="1182687" cy="33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r>
              <a:rPr lang="en-US" altLang="en-US" sz="1600" b="1">
                <a:latin typeface="Times New Roman" panose="02020603050405020304" pitchFamily="18" charset="0"/>
              </a:rPr>
              <a:t>I/O Devices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2653105-8BEE-0972-588F-8F1243F4241E}"/>
              </a:ext>
            </a:extLst>
          </p:cNvPr>
          <p:cNvGrpSpPr>
            <a:grpSpLocks/>
          </p:cNvGrpSpPr>
          <p:nvPr/>
        </p:nvGrpSpPr>
        <p:grpSpPr bwMode="auto">
          <a:xfrm>
            <a:off x="4798646" y="2389188"/>
            <a:ext cx="609600" cy="431800"/>
            <a:chOff x="2256" y="1160"/>
            <a:chExt cx="384" cy="272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06D10F68-D7F5-9D53-4100-8A6805B5D2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64" y="1160"/>
              <a:ext cx="368" cy="8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33" name="Arc 19">
              <a:extLst>
                <a:ext uri="{FF2B5EF4-FFF2-40B4-BE49-F238E27FC236}">
                  <a16:creationId xmlns:a16="http://schemas.microsoft.com/office/drawing/2014/main" id="{90554FA4-973F-04BF-64EA-61D14CC3F06C}"/>
                </a:ext>
              </a:extLst>
            </p:cNvPr>
            <p:cNvSpPr>
              <a:spLocks/>
            </p:cNvSpPr>
            <p:nvPr/>
          </p:nvSpPr>
          <p:spPr bwMode="auto">
            <a:xfrm>
              <a:off x="2448" y="1392"/>
              <a:ext cx="184" cy="40"/>
            </a:xfrm>
            <a:custGeom>
              <a:avLst/>
              <a:gdLst>
                <a:gd name="G0" fmla="+- 0 0 0"/>
                <a:gd name="G1" fmla="+- 0 0 0"/>
                <a:gd name="G2" fmla="+- 21600 0 0"/>
                <a:gd name="T0" fmla="*/ 21600 w 21600"/>
                <a:gd name="T1" fmla="*/ 0 h 21600"/>
                <a:gd name="T2" fmla="*/ 0 w 21600"/>
                <a:gd name="T3" fmla="*/ 21600 h 21600"/>
                <a:gd name="T4" fmla="*/ 0 w 21600"/>
                <a:gd name="T5" fmla="*/ 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599"/>
                  </a:cubicBezTo>
                </a:path>
                <a:path w="21600" h="21600" stroke="0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599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 w="25400" cap="rnd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34" name="Arc 20">
              <a:extLst>
                <a:ext uri="{FF2B5EF4-FFF2-40B4-BE49-F238E27FC236}">
                  <a16:creationId xmlns:a16="http://schemas.microsoft.com/office/drawing/2014/main" id="{72A83336-8271-7DCD-DE43-AB1E961AE84A}"/>
                </a:ext>
              </a:extLst>
            </p:cNvPr>
            <p:cNvSpPr>
              <a:spLocks/>
            </p:cNvSpPr>
            <p:nvPr/>
          </p:nvSpPr>
          <p:spPr bwMode="auto">
            <a:xfrm>
              <a:off x="2265" y="1392"/>
              <a:ext cx="184" cy="40"/>
            </a:xfrm>
            <a:custGeom>
              <a:avLst/>
              <a:gdLst>
                <a:gd name="G0" fmla="+- 21600 0 0"/>
                <a:gd name="G1" fmla="+- 0 0 0"/>
                <a:gd name="G2" fmla="+- 21600 0 0"/>
                <a:gd name="T0" fmla="*/ 21600 w 21600"/>
                <a:gd name="T1" fmla="*/ 21600 h 21600"/>
                <a:gd name="T2" fmla="*/ 0 w 21600"/>
                <a:gd name="T3" fmla="*/ 0 h 21600"/>
                <a:gd name="T4" fmla="*/ 21600 w 21600"/>
                <a:gd name="T5" fmla="*/ 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599"/>
                  </a:moveTo>
                  <a:cubicBezTo>
                    <a:pt x="9670" y="21599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599"/>
                  </a:moveTo>
                  <a:cubicBezTo>
                    <a:pt x="9670" y="21599"/>
                    <a:pt x="0" y="11929"/>
                    <a:pt x="0" y="0"/>
                  </a:cubicBezTo>
                  <a:lnTo>
                    <a:pt x="21600" y="0"/>
                  </a:lnTo>
                  <a:close/>
                </a:path>
              </a:pathLst>
            </a:custGeom>
            <a:noFill/>
            <a:ln w="25400" cap="rnd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35" name="Line 21">
              <a:extLst>
                <a:ext uri="{FF2B5EF4-FFF2-40B4-BE49-F238E27FC236}">
                  <a16:creationId xmlns:a16="http://schemas.microsoft.com/office/drawing/2014/main" id="{E46A9852-A409-9E29-18A5-5E563CAAE66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40" y="1208"/>
              <a:ext cx="0" cy="17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36" name="Line 22">
              <a:extLst>
                <a:ext uri="{FF2B5EF4-FFF2-40B4-BE49-F238E27FC236}">
                  <a16:creationId xmlns:a16="http://schemas.microsoft.com/office/drawing/2014/main" id="{E1AC8367-8301-2CDC-51B3-1EAC1BFBEBB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256" y="1208"/>
              <a:ext cx="0" cy="17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</p:grpSp>
      <p:sp>
        <p:nvSpPr>
          <p:cNvPr id="16" name="Line 23">
            <a:extLst>
              <a:ext uri="{FF2B5EF4-FFF2-40B4-BE49-F238E27FC236}">
                <a16:creationId xmlns:a16="http://schemas.microsoft.com/office/drawing/2014/main" id="{17BA9C12-BFC3-614E-F59B-ED97F1695B2C}"/>
              </a:ext>
            </a:extLst>
          </p:cNvPr>
          <p:cNvSpPr>
            <a:spLocks noChangeShapeType="1"/>
          </p:cNvSpPr>
          <p:nvPr/>
        </p:nvSpPr>
        <p:spPr bwMode="auto">
          <a:xfrm>
            <a:off x="5103446" y="2008188"/>
            <a:ext cx="0" cy="43180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endParaRPr lang="en-CA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E75C3A9-D9FD-C065-78D0-2834C36AD236}"/>
              </a:ext>
            </a:extLst>
          </p:cNvPr>
          <p:cNvGrpSpPr>
            <a:grpSpLocks/>
          </p:cNvGrpSpPr>
          <p:nvPr/>
        </p:nvGrpSpPr>
        <p:grpSpPr bwMode="auto">
          <a:xfrm>
            <a:off x="5713046" y="2389188"/>
            <a:ext cx="609600" cy="431800"/>
            <a:chOff x="2832" y="1160"/>
            <a:chExt cx="384" cy="272"/>
          </a:xfrm>
        </p:grpSpPr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987C5D6A-99C1-ED50-9BA6-44721C5EC4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40" y="1160"/>
              <a:ext cx="368" cy="8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28" name="Arc 26">
              <a:extLst>
                <a:ext uri="{FF2B5EF4-FFF2-40B4-BE49-F238E27FC236}">
                  <a16:creationId xmlns:a16="http://schemas.microsoft.com/office/drawing/2014/main" id="{686F110C-DAF0-C0CF-7241-273CEB9ADD21}"/>
                </a:ext>
              </a:extLst>
            </p:cNvPr>
            <p:cNvSpPr>
              <a:spLocks/>
            </p:cNvSpPr>
            <p:nvPr/>
          </p:nvSpPr>
          <p:spPr bwMode="auto">
            <a:xfrm>
              <a:off x="3024" y="1392"/>
              <a:ext cx="184" cy="40"/>
            </a:xfrm>
            <a:custGeom>
              <a:avLst/>
              <a:gdLst>
                <a:gd name="G0" fmla="+- 0 0 0"/>
                <a:gd name="G1" fmla="+- 0 0 0"/>
                <a:gd name="G2" fmla="+- 21600 0 0"/>
                <a:gd name="T0" fmla="*/ 21600 w 21600"/>
                <a:gd name="T1" fmla="*/ 0 h 21600"/>
                <a:gd name="T2" fmla="*/ 0 w 21600"/>
                <a:gd name="T3" fmla="*/ 21600 h 21600"/>
                <a:gd name="T4" fmla="*/ 0 w 21600"/>
                <a:gd name="T5" fmla="*/ 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599"/>
                  </a:cubicBezTo>
                </a:path>
                <a:path w="21600" h="21600" stroke="0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599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 w="25400" cap="rnd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29" name="Arc 27">
              <a:extLst>
                <a:ext uri="{FF2B5EF4-FFF2-40B4-BE49-F238E27FC236}">
                  <a16:creationId xmlns:a16="http://schemas.microsoft.com/office/drawing/2014/main" id="{95C7FEF9-7669-6958-D105-A554A627DAEF}"/>
                </a:ext>
              </a:extLst>
            </p:cNvPr>
            <p:cNvSpPr>
              <a:spLocks/>
            </p:cNvSpPr>
            <p:nvPr/>
          </p:nvSpPr>
          <p:spPr bwMode="auto">
            <a:xfrm>
              <a:off x="2841" y="1392"/>
              <a:ext cx="184" cy="40"/>
            </a:xfrm>
            <a:custGeom>
              <a:avLst/>
              <a:gdLst>
                <a:gd name="G0" fmla="+- 21600 0 0"/>
                <a:gd name="G1" fmla="+- 0 0 0"/>
                <a:gd name="G2" fmla="+- 21600 0 0"/>
                <a:gd name="T0" fmla="*/ 21600 w 21600"/>
                <a:gd name="T1" fmla="*/ 21600 h 21600"/>
                <a:gd name="T2" fmla="*/ 0 w 21600"/>
                <a:gd name="T3" fmla="*/ 0 h 21600"/>
                <a:gd name="T4" fmla="*/ 21600 w 21600"/>
                <a:gd name="T5" fmla="*/ 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599"/>
                  </a:moveTo>
                  <a:cubicBezTo>
                    <a:pt x="9670" y="21599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599"/>
                  </a:moveTo>
                  <a:cubicBezTo>
                    <a:pt x="9670" y="21599"/>
                    <a:pt x="0" y="11929"/>
                    <a:pt x="0" y="0"/>
                  </a:cubicBezTo>
                  <a:lnTo>
                    <a:pt x="21600" y="0"/>
                  </a:lnTo>
                  <a:close/>
                </a:path>
              </a:pathLst>
            </a:custGeom>
            <a:noFill/>
            <a:ln w="25400" cap="rnd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30" name="Line 28">
              <a:extLst>
                <a:ext uri="{FF2B5EF4-FFF2-40B4-BE49-F238E27FC236}">
                  <a16:creationId xmlns:a16="http://schemas.microsoft.com/office/drawing/2014/main" id="{6E5EF369-55CB-9302-637D-87D715EF593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16" y="1208"/>
              <a:ext cx="0" cy="17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31" name="Line 29">
              <a:extLst>
                <a:ext uri="{FF2B5EF4-FFF2-40B4-BE49-F238E27FC236}">
                  <a16:creationId xmlns:a16="http://schemas.microsoft.com/office/drawing/2014/main" id="{9F2A7F66-18F0-B8CA-7A11-09862404A3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32" y="1208"/>
              <a:ext cx="0" cy="17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</p:grpSp>
      <p:sp>
        <p:nvSpPr>
          <p:cNvPr id="18" name="Line 30">
            <a:extLst>
              <a:ext uri="{FF2B5EF4-FFF2-40B4-BE49-F238E27FC236}">
                <a16:creationId xmlns:a16="http://schemas.microsoft.com/office/drawing/2014/main" id="{7D1C6264-878B-6C96-CDC6-68458329E043}"/>
              </a:ext>
            </a:extLst>
          </p:cNvPr>
          <p:cNvSpPr>
            <a:spLocks noChangeShapeType="1"/>
          </p:cNvSpPr>
          <p:nvPr/>
        </p:nvSpPr>
        <p:spPr bwMode="auto">
          <a:xfrm>
            <a:off x="6017846" y="2008188"/>
            <a:ext cx="0" cy="43180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endParaRPr lang="en-CA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A4F2F06-67D3-A647-701F-6394588B20A4}"/>
              </a:ext>
            </a:extLst>
          </p:cNvPr>
          <p:cNvGrpSpPr>
            <a:grpSpLocks/>
          </p:cNvGrpSpPr>
          <p:nvPr/>
        </p:nvGrpSpPr>
        <p:grpSpPr bwMode="auto">
          <a:xfrm>
            <a:off x="6627446" y="2389188"/>
            <a:ext cx="609600" cy="431800"/>
            <a:chOff x="3408" y="1160"/>
            <a:chExt cx="384" cy="272"/>
          </a:xfrm>
        </p:grpSpPr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AA7C14EF-3C92-8684-EB3F-0F82D1DDA1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16" y="1160"/>
              <a:ext cx="368" cy="80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23" name="Arc 33">
              <a:extLst>
                <a:ext uri="{FF2B5EF4-FFF2-40B4-BE49-F238E27FC236}">
                  <a16:creationId xmlns:a16="http://schemas.microsoft.com/office/drawing/2014/main" id="{D2C5BF4F-A92F-7106-5DBE-4DB83DF8AB19}"/>
                </a:ext>
              </a:extLst>
            </p:cNvPr>
            <p:cNvSpPr>
              <a:spLocks/>
            </p:cNvSpPr>
            <p:nvPr/>
          </p:nvSpPr>
          <p:spPr bwMode="auto">
            <a:xfrm>
              <a:off x="3600" y="1392"/>
              <a:ext cx="184" cy="40"/>
            </a:xfrm>
            <a:custGeom>
              <a:avLst/>
              <a:gdLst>
                <a:gd name="G0" fmla="+- 0 0 0"/>
                <a:gd name="G1" fmla="+- 0 0 0"/>
                <a:gd name="G2" fmla="+- 21600 0 0"/>
                <a:gd name="T0" fmla="*/ 21600 w 21600"/>
                <a:gd name="T1" fmla="*/ 0 h 21600"/>
                <a:gd name="T2" fmla="*/ 0 w 21600"/>
                <a:gd name="T3" fmla="*/ 21600 h 21600"/>
                <a:gd name="T4" fmla="*/ 0 w 21600"/>
                <a:gd name="T5" fmla="*/ 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599"/>
                  </a:cubicBezTo>
                </a:path>
                <a:path w="21600" h="21600" stroke="0" extrusionOk="0">
                  <a:moveTo>
                    <a:pt x="21600" y="0"/>
                  </a:moveTo>
                  <a:cubicBezTo>
                    <a:pt x="21600" y="11929"/>
                    <a:pt x="11929" y="21599"/>
                    <a:pt x="0" y="21599"/>
                  </a:cubicBezTo>
                  <a:lnTo>
                    <a:pt x="0" y="0"/>
                  </a:lnTo>
                  <a:close/>
                </a:path>
              </a:pathLst>
            </a:custGeom>
            <a:noFill/>
            <a:ln w="25400" cap="rnd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24" name="Arc 34">
              <a:extLst>
                <a:ext uri="{FF2B5EF4-FFF2-40B4-BE49-F238E27FC236}">
                  <a16:creationId xmlns:a16="http://schemas.microsoft.com/office/drawing/2014/main" id="{700AC348-9EFD-46DF-900C-2AACC3B77689}"/>
                </a:ext>
              </a:extLst>
            </p:cNvPr>
            <p:cNvSpPr>
              <a:spLocks/>
            </p:cNvSpPr>
            <p:nvPr/>
          </p:nvSpPr>
          <p:spPr bwMode="auto">
            <a:xfrm>
              <a:off x="3417" y="1392"/>
              <a:ext cx="184" cy="40"/>
            </a:xfrm>
            <a:custGeom>
              <a:avLst/>
              <a:gdLst>
                <a:gd name="G0" fmla="+- 21600 0 0"/>
                <a:gd name="G1" fmla="+- 0 0 0"/>
                <a:gd name="G2" fmla="+- 21600 0 0"/>
                <a:gd name="T0" fmla="*/ 21600 w 21600"/>
                <a:gd name="T1" fmla="*/ 21600 h 21600"/>
                <a:gd name="T2" fmla="*/ 0 w 21600"/>
                <a:gd name="T3" fmla="*/ 0 h 21600"/>
                <a:gd name="T4" fmla="*/ 21600 w 21600"/>
                <a:gd name="T5" fmla="*/ 0 h 216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1600" h="21600" fill="none" extrusionOk="0">
                  <a:moveTo>
                    <a:pt x="21600" y="21599"/>
                  </a:moveTo>
                  <a:cubicBezTo>
                    <a:pt x="9670" y="21599"/>
                    <a:pt x="0" y="11929"/>
                    <a:pt x="0" y="0"/>
                  </a:cubicBezTo>
                </a:path>
                <a:path w="21600" h="21600" stroke="0" extrusionOk="0">
                  <a:moveTo>
                    <a:pt x="21600" y="21599"/>
                  </a:moveTo>
                  <a:cubicBezTo>
                    <a:pt x="9670" y="21599"/>
                    <a:pt x="0" y="11929"/>
                    <a:pt x="0" y="0"/>
                  </a:cubicBezTo>
                  <a:lnTo>
                    <a:pt x="21600" y="0"/>
                  </a:lnTo>
                  <a:close/>
                </a:path>
              </a:pathLst>
            </a:custGeom>
            <a:noFill/>
            <a:ln w="25400" cap="rnd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25" name="Line 35">
              <a:extLst>
                <a:ext uri="{FF2B5EF4-FFF2-40B4-BE49-F238E27FC236}">
                  <a16:creationId xmlns:a16="http://schemas.microsoft.com/office/drawing/2014/main" id="{35DF61FD-83B7-54A9-6688-3AD41C86805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92" y="1208"/>
              <a:ext cx="0" cy="17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26" name="Line 36">
              <a:extLst>
                <a:ext uri="{FF2B5EF4-FFF2-40B4-BE49-F238E27FC236}">
                  <a16:creationId xmlns:a16="http://schemas.microsoft.com/office/drawing/2014/main" id="{C783BD0A-BE34-1F08-3DA2-C7F0B305F44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408" y="1208"/>
              <a:ext cx="0" cy="176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</p:grpSp>
      <p:sp>
        <p:nvSpPr>
          <p:cNvPr id="20" name="Line 37">
            <a:extLst>
              <a:ext uri="{FF2B5EF4-FFF2-40B4-BE49-F238E27FC236}">
                <a16:creationId xmlns:a16="http://schemas.microsoft.com/office/drawing/2014/main" id="{2171CC32-9B82-15B2-9CCB-B5CFA3F121DB}"/>
              </a:ext>
            </a:extLst>
          </p:cNvPr>
          <p:cNvSpPr>
            <a:spLocks noChangeShapeType="1"/>
          </p:cNvSpPr>
          <p:nvPr/>
        </p:nvSpPr>
        <p:spPr bwMode="auto">
          <a:xfrm>
            <a:off x="6932246" y="2008188"/>
            <a:ext cx="0" cy="43180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endParaRPr lang="en-CA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3997090-1EC4-F7CE-3EE0-ECF05CEA1E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60559" y="1690688"/>
            <a:ext cx="1473200" cy="333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0488" tIns="44450" rIns="90488" bIns="44450">
            <a:sp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r>
              <a:rPr lang="en-US" altLang="en-US" sz="1600" b="1">
                <a:latin typeface="Times New Roman" panose="02020603050405020304" pitchFamily="18" charset="0"/>
              </a:rPr>
              <a:t>Backplane Bus</a:t>
            </a:r>
          </a:p>
        </p:txBody>
      </p:sp>
    </p:spTree>
    <p:extLst>
      <p:ext uri="{BB962C8B-B14F-4D97-AF65-F5344CB8AC3E}">
        <p14:creationId xmlns:p14="http://schemas.microsoft.com/office/powerpoint/2010/main" val="13056267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70018-5CA4-6233-6701-3DDCC9EF5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976A87-2689-8D54-073D-B33F1C2DC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Bus Organization: Two Buses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D43A19-3CED-8218-1D5A-EA7F7828F1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5831" y="3868162"/>
            <a:ext cx="10515600" cy="2418197"/>
          </a:xfrm>
        </p:spPr>
        <p:txBody>
          <a:bodyPr>
            <a:normAutofit lnSpcReduction="10000"/>
          </a:bodyPr>
          <a:lstStyle/>
          <a:p>
            <a:pPr>
              <a:spcBef>
                <a:spcPct val="15000"/>
              </a:spcBef>
            </a:pPr>
            <a:r>
              <a:rPr lang="en-US" altLang="en-US" dirty="0"/>
              <a:t>I/O buses tap into the processor-memory bus via bus adaptors:</a:t>
            </a:r>
          </a:p>
          <a:p>
            <a:pPr lvl="1">
              <a:spcBef>
                <a:spcPct val="15000"/>
              </a:spcBef>
            </a:pPr>
            <a:r>
              <a:rPr lang="en-US" altLang="en-US" dirty="0"/>
              <a:t>Processor-memory bus: mainly for processor-memory traffic</a:t>
            </a:r>
          </a:p>
          <a:p>
            <a:pPr lvl="1">
              <a:spcBef>
                <a:spcPct val="15000"/>
              </a:spcBef>
            </a:pPr>
            <a:r>
              <a:rPr lang="en-US" altLang="en-US" dirty="0"/>
              <a:t>I/O buses: provide expansion slots for I/O devices</a:t>
            </a:r>
          </a:p>
          <a:p>
            <a:pPr>
              <a:spcBef>
                <a:spcPct val="15000"/>
              </a:spcBef>
            </a:pPr>
            <a:r>
              <a:rPr lang="en-US" altLang="en-US" dirty="0"/>
              <a:t>Apple Macintosh-II</a:t>
            </a:r>
          </a:p>
          <a:p>
            <a:pPr lvl="1">
              <a:spcBef>
                <a:spcPct val="15000"/>
              </a:spcBef>
            </a:pPr>
            <a:r>
              <a:rPr lang="en-US" altLang="en-US" dirty="0" err="1"/>
              <a:t>NuBus</a:t>
            </a:r>
            <a:r>
              <a:rPr lang="en-US" altLang="en-US" dirty="0"/>
              <a:t>: Processor, memory, and a few selected I/O devices</a:t>
            </a:r>
          </a:p>
          <a:p>
            <a:pPr lvl="1">
              <a:spcBef>
                <a:spcPct val="15000"/>
              </a:spcBef>
            </a:pPr>
            <a:r>
              <a:rPr lang="en-US" altLang="en-US" dirty="0"/>
              <a:t>SCCI Bus: the rest of the I/O devices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1552DD-3FA9-46B3-446B-F5A8DB0F0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84F0D6-C5EC-9299-93FB-959F4FBB4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3C4AF3-00B7-FFC0-6E8E-E42C802CF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13</a:t>
            </a:fld>
            <a:endParaRPr lang="en-CA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71ED50A3-CC3C-78A2-8BEC-6D65B01EB353}"/>
              </a:ext>
            </a:extLst>
          </p:cNvPr>
          <p:cNvGrpSpPr>
            <a:grpSpLocks/>
          </p:cNvGrpSpPr>
          <p:nvPr/>
        </p:nvGrpSpPr>
        <p:grpSpPr bwMode="auto">
          <a:xfrm>
            <a:off x="1494843" y="1405317"/>
            <a:ext cx="7115757" cy="2298040"/>
            <a:chOff x="440" y="672"/>
            <a:chExt cx="4880" cy="1576"/>
          </a:xfrm>
        </p:grpSpPr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07CFFF61-A16D-5FE4-19E0-19E5FBFC3B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0" y="776"/>
              <a:ext cx="848" cy="368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279D648C-49F3-E36D-5698-A08B2834CD2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968" y="1976"/>
              <a:ext cx="384" cy="272"/>
              <a:chOff x="1968" y="1976"/>
              <a:chExt cx="384" cy="272"/>
            </a:xfrm>
          </p:grpSpPr>
          <p:sp>
            <p:nvSpPr>
              <p:cNvPr id="101" name="Oval 100">
                <a:extLst>
                  <a:ext uri="{FF2B5EF4-FFF2-40B4-BE49-F238E27FC236}">
                    <a16:creationId xmlns:a16="http://schemas.microsoft.com/office/drawing/2014/main" id="{C7F4BC33-E49D-5A7F-242D-E2C2292CF4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76" y="1976"/>
                <a:ext cx="368" cy="80"/>
              </a:xfrm>
              <a:prstGeom prst="ellips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102" name="Arc 7">
                <a:extLst>
                  <a:ext uri="{FF2B5EF4-FFF2-40B4-BE49-F238E27FC236}">
                    <a16:creationId xmlns:a16="http://schemas.microsoft.com/office/drawing/2014/main" id="{306CEA3A-9A71-A491-E7FC-237F02F22E1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160" y="2208"/>
                <a:ext cx="184" cy="40"/>
              </a:xfrm>
              <a:custGeom>
                <a:avLst/>
                <a:gdLst>
                  <a:gd name="G0" fmla="+- 0 0 0"/>
                  <a:gd name="G1" fmla="+- 0 0 0"/>
                  <a:gd name="G2" fmla="+- 21600 0 0"/>
                  <a:gd name="T0" fmla="*/ 21600 w 21600"/>
                  <a:gd name="T1" fmla="*/ 0 h 21600"/>
                  <a:gd name="T2" fmla="*/ 0 w 21600"/>
                  <a:gd name="T3" fmla="*/ 21600 h 21600"/>
                  <a:gd name="T4" fmla="*/ 0 w 21600"/>
                  <a:gd name="T5" fmla="*/ 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599"/>
                    </a:cubicBezTo>
                  </a:path>
                  <a:path w="21600" h="21600" stroke="0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599"/>
                    </a:cubicBezTo>
                    <a:lnTo>
                      <a:pt x="0" y="0"/>
                    </a:lnTo>
                    <a:close/>
                  </a:path>
                </a:pathLst>
              </a:custGeom>
              <a:noFill/>
              <a:ln w="25400" cap="rnd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103" name="Arc 8">
                <a:extLst>
                  <a:ext uri="{FF2B5EF4-FFF2-40B4-BE49-F238E27FC236}">
                    <a16:creationId xmlns:a16="http://schemas.microsoft.com/office/drawing/2014/main" id="{7B46BCD8-58E9-0D17-38F6-A12B169379F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977" y="2208"/>
                <a:ext cx="184" cy="40"/>
              </a:xfrm>
              <a:custGeom>
                <a:avLst/>
                <a:gdLst>
                  <a:gd name="G0" fmla="+- 21600 0 0"/>
                  <a:gd name="G1" fmla="+- 0 0 0"/>
                  <a:gd name="G2" fmla="+- 21600 0 0"/>
                  <a:gd name="T0" fmla="*/ 21600 w 21600"/>
                  <a:gd name="T1" fmla="*/ 21600 h 21600"/>
                  <a:gd name="T2" fmla="*/ 0 w 21600"/>
                  <a:gd name="T3" fmla="*/ 0 h 21600"/>
                  <a:gd name="T4" fmla="*/ 21600 w 21600"/>
                  <a:gd name="T5" fmla="*/ 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599"/>
                    </a:moveTo>
                    <a:cubicBezTo>
                      <a:pt x="9670" y="21599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599"/>
                    </a:moveTo>
                    <a:cubicBezTo>
                      <a:pt x="9670" y="21599"/>
                      <a:pt x="0" y="11929"/>
                      <a:pt x="0" y="0"/>
                    </a:cubicBezTo>
                    <a:lnTo>
                      <a:pt x="21600" y="0"/>
                    </a:lnTo>
                    <a:close/>
                  </a:path>
                </a:pathLst>
              </a:custGeom>
              <a:noFill/>
              <a:ln w="25400" cap="rnd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104" name="Line 9">
                <a:extLst>
                  <a:ext uri="{FF2B5EF4-FFF2-40B4-BE49-F238E27FC236}">
                    <a16:creationId xmlns:a16="http://schemas.microsoft.com/office/drawing/2014/main" id="{CB2D3B91-2F57-CCB7-AEDD-A902E1FDAB6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2" y="2024"/>
                <a:ext cx="0" cy="176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105" name="Line 10">
                <a:extLst>
                  <a:ext uri="{FF2B5EF4-FFF2-40B4-BE49-F238E27FC236}">
                    <a16:creationId xmlns:a16="http://schemas.microsoft.com/office/drawing/2014/main" id="{69554C0A-A516-D7AA-20C1-B2C6B7E8C74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68" y="2024"/>
                <a:ext cx="0" cy="176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</p:grp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BDD29C6B-EA12-B5F4-C0B3-BE3B9B60DF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9" y="864"/>
              <a:ext cx="648" cy="2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r>
                <a:rPr lang="en-US" altLang="en-US" sz="1600" b="1">
                  <a:latin typeface="Times New Roman" panose="02020603050405020304" pitchFamily="18" charset="0"/>
                </a:rPr>
                <a:t>Processor</a:t>
              </a:r>
            </a:p>
          </p:txBody>
        </p:sp>
        <p:sp>
          <p:nvSpPr>
            <p:cNvPr id="46" name="Line 12">
              <a:extLst>
                <a:ext uri="{FF2B5EF4-FFF2-40B4-BE49-F238E27FC236}">
                  <a16:creationId xmlns:a16="http://schemas.microsoft.com/office/drawing/2014/main" id="{F75D1241-E9FA-7937-30E3-0734955084C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04" y="864"/>
              <a:ext cx="3152" cy="0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47" name="Line 13">
              <a:extLst>
                <a:ext uri="{FF2B5EF4-FFF2-40B4-BE49-F238E27FC236}">
                  <a16:creationId xmlns:a16="http://schemas.microsoft.com/office/drawing/2014/main" id="{9A4749F7-9BE7-52B6-7EA7-4AAF12D5CE5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6" y="872"/>
              <a:ext cx="0" cy="272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693C43B8-7452-A305-1ED7-50590E7355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72" y="776"/>
              <a:ext cx="848" cy="368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97248706-1E54-C1F1-BFB6-483B3097B6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99" y="864"/>
              <a:ext cx="584" cy="2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r>
                <a:rPr lang="en-US" altLang="en-US" sz="1600" b="1">
                  <a:latin typeface="Times New Roman" panose="02020603050405020304" pitchFamily="18" charset="0"/>
                </a:rPr>
                <a:t>Memory</a:t>
              </a: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24F4D5E8-B109-0BBE-F600-B8DAD823DF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83" y="1632"/>
              <a:ext cx="320" cy="36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en-US" sz="1600" b="1">
                  <a:latin typeface="Times New Roman" panose="02020603050405020304" pitchFamily="18" charset="0"/>
                </a:rPr>
                <a:t>I/O</a:t>
              </a:r>
            </a:p>
            <a:p>
              <a:pPr algn="ctr"/>
              <a:r>
                <a:rPr lang="en-US" altLang="en-US" sz="1600" b="1">
                  <a:latin typeface="Times New Roman" panose="02020603050405020304" pitchFamily="18" charset="0"/>
                </a:rPr>
                <a:t>Bus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C9F63215-46B2-8F17-15AD-736CF3F9E2F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968" y="1592"/>
              <a:ext cx="384" cy="272"/>
              <a:chOff x="1968" y="1592"/>
              <a:chExt cx="384" cy="272"/>
            </a:xfrm>
          </p:grpSpPr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EEEB28A7-8841-BCB1-A5EB-32D97BB87B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976" y="1592"/>
                <a:ext cx="368" cy="80"/>
              </a:xfrm>
              <a:prstGeom prst="ellips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97" name="Arc 19">
                <a:extLst>
                  <a:ext uri="{FF2B5EF4-FFF2-40B4-BE49-F238E27FC236}">
                    <a16:creationId xmlns:a16="http://schemas.microsoft.com/office/drawing/2014/main" id="{5F8B955D-4645-5B99-5E6A-ADC3AF72116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160" y="1824"/>
                <a:ext cx="184" cy="40"/>
              </a:xfrm>
              <a:custGeom>
                <a:avLst/>
                <a:gdLst>
                  <a:gd name="G0" fmla="+- 0 0 0"/>
                  <a:gd name="G1" fmla="+- 0 0 0"/>
                  <a:gd name="G2" fmla="+- 21600 0 0"/>
                  <a:gd name="T0" fmla="*/ 21600 w 21600"/>
                  <a:gd name="T1" fmla="*/ 0 h 21600"/>
                  <a:gd name="T2" fmla="*/ 0 w 21600"/>
                  <a:gd name="T3" fmla="*/ 21600 h 21600"/>
                  <a:gd name="T4" fmla="*/ 0 w 21600"/>
                  <a:gd name="T5" fmla="*/ 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599"/>
                    </a:cubicBezTo>
                  </a:path>
                  <a:path w="21600" h="21600" stroke="0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599"/>
                    </a:cubicBezTo>
                    <a:lnTo>
                      <a:pt x="0" y="0"/>
                    </a:lnTo>
                    <a:close/>
                  </a:path>
                </a:pathLst>
              </a:custGeom>
              <a:noFill/>
              <a:ln w="25400" cap="rnd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98" name="Arc 20">
                <a:extLst>
                  <a:ext uri="{FF2B5EF4-FFF2-40B4-BE49-F238E27FC236}">
                    <a16:creationId xmlns:a16="http://schemas.microsoft.com/office/drawing/2014/main" id="{9C931937-348C-75A9-E7B4-F69F340726F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977" y="1824"/>
                <a:ext cx="184" cy="40"/>
              </a:xfrm>
              <a:custGeom>
                <a:avLst/>
                <a:gdLst>
                  <a:gd name="G0" fmla="+- 21600 0 0"/>
                  <a:gd name="G1" fmla="+- 0 0 0"/>
                  <a:gd name="G2" fmla="+- 21600 0 0"/>
                  <a:gd name="T0" fmla="*/ 21600 w 21600"/>
                  <a:gd name="T1" fmla="*/ 21600 h 21600"/>
                  <a:gd name="T2" fmla="*/ 0 w 21600"/>
                  <a:gd name="T3" fmla="*/ 0 h 21600"/>
                  <a:gd name="T4" fmla="*/ 21600 w 21600"/>
                  <a:gd name="T5" fmla="*/ 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599"/>
                    </a:moveTo>
                    <a:cubicBezTo>
                      <a:pt x="9670" y="21599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599"/>
                    </a:moveTo>
                    <a:cubicBezTo>
                      <a:pt x="9670" y="21599"/>
                      <a:pt x="0" y="11929"/>
                      <a:pt x="0" y="0"/>
                    </a:cubicBezTo>
                    <a:lnTo>
                      <a:pt x="21600" y="0"/>
                    </a:lnTo>
                    <a:close/>
                  </a:path>
                </a:pathLst>
              </a:custGeom>
              <a:noFill/>
              <a:ln w="25400" cap="rnd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99" name="Line 21">
                <a:extLst>
                  <a:ext uri="{FF2B5EF4-FFF2-40B4-BE49-F238E27FC236}">
                    <a16:creationId xmlns:a16="http://schemas.microsoft.com/office/drawing/2014/main" id="{9DBD0A6B-F66A-6A21-7C2E-BE230C1EE20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52" y="1640"/>
                <a:ext cx="0" cy="176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100" name="Line 22">
                <a:extLst>
                  <a:ext uri="{FF2B5EF4-FFF2-40B4-BE49-F238E27FC236}">
                    <a16:creationId xmlns:a16="http://schemas.microsoft.com/office/drawing/2014/main" id="{3A527BF3-D7F6-4A17-99EA-36152066DFA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968" y="1640"/>
                <a:ext cx="0" cy="176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</p:grpSp>
        <p:sp>
          <p:nvSpPr>
            <p:cNvPr id="52" name="Line 23">
              <a:extLst>
                <a:ext uri="{FF2B5EF4-FFF2-40B4-BE49-F238E27FC236}">
                  <a16:creationId xmlns:a16="http://schemas.microsoft.com/office/drawing/2014/main" id="{3046CB6D-3F29-8BDF-540E-FED7A0504F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28" y="872"/>
              <a:ext cx="0" cy="272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53" name="Line 24">
              <a:extLst>
                <a:ext uri="{FF2B5EF4-FFF2-40B4-BE49-F238E27FC236}">
                  <a16:creationId xmlns:a16="http://schemas.microsoft.com/office/drawing/2014/main" id="{8BECA6A3-B9ED-B4E6-CD09-F470F4D189A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32" y="872"/>
              <a:ext cx="0" cy="272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AD60C1A2-6A66-AD7D-9DBB-00B525C6C0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99" y="672"/>
              <a:ext cx="1388" cy="2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r>
                <a:rPr lang="en-US" altLang="en-US" sz="1600" b="1">
                  <a:latin typeface="Times New Roman" panose="02020603050405020304" pitchFamily="18" charset="0"/>
                </a:rPr>
                <a:t>Processor Memory Bus</a:t>
              </a:r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469BC3E2-1DBF-BC59-1F2D-8CA17D96BC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48" y="1160"/>
              <a:ext cx="704" cy="368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A85C58D9-3A42-0A47-B84F-AC06713FD4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27" y="1152"/>
              <a:ext cx="576" cy="36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en-US" sz="1600" b="1">
                  <a:latin typeface="Times New Roman" panose="02020603050405020304" pitchFamily="18" charset="0"/>
                </a:rPr>
                <a:t>Bus</a:t>
              </a:r>
            </a:p>
            <a:p>
              <a:pPr algn="ctr"/>
              <a:r>
                <a:rPr lang="en-US" altLang="en-US" sz="1600" b="1">
                  <a:latin typeface="Times New Roman" panose="02020603050405020304" pitchFamily="18" charset="0"/>
                </a:rPr>
                <a:t>Adaptor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9ABBFD84-10E2-EB18-BDD8-42327BFB89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00" y="1160"/>
              <a:ext cx="704" cy="368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A6507F3E-DA89-7D7A-65E2-46E90707CB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79" y="1152"/>
              <a:ext cx="576" cy="36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en-US" sz="1600" b="1">
                  <a:latin typeface="Times New Roman" panose="02020603050405020304" pitchFamily="18" charset="0"/>
                </a:rPr>
                <a:t>Bus</a:t>
              </a:r>
            </a:p>
            <a:p>
              <a:pPr algn="ctr"/>
              <a:r>
                <a:rPr lang="en-US" altLang="en-US" sz="1600" b="1">
                  <a:latin typeface="Times New Roman" panose="02020603050405020304" pitchFamily="18" charset="0"/>
                </a:rPr>
                <a:t>Adaptor</a:t>
              </a:r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698AF469-5C26-BF10-2408-A6645DC7DF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04" y="1160"/>
              <a:ext cx="704" cy="368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B308D552-AB03-A1BC-5B67-F05B5EC021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83" y="1152"/>
              <a:ext cx="576" cy="36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en-US" sz="1600" b="1">
                  <a:latin typeface="Times New Roman" panose="02020603050405020304" pitchFamily="18" charset="0"/>
                </a:rPr>
                <a:t>Bus</a:t>
              </a:r>
            </a:p>
            <a:p>
              <a:pPr algn="ctr"/>
              <a:r>
                <a:rPr lang="en-US" altLang="en-US" sz="1600" b="1">
                  <a:latin typeface="Times New Roman" panose="02020603050405020304" pitchFamily="18" charset="0"/>
                </a:rPr>
                <a:t>Adaptor</a:t>
              </a:r>
            </a:p>
          </p:txBody>
        </p:sp>
        <p:sp>
          <p:nvSpPr>
            <p:cNvPr id="61" name="Line 32">
              <a:extLst>
                <a:ext uri="{FF2B5EF4-FFF2-40B4-BE49-F238E27FC236}">
                  <a16:creationId xmlns:a16="http://schemas.microsoft.com/office/drawing/2014/main" id="{D58EFC05-68FF-7DC3-E16F-694BF88CB33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76" y="1544"/>
              <a:ext cx="0" cy="560"/>
            </a:xfrm>
            <a:prstGeom prst="line">
              <a:avLst/>
            </a:prstGeom>
            <a:noFill/>
            <a:ln w="25400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62" name="Line 33">
              <a:extLst>
                <a:ext uri="{FF2B5EF4-FFF2-40B4-BE49-F238E27FC236}">
                  <a16:creationId xmlns:a16="http://schemas.microsoft.com/office/drawing/2014/main" id="{9E306887-18C2-25F2-1627-2AAF87B98F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784" y="2112"/>
              <a:ext cx="176" cy="0"/>
            </a:xfrm>
            <a:prstGeom prst="line">
              <a:avLst/>
            </a:prstGeom>
            <a:noFill/>
            <a:ln w="25400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63" name="Line 34">
              <a:extLst>
                <a:ext uri="{FF2B5EF4-FFF2-40B4-BE49-F238E27FC236}">
                  <a16:creationId xmlns:a16="http://schemas.microsoft.com/office/drawing/2014/main" id="{42A18735-3C2B-6E1A-FD6F-032FACFB948B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768" y="1728"/>
              <a:ext cx="208" cy="0"/>
            </a:xfrm>
            <a:prstGeom prst="line">
              <a:avLst/>
            </a:prstGeom>
            <a:noFill/>
            <a:ln w="25400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39A13734-9B17-6E17-8375-C593F612A51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68" y="1976"/>
              <a:ext cx="384" cy="272"/>
              <a:chOff x="3168" y="1976"/>
              <a:chExt cx="384" cy="272"/>
            </a:xfrm>
          </p:grpSpPr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4200402C-A8EE-1987-07D5-A7E4A91072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76" y="1976"/>
                <a:ext cx="368" cy="80"/>
              </a:xfrm>
              <a:prstGeom prst="ellips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92" name="Arc 37">
                <a:extLst>
                  <a:ext uri="{FF2B5EF4-FFF2-40B4-BE49-F238E27FC236}">
                    <a16:creationId xmlns:a16="http://schemas.microsoft.com/office/drawing/2014/main" id="{D8300E95-EE97-5288-5D33-B8D214A5CDB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360" y="2208"/>
                <a:ext cx="184" cy="40"/>
              </a:xfrm>
              <a:custGeom>
                <a:avLst/>
                <a:gdLst>
                  <a:gd name="G0" fmla="+- 0 0 0"/>
                  <a:gd name="G1" fmla="+- 0 0 0"/>
                  <a:gd name="G2" fmla="+- 21600 0 0"/>
                  <a:gd name="T0" fmla="*/ 21600 w 21600"/>
                  <a:gd name="T1" fmla="*/ 0 h 21600"/>
                  <a:gd name="T2" fmla="*/ 0 w 21600"/>
                  <a:gd name="T3" fmla="*/ 21600 h 21600"/>
                  <a:gd name="T4" fmla="*/ 0 w 21600"/>
                  <a:gd name="T5" fmla="*/ 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599"/>
                    </a:cubicBezTo>
                  </a:path>
                  <a:path w="21600" h="21600" stroke="0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599"/>
                    </a:cubicBezTo>
                    <a:lnTo>
                      <a:pt x="0" y="0"/>
                    </a:lnTo>
                    <a:close/>
                  </a:path>
                </a:pathLst>
              </a:custGeom>
              <a:noFill/>
              <a:ln w="25400" cap="rnd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93" name="Arc 38">
                <a:extLst>
                  <a:ext uri="{FF2B5EF4-FFF2-40B4-BE49-F238E27FC236}">
                    <a16:creationId xmlns:a16="http://schemas.microsoft.com/office/drawing/2014/main" id="{F65F4DF8-B1B8-6587-562D-A09F2DE8659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77" y="2208"/>
                <a:ext cx="184" cy="40"/>
              </a:xfrm>
              <a:custGeom>
                <a:avLst/>
                <a:gdLst>
                  <a:gd name="G0" fmla="+- 21600 0 0"/>
                  <a:gd name="G1" fmla="+- 0 0 0"/>
                  <a:gd name="G2" fmla="+- 21600 0 0"/>
                  <a:gd name="T0" fmla="*/ 21600 w 21600"/>
                  <a:gd name="T1" fmla="*/ 21600 h 21600"/>
                  <a:gd name="T2" fmla="*/ 0 w 21600"/>
                  <a:gd name="T3" fmla="*/ 0 h 21600"/>
                  <a:gd name="T4" fmla="*/ 21600 w 21600"/>
                  <a:gd name="T5" fmla="*/ 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599"/>
                    </a:moveTo>
                    <a:cubicBezTo>
                      <a:pt x="9670" y="21599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599"/>
                    </a:moveTo>
                    <a:cubicBezTo>
                      <a:pt x="9670" y="21599"/>
                      <a:pt x="0" y="11929"/>
                      <a:pt x="0" y="0"/>
                    </a:cubicBezTo>
                    <a:lnTo>
                      <a:pt x="21600" y="0"/>
                    </a:lnTo>
                    <a:close/>
                  </a:path>
                </a:pathLst>
              </a:custGeom>
              <a:noFill/>
              <a:ln w="25400" cap="rnd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94" name="Line 39">
                <a:extLst>
                  <a:ext uri="{FF2B5EF4-FFF2-40B4-BE49-F238E27FC236}">
                    <a16:creationId xmlns:a16="http://schemas.microsoft.com/office/drawing/2014/main" id="{D11084D6-F13E-1215-8E91-AFBAA81E394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552" y="2024"/>
                <a:ext cx="0" cy="176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95" name="Line 40">
                <a:extLst>
                  <a:ext uri="{FF2B5EF4-FFF2-40B4-BE49-F238E27FC236}">
                    <a16:creationId xmlns:a16="http://schemas.microsoft.com/office/drawing/2014/main" id="{1341D4A6-6A10-2D66-85DA-59D78F26836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68" y="2024"/>
                <a:ext cx="0" cy="176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E890F2A2-EC42-9007-1500-F62867625827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68" y="1592"/>
              <a:ext cx="384" cy="272"/>
              <a:chOff x="3168" y="1592"/>
              <a:chExt cx="384" cy="272"/>
            </a:xfrm>
          </p:grpSpPr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FD76F38F-81A1-FC61-5D90-96B29C94E8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76" y="1592"/>
                <a:ext cx="368" cy="80"/>
              </a:xfrm>
              <a:prstGeom prst="ellips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87" name="Arc 43">
                <a:extLst>
                  <a:ext uri="{FF2B5EF4-FFF2-40B4-BE49-F238E27FC236}">
                    <a16:creationId xmlns:a16="http://schemas.microsoft.com/office/drawing/2014/main" id="{B9EBAF62-0017-7143-DDD2-67CDACC4AC8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360" y="1824"/>
                <a:ext cx="184" cy="40"/>
              </a:xfrm>
              <a:custGeom>
                <a:avLst/>
                <a:gdLst>
                  <a:gd name="G0" fmla="+- 0 0 0"/>
                  <a:gd name="G1" fmla="+- 0 0 0"/>
                  <a:gd name="G2" fmla="+- 21600 0 0"/>
                  <a:gd name="T0" fmla="*/ 21600 w 21600"/>
                  <a:gd name="T1" fmla="*/ 0 h 21600"/>
                  <a:gd name="T2" fmla="*/ 0 w 21600"/>
                  <a:gd name="T3" fmla="*/ 21600 h 21600"/>
                  <a:gd name="T4" fmla="*/ 0 w 21600"/>
                  <a:gd name="T5" fmla="*/ 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599"/>
                    </a:cubicBezTo>
                  </a:path>
                  <a:path w="21600" h="21600" stroke="0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599"/>
                    </a:cubicBezTo>
                    <a:lnTo>
                      <a:pt x="0" y="0"/>
                    </a:lnTo>
                    <a:close/>
                  </a:path>
                </a:pathLst>
              </a:custGeom>
              <a:noFill/>
              <a:ln w="25400" cap="rnd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88" name="Arc 44">
                <a:extLst>
                  <a:ext uri="{FF2B5EF4-FFF2-40B4-BE49-F238E27FC236}">
                    <a16:creationId xmlns:a16="http://schemas.microsoft.com/office/drawing/2014/main" id="{26BC1A66-0379-646D-27D1-54F68BAD66E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77" y="1824"/>
                <a:ext cx="184" cy="40"/>
              </a:xfrm>
              <a:custGeom>
                <a:avLst/>
                <a:gdLst>
                  <a:gd name="G0" fmla="+- 21600 0 0"/>
                  <a:gd name="G1" fmla="+- 0 0 0"/>
                  <a:gd name="G2" fmla="+- 21600 0 0"/>
                  <a:gd name="T0" fmla="*/ 21600 w 21600"/>
                  <a:gd name="T1" fmla="*/ 21600 h 21600"/>
                  <a:gd name="T2" fmla="*/ 0 w 21600"/>
                  <a:gd name="T3" fmla="*/ 0 h 21600"/>
                  <a:gd name="T4" fmla="*/ 21600 w 21600"/>
                  <a:gd name="T5" fmla="*/ 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599"/>
                    </a:moveTo>
                    <a:cubicBezTo>
                      <a:pt x="9670" y="21599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599"/>
                    </a:moveTo>
                    <a:cubicBezTo>
                      <a:pt x="9670" y="21599"/>
                      <a:pt x="0" y="11929"/>
                      <a:pt x="0" y="0"/>
                    </a:cubicBezTo>
                    <a:lnTo>
                      <a:pt x="21600" y="0"/>
                    </a:lnTo>
                    <a:close/>
                  </a:path>
                </a:pathLst>
              </a:custGeom>
              <a:noFill/>
              <a:ln w="25400" cap="rnd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89" name="Line 45">
                <a:extLst>
                  <a:ext uri="{FF2B5EF4-FFF2-40B4-BE49-F238E27FC236}">
                    <a16:creationId xmlns:a16="http://schemas.microsoft.com/office/drawing/2014/main" id="{8CB9E93D-4D3B-0D72-3B18-1D271F52AC7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552" y="1640"/>
                <a:ext cx="0" cy="176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90" name="Line 46">
                <a:extLst>
                  <a:ext uri="{FF2B5EF4-FFF2-40B4-BE49-F238E27FC236}">
                    <a16:creationId xmlns:a16="http://schemas.microsoft.com/office/drawing/2014/main" id="{359C6BE4-7590-6050-4D43-71ED995489C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68" y="1640"/>
                <a:ext cx="0" cy="176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</p:grpSp>
        <p:sp>
          <p:nvSpPr>
            <p:cNvPr id="66" name="Line 47">
              <a:extLst>
                <a:ext uri="{FF2B5EF4-FFF2-40B4-BE49-F238E27FC236}">
                  <a16:creationId xmlns:a16="http://schemas.microsoft.com/office/drawing/2014/main" id="{C857CBC6-1833-2E4B-4528-93D5F3F0A6D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76" y="1544"/>
              <a:ext cx="0" cy="560"/>
            </a:xfrm>
            <a:prstGeom prst="line">
              <a:avLst/>
            </a:prstGeom>
            <a:noFill/>
            <a:ln w="25400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67" name="Line 48">
              <a:extLst>
                <a:ext uri="{FF2B5EF4-FFF2-40B4-BE49-F238E27FC236}">
                  <a16:creationId xmlns:a16="http://schemas.microsoft.com/office/drawing/2014/main" id="{71F967D3-CB3B-6D9E-20E4-039E5B05852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984" y="2112"/>
              <a:ext cx="176" cy="0"/>
            </a:xfrm>
            <a:prstGeom prst="line">
              <a:avLst/>
            </a:prstGeom>
            <a:noFill/>
            <a:ln w="25400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68" name="Line 49">
              <a:extLst>
                <a:ext uri="{FF2B5EF4-FFF2-40B4-BE49-F238E27FC236}">
                  <a16:creationId xmlns:a16="http://schemas.microsoft.com/office/drawing/2014/main" id="{917E7718-E3D4-95CA-CF67-C9B7E37FD75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968" y="1728"/>
              <a:ext cx="208" cy="0"/>
            </a:xfrm>
            <a:prstGeom prst="line">
              <a:avLst/>
            </a:prstGeom>
            <a:noFill/>
            <a:ln w="25400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F34A0821-5AFD-39FD-5197-5747F78C1B1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272" y="1976"/>
              <a:ext cx="384" cy="272"/>
              <a:chOff x="4272" y="1976"/>
              <a:chExt cx="384" cy="272"/>
            </a:xfrm>
          </p:grpSpPr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CA86864C-FCE9-417C-2ABE-F6AFE18F1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80" y="1976"/>
                <a:ext cx="368" cy="80"/>
              </a:xfrm>
              <a:prstGeom prst="ellips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82" name="Arc 52">
                <a:extLst>
                  <a:ext uri="{FF2B5EF4-FFF2-40B4-BE49-F238E27FC236}">
                    <a16:creationId xmlns:a16="http://schemas.microsoft.com/office/drawing/2014/main" id="{99DF25AA-9B50-47CA-236D-666BEC4F6E9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64" y="2208"/>
                <a:ext cx="184" cy="40"/>
              </a:xfrm>
              <a:custGeom>
                <a:avLst/>
                <a:gdLst>
                  <a:gd name="G0" fmla="+- 0 0 0"/>
                  <a:gd name="G1" fmla="+- 0 0 0"/>
                  <a:gd name="G2" fmla="+- 21600 0 0"/>
                  <a:gd name="T0" fmla="*/ 21600 w 21600"/>
                  <a:gd name="T1" fmla="*/ 0 h 21600"/>
                  <a:gd name="T2" fmla="*/ 0 w 21600"/>
                  <a:gd name="T3" fmla="*/ 21600 h 21600"/>
                  <a:gd name="T4" fmla="*/ 0 w 21600"/>
                  <a:gd name="T5" fmla="*/ 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599"/>
                    </a:cubicBezTo>
                  </a:path>
                  <a:path w="21600" h="21600" stroke="0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599"/>
                    </a:cubicBezTo>
                    <a:lnTo>
                      <a:pt x="0" y="0"/>
                    </a:lnTo>
                    <a:close/>
                  </a:path>
                </a:pathLst>
              </a:custGeom>
              <a:noFill/>
              <a:ln w="25400" cap="rnd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83" name="Arc 53">
                <a:extLst>
                  <a:ext uri="{FF2B5EF4-FFF2-40B4-BE49-F238E27FC236}">
                    <a16:creationId xmlns:a16="http://schemas.microsoft.com/office/drawing/2014/main" id="{229B886F-3097-7836-4CE7-C43112278D7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281" y="2208"/>
                <a:ext cx="184" cy="40"/>
              </a:xfrm>
              <a:custGeom>
                <a:avLst/>
                <a:gdLst>
                  <a:gd name="G0" fmla="+- 21600 0 0"/>
                  <a:gd name="G1" fmla="+- 0 0 0"/>
                  <a:gd name="G2" fmla="+- 21600 0 0"/>
                  <a:gd name="T0" fmla="*/ 21600 w 21600"/>
                  <a:gd name="T1" fmla="*/ 21600 h 21600"/>
                  <a:gd name="T2" fmla="*/ 0 w 21600"/>
                  <a:gd name="T3" fmla="*/ 0 h 21600"/>
                  <a:gd name="T4" fmla="*/ 21600 w 21600"/>
                  <a:gd name="T5" fmla="*/ 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599"/>
                    </a:moveTo>
                    <a:cubicBezTo>
                      <a:pt x="9670" y="21599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599"/>
                    </a:moveTo>
                    <a:cubicBezTo>
                      <a:pt x="9670" y="21599"/>
                      <a:pt x="0" y="11929"/>
                      <a:pt x="0" y="0"/>
                    </a:cubicBezTo>
                    <a:lnTo>
                      <a:pt x="21600" y="0"/>
                    </a:lnTo>
                    <a:close/>
                  </a:path>
                </a:pathLst>
              </a:custGeom>
              <a:noFill/>
              <a:ln w="25400" cap="rnd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84" name="Line 54">
                <a:extLst>
                  <a:ext uri="{FF2B5EF4-FFF2-40B4-BE49-F238E27FC236}">
                    <a16:creationId xmlns:a16="http://schemas.microsoft.com/office/drawing/2014/main" id="{D11B2F99-939F-5265-1735-9B2EE5C8A8A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56" y="2024"/>
                <a:ext cx="0" cy="176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85" name="Line 55">
                <a:extLst>
                  <a:ext uri="{FF2B5EF4-FFF2-40B4-BE49-F238E27FC236}">
                    <a16:creationId xmlns:a16="http://schemas.microsoft.com/office/drawing/2014/main" id="{79DC2B5C-FFEC-10E3-41B5-52F62AC00CA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272" y="2024"/>
                <a:ext cx="0" cy="176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</p:grpSp>
        <p:grpSp>
          <p:nvGrpSpPr>
            <p:cNvPr id="70" name="Group 69">
              <a:extLst>
                <a:ext uri="{FF2B5EF4-FFF2-40B4-BE49-F238E27FC236}">
                  <a16:creationId xmlns:a16="http://schemas.microsoft.com/office/drawing/2014/main" id="{DA2EECC6-0C7A-2259-A701-E786173AC05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4272" y="1592"/>
              <a:ext cx="384" cy="272"/>
              <a:chOff x="4272" y="1592"/>
              <a:chExt cx="384" cy="272"/>
            </a:xfrm>
          </p:grpSpPr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4365A43F-FFA5-64E2-AB9A-8CE9D44084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280" y="1592"/>
                <a:ext cx="368" cy="80"/>
              </a:xfrm>
              <a:prstGeom prst="ellips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77" name="Arc 58">
                <a:extLst>
                  <a:ext uri="{FF2B5EF4-FFF2-40B4-BE49-F238E27FC236}">
                    <a16:creationId xmlns:a16="http://schemas.microsoft.com/office/drawing/2014/main" id="{81E6E68E-D764-A13C-8D18-6C2669507B3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464" y="1824"/>
                <a:ext cx="184" cy="40"/>
              </a:xfrm>
              <a:custGeom>
                <a:avLst/>
                <a:gdLst>
                  <a:gd name="G0" fmla="+- 0 0 0"/>
                  <a:gd name="G1" fmla="+- 0 0 0"/>
                  <a:gd name="G2" fmla="+- 21600 0 0"/>
                  <a:gd name="T0" fmla="*/ 21600 w 21600"/>
                  <a:gd name="T1" fmla="*/ 0 h 21600"/>
                  <a:gd name="T2" fmla="*/ 0 w 21600"/>
                  <a:gd name="T3" fmla="*/ 21600 h 21600"/>
                  <a:gd name="T4" fmla="*/ 0 w 21600"/>
                  <a:gd name="T5" fmla="*/ 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599"/>
                    </a:cubicBezTo>
                  </a:path>
                  <a:path w="21600" h="21600" stroke="0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599"/>
                    </a:cubicBezTo>
                    <a:lnTo>
                      <a:pt x="0" y="0"/>
                    </a:lnTo>
                    <a:close/>
                  </a:path>
                </a:pathLst>
              </a:custGeom>
              <a:noFill/>
              <a:ln w="25400" cap="rnd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78" name="Arc 59">
                <a:extLst>
                  <a:ext uri="{FF2B5EF4-FFF2-40B4-BE49-F238E27FC236}">
                    <a16:creationId xmlns:a16="http://schemas.microsoft.com/office/drawing/2014/main" id="{518BAA42-BED6-07A8-BD48-38385E910C6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4281" y="1824"/>
                <a:ext cx="184" cy="40"/>
              </a:xfrm>
              <a:custGeom>
                <a:avLst/>
                <a:gdLst>
                  <a:gd name="G0" fmla="+- 21600 0 0"/>
                  <a:gd name="G1" fmla="+- 0 0 0"/>
                  <a:gd name="G2" fmla="+- 21600 0 0"/>
                  <a:gd name="T0" fmla="*/ 21600 w 21600"/>
                  <a:gd name="T1" fmla="*/ 21600 h 21600"/>
                  <a:gd name="T2" fmla="*/ 0 w 21600"/>
                  <a:gd name="T3" fmla="*/ 0 h 21600"/>
                  <a:gd name="T4" fmla="*/ 21600 w 21600"/>
                  <a:gd name="T5" fmla="*/ 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599"/>
                    </a:moveTo>
                    <a:cubicBezTo>
                      <a:pt x="9670" y="21599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599"/>
                    </a:moveTo>
                    <a:cubicBezTo>
                      <a:pt x="9670" y="21599"/>
                      <a:pt x="0" y="11929"/>
                      <a:pt x="0" y="0"/>
                    </a:cubicBezTo>
                    <a:lnTo>
                      <a:pt x="21600" y="0"/>
                    </a:lnTo>
                    <a:close/>
                  </a:path>
                </a:pathLst>
              </a:custGeom>
              <a:noFill/>
              <a:ln w="25400" cap="rnd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79" name="Line 60">
                <a:extLst>
                  <a:ext uri="{FF2B5EF4-FFF2-40B4-BE49-F238E27FC236}">
                    <a16:creationId xmlns:a16="http://schemas.microsoft.com/office/drawing/2014/main" id="{B9804473-DD6B-4E9E-A105-49A455DCEB3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56" y="1640"/>
                <a:ext cx="0" cy="176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80" name="Line 61">
                <a:extLst>
                  <a:ext uri="{FF2B5EF4-FFF2-40B4-BE49-F238E27FC236}">
                    <a16:creationId xmlns:a16="http://schemas.microsoft.com/office/drawing/2014/main" id="{C7EE7B01-BA52-BF0A-3EAD-7E8EE9B8D25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272" y="1640"/>
                <a:ext cx="0" cy="176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</p:grpSp>
        <p:sp>
          <p:nvSpPr>
            <p:cNvPr id="71" name="Line 62">
              <a:extLst>
                <a:ext uri="{FF2B5EF4-FFF2-40B4-BE49-F238E27FC236}">
                  <a16:creationId xmlns:a16="http://schemas.microsoft.com/office/drawing/2014/main" id="{77A737A2-5317-66EA-C3CA-6071689412D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80" y="1544"/>
              <a:ext cx="0" cy="560"/>
            </a:xfrm>
            <a:prstGeom prst="line">
              <a:avLst/>
            </a:prstGeom>
            <a:noFill/>
            <a:ln w="25400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72" name="Line 63">
              <a:extLst>
                <a:ext uri="{FF2B5EF4-FFF2-40B4-BE49-F238E27FC236}">
                  <a16:creationId xmlns:a16="http://schemas.microsoft.com/office/drawing/2014/main" id="{662EAFFB-6CEF-F68C-715C-F6F40649CC4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088" y="2112"/>
              <a:ext cx="176" cy="0"/>
            </a:xfrm>
            <a:prstGeom prst="line">
              <a:avLst/>
            </a:prstGeom>
            <a:noFill/>
            <a:ln w="25400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73" name="Line 64">
              <a:extLst>
                <a:ext uri="{FF2B5EF4-FFF2-40B4-BE49-F238E27FC236}">
                  <a16:creationId xmlns:a16="http://schemas.microsoft.com/office/drawing/2014/main" id="{00955C26-742E-98DF-A633-01788E34DA4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4072" y="1728"/>
              <a:ext cx="208" cy="0"/>
            </a:xfrm>
            <a:prstGeom prst="line">
              <a:avLst/>
            </a:prstGeom>
            <a:noFill/>
            <a:ln w="25400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D2F73CF1-30A7-F7C2-5467-CD1D966FD3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79" y="1632"/>
              <a:ext cx="320" cy="36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en-US" sz="1600" b="1">
                  <a:latin typeface="Times New Roman" panose="02020603050405020304" pitchFamily="18" charset="0"/>
                </a:rPr>
                <a:t>I/O</a:t>
              </a:r>
            </a:p>
            <a:p>
              <a:pPr algn="ctr"/>
              <a:r>
                <a:rPr lang="en-US" altLang="en-US" sz="1600" b="1">
                  <a:latin typeface="Times New Roman" panose="02020603050405020304" pitchFamily="18" charset="0"/>
                </a:rPr>
                <a:t>Bus</a:t>
              </a:r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C550F2E0-04B2-A423-B506-7BB70509FE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479" y="1632"/>
              <a:ext cx="320" cy="36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en-US" sz="1600" b="1">
                  <a:latin typeface="Times New Roman" panose="02020603050405020304" pitchFamily="18" charset="0"/>
                </a:rPr>
                <a:t>I/O</a:t>
              </a:r>
            </a:p>
            <a:p>
              <a:pPr algn="ctr"/>
              <a:r>
                <a:rPr lang="en-US" altLang="en-US" sz="1600" b="1">
                  <a:latin typeface="Times New Roman" panose="02020603050405020304" pitchFamily="18" charset="0"/>
                </a:rPr>
                <a:t>Bus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137274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3A33F-1D2E-2C76-522E-BAADBB2B0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Bus Organization: Three Busses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3FE35A-BDB2-1E96-FA1F-BEAFB4753F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496287"/>
            <a:ext cx="10515600" cy="1680676"/>
          </a:xfrm>
        </p:spPr>
        <p:txBody>
          <a:bodyPr>
            <a:normAutofit fontScale="92500" lnSpcReduction="20000"/>
          </a:bodyPr>
          <a:lstStyle/>
          <a:p>
            <a:pPr>
              <a:spcBef>
                <a:spcPct val="20000"/>
              </a:spcBef>
            </a:pPr>
            <a:r>
              <a:rPr lang="en-US" altLang="en-US" dirty="0"/>
              <a:t>A small number of backplane buses tap into the processor-memory bus</a:t>
            </a:r>
          </a:p>
          <a:p>
            <a:pPr lvl="1">
              <a:spcBef>
                <a:spcPct val="20000"/>
              </a:spcBef>
            </a:pPr>
            <a:r>
              <a:rPr lang="en-US" altLang="en-US" dirty="0"/>
              <a:t>Processor-memory bus is only used for processor-memory traffic</a:t>
            </a:r>
          </a:p>
          <a:p>
            <a:pPr lvl="1">
              <a:spcBef>
                <a:spcPct val="20000"/>
              </a:spcBef>
            </a:pPr>
            <a:r>
              <a:rPr lang="en-US" altLang="en-US" dirty="0"/>
              <a:t>I/O buses are connected to the backplane bus</a:t>
            </a:r>
          </a:p>
          <a:p>
            <a:pPr>
              <a:spcBef>
                <a:spcPct val="20000"/>
              </a:spcBef>
            </a:pPr>
            <a:r>
              <a:rPr lang="en-US" altLang="en-US" dirty="0"/>
              <a:t>Advantage: loading on the processor bus is greatly reduced</a:t>
            </a:r>
          </a:p>
          <a:p>
            <a:endParaRPr lang="en-CA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D78C50-CD25-3EB7-E517-AA1C43BAF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6B1675-8F5E-1F20-C9EA-F6CE38B23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6C907D-C693-278B-3A36-55664E1BB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14</a:t>
            </a:fld>
            <a:endParaRPr lang="en-CA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72CF91B-9A32-D53E-2FB0-33265525F6D1}"/>
              </a:ext>
            </a:extLst>
          </p:cNvPr>
          <p:cNvGrpSpPr>
            <a:grpSpLocks/>
          </p:cNvGrpSpPr>
          <p:nvPr/>
        </p:nvGrpSpPr>
        <p:grpSpPr bwMode="auto">
          <a:xfrm>
            <a:off x="1931377" y="1372088"/>
            <a:ext cx="8204200" cy="3035300"/>
            <a:chOff x="96" y="528"/>
            <a:chExt cx="5168" cy="1912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AAD8744-3095-8CD7-A195-80BFD8A316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4" y="632"/>
              <a:ext cx="848" cy="368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2C780B9-D285-5291-8006-C2CE979649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3" y="720"/>
              <a:ext cx="648" cy="2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r>
                <a:rPr lang="en-US" altLang="en-US" sz="1600" b="1">
                  <a:latin typeface="Times New Roman" panose="02020603050405020304" pitchFamily="18" charset="0"/>
                </a:rPr>
                <a:t>Processor</a:t>
              </a:r>
            </a:p>
          </p:txBody>
        </p:sp>
        <p:sp>
          <p:nvSpPr>
            <p:cNvPr id="10" name="Line 6">
              <a:extLst>
                <a:ext uri="{FF2B5EF4-FFF2-40B4-BE49-F238E27FC236}">
                  <a16:creationId xmlns:a16="http://schemas.microsoft.com/office/drawing/2014/main" id="{1271671C-5BBD-FAC3-30FE-CE2A86556A5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248" y="720"/>
              <a:ext cx="3152" cy="0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11" name="Line 7">
              <a:extLst>
                <a:ext uri="{FF2B5EF4-FFF2-40B4-BE49-F238E27FC236}">
                  <a16:creationId xmlns:a16="http://schemas.microsoft.com/office/drawing/2014/main" id="{8C242D8B-537D-75D1-3F1C-7AE2D1D6032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24" y="728"/>
              <a:ext cx="0" cy="272"/>
            </a:xfrm>
            <a:prstGeom prst="line">
              <a:avLst/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101DB5A-144C-CE62-0B55-F94C3BC68B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16" y="632"/>
              <a:ext cx="848" cy="368"/>
            </a:xfrm>
            <a:prstGeom prst="rect">
              <a:avLst/>
            </a:prstGeom>
            <a:noFill/>
            <a:ln w="254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DBD42DD8-EDB7-8BCF-A46C-915CE4A6CA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43" y="720"/>
              <a:ext cx="584" cy="2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r>
                <a:rPr lang="en-US" altLang="en-US" sz="1600" b="1">
                  <a:latin typeface="Times New Roman" panose="02020603050405020304" pitchFamily="18" charset="0"/>
                </a:rPr>
                <a:t>Memory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C693D88-DBCC-C603-4F3B-FADA809694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43" y="528"/>
              <a:ext cx="1388" cy="2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r>
                <a:rPr lang="en-US" altLang="en-US" sz="1600" b="1">
                  <a:latin typeface="Times New Roman" panose="02020603050405020304" pitchFamily="18" charset="0"/>
                </a:rPr>
                <a:t>Processor Memory Bus</a:t>
              </a:r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AB209967-16A1-B94D-1810-2E840FE335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96" y="1016"/>
              <a:ext cx="704" cy="368"/>
            </a:xfrm>
            <a:prstGeom prst="ellips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8ADF5ED-957F-D8B3-22A9-6B2002E72F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75" y="1008"/>
              <a:ext cx="576" cy="36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en-US" sz="1600" b="1">
                  <a:latin typeface="Times New Roman" panose="02020603050405020304" pitchFamily="18" charset="0"/>
                </a:rPr>
                <a:t>Bus</a:t>
              </a:r>
            </a:p>
            <a:p>
              <a:pPr algn="ctr"/>
              <a:r>
                <a:rPr lang="en-US" altLang="en-US" sz="1600" b="1">
                  <a:latin typeface="Times New Roman" panose="02020603050405020304" pitchFamily="18" charset="0"/>
                </a:rPr>
                <a:t>Adaptor</a:t>
              </a: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705BD7DE-4442-614F-1E04-B39DE46DBE9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112" y="1296"/>
              <a:ext cx="704" cy="376"/>
              <a:chOff x="2168" y="1440"/>
              <a:chExt cx="704" cy="376"/>
            </a:xfrm>
          </p:grpSpPr>
          <p:sp>
            <p:nvSpPr>
              <p:cNvPr id="59" name="Oval 58">
                <a:extLst>
                  <a:ext uri="{FF2B5EF4-FFF2-40B4-BE49-F238E27FC236}">
                    <a16:creationId xmlns:a16="http://schemas.microsoft.com/office/drawing/2014/main" id="{604BA306-3B10-5E8E-E622-0124EB57C1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68" y="1448"/>
                <a:ext cx="704" cy="368"/>
              </a:xfrm>
              <a:prstGeom prst="ellips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4AB1B39F-4FB1-5C3D-6208-09FB9E7B2C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47" y="1440"/>
                <a:ext cx="576" cy="36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90488" tIns="44450" rIns="90488" bIns="44450">
                <a:spAutoFit/>
              </a:bodyPr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en-US" sz="1600" b="1">
                    <a:latin typeface="Times New Roman" panose="02020603050405020304" pitchFamily="18" charset="0"/>
                  </a:rPr>
                  <a:t>Bus</a:t>
                </a:r>
              </a:p>
              <a:p>
                <a:pPr algn="ctr"/>
                <a:r>
                  <a:rPr lang="en-US" altLang="en-US" sz="1600" b="1">
                    <a:latin typeface="Times New Roman" panose="02020603050405020304" pitchFamily="18" charset="0"/>
                  </a:rPr>
                  <a:t>Adaptor</a:t>
                </a:r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C73F528-19C2-A46A-17E7-88F989436534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112" y="1776"/>
              <a:ext cx="704" cy="376"/>
              <a:chOff x="2168" y="1920"/>
              <a:chExt cx="704" cy="376"/>
            </a:xfrm>
          </p:grpSpPr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123B84D0-3B9C-8940-9381-589BAFD367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68" y="1928"/>
                <a:ext cx="704" cy="368"/>
              </a:xfrm>
              <a:prstGeom prst="ellips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3ADBA0D0-574A-4D18-7131-5F69A6394E3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247" y="1920"/>
                <a:ext cx="576" cy="36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12700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lIns="90488" tIns="44450" rIns="90488" bIns="44450">
                <a:spAutoFit/>
              </a:bodyPr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en-US" sz="1600" b="1">
                    <a:latin typeface="Times New Roman" panose="02020603050405020304" pitchFamily="18" charset="0"/>
                  </a:rPr>
                  <a:t>Bus</a:t>
                </a:r>
              </a:p>
              <a:p>
                <a:pPr algn="ctr"/>
                <a:r>
                  <a:rPr lang="en-US" altLang="en-US" sz="1600" b="1">
                    <a:latin typeface="Times New Roman" panose="02020603050405020304" pitchFamily="18" charset="0"/>
                  </a:rPr>
                  <a:t>Adaptor</a:t>
                </a:r>
              </a:p>
            </p:txBody>
          </p:sp>
        </p:grpSp>
        <p:sp>
          <p:nvSpPr>
            <p:cNvPr id="19" name="Line 19">
              <a:extLst>
                <a:ext uri="{FF2B5EF4-FFF2-40B4-BE49-F238E27FC236}">
                  <a16:creationId xmlns:a16="http://schemas.microsoft.com/office/drawing/2014/main" id="{3CD9D384-87DA-5CE1-5B50-5556FD2D5B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24" y="1400"/>
              <a:ext cx="0" cy="560"/>
            </a:xfrm>
            <a:prstGeom prst="line">
              <a:avLst/>
            </a:prstGeom>
            <a:noFill/>
            <a:ln w="25400">
              <a:solidFill>
                <a:schemeClr val="hlink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20" name="Line 20">
              <a:extLst>
                <a:ext uri="{FF2B5EF4-FFF2-40B4-BE49-F238E27FC236}">
                  <a16:creationId xmlns:a16="http://schemas.microsoft.com/office/drawing/2014/main" id="{70163D76-509F-F1CC-8B16-66374FC7FE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32" y="1968"/>
              <a:ext cx="464" cy="0"/>
            </a:xfrm>
            <a:prstGeom prst="line">
              <a:avLst/>
            </a:prstGeom>
            <a:noFill/>
            <a:ln w="25400">
              <a:solidFill>
                <a:schemeClr val="hlink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21" name="Line 21">
              <a:extLst>
                <a:ext uri="{FF2B5EF4-FFF2-40B4-BE49-F238E27FC236}">
                  <a16:creationId xmlns:a16="http://schemas.microsoft.com/office/drawing/2014/main" id="{49C77B5A-B46F-69BB-7843-339D0002FE65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616" y="1488"/>
              <a:ext cx="496" cy="0"/>
            </a:xfrm>
            <a:prstGeom prst="line">
              <a:avLst/>
            </a:prstGeom>
            <a:noFill/>
            <a:ln w="25400">
              <a:solidFill>
                <a:schemeClr val="hlink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46C56BC3-A1D4-545A-D005-93EE9E3F3ED2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36" y="1016"/>
              <a:ext cx="384" cy="272"/>
              <a:chOff x="3792" y="1160"/>
              <a:chExt cx="384" cy="272"/>
            </a:xfrm>
          </p:grpSpPr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71BFFB69-9E22-6180-EEE8-3132285A78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800" y="1160"/>
                <a:ext cx="368" cy="80"/>
              </a:xfrm>
              <a:prstGeom prst="ellips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53" name="Arc 24">
                <a:extLst>
                  <a:ext uri="{FF2B5EF4-FFF2-40B4-BE49-F238E27FC236}">
                    <a16:creationId xmlns:a16="http://schemas.microsoft.com/office/drawing/2014/main" id="{C58D5773-9D43-0A35-4B75-BA7AE5E8C83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84" y="1392"/>
                <a:ext cx="184" cy="40"/>
              </a:xfrm>
              <a:custGeom>
                <a:avLst/>
                <a:gdLst>
                  <a:gd name="G0" fmla="+- 0 0 0"/>
                  <a:gd name="G1" fmla="+- 0 0 0"/>
                  <a:gd name="G2" fmla="+- 21600 0 0"/>
                  <a:gd name="T0" fmla="*/ 21600 w 21600"/>
                  <a:gd name="T1" fmla="*/ 0 h 21600"/>
                  <a:gd name="T2" fmla="*/ 0 w 21600"/>
                  <a:gd name="T3" fmla="*/ 21600 h 21600"/>
                  <a:gd name="T4" fmla="*/ 0 w 21600"/>
                  <a:gd name="T5" fmla="*/ 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599"/>
                    </a:cubicBezTo>
                  </a:path>
                  <a:path w="21600" h="21600" stroke="0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599"/>
                    </a:cubicBezTo>
                    <a:lnTo>
                      <a:pt x="0" y="0"/>
                    </a:lnTo>
                    <a:close/>
                  </a:path>
                </a:pathLst>
              </a:custGeom>
              <a:noFill/>
              <a:ln w="25400" cap="rnd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54" name="Arc 25">
                <a:extLst>
                  <a:ext uri="{FF2B5EF4-FFF2-40B4-BE49-F238E27FC236}">
                    <a16:creationId xmlns:a16="http://schemas.microsoft.com/office/drawing/2014/main" id="{1C6B0B92-505F-F128-5D03-9B7DF7589B1A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01" y="1392"/>
                <a:ext cx="184" cy="40"/>
              </a:xfrm>
              <a:custGeom>
                <a:avLst/>
                <a:gdLst>
                  <a:gd name="G0" fmla="+- 21600 0 0"/>
                  <a:gd name="G1" fmla="+- 0 0 0"/>
                  <a:gd name="G2" fmla="+- 21600 0 0"/>
                  <a:gd name="T0" fmla="*/ 21600 w 21600"/>
                  <a:gd name="T1" fmla="*/ 21600 h 21600"/>
                  <a:gd name="T2" fmla="*/ 0 w 21600"/>
                  <a:gd name="T3" fmla="*/ 0 h 21600"/>
                  <a:gd name="T4" fmla="*/ 21600 w 21600"/>
                  <a:gd name="T5" fmla="*/ 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599"/>
                    </a:moveTo>
                    <a:cubicBezTo>
                      <a:pt x="9670" y="21599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599"/>
                    </a:moveTo>
                    <a:cubicBezTo>
                      <a:pt x="9670" y="21599"/>
                      <a:pt x="0" y="11929"/>
                      <a:pt x="0" y="0"/>
                    </a:cubicBezTo>
                    <a:lnTo>
                      <a:pt x="21600" y="0"/>
                    </a:lnTo>
                    <a:close/>
                  </a:path>
                </a:pathLst>
              </a:custGeom>
              <a:noFill/>
              <a:ln w="25400" cap="rnd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55" name="Line 26">
                <a:extLst>
                  <a:ext uri="{FF2B5EF4-FFF2-40B4-BE49-F238E27FC236}">
                    <a16:creationId xmlns:a16="http://schemas.microsoft.com/office/drawing/2014/main" id="{AE2813EE-6456-28AB-5BA7-64E1037AC39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176" y="1208"/>
                <a:ext cx="0" cy="176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56" name="Line 27">
                <a:extLst>
                  <a:ext uri="{FF2B5EF4-FFF2-40B4-BE49-F238E27FC236}">
                    <a16:creationId xmlns:a16="http://schemas.microsoft.com/office/drawing/2014/main" id="{20661526-EBCB-D62B-156C-7091C6D3D87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92" y="1208"/>
                <a:ext cx="0" cy="176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1014767E-BB46-F472-62BF-4DEE99F5E081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2" y="1016"/>
              <a:ext cx="384" cy="272"/>
              <a:chOff x="3168" y="1160"/>
              <a:chExt cx="384" cy="272"/>
            </a:xfrm>
          </p:grpSpPr>
          <p:sp>
            <p:nvSpPr>
              <p:cNvPr id="47" name="Oval 46">
                <a:extLst>
                  <a:ext uri="{FF2B5EF4-FFF2-40B4-BE49-F238E27FC236}">
                    <a16:creationId xmlns:a16="http://schemas.microsoft.com/office/drawing/2014/main" id="{6245CEE8-713D-DFCB-D2EF-3AA7A9022C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76" y="1160"/>
                <a:ext cx="368" cy="80"/>
              </a:xfrm>
              <a:prstGeom prst="ellips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48" name="Arc 30">
                <a:extLst>
                  <a:ext uri="{FF2B5EF4-FFF2-40B4-BE49-F238E27FC236}">
                    <a16:creationId xmlns:a16="http://schemas.microsoft.com/office/drawing/2014/main" id="{8D83206E-E94F-82F2-DF0A-CD5567F86323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360" y="1392"/>
                <a:ext cx="184" cy="40"/>
              </a:xfrm>
              <a:custGeom>
                <a:avLst/>
                <a:gdLst>
                  <a:gd name="G0" fmla="+- 0 0 0"/>
                  <a:gd name="G1" fmla="+- 0 0 0"/>
                  <a:gd name="G2" fmla="+- 21600 0 0"/>
                  <a:gd name="T0" fmla="*/ 21600 w 21600"/>
                  <a:gd name="T1" fmla="*/ 0 h 21600"/>
                  <a:gd name="T2" fmla="*/ 0 w 21600"/>
                  <a:gd name="T3" fmla="*/ 21600 h 21600"/>
                  <a:gd name="T4" fmla="*/ 0 w 21600"/>
                  <a:gd name="T5" fmla="*/ 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599"/>
                    </a:cubicBezTo>
                  </a:path>
                  <a:path w="21600" h="21600" stroke="0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599"/>
                    </a:cubicBezTo>
                    <a:lnTo>
                      <a:pt x="0" y="0"/>
                    </a:lnTo>
                    <a:close/>
                  </a:path>
                </a:pathLst>
              </a:custGeom>
              <a:noFill/>
              <a:ln w="25400" cap="rnd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49" name="Arc 31">
                <a:extLst>
                  <a:ext uri="{FF2B5EF4-FFF2-40B4-BE49-F238E27FC236}">
                    <a16:creationId xmlns:a16="http://schemas.microsoft.com/office/drawing/2014/main" id="{D0E50AE5-18D1-87C6-7DCA-BCE18D5D253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77" y="1392"/>
                <a:ext cx="184" cy="40"/>
              </a:xfrm>
              <a:custGeom>
                <a:avLst/>
                <a:gdLst>
                  <a:gd name="G0" fmla="+- 21600 0 0"/>
                  <a:gd name="G1" fmla="+- 0 0 0"/>
                  <a:gd name="G2" fmla="+- 21600 0 0"/>
                  <a:gd name="T0" fmla="*/ 21600 w 21600"/>
                  <a:gd name="T1" fmla="*/ 21600 h 21600"/>
                  <a:gd name="T2" fmla="*/ 0 w 21600"/>
                  <a:gd name="T3" fmla="*/ 0 h 21600"/>
                  <a:gd name="T4" fmla="*/ 21600 w 21600"/>
                  <a:gd name="T5" fmla="*/ 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599"/>
                    </a:moveTo>
                    <a:cubicBezTo>
                      <a:pt x="9670" y="21599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599"/>
                    </a:moveTo>
                    <a:cubicBezTo>
                      <a:pt x="9670" y="21599"/>
                      <a:pt x="0" y="11929"/>
                      <a:pt x="0" y="0"/>
                    </a:cubicBezTo>
                    <a:lnTo>
                      <a:pt x="21600" y="0"/>
                    </a:lnTo>
                    <a:close/>
                  </a:path>
                </a:pathLst>
              </a:custGeom>
              <a:noFill/>
              <a:ln w="25400" cap="rnd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50" name="Line 32">
                <a:extLst>
                  <a:ext uri="{FF2B5EF4-FFF2-40B4-BE49-F238E27FC236}">
                    <a16:creationId xmlns:a16="http://schemas.microsoft.com/office/drawing/2014/main" id="{69B420AC-54C5-67CD-F441-E03B1BAD3AD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552" y="1208"/>
                <a:ext cx="0" cy="176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51" name="Line 33">
                <a:extLst>
                  <a:ext uri="{FF2B5EF4-FFF2-40B4-BE49-F238E27FC236}">
                    <a16:creationId xmlns:a16="http://schemas.microsoft.com/office/drawing/2014/main" id="{FB726FFE-7B15-DB69-1207-C37D052B5CCA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68" y="1208"/>
                <a:ext cx="0" cy="176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</p:grpSp>
        <p:sp>
          <p:nvSpPr>
            <p:cNvPr id="24" name="Line 34">
              <a:extLst>
                <a:ext uri="{FF2B5EF4-FFF2-40B4-BE49-F238E27FC236}">
                  <a16:creationId xmlns:a16="http://schemas.microsoft.com/office/drawing/2014/main" id="{73170618-0BE7-67C5-07C8-5085B38DAB7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32" y="1488"/>
              <a:ext cx="1088" cy="0"/>
            </a:xfrm>
            <a:prstGeom prst="line">
              <a:avLst/>
            </a:prstGeom>
            <a:noFill/>
            <a:ln w="25400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25" name="Line 35">
              <a:extLst>
                <a:ext uri="{FF2B5EF4-FFF2-40B4-BE49-F238E27FC236}">
                  <a16:creationId xmlns:a16="http://schemas.microsoft.com/office/drawing/2014/main" id="{FF501322-BA02-7048-62E4-80D5C4A8CB8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" y="1304"/>
              <a:ext cx="0" cy="176"/>
            </a:xfrm>
            <a:prstGeom prst="line">
              <a:avLst/>
            </a:prstGeom>
            <a:noFill/>
            <a:ln w="25400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33DF0112-20A2-8D80-21CF-54805E160E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30" y="1488"/>
              <a:ext cx="538" cy="2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en-US" sz="1600" b="1">
                  <a:latin typeface="Times New Roman" panose="02020603050405020304" pitchFamily="18" charset="0"/>
                </a:rPr>
                <a:t>I/O Bus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59C08523-C251-0FE7-D2EE-4C029374F2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6" y="1114"/>
              <a:ext cx="679" cy="364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en-US" sz="1600" b="1">
                  <a:latin typeface="Times New Roman" panose="02020603050405020304" pitchFamily="18" charset="0"/>
                </a:rPr>
                <a:t>Backside</a:t>
              </a:r>
            </a:p>
            <a:p>
              <a:pPr algn="ctr"/>
              <a:r>
                <a:rPr lang="en-US" altLang="en-US" sz="1600" b="1">
                  <a:latin typeface="Times New Roman" panose="02020603050405020304" pitchFamily="18" charset="0"/>
                </a:rPr>
                <a:t>Cache bus</a:t>
              </a:r>
            </a:p>
          </p:txBody>
        </p:sp>
        <p:sp>
          <p:nvSpPr>
            <p:cNvPr id="28" name="Line 38">
              <a:extLst>
                <a:ext uri="{FF2B5EF4-FFF2-40B4-BE49-F238E27FC236}">
                  <a16:creationId xmlns:a16="http://schemas.microsoft.com/office/drawing/2014/main" id="{B99DBF0A-3412-584F-CFDA-73E7AACA95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28" y="1304"/>
              <a:ext cx="0" cy="176"/>
            </a:xfrm>
            <a:prstGeom prst="line">
              <a:avLst/>
            </a:prstGeom>
            <a:noFill/>
            <a:ln w="25400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29" name="Line 39">
              <a:extLst>
                <a:ext uri="{FF2B5EF4-FFF2-40B4-BE49-F238E27FC236}">
                  <a16:creationId xmlns:a16="http://schemas.microsoft.com/office/drawing/2014/main" id="{409F3624-D072-8B58-072B-42AE495C8E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32" y="1968"/>
              <a:ext cx="1088" cy="0"/>
            </a:xfrm>
            <a:prstGeom prst="line">
              <a:avLst/>
            </a:prstGeom>
            <a:noFill/>
            <a:ln w="25400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30" name="Line 40">
              <a:extLst>
                <a:ext uri="{FF2B5EF4-FFF2-40B4-BE49-F238E27FC236}">
                  <a16:creationId xmlns:a16="http://schemas.microsoft.com/office/drawing/2014/main" id="{5937F59D-95C0-7EB2-8D27-76D9D00A864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04" y="1976"/>
              <a:ext cx="0" cy="176"/>
            </a:xfrm>
            <a:prstGeom prst="line">
              <a:avLst/>
            </a:prstGeom>
            <a:noFill/>
            <a:ln w="25400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31" name="Line 41">
              <a:extLst>
                <a:ext uri="{FF2B5EF4-FFF2-40B4-BE49-F238E27FC236}">
                  <a16:creationId xmlns:a16="http://schemas.microsoft.com/office/drawing/2014/main" id="{4EB46E8C-EA41-E9A8-B85F-FC1127E56F2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928" y="1976"/>
              <a:ext cx="0" cy="176"/>
            </a:xfrm>
            <a:prstGeom prst="line">
              <a:avLst/>
            </a:prstGeom>
            <a:noFill/>
            <a:ln w="25400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A39A459-D88A-4BAE-73E5-7B6A41515F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30" y="1776"/>
              <a:ext cx="538" cy="21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0488" tIns="44450" rIns="90488" bIns="44450">
              <a:spAutoFit/>
            </a:bodyPr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en-US" sz="1600" b="1">
                  <a:latin typeface="Times New Roman" panose="02020603050405020304" pitchFamily="18" charset="0"/>
                </a:rPr>
                <a:t>I/O Bus</a:t>
              </a:r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DD7EC1E8-A8E2-F013-3D9F-B8726A2F580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736" y="2168"/>
              <a:ext cx="384" cy="272"/>
              <a:chOff x="3792" y="2312"/>
              <a:chExt cx="384" cy="272"/>
            </a:xfrm>
          </p:grpSpPr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4D7553E5-52A6-BEE5-94C7-440D6C4F2B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800" y="2312"/>
                <a:ext cx="368" cy="80"/>
              </a:xfrm>
              <a:prstGeom prst="ellips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43" name="Arc 45">
                <a:extLst>
                  <a:ext uri="{FF2B5EF4-FFF2-40B4-BE49-F238E27FC236}">
                    <a16:creationId xmlns:a16="http://schemas.microsoft.com/office/drawing/2014/main" id="{D97C770D-0C4F-2103-1F22-48ABFAE6EDD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984" y="2544"/>
                <a:ext cx="184" cy="40"/>
              </a:xfrm>
              <a:custGeom>
                <a:avLst/>
                <a:gdLst>
                  <a:gd name="G0" fmla="+- 0 0 0"/>
                  <a:gd name="G1" fmla="+- 0 0 0"/>
                  <a:gd name="G2" fmla="+- 21600 0 0"/>
                  <a:gd name="T0" fmla="*/ 21600 w 21600"/>
                  <a:gd name="T1" fmla="*/ 0 h 21600"/>
                  <a:gd name="T2" fmla="*/ 0 w 21600"/>
                  <a:gd name="T3" fmla="*/ 21600 h 21600"/>
                  <a:gd name="T4" fmla="*/ 0 w 21600"/>
                  <a:gd name="T5" fmla="*/ 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599"/>
                    </a:cubicBezTo>
                  </a:path>
                  <a:path w="21600" h="21600" stroke="0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599"/>
                    </a:cubicBezTo>
                    <a:lnTo>
                      <a:pt x="0" y="0"/>
                    </a:lnTo>
                    <a:close/>
                  </a:path>
                </a:pathLst>
              </a:custGeom>
              <a:noFill/>
              <a:ln w="25400" cap="rnd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44" name="Arc 46">
                <a:extLst>
                  <a:ext uri="{FF2B5EF4-FFF2-40B4-BE49-F238E27FC236}">
                    <a16:creationId xmlns:a16="http://schemas.microsoft.com/office/drawing/2014/main" id="{B03AB63F-3578-C380-77C2-F30A69C164E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801" y="2544"/>
                <a:ext cx="184" cy="40"/>
              </a:xfrm>
              <a:custGeom>
                <a:avLst/>
                <a:gdLst>
                  <a:gd name="G0" fmla="+- 21600 0 0"/>
                  <a:gd name="G1" fmla="+- 0 0 0"/>
                  <a:gd name="G2" fmla="+- 21600 0 0"/>
                  <a:gd name="T0" fmla="*/ 21600 w 21600"/>
                  <a:gd name="T1" fmla="*/ 21600 h 21600"/>
                  <a:gd name="T2" fmla="*/ 0 w 21600"/>
                  <a:gd name="T3" fmla="*/ 0 h 21600"/>
                  <a:gd name="T4" fmla="*/ 21600 w 21600"/>
                  <a:gd name="T5" fmla="*/ 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599"/>
                    </a:moveTo>
                    <a:cubicBezTo>
                      <a:pt x="9670" y="21599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599"/>
                    </a:moveTo>
                    <a:cubicBezTo>
                      <a:pt x="9670" y="21599"/>
                      <a:pt x="0" y="11929"/>
                      <a:pt x="0" y="0"/>
                    </a:cubicBezTo>
                    <a:lnTo>
                      <a:pt x="21600" y="0"/>
                    </a:lnTo>
                    <a:close/>
                  </a:path>
                </a:pathLst>
              </a:custGeom>
              <a:noFill/>
              <a:ln w="25400" cap="rnd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45" name="Line 47">
                <a:extLst>
                  <a:ext uri="{FF2B5EF4-FFF2-40B4-BE49-F238E27FC236}">
                    <a16:creationId xmlns:a16="http://schemas.microsoft.com/office/drawing/2014/main" id="{4537B4DB-BCF2-E864-96B9-27B55614445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176" y="2360"/>
                <a:ext cx="0" cy="176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46" name="Line 48">
                <a:extLst>
                  <a:ext uri="{FF2B5EF4-FFF2-40B4-BE49-F238E27FC236}">
                    <a16:creationId xmlns:a16="http://schemas.microsoft.com/office/drawing/2014/main" id="{89AA0E24-AA3D-2EEF-1A69-701D409D63F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792" y="2360"/>
                <a:ext cx="0" cy="176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2340635D-2CDF-D6DC-2441-0BB342F57C9D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3112" y="2168"/>
              <a:ext cx="384" cy="272"/>
              <a:chOff x="3168" y="2312"/>
              <a:chExt cx="384" cy="272"/>
            </a:xfrm>
          </p:grpSpPr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8E61C333-DF18-1DAA-1978-3087CB1C4E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76" y="2312"/>
                <a:ext cx="368" cy="80"/>
              </a:xfrm>
              <a:prstGeom prst="ellips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38" name="Arc 51">
                <a:extLst>
                  <a:ext uri="{FF2B5EF4-FFF2-40B4-BE49-F238E27FC236}">
                    <a16:creationId xmlns:a16="http://schemas.microsoft.com/office/drawing/2014/main" id="{D23292D7-3B54-3532-A167-19267752B4E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360" y="2544"/>
                <a:ext cx="184" cy="40"/>
              </a:xfrm>
              <a:custGeom>
                <a:avLst/>
                <a:gdLst>
                  <a:gd name="G0" fmla="+- 0 0 0"/>
                  <a:gd name="G1" fmla="+- 0 0 0"/>
                  <a:gd name="G2" fmla="+- 21600 0 0"/>
                  <a:gd name="T0" fmla="*/ 21600 w 21600"/>
                  <a:gd name="T1" fmla="*/ 0 h 21600"/>
                  <a:gd name="T2" fmla="*/ 0 w 21600"/>
                  <a:gd name="T3" fmla="*/ 21600 h 21600"/>
                  <a:gd name="T4" fmla="*/ 0 w 21600"/>
                  <a:gd name="T5" fmla="*/ 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599"/>
                    </a:cubicBezTo>
                  </a:path>
                  <a:path w="21600" h="21600" stroke="0" extrusionOk="0">
                    <a:moveTo>
                      <a:pt x="21600" y="0"/>
                    </a:moveTo>
                    <a:cubicBezTo>
                      <a:pt x="21600" y="11929"/>
                      <a:pt x="11929" y="21599"/>
                      <a:pt x="0" y="21599"/>
                    </a:cubicBezTo>
                    <a:lnTo>
                      <a:pt x="0" y="0"/>
                    </a:lnTo>
                    <a:close/>
                  </a:path>
                </a:pathLst>
              </a:custGeom>
              <a:noFill/>
              <a:ln w="25400" cap="rnd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39" name="Arc 52">
                <a:extLst>
                  <a:ext uri="{FF2B5EF4-FFF2-40B4-BE49-F238E27FC236}">
                    <a16:creationId xmlns:a16="http://schemas.microsoft.com/office/drawing/2014/main" id="{0683248B-5ACB-9FE8-C737-3E2C19861D1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77" y="2544"/>
                <a:ext cx="184" cy="40"/>
              </a:xfrm>
              <a:custGeom>
                <a:avLst/>
                <a:gdLst>
                  <a:gd name="G0" fmla="+- 21600 0 0"/>
                  <a:gd name="G1" fmla="+- 0 0 0"/>
                  <a:gd name="G2" fmla="+- 21600 0 0"/>
                  <a:gd name="T0" fmla="*/ 21600 w 21600"/>
                  <a:gd name="T1" fmla="*/ 21600 h 21600"/>
                  <a:gd name="T2" fmla="*/ 0 w 21600"/>
                  <a:gd name="T3" fmla="*/ 0 h 21600"/>
                  <a:gd name="T4" fmla="*/ 21600 w 21600"/>
                  <a:gd name="T5" fmla="*/ 0 h 216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</a:cxnLst>
                <a:rect l="0" t="0" r="r" b="b"/>
                <a:pathLst>
                  <a:path w="21600" h="21600" fill="none" extrusionOk="0">
                    <a:moveTo>
                      <a:pt x="21600" y="21599"/>
                    </a:moveTo>
                    <a:cubicBezTo>
                      <a:pt x="9670" y="21599"/>
                      <a:pt x="0" y="11929"/>
                      <a:pt x="0" y="0"/>
                    </a:cubicBezTo>
                  </a:path>
                  <a:path w="21600" h="21600" stroke="0" extrusionOk="0">
                    <a:moveTo>
                      <a:pt x="21600" y="21599"/>
                    </a:moveTo>
                    <a:cubicBezTo>
                      <a:pt x="9670" y="21599"/>
                      <a:pt x="0" y="11929"/>
                      <a:pt x="0" y="0"/>
                    </a:cubicBezTo>
                    <a:lnTo>
                      <a:pt x="21600" y="0"/>
                    </a:lnTo>
                    <a:close/>
                  </a:path>
                </a:pathLst>
              </a:custGeom>
              <a:noFill/>
              <a:ln w="25400" cap="rnd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40" name="Line 53">
                <a:extLst>
                  <a:ext uri="{FF2B5EF4-FFF2-40B4-BE49-F238E27FC236}">
                    <a16:creationId xmlns:a16="http://schemas.microsoft.com/office/drawing/2014/main" id="{1F980FDF-E2A8-3E29-DEC1-4695B289305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552" y="2360"/>
                <a:ext cx="0" cy="176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  <p:sp>
            <p:nvSpPr>
              <p:cNvPr id="41" name="Line 54">
                <a:extLst>
                  <a:ext uri="{FF2B5EF4-FFF2-40B4-BE49-F238E27FC236}">
                    <a16:creationId xmlns:a16="http://schemas.microsoft.com/office/drawing/2014/main" id="{3FC35721-01E3-0193-FFEC-68AB2275057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168" y="2360"/>
                <a:ext cx="0" cy="176"/>
              </a:xfrm>
              <a:prstGeom prst="line">
                <a:avLst/>
              </a:prstGeom>
              <a:noFill/>
              <a:ln w="25400">
                <a:solidFill>
                  <a:schemeClr val="tx1"/>
                </a:solidFill>
                <a:round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1pPr>
                <a:lvl2pPr marL="4572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2pPr>
                <a:lvl3pPr marL="9144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3pPr>
                <a:lvl4pPr marL="1371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4pPr>
                <a:lvl5pPr marL="18288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ern="120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+mn-cs"/>
                  </a:defRPr>
                </a:lvl9pPr>
              </a:lstStyle>
              <a:p>
                <a:endParaRPr lang="en-CA"/>
              </a:p>
            </p:txBody>
          </p:sp>
        </p:grp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388C1998-C27A-0623-C31E-2127CF3E74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2" y="1632"/>
              <a:ext cx="672" cy="240"/>
            </a:xfrm>
            <a:prstGeom prst="rect">
              <a:avLst/>
            </a:prstGeom>
            <a:noFill/>
            <a:ln w="2857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en-US"/>
                <a:t>L2 Cache</a:t>
              </a:r>
            </a:p>
          </p:txBody>
        </p:sp>
        <p:sp>
          <p:nvSpPr>
            <p:cNvPr id="36" name="Line 57">
              <a:extLst>
                <a:ext uri="{FF2B5EF4-FFF2-40B4-BE49-F238E27FC236}">
                  <a16:creationId xmlns:a16="http://schemas.microsoft.com/office/drawing/2014/main" id="{C7ABEAB3-B834-E774-FB3E-39CA1905AE0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768" y="1008"/>
              <a:ext cx="0" cy="633"/>
            </a:xfrm>
            <a:prstGeom prst="line">
              <a:avLst/>
            </a:prstGeom>
            <a:noFill/>
            <a:ln w="38100">
              <a:solidFill>
                <a:srgbClr val="00FF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+mn-cs"/>
                </a:defRPr>
              </a:lvl9pPr>
            </a:lstStyle>
            <a:p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31327588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E6511-BFD3-2DE6-9C3C-C136B94730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e.g., Old Pentium II/III Organization: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3AD696-E3AA-4C9E-DD2F-B06FE0CD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CAF61-B288-F4D0-C6BA-F5D0A65A6C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B3E559-4ADB-4A16-C823-D4D76B3B5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15</a:t>
            </a:fld>
            <a:endParaRPr lang="en-CA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D7489B6-0CF2-C48D-E520-CF1CA665334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8882" y="1498732"/>
            <a:ext cx="5959672" cy="5049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91518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64EF1C-70A8-9D22-5D70-95BCE3006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4F895-40C4-CB6B-C482-FE85172218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8662" y="1060694"/>
            <a:ext cx="4114799" cy="1325563"/>
          </a:xfrm>
        </p:spPr>
        <p:txBody>
          <a:bodyPr>
            <a:normAutofit/>
          </a:bodyPr>
          <a:lstStyle/>
          <a:p>
            <a:r>
              <a:rPr lang="en-CA" dirty="0"/>
              <a:t>e.g., Newer Gen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606ACE-1907-24BB-B93B-A894D7ACD5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476239-E88A-8898-0772-7CA63BEBD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DCA4D1-C5E9-7572-9050-662EDECE9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16</a:t>
            </a:fld>
            <a:endParaRPr lang="en-CA"/>
          </a:p>
        </p:txBody>
      </p:sp>
      <p:pic>
        <p:nvPicPr>
          <p:cNvPr id="2050" name="Picture 2" descr="12th Gen Intel Core Multi Tasking Workflow Content Creation">
            <a:extLst>
              <a:ext uri="{FF2B5EF4-FFF2-40B4-BE49-F238E27FC236}">
                <a16:creationId xmlns:a16="http://schemas.microsoft.com/office/drawing/2014/main" id="{3D4E1F1D-1C25-42A6-AF90-663499CF78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43462" y="0"/>
            <a:ext cx="661987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4BCA92A1-6C9B-95AC-5BF1-DAF1A7C178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8422" y="2602339"/>
            <a:ext cx="3835278" cy="3537929"/>
          </a:xfrm>
        </p:spPr>
        <p:txBody>
          <a:bodyPr>
            <a:normAutofit/>
          </a:bodyPr>
          <a:lstStyle/>
          <a:p>
            <a:pPr>
              <a:spcBef>
                <a:spcPct val="20000"/>
              </a:spcBef>
            </a:pPr>
            <a:r>
              <a:rPr lang="en-US" altLang="en-US" dirty="0"/>
              <a:t>More functions now integrated into the main chip.</a:t>
            </a:r>
          </a:p>
          <a:p>
            <a:pPr>
              <a:spcBef>
                <a:spcPct val="20000"/>
              </a:spcBef>
            </a:pPr>
            <a:endParaRPr lang="en-US" dirty="0"/>
          </a:p>
          <a:p>
            <a:pPr>
              <a:spcBef>
                <a:spcPct val="20000"/>
              </a:spcBef>
            </a:pPr>
            <a:r>
              <a:rPr lang="en-CA" dirty="0"/>
              <a:t>External busses are always slower…</a:t>
            </a:r>
          </a:p>
        </p:txBody>
      </p:sp>
    </p:spTree>
    <p:extLst>
      <p:ext uri="{BB962C8B-B14F-4D97-AF65-F5344CB8AC3E}">
        <p14:creationId xmlns:p14="http://schemas.microsoft.com/office/powerpoint/2010/main" val="6151820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54F1A-E25C-D42E-4D49-7BCBF6B6A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7070969" cy="1325563"/>
          </a:xfrm>
        </p:spPr>
        <p:txBody>
          <a:bodyPr/>
          <a:lstStyle/>
          <a:p>
            <a:r>
              <a:rPr lang="en-CA" dirty="0"/>
              <a:t>Embedded Processor Busses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82D594-9BE2-F729-B14E-1CD61EC70D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54415" cy="4351338"/>
          </a:xfrm>
        </p:spPr>
        <p:txBody>
          <a:bodyPr/>
          <a:lstStyle/>
          <a:p>
            <a:r>
              <a:rPr lang="en-CA" dirty="0"/>
              <a:t>Busses serve similar purposes even if not external.</a:t>
            </a:r>
          </a:p>
          <a:p>
            <a:endParaRPr lang="en-CA" dirty="0"/>
          </a:p>
          <a:p>
            <a:r>
              <a:rPr lang="en-CA" dirty="0"/>
              <a:t>Standard bus interface makes it easy to add/remove blocks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DE4D77-A519-186B-4CB2-48CA3BDA8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D98ED9-B456-616B-464A-87506D11F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4E0A88-FD3C-4A12-8FAF-AD5986C5C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17</a:t>
            </a:fld>
            <a:endParaRPr lang="en-CA"/>
          </a:p>
        </p:txBody>
      </p:sp>
      <p:pic>
        <p:nvPicPr>
          <p:cNvPr id="8" name="Picture 7" descr="A diagram of a computer&#10;&#10;AI-generated content may be incorrect.">
            <a:extLst>
              <a:ext uri="{FF2B5EF4-FFF2-40B4-BE49-F238E27FC236}">
                <a16:creationId xmlns:a16="http://schemas.microsoft.com/office/drawing/2014/main" id="{AF7492F1-F4B3-93A5-C7E4-3472CD8EAA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5986" y="0"/>
            <a:ext cx="408833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50793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65859-5702-472B-DF35-BFA510E70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Common </a:t>
            </a:r>
            <a:r>
              <a:rPr lang="en-CA" i="1" dirty="0"/>
              <a:t>On-Chip</a:t>
            </a:r>
            <a:r>
              <a:rPr lang="en-CA" dirty="0"/>
              <a:t> Bus Protocols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1C0933-266F-50C9-E9EF-2EAC6DF2E7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AHBP (Advanced High-performance Bus)</a:t>
            </a:r>
          </a:p>
          <a:p>
            <a:pPr lvl="1"/>
            <a:r>
              <a:rPr lang="en-CA" dirty="0"/>
              <a:t>Large bus widths supported, advanced features like bursts</a:t>
            </a:r>
          </a:p>
          <a:p>
            <a:r>
              <a:rPr lang="en-CA" dirty="0"/>
              <a:t>APB (Advanced Peripheral Bus)</a:t>
            </a:r>
          </a:p>
          <a:p>
            <a:pPr lvl="1"/>
            <a:r>
              <a:rPr lang="en-CA" dirty="0"/>
              <a:t>Similar to AHBP but simpler signaling, designed for low-frequency peripherals</a:t>
            </a:r>
          </a:p>
          <a:p>
            <a:r>
              <a:rPr lang="en-CA" dirty="0"/>
              <a:t>AXI (Advanced </a:t>
            </a:r>
            <a:r>
              <a:rPr lang="en-CA" dirty="0" err="1"/>
              <a:t>eXtensible</a:t>
            </a:r>
            <a:r>
              <a:rPr lang="en-CA" dirty="0"/>
              <a:t> Interface)</a:t>
            </a:r>
          </a:p>
          <a:p>
            <a:pPr lvl="1"/>
            <a:r>
              <a:rPr lang="en-CA" dirty="0"/>
              <a:t>Higher performance than AHBP – allows more features like multiple “outstanding transfers”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6C46A7-844E-2E87-27CF-398A8D32C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6E6010-A675-52D9-3B6E-5D0B5A3BA6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1344DB-02BB-2F10-5F06-2445F4859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18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210740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F6A4A-E44E-FA11-564C-282EB2210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Transfer Modes in Busses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B920A-4999-1FB7-1E71-BC014AA3DC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1156" y="1614111"/>
            <a:ext cx="10515600" cy="891817"/>
          </a:xfrm>
        </p:spPr>
        <p:txBody>
          <a:bodyPr/>
          <a:lstStyle/>
          <a:p>
            <a:r>
              <a:rPr lang="en-CA" dirty="0"/>
              <a:t>Naïve Bus Protocol Implementation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13D9B9-F2BD-35ED-5D4C-4B6A4BA606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EC872C-34B3-E157-38C0-2DE7893C0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6972E3-D6CB-6D76-1A7D-EF5DCEA9A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19</a:t>
            </a:fld>
            <a:endParaRPr lang="en-C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1D1EED3-F753-A5C1-05C5-C5BDA222C9B2}"/>
              </a:ext>
            </a:extLst>
          </p:cNvPr>
          <p:cNvSpPr/>
          <p:nvPr/>
        </p:nvSpPr>
        <p:spPr>
          <a:xfrm>
            <a:off x="1244569" y="2381003"/>
            <a:ext cx="2833352" cy="8918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Controller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FD0292-F140-5BC3-9DD8-DE0A416D2DE4}"/>
              </a:ext>
            </a:extLst>
          </p:cNvPr>
          <p:cNvSpPr/>
          <p:nvPr/>
        </p:nvSpPr>
        <p:spPr>
          <a:xfrm>
            <a:off x="7193924" y="2381002"/>
            <a:ext cx="2833352" cy="8918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Peripheral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5F13404-F96E-BF2B-ABED-D45F1B1CC395}"/>
              </a:ext>
            </a:extLst>
          </p:cNvPr>
          <p:cNvCxnSpPr/>
          <p:nvPr/>
        </p:nvCxnSpPr>
        <p:spPr>
          <a:xfrm>
            <a:off x="838200" y="3718729"/>
            <a:ext cx="0" cy="25017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F44DAE0-B0FD-B4E4-C6F8-9FA4E9BAC5AA}"/>
              </a:ext>
            </a:extLst>
          </p:cNvPr>
          <p:cNvSpPr txBox="1"/>
          <p:nvPr/>
        </p:nvSpPr>
        <p:spPr>
          <a:xfrm>
            <a:off x="521446" y="3349397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time</a:t>
            </a:r>
          </a:p>
        </p:txBody>
      </p:sp>
    </p:spTree>
    <p:extLst>
      <p:ext uri="{BB962C8B-B14F-4D97-AF65-F5344CB8AC3E}">
        <p14:creationId xmlns:p14="http://schemas.microsoft.com/office/powerpoint/2010/main" val="14565644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B9470-8F04-1397-CE5D-E211C3BA9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5F68B-7D5D-EC8D-5164-CE3F36FFA7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Transfer Modes in Busses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188EDB-3B2B-7C6C-0D08-809774CF41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1156" y="1614111"/>
            <a:ext cx="10515600" cy="891817"/>
          </a:xfrm>
        </p:spPr>
        <p:txBody>
          <a:bodyPr/>
          <a:lstStyle/>
          <a:p>
            <a:r>
              <a:rPr lang="en-CA" dirty="0"/>
              <a:t>Realistic Bus Protocol Implementation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D9793C-B207-DA44-9E0A-084E296250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C31E73-E350-89FC-3BBE-190D3F0EB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524D05-1550-4F29-5564-4F97224FD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20</a:t>
            </a:fld>
            <a:endParaRPr lang="en-C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3855D2F-C08D-F667-DEDF-FE78F50BADDB}"/>
              </a:ext>
            </a:extLst>
          </p:cNvPr>
          <p:cNvSpPr/>
          <p:nvPr/>
        </p:nvSpPr>
        <p:spPr>
          <a:xfrm>
            <a:off x="1244569" y="2381003"/>
            <a:ext cx="2833352" cy="8918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Controller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0920A6E-1A2D-394C-392B-73DB42F05AEB}"/>
              </a:ext>
            </a:extLst>
          </p:cNvPr>
          <p:cNvSpPr/>
          <p:nvPr/>
        </p:nvSpPr>
        <p:spPr>
          <a:xfrm>
            <a:off x="7193924" y="2381002"/>
            <a:ext cx="2833352" cy="8918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Peripheral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1275964-2BF7-6A3D-B460-F7EDEBFB16DF}"/>
              </a:ext>
            </a:extLst>
          </p:cNvPr>
          <p:cNvCxnSpPr/>
          <p:nvPr/>
        </p:nvCxnSpPr>
        <p:spPr>
          <a:xfrm>
            <a:off x="838200" y="3718729"/>
            <a:ext cx="0" cy="25017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B1A3EC-8BD3-7D80-0CAF-491A838F6901}"/>
              </a:ext>
            </a:extLst>
          </p:cNvPr>
          <p:cNvSpPr txBox="1"/>
          <p:nvPr/>
        </p:nvSpPr>
        <p:spPr>
          <a:xfrm>
            <a:off x="521446" y="3349397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time</a:t>
            </a:r>
          </a:p>
        </p:txBody>
      </p:sp>
    </p:spTree>
    <p:extLst>
      <p:ext uri="{BB962C8B-B14F-4D97-AF65-F5344CB8AC3E}">
        <p14:creationId xmlns:p14="http://schemas.microsoft.com/office/powerpoint/2010/main" val="42937915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790E3-937D-259A-E627-32D80C8309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917F50-C030-97FB-88FF-1EC05B38D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Transfer Modes in Busses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DF7E71-F81F-8DEF-51FD-E4C98C6836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1156" y="1614111"/>
            <a:ext cx="10515600" cy="891817"/>
          </a:xfrm>
        </p:spPr>
        <p:txBody>
          <a:bodyPr/>
          <a:lstStyle/>
          <a:p>
            <a:r>
              <a:rPr lang="en-CA" dirty="0"/>
              <a:t>Outstanding Transactions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C50338-1530-FE0B-8CD9-6F3EC715DE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29E95-2BA8-DBAE-CBD0-2CBEC152EE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E21BFB-45B1-39D5-C4FB-D43E294298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21</a:t>
            </a:fld>
            <a:endParaRPr lang="en-C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717551B-B08D-72A1-4F59-E68AD27A0CA0}"/>
              </a:ext>
            </a:extLst>
          </p:cNvPr>
          <p:cNvSpPr/>
          <p:nvPr/>
        </p:nvSpPr>
        <p:spPr>
          <a:xfrm>
            <a:off x="1244569" y="2381003"/>
            <a:ext cx="2833352" cy="8918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Controller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1A7427E-B537-5F52-EEB7-9AFF065BF1BD}"/>
              </a:ext>
            </a:extLst>
          </p:cNvPr>
          <p:cNvSpPr/>
          <p:nvPr/>
        </p:nvSpPr>
        <p:spPr>
          <a:xfrm>
            <a:off x="5280729" y="2381003"/>
            <a:ext cx="2833352" cy="8918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Peripheral #1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61B1173-CB42-862D-3196-069621BD88FD}"/>
              </a:ext>
            </a:extLst>
          </p:cNvPr>
          <p:cNvCxnSpPr/>
          <p:nvPr/>
        </p:nvCxnSpPr>
        <p:spPr>
          <a:xfrm>
            <a:off x="838200" y="3718729"/>
            <a:ext cx="0" cy="25017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238FBEE-8932-8A7D-E7B5-F32CA95006A4}"/>
              </a:ext>
            </a:extLst>
          </p:cNvPr>
          <p:cNvSpPr txBox="1"/>
          <p:nvPr/>
        </p:nvSpPr>
        <p:spPr>
          <a:xfrm>
            <a:off x="521446" y="3349397"/>
            <a:ext cx="633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dirty="0"/>
              <a:t>time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DBBCDC3-3FA6-D50C-3F5D-64C74D4B6F23}"/>
              </a:ext>
            </a:extLst>
          </p:cNvPr>
          <p:cNvSpPr/>
          <p:nvPr/>
        </p:nvSpPr>
        <p:spPr>
          <a:xfrm>
            <a:off x="8926817" y="2381002"/>
            <a:ext cx="2833352" cy="89181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Peripheral #2</a:t>
            </a:r>
          </a:p>
        </p:txBody>
      </p:sp>
    </p:spTree>
    <p:extLst>
      <p:ext uri="{BB962C8B-B14F-4D97-AF65-F5344CB8AC3E}">
        <p14:creationId xmlns:p14="http://schemas.microsoft.com/office/powerpoint/2010/main" val="23225103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DF9F0-76AD-0F91-2E96-235087AED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AHBP Signaling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DBA68E-B007-90CD-BB93-84880F12F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A231D4-2547-9C61-708E-B2A718EC7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DFF1B1-F728-771F-711F-5EA34100E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22</a:t>
            </a:fld>
            <a:endParaRPr lang="en-CA"/>
          </a:p>
        </p:txBody>
      </p:sp>
      <p:pic>
        <p:nvPicPr>
          <p:cNvPr id="8" name="Picture 7" descr="A diagram of a computer&#10;&#10;AI-generated content may be incorrect.">
            <a:extLst>
              <a:ext uri="{FF2B5EF4-FFF2-40B4-BE49-F238E27FC236}">
                <a16:creationId xmlns:a16="http://schemas.microsoft.com/office/drawing/2014/main" id="{B7C75FBD-5781-B238-CB47-DC64DD3ED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539" y="1690688"/>
            <a:ext cx="7898708" cy="4106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6465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A9837A-2D83-E3DA-63C4-2ADF00DBA6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AHBP Signals</a:t>
            </a:r>
          </a:p>
        </p:txBody>
      </p:sp>
      <p:pic>
        <p:nvPicPr>
          <p:cNvPr id="8" name="Content Placeholder 7" descr="A diagram of a block diagram&#10;&#10;AI-generated content may be incorrect.">
            <a:extLst>
              <a:ext uri="{FF2B5EF4-FFF2-40B4-BE49-F238E27FC236}">
                <a16:creationId xmlns:a16="http://schemas.microsoft.com/office/drawing/2014/main" id="{7B267BA1-05E7-17A2-B524-4283546E1C6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37995" y="2238923"/>
            <a:ext cx="6516009" cy="352474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2FC77A-1414-C011-96E6-F435394B00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1D0749-B590-A69B-C626-D7B42061F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04FD9B-7CB6-1CCB-51C4-7E39C8929B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23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77231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B37BD-18B7-0219-B397-B7F946B30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Typical Internal Bus Signaling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3C35B5-9FE1-17E2-72F6-5E61852151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Not “pin limited”</a:t>
            </a:r>
          </a:p>
          <a:p>
            <a:pPr lvl="1"/>
            <a:r>
              <a:rPr lang="en-CA" dirty="0"/>
              <a:t>Note separate input &amp; output data lines</a:t>
            </a:r>
          </a:p>
          <a:p>
            <a:pPr lvl="1"/>
            <a:r>
              <a:rPr lang="en-CA" dirty="0"/>
              <a:t>Common to have many control signals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331499-BF3D-7215-1371-CF548F0AF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9483B-F592-5FD3-7A9E-EC88BA157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A3511F-4D45-6490-2969-16FCC38D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24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771427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FA775-EC35-7C7C-B2CB-A483CF3EC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e.g., STM32F3 Bus Matrix</a:t>
            </a:r>
          </a:p>
        </p:txBody>
      </p:sp>
      <p:pic>
        <p:nvPicPr>
          <p:cNvPr id="8" name="Content Placeholder 7" descr="A diagram of a computer system&#10;&#10;AI-generated content may be incorrect.">
            <a:extLst>
              <a:ext uri="{FF2B5EF4-FFF2-40B4-BE49-F238E27FC236}">
                <a16:creationId xmlns:a16="http://schemas.microsoft.com/office/drawing/2014/main" id="{536A7AF6-1B32-A37C-F82F-382C472074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0755" y="1465832"/>
            <a:ext cx="6578439" cy="42523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1A4E7B-691C-6D26-54B4-057882751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5C40CD-40B2-B653-CD25-4FA3E0009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02152D-F316-0320-29D4-D1293AD81B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25</a:t>
            </a:fld>
            <a:endParaRPr lang="en-CA"/>
          </a:p>
        </p:txBody>
      </p:sp>
      <p:pic>
        <p:nvPicPr>
          <p:cNvPr id="10" name="Picture 9" descr="A white text with black text&#10;&#10;AI-generated content may be incorrect.">
            <a:extLst>
              <a:ext uri="{FF2B5EF4-FFF2-40B4-BE49-F238E27FC236}">
                <a16:creationId xmlns:a16="http://schemas.microsoft.com/office/drawing/2014/main" id="{1458C0BE-13E1-AE4B-3248-4CFE4919D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2654" y="2221605"/>
            <a:ext cx="5324626" cy="3071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97554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7B963A-9900-DFFD-7629-73AEA71AF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Bus Arbitration?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1A205F-8F11-C5C2-8B1D-274D78642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1456"/>
            <a:ext cx="10515600" cy="3171378"/>
          </a:xfrm>
        </p:spPr>
        <p:txBody>
          <a:bodyPr/>
          <a:lstStyle/>
          <a:p>
            <a:r>
              <a:rPr lang="en-CA" dirty="0"/>
              <a:t>A bus may have </a:t>
            </a:r>
            <a:r>
              <a:rPr lang="en-CA" u="sng" dirty="0"/>
              <a:t>more than one</a:t>
            </a:r>
            <a:r>
              <a:rPr lang="en-CA" dirty="0"/>
              <a:t> controller:</a:t>
            </a:r>
          </a:p>
          <a:p>
            <a:pPr lvl="1"/>
            <a:r>
              <a:rPr lang="en-CA" dirty="0"/>
              <a:t>Multi-core processors</a:t>
            </a:r>
          </a:p>
          <a:p>
            <a:pPr lvl="1"/>
            <a:r>
              <a:rPr lang="en-CA" dirty="0"/>
              <a:t>Systems with e.g., a high-performance &amp; low-performance processor</a:t>
            </a:r>
          </a:p>
          <a:p>
            <a:pPr lvl="1"/>
            <a:r>
              <a:rPr lang="en-CA" dirty="0"/>
              <a:t>Special blocks such as DMA</a:t>
            </a:r>
          </a:p>
          <a:p>
            <a:pPr lvl="1"/>
            <a:endParaRPr lang="en-CA" dirty="0"/>
          </a:p>
          <a:p>
            <a:r>
              <a:rPr lang="en-CA" dirty="0"/>
              <a:t>Bus arbitration determines </a:t>
            </a:r>
            <a:r>
              <a:rPr lang="en-CA" i="1" dirty="0"/>
              <a:t>who</a:t>
            </a:r>
            <a:r>
              <a:rPr lang="en-CA" dirty="0"/>
              <a:t> owns the bus, various algorithms used, but e.g., STM32F3: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85C196-E12A-676B-221D-58D8774FF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DE4209-1CF3-0D1A-DE57-6DEABE858A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074EFE-822F-1221-6B02-491651CBC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26</a:t>
            </a:fld>
            <a:endParaRPr lang="en-CA"/>
          </a:p>
        </p:txBody>
      </p:sp>
      <p:pic>
        <p:nvPicPr>
          <p:cNvPr id="8" name="Picture 7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C4B1FFCF-CA43-F6A5-70AA-CCB84A1844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947" y="4542344"/>
            <a:ext cx="10200068" cy="18140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971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79865E-A43B-0BC0-2D00-920EFD4E4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DMA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A4537B-1124-BC2C-098F-DD7E3D97A9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176" y="1521427"/>
            <a:ext cx="5472448" cy="4351338"/>
          </a:xfrm>
        </p:spPr>
        <p:txBody>
          <a:bodyPr/>
          <a:lstStyle/>
          <a:p>
            <a:r>
              <a:rPr lang="en-CA" dirty="0"/>
              <a:t>DMA is another </a:t>
            </a:r>
            <a:r>
              <a:rPr lang="en-CA" u="sng" dirty="0"/>
              <a:t>bus controller</a:t>
            </a:r>
            <a:r>
              <a:rPr lang="en-CA" dirty="0"/>
              <a:t> which can read/write from Memory &amp; Peripherals.</a:t>
            </a:r>
          </a:p>
          <a:p>
            <a:endParaRPr lang="en-CA" dirty="0"/>
          </a:p>
          <a:p>
            <a:r>
              <a:rPr lang="en-CA" dirty="0"/>
              <a:t>Can be </a:t>
            </a:r>
            <a:r>
              <a:rPr lang="en-CA" u="sng" dirty="0"/>
              <a:t>triggered by events</a:t>
            </a:r>
            <a:r>
              <a:rPr lang="en-CA" dirty="0"/>
              <a:t> such as:</a:t>
            </a:r>
          </a:p>
          <a:p>
            <a:pPr lvl="1"/>
            <a:r>
              <a:rPr lang="en-CA" dirty="0"/>
              <a:t>ADC complete</a:t>
            </a:r>
          </a:p>
          <a:p>
            <a:pPr lvl="1"/>
            <a:r>
              <a:rPr lang="en-CA" dirty="0"/>
              <a:t>Packet received (USB, Ethernet, </a:t>
            </a:r>
            <a:r>
              <a:rPr lang="en-CA" dirty="0" err="1"/>
              <a:t>etc</a:t>
            </a:r>
            <a:r>
              <a:rPr lang="en-CA" dirty="0"/>
              <a:t>)</a:t>
            </a:r>
          </a:p>
          <a:p>
            <a:pPr lvl="1"/>
            <a:endParaRPr lang="en-CA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7A4437-57DC-50ED-4591-0CE16D119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FA6F5-BA64-A87C-C0BD-0CCBAB137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8B34-9F4A-7D55-8F40-E3003BD4B6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27</a:t>
            </a:fld>
            <a:endParaRPr lang="en-CA"/>
          </a:p>
        </p:txBody>
      </p:sp>
      <p:pic>
        <p:nvPicPr>
          <p:cNvPr id="10" name="Picture 9" descr="A diagram of a computer system&#10;&#10;AI-generated content may be incorrect.">
            <a:extLst>
              <a:ext uri="{FF2B5EF4-FFF2-40B4-BE49-F238E27FC236}">
                <a16:creationId xmlns:a16="http://schemas.microsoft.com/office/drawing/2014/main" id="{E5662076-5ACB-A8BE-DFCE-5793C8FD38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4937" y="840390"/>
            <a:ext cx="5871869" cy="503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7751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5CE96-8B88-5FE6-9206-AB9709E4E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DMA Keeps the CPU Free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6C6024-3581-504A-48D5-B8B5C01D97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Examples of common DMA Usage:</a:t>
            </a:r>
          </a:p>
          <a:p>
            <a:pPr lvl="1"/>
            <a:r>
              <a:rPr lang="en-CA" dirty="0"/>
              <a:t>Copy large blocks of data</a:t>
            </a:r>
          </a:p>
          <a:p>
            <a:pPr lvl="1"/>
            <a:r>
              <a:rPr lang="en-CA" dirty="0"/>
              <a:t>Automatically receive incoming data to a buffer</a:t>
            </a:r>
          </a:p>
          <a:p>
            <a:pPr lvl="1"/>
            <a:r>
              <a:rPr lang="en-CA" dirty="0"/>
              <a:t>Take a transmit buffer, read a new “chunk” of data when the peripheral is ready</a:t>
            </a:r>
          </a:p>
          <a:p>
            <a:pPr marL="457200" lvl="1" indent="0">
              <a:buNone/>
            </a:pPr>
            <a:endParaRPr lang="en-CA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B844E5-DBB5-942E-4AAD-A63763A85C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84B573-BA80-F983-1F3A-86ACE2D6C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50F62C-D0BF-40C4-9405-633C369C3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28</a:t>
            </a:fld>
            <a:endParaRPr lang="en-C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F0F2BBF-0301-96BC-4E9D-86F3472C92DB}"/>
              </a:ext>
            </a:extLst>
          </p:cNvPr>
          <p:cNvSpPr/>
          <p:nvPr/>
        </p:nvSpPr>
        <p:spPr>
          <a:xfrm>
            <a:off x="296214" y="3874355"/>
            <a:ext cx="9638461" cy="6017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Large Buffer (&gt;1000 bytes)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5FC52F-DA33-4EBB-A2F5-E0FF73BE2777}"/>
              </a:ext>
            </a:extLst>
          </p:cNvPr>
          <p:cNvSpPr/>
          <p:nvPr/>
        </p:nvSpPr>
        <p:spPr>
          <a:xfrm>
            <a:off x="9196795" y="4814459"/>
            <a:ext cx="1570809" cy="60178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USB Packet (64 bytes)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4E68F7D-E039-3C82-3E40-CC0FF2C9BC2D}"/>
              </a:ext>
            </a:extLst>
          </p:cNvPr>
          <p:cNvSpPr/>
          <p:nvPr/>
        </p:nvSpPr>
        <p:spPr>
          <a:xfrm>
            <a:off x="9196795" y="5595631"/>
            <a:ext cx="1570809" cy="601785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USB Packet (64 bytes)</a:t>
            </a: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A3D32A13-FFB8-1879-EC7C-C94108676371}"/>
              </a:ext>
            </a:extLst>
          </p:cNvPr>
          <p:cNvCxnSpPr>
            <a:endCxn id="8" idx="1"/>
          </p:cNvCxnSpPr>
          <p:nvPr/>
        </p:nvCxnSpPr>
        <p:spPr>
          <a:xfrm rot="16200000" flipH="1">
            <a:off x="8641144" y="4559700"/>
            <a:ext cx="575549" cy="5357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2C77D6CE-9DF8-2417-9769-B3CD1B748DF0}"/>
              </a:ext>
            </a:extLst>
          </p:cNvPr>
          <p:cNvCxnSpPr/>
          <p:nvPr/>
        </p:nvCxnSpPr>
        <p:spPr>
          <a:xfrm rot="16200000" flipH="1">
            <a:off x="8641144" y="5365368"/>
            <a:ext cx="575549" cy="5357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767152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56CFB9-00FA-A9D4-7DEE-F0535B919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DMA Usage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5732EE-0CA9-F86C-3390-769D194BEE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DMA is one of the </a:t>
            </a:r>
            <a:r>
              <a:rPr lang="en-CA" u="sng" dirty="0"/>
              <a:t>most powerful</a:t>
            </a:r>
            <a:r>
              <a:rPr lang="en-CA" dirty="0"/>
              <a:t> features of microcontrollers you can use.</a:t>
            </a:r>
          </a:p>
          <a:p>
            <a:r>
              <a:rPr lang="en-CA" dirty="0"/>
              <a:t>Many programs are </a:t>
            </a:r>
            <a:r>
              <a:rPr lang="en-CA" u="sng" dirty="0"/>
              <a:t>only possible</a:t>
            </a:r>
            <a:r>
              <a:rPr lang="en-CA" dirty="0"/>
              <a:t> with DMA, for example:</a:t>
            </a:r>
          </a:p>
          <a:p>
            <a:pPr lvl="1"/>
            <a:r>
              <a:rPr lang="en-CA" dirty="0"/>
              <a:t>USB Microphone would have:</a:t>
            </a:r>
          </a:p>
          <a:p>
            <a:pPr lvl="2"/>
            <a:r>
              <a:rPr lang="en-CA" dirty="0"/>
              <a:t>DMA from ADC</a:t>
            </a:r>
            <a:r>
              <a:rPr lang="en-CA" dirty="0">
                <a:sym typeface="Wingdings" panose="05000000000000000000" pitchFamily="2" charset="2"/>
              </a:rPr>
              <a:t> Memory</a:t>
            </a:r>
          </a:p>
          <a:p>
            <a:pPr lvl="2"/>
            <a:r>
              <a:rPr lang="en-CA" dirty="0">
                <a:sym typeface="Wingdings" panose="05000000000000000000" pitchFamily="2" charset="2"/>
              </a:rPr>
              <a:t>DMA from Memory  USB</a:t>
            </a:r>
          </a:p>
          <a:p>
            <a:pPr lvl="2"/>
            <a:r>
              <a:rPr lang="en-CA" dirty="0">
                <a:sym typeface="Wingdings" panose="05000000000000000000" pitchFamily="2" charset="2"/>
              </a:rPr>
              <a:t>Microcontroller does “housekeeping” keeping signals alive</a:t>
            </a:r>
          </a:p>
          <a:p>
            <a:pPr lvl="2"/>
            <a:endParaRPr lang="en-CA" dirty="0">
              <a:sym typeface="Wingdings" panose="05000000000000000000" pitchFamily="2" charset="2"/>
            </a:endParaRPr>
          </a:p>
          <a:p>
            <a:r>
              <a:rPr lang="en-CA" dirty="0">
                <a:sym typeface="Wingdings" panose="05000000000000000000" pitchFamily="2" charset="2"/>
              </a:rPr>
              <a:t>Normally </a:t>
            </a:r>
            <a:r>
              <a:rPr lang="en-CA" u="sng" dirty="0">
                <a:sym typeface="Wingdings" panose="05000000000000000000" pitchFamily="2" charset="2"/>
              </a:rPr>
              <a:t>required</a:t>
            </a:r>
            <a:r>
              <a:rPr lang="en-CA" dirty="0">
                <a:sym typeface="Wingdings" panose="05000000000000000000" pitchFamily="2" charset="2"/>
              </a:rPr>
              <a:t> for sampling &amp; high-throughput communications</a:t>
            </a:r>
            <a:endParaRPr lang="en-CA" dirty="0"/>
          </a:p>
          <a:p>
            <a:pPr lvl="1"/>
            <a:endParaRPr lang="en-CA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9CF7F5-B86F-C0A9-EC72-EACF825051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5D149-3179-6AFF-A703-D3425341CD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5CD4C3-D5CE-81B1-01B5-A04F41F10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29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563242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86572-F38C-F263-CB27-E695E3468D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e.g., DMA Demo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38233B-94D1-12D3-A519-F2A225ABEA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A6427-1142-0C9C-3707-A406F2C97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911FAE-8452-6DC0-EF57-2CB975C92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30</a:t>
            </a:fld>
            <a:endParaRPr lang="en-CA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6AE9AFE-EDCF-5272-F3B6-9DE1E32152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4126" y="1423628"/>
            <a:ext cx="6748976" cy="4932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6663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00BCF-94FC-06ED-2825-816062D81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Sidenote: Data Synchronization Barrier (DSB)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0E5AC3-DA48-417A-6424-74788D087B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Note the Data Synchronization Barrier (DSB)</a:t>
            </a:r>
          </a:p>
          <a:p>
            <a:pPr lvl="1"/>
            <a:r>
              <a:rPr lang="en-CA" dirty="0"/>
              <a:t>Technically </a:t>
            </a:r>
            <a:r>
              <a:rPr lang="en-CA" u="sng" dirty="0"/>
              <a:t>not</a:t>
            </a:r>
            <a:r>
              <a:rPr lang="en-CA" dirty="0"/>
              <a:t> needed as peripheral memory should not be reordered</a:t>
            </a:r>
          </a:p>
          <a:p>
            <a:pPr lvl="1"/>
            <a:r>
              <a:rPr lang="en-CA" dirty="0"/>
              <a:t>But if you were writing something to e.g., memory being read from before enabling may still want that (ensures memory consistency)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862E21-08BD-5232-0738-9E3B177C1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931DBB-4E52-A14A-AD53-816577C2B9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0569DB-D203-8E10-F236-ABCD744D7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31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787897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650D31-33B3-A8F8-9D55-D06EA88B9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DMA Usage: High-Level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6FE54F-A506-F088-A16F-1A6AC7F345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Set source &amp; destination addresses</a:t>
            </a:r>
          </a:p>
          <a:p>
            <a:r>
              <a:rPr lang="en-CA" dirty="0"/>
              <a:t>Set if either address should automatically increment (normally </a:t>
            </a:r>
            <a:r>
              <a:rPr lang="en-CA" b="1" dirty="0"/>
              <a:t>not</a:t>
            </a:r>
            <a:r>
              <a:rPr lang="en-CA" dirty="0"/>
              <a:t> incrementing for peripherals, but </a:t>
            </a:r>
            <a:r>
              <a:rPr lang="en-CA" b="1" dirty="0"/>
              <a:t>do</a:t>
            </a:r>
            <a:r>
              <a:rPr lang="en-CA" dirty="0"/>
              <a:t> increment for memory)</a:t>
            </a:r>
          </a:p>
          <a:p>
            <a:r>
              <a:rPr lang="en-CA" dirty="0"/>
              <a:t>Set word size (e.g., normally 32 bits)</a:t>
            </a:r>
          </a:p>
          <a:p>
            <a:r>
              <a:rPr lang="en-CA" dirty="0"/>
              <a:t>Set number of </a:t>
            </a:r>
            <a:r>
              <a:rPr lang="en-CA" b="1" dirty="0"/>
              <a:t>words</a:t>
            </a:r>
            <a:r>
              <a:rPr lang="en-CA" dirty="0"/>
              <a:t> to transfer</a:t>
            </a:r>
          </a:p>
          <a:p>
            <a:pPr lvl="1"/>
            <a:r>
              <a:rPr lang="en-CA" dirty="0"/>
              <a:t>Watch out for Bytes/Words confusion!</a:t>
            </a:r>
          </a:p>
          <a:p>
            <a:r>
              <a:rPr lang="en-CA" dirty="0"/>
              <a:t>Enable &amp; let it go!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149A94-3236-71D5-64A3-EC39D7821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F6CE07-0DBA-F7D9-F1AF-B9E35D2055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5675BB-FBC9-5ABA-1481-89452EFF9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32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725567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B5030-E4A3-71A4-DA67-19D5014445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STM32F3 DMA Hints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D63C12-C886-442E-13B4-DFC7D25384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46688F-D4C8-CC8D-41D2-E2D520D1A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6B755A-CCAB-00B4-848A-2FC41EBA2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33</a:t>
            </a:fld>
            <a:endParaRPr lang="en-CA"/>
          </a:p>
        </p:txBody>
      </p:sp>
      <p:pic>
        <p:nvPicPr>
          <p:cNvPr id="8" name="Picture 7" descr="A close-up of a computer code&#10;&#10;AI-generated content may be incorrect.">
            <a:extLst>
              <a:ext uri="{FF2B5EF4-FFF2-40B4-BE49-F238E27FC236}">
                <a16:creationId xmlns:a16="http://schemas.microsoft.com/office/drawing/2014/main" id="{15E7F312-6E8A-BF95-CE25-3D297F32E1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271" y="1576212"/>
            <a:ext cx="8808278" cy="289912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AF0D0EF-6601-68D1-2630-691AD2E70DA6}"/>
              </a:ext>
            </a:extLst>
          </p:cNvPr>
          <p:cNvSpPr txBox="1"/>
          <p:nvPr/>
        </p:nvSpPr>
        <p:spPr>
          <a:xfrm>
            <a:off x="838200" y="4475340"/>
            <a:ext cx="986521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CPAR / CMAR can be source/</a:t>
            </a:r>
            <a:r>
              <a:rPr lang="en-CA" dirty="0" err="1"/>
              <a:t>dest</a:t>
            </a:r>
            <a:r>
              <a:rPr lang="en-CA" dirty="0"/>
              <a:t> depending on “DIR” bit in CCR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Watch out that not </a:t>
            </a:r>
            <a:r>
              <a:rPr lang="en-CA" u="sng" dirty="0"/>
              <a:t>all</a:t>
            </a:r>
            <a:r>
              <a:rPr lang="en-CA" dirty="0"/>
              <a:t> memory addresses are accessible (see next topic on TCM/CCM)</a:t>
            </a:r>
          </a:p>
        </p:txBody>
      </p:sp>
    </p:spTree>
    <p:extLst>
      <p:ext uri="{BB962C8B-B14F-4D97-AF65-F5344CB8AC3E}">
        <p14:creationId xmlns:p14="http://schemas.microsoft.com/office/powerpoint/2010/main" val="31293354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B56C6B-0CF8-5743-BFED-0746E4C42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STM32F3: DMA Data Width &amp; Alignments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AC237-1EB5-71EB-2F31-C58DAAD981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5028127" cy="4351338"/>
          </a:xfrm>
        </p:spPr>
        <p:txBody>
          <a:bodyPr>
            <a:normAutofit fontScale="92500"/>
          </a:bodyPr>
          <a:lstStyle/>
          <a:p>
            <a:r>
              <a:rPr lang="en-CA" dirty="0"/>
              <a:t>Many DMA problems (on all devices) are related to data widths.</a:t>
            </a:r>
          </a:p>
          <a:p>
            <a:endParaRPr lang="en-CA" dirty="0"/>
          </a:p>
          <a:p>
            <a:r>
              <a:rPr lang="en-CA" dirty="0"/>
              <a:t>If </a:t>
            </a:r>
            <a:r>
              <a:rPr lang="en-CA" u="sng" dirty="0"/>
              <a:t>not</a:t>
            </a:r>
            <a:r>
              <a:rPr lang="en-CA" dirty="0"/>
              <a:t> transferring the same data width, need to be very careful about order/alignment.</a:t>
            </a:r>
          </a:p>
          <a:p>
            <a:endParaRPr lang="en-CA" dirty="0"/>
          </a:p>
          <a:p>
            <a:r>
              <a:rPr lang="en-CA" dirty="0"/>
              <a:t>E.g., Table at right is from ST32F303 Ref Manual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30DF32-EF63-B4BB-73D0-A67632D712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60812D-6A4A-4712-0E38-6D8B49DDDB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25B1E-64A4-EF91-2FE8-7EBE9FEAF3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34</a:t>
            </a:fld>
            <a:endParaRPr lang="en-CA"/>
          </a:p>
        </p:txBody>
      </p:sp>
      <p:pic>
        <p:nvPicPr>
          <p:cNvPr id="8" name="Picture 7" descr="A table of data with numbers and letters&#10;&#10;AI-generated content may be incorrect.">
            <a:extLst>
              <a:ext uri="{FF2B5EF4-FFF2-40B4-BE49-F238E27FC236}">
                <a16:creationId xmlns:a16="http://schemas.microsoft.com/office/drawing/2014/main" id="{3E3EE223-A973-FCB8-86DE-7BC8710267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2219" y="1870075"/>
            <a:ext cx="496236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79032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28C5C-63EA-2647-C40A-02896CF54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CA" dirty="0"/>
              <a:t>Core Coupled Memory (CCM)</a:t>
            </a:r>
            <a:br>
              <a:rPr lang="en-CA" dirty="0"/>
            </a:br>
            <a:r>
              <a:rPr lang="en-CA" dirty="0"/>
              <a:t>Closely Coupled Memory (CCM)</a:t>
            </a:r>
            <a:br>
              <a:rPr lang="en-CA" dirty="0"/>
            </a:br>
            <a:r>
              <a:rPr lang="en-CA" dirty="0"/>
              <a:t>Tightly Coupled Memory (TCM)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9C4847-E907-2BB5-F83D-3C87830B23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92817"/>
            <a:ext cx="10515600" cy="4084146"/>
          </a:xfrm>
        </p:spPr>
        <p:txBody>
          <a:bodyPr/>
          <a:lstStyle/>
          <a:p>
            <a:r>
              <a:rPr lang="en-CA" dirty="0"/>
              <a:t>All of those have the same idea – keep some special RAM that is </a:t>
            </a:r>
            <a:r>
              <a:rPr lang="en-CA" u="sng" dirty="0"/>
              <a:t>even faster</a:t>
            </a:r>
            <a:r>
              <a:rPr lang="en-CA" dirty="0"/>
              <a:t> than system memory.</a:t>
            </a:r>
          </a:p>
          <a:p>
            <a:endParaRPr lang="en-CA" dirty="0"/>
          </a:p>
          <a:p>
            <a:pPr lvl="1"/>
            <a:r>
              <a:rPr lang="en-CA" dirty="0"/>
              <a:t>Different than a </a:t>
            </a:r>
            <a:r>
              <a:rPr lang="en-CA" u="sng" dirty="0"/>
              <a:t>cache</a:t>
            </a:r>
            <a:r>
              <a:rPr lang="en-CA" dirty="0"/>
              <a:t> as this is separate memory, not mirroring main memory.</a:t>
            </a:r>
          </a:p>
          <a:p>
            <a:pPr lvl="1"/>
            <a:endParaRPr lang="en-CA" dirty="0"/>
          </a:p>
          <a:p>
            <a:pPr lvl="1"/>
            <a:r>
              <a:rPr lang="en-CA" dirty="0"/>
              <a:t>TCM is present in higher-performance cores, may bypass matrix entirely.</a:t>
            </a:r>
          </a:p>
          <a:p>
            <a:pPr lvl="1"/>
            <a:endParaRPr lang="en-CA" dirty="0"/>
          </a:p>
          <a:p>
            <a:pPr lvl="1"/>
            <a:r>
              <a:rPr lang="en-CA" dirty="0"/>
              <a:t>Arm CCM uses matrix, but is </a:t>
            </a:r>
            <a:r>
              <a:rPr lang="en-CA" u="sng" dirty="0"/>
              <a:t>not</a:t>
            </a:r>
            <a:r>
              <a:rPr lang="en-CA" dirty="0"/>
              <a:t> accessible to DMA as only for CPU usage.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A91369-117C-A3BD-81E3-481414680E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B87D52-C18F-23AD-03B2-758E185738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188B34-8D33-AA55-1EE7-D77C6A58C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35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7343630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E30F24-D808-A9D1-B3C8-B5F752F9A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e.g., Cortex-M7 TCM Blocks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EC2198-7177-821C-1BF6-DDE630AC75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98C5AF-6468-A3C9-F4B4-6F4115F4F6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C99B3C-B36F-2726-7E37-91DAB833A9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36</a:t>
            </a:fld>
            <a:endParaRPr lang="en-CA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184AE9A7-8D32-B3AF-6229-9FE3E675BFE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58209" y="1690688"/>
            <a:ext cx="6007130" cy="45928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67249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8F2EC-C2FB-44F6-2BD8-F3830B411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Simple External Busses: SRAM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87AC14-31BB-3CB8-7BDE-9F467D5438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4336" y="5825621"/>
            <a:ext cx="10515600" cy="594497"/>
          </a:xfrm>
        </p:spPr>
        <p:txBody>
          <a:bodyPr>
            <a:normAutofit/>
          </a:bodyPr>
          <a:lstStyle/>
          <a:p>
            <a:r>
              <a:rPr lang="en-CA" sz="1800" dirty="0">
                <a:hlinkClick r:id="rId2"/>
              </a:rPr>
              <a:t>https://ww1.microchip.com/downloads/en/DeviceDoc/Atmel-6430-32-bit-Cortex-M3-Microcontroller-SAM3U4-SAM3U2-SAM3U1_Datasheet.pdf</a:t>
            </a:r>
            <a:r>
              <a:rPr lang="en-CA" sz="1800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099A27-7D53-407F-3C80-B3B91157C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BBCC7F-7E67-F152-34CD-AAB14FD68C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BE7669-2320-723F-C3DD-CB023D30D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37</a:t>
            </a:fld>
            <a:endParaRPr lang="en-CA"/>
          </a:p>
        </p:txBody>
      </p:sp>
      <p:pic>
        <p:nvPicPr>
          <p:cNvPr id="8" name="Picture 7" descr="A diagram of a computer&#10;&#10;AI-generated content may be incorrect.">
            <a:extLst>
              <a:ext uri="{FF2B5EF4-FFF2-40B4-BE49-F238E27FC236}">
                <a16:creationId xmlns:a16="http://schemas.microsoft.com/office/drawing/2014/main" id="{BE6E356A-1BD0-2DF8-3B78-B884CB28C2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6451" y="1563321"/>
            <a:ext cx="7572777" cy="4250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8708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A9C32-9ECE-96B3-8394-D3A6F4C80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Synchronous Bus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DF808-E22A-222A-A67B-FF6753AEC2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Synchronous buses will have a </a:t>
            </a:r>
            <a:r>
              <a:rPr lang="en-CA" u="sng" dirty="0"/>
              <a:t>clock</a:t>
            </a:r>
          </a:p>
          <a:p>
            <a:r>
              <a:rPr lang="en-CA" dirty="0"/>
              <a:t>All data &amp; control signals only read on the </a:t>
            </a:r>
            <a:r>
              <a:rPr lang="en-CA" u="sng" dirty="0"/>
              <a:t>clock edge</a:t>
            </a:r>
            <a:endParaRPr lang="en-CA" dirty="0"/>
          </a:p>
          <a:p>
            <a:r>
              <a:rPr lang="en-CA" dirty="0"/>
              <a:t>Normally strict timing requirements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ED80E8-EC08-190E-8089-52F8FD9B9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543DC4-7FC4-099D-D6B7-60A569625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581C42-159D-FF43-D3F0-9FF118E6E0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38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051977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EC9DB-39D2-3015-8093-A119DE08A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2D114-445A-07F7-0397-C900CFA6F2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Asynchronous Bus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7828FC-630B-1C71-DD54-F88C4ABFAF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 Control signals define when data is ready or available</a:t>
            </a:r>
          </a:p>
          <a:p>
            <a:r>
              <a:rPr lang="en-CA" dirty="0"/>
              <a:t>Less strict timing requirements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A86F65-883E-4FA3-D8FB-E9C8ECC4B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2C3B0C-6B83-1E76-003F-8E943BBA87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EB8B29-E238-0EF5-A270-A881E05B0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39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491354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A4791B-58F8-2124-6898-702B9328F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Async Read Example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081A54-DB71-FE74-8E6C-AB8DE8F12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2026-03-02</a:t>
            </a:fld>
            <a:endParaRPr lang="en-CA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6765EF-4A2F-EF95-5253-D57782164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C99EAC-D052-0BCB-4322-99EA25BAA4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40</a:t>
            </a:fld>
            <a:endParaRPr lang="en-CA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AB773F32-404B-3153-A5E9-AC0B202A4DD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6507" y="1799292"/>
            <a:ext cx="7337508" cy="4038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605CB12-7044-61E1-80CC-650FE016694D}"/>
              </a:ext>
            </a:extLst>
          </p:cNvPr>
          <p:cNvSpPr txBox="1"/>
          <p:nvPr/>
        </p:nvSpPr>
        <p:spPr>
          <a:xfrm>
            <a:off x="640861" y="2962980"/>
            <a:ext cx="39702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Driven FROM controller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131990-E5B3-DEA8-1805-1754BD8FBB94}"/>
              </a:ext>
            </a:extLst>
          </p:cNvPr>
          <p:cNvSpPr txBox="1"/>
          <p:nvPr/>
        </p:nvSpPr>
        <p:spPr>
          <a:xfrm>
            <a:off x="640860" y="3821268"/>
            <a:ext cx="39702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Driven FROM controller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07A9A1B-4A28-FF56-D529-F4A1FB46FE60}"/>
              </a:ext>
            </a:extLst>
          </p:cNvPr>
          <p:cNvSpPr txBox="1"/>
          <p:nvPr/>
        </p:nvSpPr>
        <p:spPr>
          <a:xfrm>
            <a:off x="640859" y="4488449"/>
            <a:ext cx="39702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Driven TO controller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B430CA-677B-52D4-2EF5-15F7611EE40F}"/>
              </a:ext>
            </a:extLst>
          </p:cNvPr>
          <p:cNvSpPr txBox="1"/>
          <p:nvPr/>
        </p:nvSpPr>
        <p:spPr>
          <a:xfrm>
            <a:off x="640860" y="5070938"/>
            <a:ext cx="39702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Driven TO controller</a:t>
            </a:r>
          </a:p>
        </p:txBody>
      </p:sp>
    </p:spTree>
    <p:extLst>
      <p:ext uri="{BB962C8B-B14F-4D97-AF65-F5344CB8AC3E}">
        <p14:creationId xmlns:p14="http://schemas.microsoft.com/office/powerpoint/2010/main" val="20533641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6DFCF-135D-0135-10DF-A3FEB7710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405217-9106-3CCC-76E4-BE356DDD7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Async Write Example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57889-D661-DFE8-7645-051052CFBB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2026-03-02</a:t>
            </a:fld>
            <a:endParaRPr lang="en-CA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082E65-579E-E11F-499B-6C2191402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67A13A-047D-BC22-7E42-D406D61A7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41</a:t>
            </a:fld>
            <a:endParaRPr lang="en-CA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018812-D141-A48C-C5D1-E26D4D094495}"/>
              </a:ext>
            </a:extLst>
          </p:cNvPr>
          <p:cNvSpPr txBox="1"/>
          <p:nvPr/>
        </p:nvSpPr>
        <p:spPr>
          <a:xfrm>
            <a:off x="640861" y="2962980"/>
            <a:ext cx="39702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Driven FROM controller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4A26A3-983A-4BCB-BCF9-4C3BE6EC0AC6}"/>
              </a:ext>
            </a:extLst>
          </p:cNvPr>
          <p:cNvSpPr txBox="1"/>
          <p:nvPr/>
        </p:nvSpPr>
        <p:spPr>
          <a:xfrm>
            <a:off x="640860" y="3821268"/>
            <a:ext cx="39702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Driven FROM controller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ABBA015-5B54-46C6-D037-C1E02E0E6C25}"/>
              </a:ext>
            </a:extLst>
          </p:cNvPr>
          <p:cNvSpPr txBox="1"/>
          <p:nvPr/>
        </p:nvSpPr>
        <p:spPr>
          <a:xfrm>
            <a:off x="640859" y="4488449"/>
            <a:ext cx="39702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Driven FROM controller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844683D-987F-AE98-2D39-6206999AF058}"/>
              </a:ext>
            </a:extLst>
          </p:cNvPr>
          <p:cNvSpPr txBox="1"/>
          <p:nvPr/>
        </p:nvSpPr>
        <p:spPr>
          <a:xfrm>
            <a:off x="640860" y="5070938"/>
            <a:ext cx="39702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Driven TO controller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FE8C5AC-5D22-59EE-8775-FDAD320C37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4525" y="1839275"/>
            <a:ext cx="7779471" cy="4034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20027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C12061-D561-FEF6-DEEB-080A7C055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e.g., Typical SRAM Signals</a:t>
            </a:r>
          </a:p>
        </p:txBody>
      </p:sp>
      <p:pic>
        <p:nvPicPr>
          <p:cNvPr id="8" name="Content Placeholder 7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C1D4A800-CD4A-25A4-5BE1-8B3489AF7E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36771" y="1825625"/>
            <a:ext cx="8518458" cy="435133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105DAF-79EE-424E-74BC-3AFD4CC71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EF5226-3198-ADCB-5527-7674CAD18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525D7F-A1C8-3757-F876-2F70FB853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42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9030641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E43698-5CBD-57C0-6D69-7DC9AB6C3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SRAM Driven from STM32F3</a:t>
            </a:r>
          </a:p>
        </p:txBody>
      </p:sp>
      <p:pic>
        <p:nvPicPr>
          <p:cNvPr id="8" name="Content Placeholder 7" descr="A diagram of a memory processing process&#10;&#10;AI-generated content may be incorrect.">
            <a:extLst>
              <a:ext uri="{FF2B5EF4-FFF2-40B4-BE49-F238E27FC236}">
                <a16:creationId xmlns:a16="http://schemas.microsoft.com/office/drawing/2014/main" id="{A6AFF49E-B635-5666-24AF-8337573E10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55137" y="1559901"/>
            <a:ext cx="6528097" cy="4645513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F3F684-FBA3-40C8-AC9B-9D9E947D2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578F7D-2690-551B-C7BA-5F9AC0124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EE66FD-AFA5-0B3E-290E-9DCAA4B55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43</a:t>
            </a:fld>
            <a:endParaRPr lang="en-CA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81D518-D20B-5652-FCF6-7CB6578D0323}"/>
              </a:ext>
            </a:extLst>
          </p:cNvPr>
          <p:cNvSpPr txBox="1"/>
          <p:nvPr/>
        </p:nvSpPr>
        <p:spPr>
          <a:xfrm>
            <a:off x="8292478" y="2719753"/>
            <a:ext cx="245207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NOTE: No “acknowledge” signal!</a:t>
            </a:r>
          </a:p>
          <a:p>
            <a:endParaRPr lang="en-CA" dirty="0"/>
          </a:p>
          <a:p>
            <a:r>
              <a:rPr lang="en-CA" dirty="0"/>
              <a:t>This requires setting up the timing, and the SRAM responds on definite timing.</a:t>
            </a:r>
          </a:p>
        </p:txBody>
      </p:sp>
    </p:spTree>
    <p:extLst>
      <p:ext uri="{BB962C8B-B14F-4D97-AF65-F5344CB8AC3E}">
        <p14:creationId xmlns:p14="http://schemas.microsoft.com/office/powerpoint/2010/main" val="234597944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051551-70F4-6464-E165-7404C40DA7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Interfacing to External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780240-B66B-9EAA-A35A-1AEC60C808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This requires careful inspection of timing diagrams in your memory chip, comparison to microcontroller datasheet</a:t>
            </a:r>
          </a:p>
          <a:p>
            <a:endParaRPr lang="en-CA" dirty="0"/>
          </a:p>
          <a:p>
            <a:r>
              <a:rPr lang="en-CA" dirty="0"/>
              <a:t>This is one situation where you should </a:t>
            </a:r>
            <a:r>
              <a:rPr lang="en-CA" u="sng" dirty="0"/>
              <a:t>not</a:t>
            </a:r>
            <a:r>
              <a:rPr lang="en-CA" dirty="0"/>
              <a:t> trust auto-generated code (AI, unknown libraries), as it is often </a:t>
            </a:r>
            <a:r>
              <a:rPr lang="en-CA" u="sng" dirty="0"/>
              <a:t>off</a:t>
            </a:r>
            <a:endParaRPr lang="en-CA" dirty="0"/>
          </a:p>
          <a:p>
            <a:endParaRPr lang="en-CA" dirty="0"/>
          </a:p>
          <a:p>
            <a:r>
              <a:rPr lang="en-CA" dirty="0"/>
              <a:t>Timing errors mean code might work fine initially, but has errors as temperature change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B02697-68F9-1D07-3D71-C3623D0C4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DB8901-4F01-8ACB-703A-7C3DA34F2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751951-64C5-58E8-1724-DE2894EEC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44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973123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22808-A6C1-79D6-1C4D-98B882E602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Bus Wait-States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38714-44F2-9031-B018-497F9F5F1B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03112"/>
          </a:xfrm>
        </p:spPr>
        <p:txBody>
          <a:bodyPr/>
          <a:lstStyle/>
          <a:p>
            <a:r>
              <a:rPr lang="en-CA" dirty="0"/>
              <a:t>It is common that busses support </a:t>
            </a:r>
            <a:r>
              <a:rPr lang="en-CA" u="sng" dirty="0"/>
              <a:t>wait states</a:t>
            </a:r>
            <a:endParaRPr lang="en-CA" dirty="0"/>
          </a:p>
          <a:p>
            <a:r>
              <a:rPr lang="en-CA" dirty="0"/>
              <a:t>You may need to configure wait states if memory access is slower than the bus is running.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278EC-1BA2-02B3-7DD3-D089BB7ED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C63952-63B8-0F2D-9BC9-9990E5476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79460E-51CB-BA93-FC45-03AADE31E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45</a:t>
            </a:fld>
            <a:endParaRPr lang="en-CA"/>
          </a:p>
        </p:txBody>
      </p:sp>
      <p:pic>
        <p:nvPicPr>
          <p:cNvPr id="8" name="Picture 7" descr="A black text on a white background&#10;&#10;AI-generated content may be incorrect.">
            <a:extLst>
              <a:ext uri="{FF2B5EF4-FFF2-40B4-BE49-F238E27FC236}">
                <a16:creationId xmlns:a16="http://schemas.microsoft.com/office/drawing/2014/main" id="{E2F45634-CAA8-C8F5-3324-B9AAC0E804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795" y="4259012"/>
            <a:ext cx="10166754" cy="2097338"/>
          </a:xfrm>
          <a:prstGeom prst="rect">
            <a:avLst/>
          </a:prstGeom>
        </p:spPr>
      </p:pic>
      <p:pic>
        <p:nvPicPr>
          <p:cNvPr id="12" name="Picture 11" descr="A close-up of a sign&#10;&#10;AI-generated content may be incorrect.">
            <a:extLst>
              <a:ext uri="{FF2B5EF4-FFF2-40B4-BE49-F238E27FC236}">
                <a16:creationId xmlns:a16="http://schemas.microsoft.com/office/drawing/2014/main" id="{3B1B73A8-6598-891C-F203-C994EDBA2A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653" y="3223829"/>
            <a:ext cx="7311171" cy="1140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335739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945C9-50DC-136C-1821-75C2DA9FD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Busses &amp; Performance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8A95C2-BFE3-798F-C519-3E491C6899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System performance is often </a:t>
            </a:r>
            <a:r>
              <a:rPr lang="en-CA" u="sng" dirty="0"/>
              <a:t>limited by bus performance</a:t>
            </a:r>
            <a:endParaRPr lang="en-CA" dirty="0"/>
          </a:p>
          <a:p>
            <a:r>
              <a:rPr lang="en-CA" dirty="0"/>
              <a:t>E.g., processor runs at 72 </a:t>
            </a:r>
            <a:r>
              <a:rPr lang="en-CA" dirty="0" err="1"/>
              <a:t>MHz..but</a:t>
            </a:r>
            <a:r>
              <a:rPr lang="en-CA" dirty="0"/>
              <a:t> if need 2 wait-states between every FLASH access:</a:t>
            </a:r>
          </a:p>
          <a:p>
            <a:pPr lvl="1"/>
            <a:r>
              <a:rPr lang="en-CA" dirty="0"/>
              <a:t>Naïve reading of flash in sequence slows things down</a:t>
            </a:r>
          </a:p>
          <a:p>
            <a:pPr lvl="1"/>
            <a:r>
              <a:rPr lang="en-CA" dirty="0"/>
              <a:t>Changes to architecture of memory &amp; caches improve that (future topics)</a:t>
            </a:r>
          </a:p>
          <a:p>
            <a:pPr lvl="1"/>
            <a:endParaRPr lang="en-CA" dirty="0"/>
          </a:p>
          <a:p>
            <a:r>
              <a:rPr lang="en-CA" dirty="0"/>
              <a:t>Avoiding wait states can be difficult in practice! </a:t>
            </a:r>
          </a:p>
          <a:p>
            <a:endParaRPr lang="en-CA" dirty="0"/>
          </a:p>
          <a:p>
            <a:r>
              <a:rPr lang="en-CA" dirty="0"/>
              <a:t>Multiple busses can greatly improve performance.</a:t>
            </a:r>
          </a:p>
          <a:p>
            <a:endParaRPr lang="en-CA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83CDE3-B0C4-E015-C7CF-487DBC685D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2C3CD5-2CC9-B579-FF64-48628F8C3A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F5D3FE-FE71-A13A-C2EC-3FDB3F18FD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46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905885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2EB8F2-CBE7-F076-9C7F-375609BF8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Careful Memory Management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E26DF8-53CF-61D7-ACDA-BA8067D04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E292F4-30C4-0417-1F36-834281686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4799BB-D0EB-025F-5E4A-B9C9BA5F9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47</a:t>
            </a:fld>
            <a:endParaRPr lang="en-CA"/>
          </a:p>
        </p:txBody>
      </p:sp>
      <p:pic>
        <p:nvPicPr>
          <p:cNvPr id="7" name="Content Placeholder 7" descr="A diagram of a computer system&#10;&#10;AI-generated content may be incorrect.">
            <a:extLst>
              <a:ext uri="{FF2B5EF4-FFF2-40B4-BE49-F238E27FC236}">
                <a16:creationId xmlns:a16="http://schemas.microsoft.com/office/drawing/2014/main" id="{7308972E-5C56-0D1E-7F53-43CF01E267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380829"/>
            <a:ext cx="7697125" cy="497552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6591D4A-9018-D321-A6DE-C625726377B4}"/>
              </a:ext>
            </a:extLst>
          </p:cNvPr>
          <p:cNvSpPr txBox="1"/>
          <p:nvPr/>
        </p:nvSpPr>
        <p:spPr>
          <a:xfrm>
            <a:off x="8975558" y="2213811"/>
            <a:ext cx="27432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dirty="0"/>
              <a:t>e.g., Imagine DMA1 from ADC1 to SRAM</a:t>
            </a:r>
          </a:p>
          <a:p>
            <a:endParaRPr lang="en-CA" dirty="0"/>
          </a:p>
          <a:p>
            <a:r>
              <a:rPr lang="en-CA" dirty="0"/>
              <a:t>What else can happen at the same time?</a:t>
            </a:r>
          </a:p>
        </p:txBody>
      </p:sp>
    </p:spTree>
    <p:extLst>
      <p:ext uri="{BB962C8B-B14F-4D97-AF65-F5344CB8AC3E}">
        <p14:creationId xmlns:p14="http://schemas.microsoft.com/office/powerpoint/2010/main" val="27540462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ED24DC-539D-C33B-DC69-E0158F39F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Summary: Memory Busses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E8B8F5-903E-1A1C-B5A3-9A835F21C4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CA" dirty="0"/>
              <a:t>Busses are collection of wires, on-chip or off-chip</a:t>
            </a:r>
          </a:p>
          <a:p>
            <a:r>
              <a:rPr lang="en-CA" dirty="0"/>
              <a:t>Typically we have </a:t>
            </a:r>
            <a:r>
              <a:rPr lang="en-CA" u="sng" dirty="0"/>
              <a:t>multiple busses </a:t>
            </a:r>
            <a:r>
              <a:rPr lang="en-CA" dirty="0"/>
              <a:t>with some buffer/interconnect to provide both high &amp; low performance busses, or to avoid needing to wait for other devices.</a:t>
            </a:r>
          </a:p>
          <a:p>
            <a:r>
              <a:rPr lang="en-CA" u="sng" dirty="0"/>
              <a:t>Split transactions </a:t>
            </a:r>
            <a:r>
              <a:rPr lang="en-CA" dirty="0"/>
              <a:t>and </a:t>
            </a:r>
            <a:r>
              <a:rPr lang="en-CA" u="sng" dirty="0"/>
              <a:t>bus arbitration </a:t>
            </a:r>
            <a:r>
              <a:rPr lang="en-CA" dirty="0"/>
              <a:t>allow busses to be shared among controllers</a:t>
            </a:r>
          </a:p>
          <a:p>
            <a:r>
              <a:rPr lang="en-CA" dirty="0"/>
              <a:t>Direct Memory Access (DMA) controller is an extremely powerful part of the microcontroller</a:t>
            </a:r>
          </a:p>
          <a:p>
            <a:r>
              <a:rPr lang="en-CA" dirty="0"/>
              <a:t>May need to manage wait-states &amp; timing to deal with different speed interfaces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CA5A2E-1A29-C3E1-FFEB-A0B4541F0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2026-03-02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785852-90A7-1CCA-D9EE-98C1649D9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6CAD3D-82C2-06C3-B83F-72A97D942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48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41549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2174</TotalTime>
  <Words>2087</Words>
  <Application>Microsoft Office PowerPoint</Application>
  <PresentationFormat>Widescreen</PresentationFormat>
  <Paragraphs>411</Paragraphs>
  <Slides>48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4" baseType="lpstr">
      <vt:lpstr>Aptos</vt:lpstr>
      <vt:lpstr>Aptos Display</vt:lpstr>
      <vt:lpstr>Arial</vt:lpstr>
      <vt:lpstr>Times New Roman</vt:lpstr>
      <vt:lpstr>Wingdings</vt:lpstr>
      <vt:lpstr>Office Theme</vt:lpstr>
      <vt:lpstr>Computer Architecture: Memory Busses</vt:lpstr>
      <vt:lpstr>Lectures</vt:lpstr>
      <vt:lpstr>PowerPoint Presentation</vt:lpstr>
      <vt:lpstr>The von Neumann computer</vt:lpstr>
      <vt:lpstr>What is a bus actually?</vt:lpstr>
      <vt:lpstr>PowerPoint Presentation</vt:lpstr>
      <vt:lpstr>Note shared signals:</vt:lpstr>
      <vt:lpstr>Physical Implementation</vt:lpstr>
      <vt:lpstr>Advantages of Buses</vt:lpstr>
      <vt:lpstr>Disadvantages of Buses</vt:lpstr>
      <vt:lpstr>Bus Controller vs. Peripheral</vt:lpstr>
      <vt:lpstr>Bus Organization: One Bus</vt:lpstr>
      <vt:lpstr>Bus Organization: Two Buses</vt:lpstr>
      <vt:lpstr>Bus Organization: Three Busses</vt:lpstr>
      <vt:lpstr>e.g., Old Pentium II/III Organization:</vt:lpstr>
      <vt:lpstr>e.g., Newer Gen</vt:lpstr>
      <vt:lpstr>Embedded Processor Busses</vt:lpstr>
      <vt:lpstr>Common On-Chip Bus Protocols</vt:lpstr>
      <vt:lpstr>Transfer Modes in Busses</vt:lpstr>
      <vt:lpstr>Transfer Modes in Busses</vt:lpstr>
      <vt:lpstr>Transfer Modes in Busses</vt:lpstr>
      <vt:lpstr>AHBP Signaling</vt:lpstr>
      <vt:lpstr>AHBP Signals</vt:lpstr>
      <vt:lpstr>Typical Internal Bus Signaling</vt:lpstr>
      <vt:lpstr>e.g., STM32F3 Bus Matrix</vt:lpstr>
      <vt:lpstr>Bus Arbitration?</vt:lpstr>
      <vt:lpstr>DMA</vt:lpstr>
      <vt:lpstr>DMA Keeps the CPU Free</vt:lpstr>
      <vt:lpstr>DMA Usage</vt:lpstr>
      <vt:lpstr>e.g., DMA Demo</vt:lpstr>
      <vt:lpstr>Sidenote: Data Synchronization Barrier (DSB)</vt:lpstr>
      <vt:lpstr>DMA Usage: High-Level</vt:lpstr>
      <vt:lpstr>STM32F3 DMA Hints</vt:lpstr>
      <vt:lpstr>STM32F3: DMA Data Width &amp; Alignments</vt:lpstr>
      <vt:lpstr>Core Coupled Memory (CCM) Closely Coupled Memory (CCM) Tightly Coupled Memory (TCM)</vt:lpstr>
      <vt:lpstr>e.g., Cortex-M7 TCM Blocks</vt:lpstr>
      <vt:lpstr>Simple External Busses: SRAM</vt:lpstr>
      <vt:lpstr>Synchronous Bus</vt:lpstr>
      <vt:lpstr>Asynchronous Bus</vt:lpstr>
      <vt:lpstr>Async Read Example</vt:lpstr>
      <vt:lpstr>Async Write Example</vt:lpstr>
      <vt:lpstr>e.g., Typical SRAM Signals</vt:lpstr>
      <vt:lpstr>SRAM Driven from STM32F3</vt:lpstr>
      <vt:lpstr>Interfacing to External Memory</vt:lpstr>
      <vt:lpstr>Bus Wait-States</vt:lpstr>
      <vt:lpstr>Busses &amp; Performance</vt:lpstr>
      <vt:lpstr>Careful Memory Management</vt:lpstr>
      <vt:lpstr>Summary: Memory Busses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Colin O'Flynn</dc:creator>
  <cp:lastModifiedBy>Colin O'Flynn</cp:lastModifiedBy>
  <cp:revision>19</cp:revision>
  <dcterms:created xsi:type="dcterms:W3CDTF">2026-02-08T23:56:58Z</dcterms:created>
  <dcterms:modified xsi:type="dcterms:W3CDTF">2026-03-02T14:34:05Z</dcterms:modified>
</cp:coreProperties>
</file>