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1"/>
  </p:notesMasterIdLst>
  <p:sldIdLst>
    <p:sldId id="256" r:id="rId2"/>
    <p:sldId id="257" r:id="rId3"/>
    <p:sldId id="279" r:id="rId4"/>
    <p:sldId id="258" r:id="rId5"/>
    <p:sldId id="259" r:id="rId6"/>
    <p:sldId id="273" r:id="rId7"/>
    <p:sldId id="274" r:id="rId8"/>
    <p:sldId id="275" r:id="rId9"/>
    <p:sldId id="264" r:id="rId10"/>
    <p:sldId id="265" r:id="rId11"/>
    <p:sldId id="276" r:id="rId12"/>
    <p:sldId id="277" r:id="rId13"/>
    <p:sldId id="260" r:id="rId14"/>
    <p:sldId id="272" r:id="rId15"/>
    <p:sldId id="266" r:id="rId16"/>
    <p:sldId id="267" r:id="rId17"/>
    <p:sldId id="263" r:id="rId18"/>
    <p:sldId id="261" r:id="rId19"/>
    <p:sldId id="262" r:id="rId20"/>
    <p:sldId id="271" r:id="rId21"/>
    <p:sldId id="270" r:id="rId22"/>
    <p:sldId id="278" r:id="rId23"/>
    <p:sldId id="280" r:id="rId24"/>
    <p:sldId id="268" r:id="rId25"/>
    <p:sldId id="282" r:id="rId26"/>
    <p:sldId id="281" r:id="rId27"/>
    <p:sldId id="284" r:id="rId28"/>
    <p:sldId id="285" r:id="rId29"/>
    <p:sldId id="286" r:id="rId30"/>
    <p:sldId id="287" r:id="rId31"/>
    <p:sldId id="289" r:id="rId32"/>
    <p:sldId id="288" r:id="rId33"/>
    <p:sldId id="269" r:id="rId34"/>
    <p:sldId id="290" r:id="rId35"/>
    <p:sldId id="291" r:id="rId36"/>
    <p:sldId id="292" r:id="rId37"/>
    <p:sldId id="283" r:id="rId38"/>
    <p:sldId id="293" r:id="rId39"/>
    <p:sldId id="294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08" autoAdjust="0"/>
    <p:restoredTop sz="94660"/>
  </p:normalViewPr>
  <p:slideViewPr>
    <p:cSldViewPr snapToGrid="0">
      <p:cViewPr varScale="1">
        <p:scale>
          <a:sx n="98" d="100"/>
          <a:sy n="98" d="100"/>
        </p:scale>
        <p:origin x="96" y="109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B400AA-101D-490E-9D4E-C89A20702DB7}" type="datetimeFigureOut">
              <a:rPr lang="en-CA" smtClean="0"/>
              <a:t>2026-03-04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E3026F-2F57-4911-B7AF-7A689FB873B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82631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2C467B-3273-4353-9FBF-06D73C896B70}" type="slidenum">
              <a:rPr lang="en-CA" smtClean="0"/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899086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E3026F-2F57-4911-B7AF-7A689FB873B1}" type="slidenum">
              <a:rPr lang="en-CA" smtClean="0"/>
              <a:t>33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422671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E3026F-2F57-4911-B7AF-7A689FB873B1}" type="slidenum">
              <a:rPr lang="en-CA" smtClean="0"/>
              <a:t>38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933409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C20F8-4895-94C2-8FA2-66E560A3DD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13532E-8058-C5C8-2506-01C74706A4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E20B31-ECF3-1B78-C88E-2148C3B10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572FD-17C4-4195-9A46-AE8481F14B8C}" type="datetime1">
              <a:rPr lang="en-CA" smtClean="0"/>
              <a:t>2026-03-04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11BAD8-50A4-147C-2CD6-F410FAA50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7736EB-F489-50CF-C0A0-04EB3CCF9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437897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7FFDF-AD45-70DA-DBFC-39804BF3F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12D168-5FB0-0976-8F46-0E62B22309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31FBDD-8676-E7A6-9767-AB25F16F1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2026-03-04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D474CF-B37F-47E1-344C-FD179A8E2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19AB56-2130-1784-C270-DE61E834A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880190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6BE87-9176-DC6D-7E6D-AED5F1B4A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EC646E-906C-DE6E-F460-1AC7588A23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D40353-D6E5-F285-0B15-2DB721750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D8C76-B400-4F53-8805-742D98EC80C2}" type="datetime1">
              <a:rPr lang="en-CA" smtClean="0"/>
              <a:t>2026-03-04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0EB755-C4F9-EE1D-2472-393D0DBAB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453E9-EC5D-3196-40C9-35FA1716D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316980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D1056-F3E9-D796-0188-DB7047707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928AF2-16F2-34A3-7D15-A28F084D7F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200C63-AE05-0355-4E48-2A59004280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E35A27-2CA0-DA96-DE81-302589919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C1D2-65BD-4030-B320-CFCAC7C2CF77}" type="datetime1">
              <a:rPr lang="en-CA" smtClean="0"/>
              <a:t>2026-03-04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A28EA9-8003-DD37-3C59-F8052CFF8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4FAD97-AD46-797F-A73B-AF034EAEA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332389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8877C-0091-8117-3240-C15EE80976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604D97-6B5B-4B40-4797-44D7356E7D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4142B3-B5E2-E0F0-2A8C-A393861C7D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C2CD81-F1F0-AA13-E635-956E2240D5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FAB232-10B9-29C1-5C2E-2889B2CE38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D6067B-4CB1-4ADC-0871-7F90B6EA9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16206-5BA6-460D-9780-A5A1F3FC520F}" type="datetime1">
              <a:rPr lang="en-CA" smtClean="0"/>
              <a:t>2026-03-04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972D8B8-EC13-2FE1-4AC1-DA30BE305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04DC02A-2269-D62D-A2F6-4EF60E091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946083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41633-4B93-3962-0831-3F79E9ABF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F8BB15-178F-4440-5C62-42B7740A35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C05AF-8116-461A-AD38-E69AB126D756}" type="datetime1">
              <a:rPr lang="en-CA" smtClean="0"/>
              <a:t>2026-03-04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4C8318-4472-251E-FF42-F757E5147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E9102C-45D2-0478-F645-1A88A7A11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256821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25DD8B-C610-0C5A-B29C-D1B094483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A9D55-1BF1-40D6-87EC-FFE4362AD15D}" type="datetime1">
              <a:rPr lang="en-CA" smtClean="0"/>
              <a:t>2026-03-04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6B6D3F-76F9-6977-7F11-BE45F2EC0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5A9206-29F6-A2E5-EDBE-A7B2B18CD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41174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47E14-E8C6-533B-D648-163F2F54E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FA9B72-F8AD-A435-F12C-6AD72286F3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7432E5-2EAF-0407-8CD8-9B140466B1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02223D-CE1E-B50D-3F81-A62336919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A4D12-9B66-4D3F-BFEA-EB6939410680}" type="datetime1">
              <a:rPr lang="en-CA" smtClean="0"/>
              <a:t>2026-03-04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EA51B3-198E-8FF6-7810-ABDEB19C2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7FA87D-3783-15DA-A1C4-C367745B7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77592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1862D-A78F-02BE-CD84-089873284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463AF3-1586-FA07-67E3-0C17B2BA1E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72F072-26D7-47EA-01F2-D095376AD2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645053-29D5-8E85-C3A3-7FE2C8726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ECAEB-FDAC-4944-A700-E5025FBDCFB8}" type="datetime1">
              <a:rPr lang="en-CA" smtClean="0"/>
              <a:t>2026-03-04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6246A4-4AA2-74B5-1BEF-D6B2F5758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84B5FB-02D4-18AB-B564-1BE49B678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980068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ECA42-0B39-62AD-0647-16416EEC9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A3D16F-BC9B-504D-20C9-5B9DDFCF7F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07887E-9BD0-50E7-7855-5A6892289E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888EE-D2E8-458C-B025-86AB65CB2342}" type="datetime1">
              <a:rPr lang="en-CA" smtClean="0"/>
              <a:t>2026-03-04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52909D-9B71-3004-5853-0865DFCA6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EAFD81-4FDD-5E6A-7EF0-A0AF3D9E8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330245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040C928-04C0-FFD8-6FB7-52544F5E6A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7AE9ED-B388-AC41-6080-6F91ABFBFF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255B1A-AF28-25B7-80B2-2EF9AF2FA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D418E-0BAA-477E-AE93-7DEEFAFBE002}" type="datetime1">
              <a:rPr lang="en-CA" smtClean="0"/>
              <a:t>2026-03-04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A1F440-1924-B1AA-DA08-FF6D4D5C9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D20E6E-67ED-9028-647B-5F9E902E6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231013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A25F461-5089-4FA6-F30A-FEECC0377B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2A3026-0C22-41E8-F2F9-B44737EDE9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52E1FB-D0DD-0542-98E0-F8AD6C0C62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E9C524-F283-4997-8372-EC621E6F8B97}" type="datetime1">
              <a:rPr lang="en-CA" smtClean="0"/>
              <a:t>2026-03-04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BF4F27-F292-F8E1-8EEB-4B04DCFE55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6F6AB7-62BE-C74A-0375-1B18D98B1B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25CC40-D0F6-4666-ABAA-DE78F621EF6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2312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commons.wikimedia.org/wiki/File:Heartbleed_bug_explained.svg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commons.wikimedia.org/wiki/File:Heartbleed_bug_explained.svg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t.com/resource/en/programming_manual/pm0214-stm32-cortexm4-mcus-and-mpus-programming-manual-stmicroelectronics.pdf" TargetMode="External"/><Relationship Id="rId2" Type="http://schemas.openxmlformats.org/officeDocument/2006/relationships/hyperlink" Target="https://www.st.com/resource/en/application_note/an4838-introduction-to-memory-protection-unit-management-on-stm32-mcus-stmicroelectronics.pdf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CHERIoT-Platform/cheriot-rtos/blob/main/examples/08.memory_safety/memory_safety_inner.cc#L69" TargetMode="Externa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40332-C356-1B1E-0B6B-B1E4E812BAE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CA" dirty="0"/>
              <a:t>Computer Architecture:</a:t>
            </a:r>
            <a:br>
              <a:rPr lang="en-CA" dirty="0"/>
            </a:br>
            <a:r>
              <a:rPr lang="en-CA" i="1" dirty="0"/>
              <a:t>Memory Safety &amp; Protection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A56E0B-2030-B06C-4A76-67F52B07E9C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Dr. Colin O’Flynn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9286F8-7046-B580-89F1-4F0575352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05903-4A42-43A9-9B07-0A555E8C01D2}" type="datetime1">
              <a:rPr lang="en-CA" smtClean="0"/>
              <a:t>2026-03-04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D94224-0D5F-188B-78F3-15A498B54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417701-B7BA-E8D0-BE9E-EECDE6DB3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949306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9ADA9-27CC-7B3F-58A4-E641BF35C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Lectures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49C3AB-3011-E0FF-7C9F-80D0766372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How does a program run on a machine?</a:t>
            </a:r>
          </a:p>
          <a:p>
            <a:r>
              <a:rPr lang="en-CA" dirty="0"/>
              <a:t>How do you compile from high-level code to machine code?</a:t>
            </a:r>
          </a:p>
          <a:p>
            <a:r>
              <a:rPr lang="en-CA" dirty="0"/>
              <a:t>How does the machine run? (Control Flow)</a:t>
            </a:r>
          </a:p>
          <a:p>
            <a:r>
              <a:rPr lang="en-CA" dirty="0"/>
              <a:t>How does the machine store data?</a:t>
            </a:r>
          </a:p>
          <a:p>
            <a:r>
              <a:rPr lang="en-CA" dirty="0"/>
              <a:t>How does the machine interface using buses?</a:t>
            </a:r>
          </a:p>
          <a:p>
            <a:r>
              <a:rPr lang="en-CA" b="1" dirty="0">
                <a:solidFill>
                  <a:srgbClr val="FF0000"/>
                </a:solidFill>
              </a:rPr>
              <a:t>What does it mean to have “allowed” memory?</a:t>
            </a:r>
          </a:p>
          <a:p>
            <a:r>
              <a:rPr lang="en-CA" dirty="0">
                <a:solidFill>
                  <a:schemeClr val="bg1">
                    <a:lumMod val="75000"/>
                  </a:schemeClr>
                </a:solidFill>
              </a:rPr>
              <a:t>How does the machine speed up data access?</a:t>
            </a:r>
          </a:p>
          <a:p>
            <a:endParaRPr lang="en-CA" dirty="0">
              <a:solidFill>
                <a:srgbClr val="FF0000"/>
              </a:solidFill>
            </a:endParaRPr>
          </a:p>
          <a:p>
            <a:endParaRPr lang="en-CA" b="1" dirty="0">
              <a:solidFill>
                <a:srgbClr val="FF0000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16FB1E-13D4-AF84-CD57-0DE278036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5975C-2D17-4D58-BAA2-AE3D2D8697E0}" type="datetime1">
              <a:rPr lang="en-CA" smtClean="0"/>
              <a:t>2026-03-04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A42B00-C73D-1737-27CD-9FFFCF533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CC70CA-A863-53D2-59FA-8884AFF82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FE6AF-7EC0-4502-9F71-820950EA8DB2}" type="slidenum">
              <a:rPr lang="en-CA" smtClean="0"/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23393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D7450-2176-F7E1-663B-44CF7E54F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Busses that don’t respond or Invalid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4BEBCB-09A7-B8AE-7D62-961C09946D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2026-03-04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DF1D8C-199D-B847-A60D-1C1C05B7E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6D3A7C-999B-CB88-6002-2BF0BCD68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3</a:t>
            </a:fld>
            <a:endParaRPr lang="en-CA"/>
          </a:p>
        </p:txBody>
      </p:sp>
      <p:pic>
        <p:nvPicPr>
          <p:cNvPr id="7" name="Content Placeholder 7" descr="A diagram of a computer system&#10;&#10;AI-generated content may be incorrect.">
            <a:extLst>
              <a:ext uri="{FF2B5EF4-FFF2-40B4-BE49-F238E27FC236}">
                <a16:creationId xmlns:a16="http://schemas.microsoft.com/office/drawing/2014/main" id="{7AD7C2D9-0DCB-9195-C710-223F29C3EA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0089" y="1356701"/>
            <a:ext cx="7355869" cy="4754929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6593158-2CCD-8424-5F6C-AE7CC44FFBFA}"/>
              </a:ext>
            </a:extLst>
          </p:cNvPr>
          <p:cNvSpPr txBox="1">
            <a:spLocks/>
          </p:cNvSpPr>
          <p:nvPr/>
        </p:nvSpPr>
        <p:spPr>
          <a:xfrm>
            <a:off x="7854461" y="2271470"/>
            <a:ext cx="4275016" cy="244902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dirty="0"/>
              <a:t>Prior lecture looked at </a:t>
            </a:r>
            <a:r>
              <a:rPr lang="en-CA" u="sng" dirty="0"/>
              <a:t>busses</a:t>
            </a:r>
            <a:endParaRPr lang="en-CA" dirty="0"/>
          </a:p>
          <a:p>
            <a:endParaRPr lang="en-CA" dirty="0"/>
          </a:p>
          <a:p>
            <a:r>
              <a:rPr lang="en-CA" dirty="0"/>
              <a:t>This lecture will go beyond just “non-existent”</a:t>
            </a:r>
          </a:p>
        </p:txBody>
      </p:sp>
    </p:spTree>
    <p:extLst>
      <p:ext uri="{BB962C8B-B14F-4D97-AF65-F5344CB8AC3E}">
        <p14:creationId xmlns:p14="http://schemas.microsoft.com/office/powerpoint/2010/main" val="4765323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6E508-1F64-D89D-8D66-165B9C834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Memory Safety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644F71-7B67-96A9-E247-018E1FC1B8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Memory safety helps:</a:t>
            </a:r>
          </a:p>
          <a:p>
            <a:pPr lvl="1"/>
            <a:endParaRPr lang="en-CA" dirty="0"/>
          </a:p>
          <a:p>
            <a:pPr lvl="1"/>
            <a:r>
              <a:rPr lang="en-CA" sz="2800" dirty="0"/>
              <a:t>Protect against unintended natural events (bit-flips)</a:t>
            </a:r>
          </a:p>
          <a:p>
            <a:pPr lvl="1"/>
            <a:endParaRPr lang="en-CA" sz="2800" dirty="0"/>
          </a:p>
          <a:p>
            <a:pPr lvl="1"/>
            <a:r>
              <a:rPr lang="en-CA" sz="2800" dirty="0"/>
              <a:t>Protect against bugs that could cause dangerous operations</a:t>
            </a:r>
          </a:p>
          <a:p>
            <a:pPr lvl="1"/>
            <a:endParaRPr lang="en-CA" sz="2800" dirty="0"/>
          </a:p>
          <a:p>
            <a:pPr lvl="1"/>
            <a:r>
              <a:rPr lang="en-CA" sz="2800" dirty="0"/>
              <a:t>Protect against attackers exploiting the memory features</a:t>
            </a:r>
          </a:p>
          <a:p>
            <a:endParaRPr lang="en-CA" dirty="0"/>
          </a:p>
          <a:p>
            <a:pPr marL="0" indent="0">
              <a:buNone/>
            </a:pPr>
            <a:r>
              <a:rPr lang="en-CA" dirty="0"/>
              <a:t>	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D69CA5-B560-4455-412F-A3E6261FA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2026-03-04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2B370D-696C-6BDE-C1EF-968A8AE0C1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FC94DC-FCE6-251F-D593-A0C1A5D98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326499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C0303-9E8D-9315-FCA0-B95A2CBEA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Memory Error Correction (ECC)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EBD605-BBCD-C507-BCDA-BBC5B17B7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2026-03-04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162701-4E4E-941E-220A-64F5770DD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EFAFA4-C187-C850-3337-A2FA7FB9F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5</a:t>
            </a:fld>
            <a:endParaRPr lang="en-CA"/>
          </a:p>
        </p:txBody>
      </p:sp>
      <p:pic>
        <p:nvPicPr>
          <p:cNvPr id="1026" name="Picture 2" descr="Better Embedded System SW: Mitigating Data Corruption">
            <a:extLst>
              <a:ext uri="{FF2B5EF4-FFF2-40B4-BE49-F238E27FC236}">
                <a16:creationId xmlns:a16="http://schemas.microsoft.com/office/drawing/2014/main" id="{521E8A0C-3DD7-3B6B-36D3-E77EC2D9864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2307" y="2064421"/>
            <a:ext cx="3970215" cy="32133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osmic rays can flip voting machine bits, study finds | SMJ Mortazavi  posted on the topic | LinkedIn">
            <a:extLst>
              <a:ext uri="{FF2B5EF4-FFF2-40B4-BE49-F238E27FC236}">
                <a16:creationId xmlns:a16="http://schemas.microsoft.com/office/drawing/2014/main" id="{8347208D-DEC6-CCED-ABB9-403DE8681D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3589" y="1690688"/>
            <a:ext cx="5414134" cy="3607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3260782-0563-5920-133B-F3F12D75D878}"/>
              </a:ext>
            </a:extLst>
          </p:cNvPr>
          <p:cNvSpPr txBox="1"/>
          <p:nvPr/>
        </p:nvSpPr>
        <p:spPr>
          <a:xfrm>
            <a:off x="476738" y="5554308"/>
            <a:ext cx="107735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000" b="1" dirty="0"/>
              <a:t>In 2003, a candidate in a Belgium election received 4096 extra votes… a suspicious number…</a:t>
            </a:r>
          </a:p>
        </p:txBody>
      </p:sp>
    </p:spTree>
    <p:extLst>
      <p:ext uri="{BB962C8B-B14F-4D97-AF65-F5344CB8AC3E}">
        <p14:creationId xmlns:p14="http://schemas.microsoft.com/office/powerpoint/2010/main" val="17202401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8DAC2-2A1B-D78B-7E09-D6EB2DE07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ECC Memory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9678DB-4D74-1DD7-089F-9E150D2D5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2026-03-04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2905FA-EE1B-55DC-D730-C02A36840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E14DD0-FD27-458C-6AFD-E9B032018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6</a:t>
            </a:fld>
            <a:endParaRPr lang="en-CA"/>
          </a:p>
        </p:txBody>
      </p:sp>
      <p:pic>
        <p:nvPicPr>
          <p:cNvPr id="3074" name="Picture 2" descr="With single-bit correcting ECC-RAM, a word should no longer be used... |  Download Scientific Diagram">
            <a:extLst>
              <a:ext uri="{FF2B5EF4-FFF2-40B4-BE49-F238E27FC236}">
                <a16:creationId xmlns:a16="http://schemas.microsoft.com/office/drawing/2014/main" id="{B22873E1-7CF5-58EA-4C8D-8DA2B477049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743" y="2018934"/>
            <a:ext cx="3709011" cy="2468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EA4AF3E-5BC4-095A-E90F-ADB1A477F190}"/>
              </a:ext>
            </a:extLst>
          </p:cNvPr>
          <p:cNvSpPr txBox="1">
            <a:spLocks/>
          </p:cNvSpPr>
          <p:nvPr/>
        </p:nvSpPr>
        <p:spPr>
          <a:xfrm>
            <a:off x="5722815" y="1690688"/>
            <a:ext cx="5922108" cy="41371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dirty="0"/>
              <a:t>Extra bits used to store data to determine if there is an error.</a:t>
            </a:r>
          </a:p>
          <a:p>
            <a:endParaRPr lang="en-CA" dirty="0"/>
          </a:p>
          <a:p>
            <a:r>
              <a:rPr lang="en-CA" dirty="0"/>
              <a:t>Can sometimes </a:t>
            </a:r>
            <a:r>
              <a:rPr lang="en-CA" u="sng" dirty="0"/>
              <a:t>recover</a:t>
            </a:r>
            <a:r>
              <a:rPr lang="en-CA" dirty="0"/>
              <a:t> from a single bit-flip.</a:t>
            </a:r>
          </a:p>
          <a:p>
            <a:endParaRPr lang="en-CA" dirty="0"/>
          </a:p>
          <a:p>
            <a:r>
              <a:rPr lang="en-CA" dirty="0"/>
              <a:t>Question of how many bits to use in ECC vs. memory, as impacts efficiency.</a:t>
            </a:r>
          </a:p>
        </p:txBody>
      </p:sp>
    </p:spTree>
    <p:extLst>
      <p:ext uri="{BB962C8B-B14F-4D97-AF65-F5344CB8AC3E}">
        <p14:creationId xmlns:p14="http://schemas.microsoft.com/office/powerpoint/2010/main" val="3369011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22918-F2C0-17AF-F837-3D7A03B2E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ECC Memory in Servers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F2FD95-926C-F503-0487-6AA236005A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39815"/>
            <a:ext cx="4587329" cy="4137147"/>
          </a:xfrm>
        </p:spPr>
        <p:txBody>
          <a:bodyPr/>
          <a:lstStyle/>
          <a:p>
            <a:r>
              <a:rPr lang="en-CA" dirty="0"/>
              <a:t>Not just embedded systems – “server-grade” memory often has ECC.</a:t>
            </a:r>
          </a:p>
          <a:p>
            <a:endParaRPr lang="en-CA" dirty="0"/>
          </a:p>
          <a:p>
            <a:r>
              <a:rPr lang="en-CA" dirty="0"/>
              <a:t>Detects &amp; can fix a certain number of bit flips.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ADA3CF-60DA-9A3B-5191-7182D79DEC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2026-03-04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33FF8F-74A1-2709-F8B7-B03F20636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5BF685-9187-143F-623C-F790F0A68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7</a:t>
            </a:fld>
            <a:endParaRPr lang="en-CA"/>
          </a:p>
        </p:txBody>
      </p:sp>
      <p:pic>
        <p:nvPicPr>
          <p:cNvPr id="10" name="Picture 9" descr="A green circuit board with black squares and yellow numbers&#10;&#10;AI-generated content may be incorrect.">
            <a:extLst>
              <a:ext uri="{FF2B5EF4-FFF2-40B4-BE49-F238E27FC236}">
                <a16:creationId xmlns:a16="http://schemas.microsoft.com/office/drawing/2014/main" id="{D76DC644-6BB4-C487-1991-63A5CE2472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5529" y="1766866"/>
            <a:ext cx="6109980" cy="3399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0527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E06DD-1AE4-1180-1ACD-07624624E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Microcontroller ECC Memory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585A34-389F-B4A7-6C40-CF0F1D4940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Certain memory types (FLASH memory) often contain ECC as they degrade with use. This will be (normally) hidden from you.</a:t>
            </a:r>
          </a:p>
          <a:p>
            <a:endParaRPr lang="en-CA" dirty="0"/>
          </a:p>
          <a:p>
            <a:r>
              <a:rPr lang="en-CA" dirty="0"/>
              <a:t>ECC memory in microcontroller RAM is relatively rare for general use.</a:t>
            </a:r>
          </a:p>
          <a:p>
            <a:endParaRPr lang="en-CA" dirty="0"/>
          </a:p>
          <a:p>
            <a:r>
              <a:rPr lang="en-CA" dirty="0"/>
              <a:t>Microcontrollers designed for safety-critical use (automotive) </a:t>
            </a:r>
            <a:r>
              <a:rPr lang="en-CA" i="1" dirty="0"/>
              <a:t>very likely </a:t>
            </a:r>
            <a:r>
              <a:rPr lang="en-CA" dirty="0"/>
              <a:t>to include these features.</a:t>
            </a:r>
          </a:p>
          <a:p>
            <a:pPr marL="457200" lvl="1" indent="0">
              <a:buNone/>
            </a:pPr>
            <a:endParaRPr lang="en-CA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0B396E-3A9C-273D-BC87-FE3B008D2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2026-03-04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BC049E-3912-9547-D4F9-14D664FE4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53606-6B87-20A9-1087-E801E7A58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354278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D6325-30AA-13C6-E74D-A2BF7E107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Invalid Memory Access Problems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F6421E-370F-A814-DCAD-98702E3AE2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Memory corruption is one problem, but what about:</a:t>
            </a:r>
          </a:p>
          <a:p>
            <a:endParaRPr lang="en-CA" dirty="0"/>
          </a:p>
          <a:p>
            <a:pPr lvl="1"/>
            <a:r>
              <a:rPr lang="en-CA" dirty="0"/>
              <a:t>Microcontroller tries to write somewhere invalid?</a:t>
            </a:r>
          </a:p>
          <a:p>
            <a:pPr lvl="1"/>
            <a:endParaRPr lang="en-CA" dirty="0"/>
          </a:p>
          <a:p>
            <a:pPr lvl="1"/>
            <a:r>
              <a:rPr lang="en-CA" dirty="0"/>
              <a:t>Microcontroller tries to execute from an area that isn’t actually code?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AECBC2-205C-64AE-C017-3724B249AA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2026-03-04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628C6E-C828-CEBC-1D07-63045FCFF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4CAD54-6B7D-06EA-01F2-2D75FDDC7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035195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4E93E4-486B-7054-6F97-4B3CD47F6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ADF40-EC82-0332-BBB8-1DB8331B4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e.g., </a:t>
            </a:r>
            <a:r>
              <a:rPr lang="en-CA" dirty="0" err="1"/>
              <a:t>HeartBleed</a:t>
            </a:r>
            <a:endParaRPr lang="en-CA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E95EEE-8D27-44F0-6328-1CC3A19C9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2026-03-04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894DD9-0463-F7DF-7103-7CAB065C1C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4CB065-C006-721D-3748-68FBCA44A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10</a:t>
            </a:fld>
            <a:endParaRPr lang="en-CA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5BD2C5C6-2FF3-1E8B-2AC6-296AF10AF23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812131"/>
            <a:ext cx="9144000" cy="3971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12B9D21-4447-E9F2-CED6-5DEBEDBAC7CB}"/>
              </a:ext>
            </a:extLst>
          </p:cNvPr>
          <p:cNvSpPr txBox="1"/>
          <p:nvPr/>
        </p:nvSpPr>
        <p:spPr>
          <a:xfrm>
            <a:off x="2468450" y="5905499"/>
            <a:ext cx="10468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>
                <a:hlinkClick r:id="rId3"/>
              </a:rPr>
              <a:t>https://commons.wikimedia.org/wiki/File:Heartbleed_bug_explained.svg</a:t>
            </a:r>
            <a:r>
              <a:rPr lang="en-CA" dirty="0"/>
              <a:t>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9F27D8F-EB06-10BA-47C2-F5196BD4C22D}"/>
              </a:ext>
            </a:extLst>
          </p:cNvPr>
          <p:cNvSpPr/>
          <p:nvPr/>
        </p:nvSpPr>
        <p:spPr>
          <a:xfrm>
            <a:off x="4687910" y="4018208"/>
            <a:ext cx="3831465" cy="188729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079017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7E319F-563D-03EC-2929-65DD79323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3ECE84-C2A2-1F81-B1C5-F8C3B6DA3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e.g., </a:t>
            </a:r>
            <a:r>
              <a:rPr lang="en-CA" dirty="0" err="1"/>
              <a:t>HeartBleed</a:t>
            </a:r>
            <a:endParaRPr lang="en-CA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97DB23-78A8-A1B7-234F-414636762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2026-03-04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3CE326-9CE9-CD1A-0DB8-0DD600CB2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BEBF13-4328-5B60-3033-2127DFF33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11</a:t>
            </a:fld>
            <a:endParaRPr lang="en-CA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F66D1DD6-B165-0CF8-4A06-AA0AF62758F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812131"/>
            <a:ext cx="9144000" cy="3971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0DD3C71-D438-29A8-467B-AD8400AADC20}"/>
              </a:ext>
            </a:extLst>
          </p:cNvPr>
          <p:cNvSpPr txBox="1"/>
          <p:nvPr/>
        </p:nvSpPr>
        <p:spPr>
          <a:xfrm>
            <a:off x="2468450" y="5905499"/>
            <a:ext cx="10468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>
                <a:hlinkClick r:id="rId3"/>
              </a:rPr>
              <a:t>https://commons.wikimedia.org/wiki/File:Heartbleed_bug_explained.svg</a:t>
            </a:r>
            <a:r>
              <a:rPr lang="en-CA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232708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57EF7-10E4-5889-1C0F-9B2ABFF2D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Memory Overwriting &amp; Reading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01E38A-9747-F7D1-2E61-1EA569D665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Lots of examples of this in practice – but in general an attacker tries to </a:t>
            </a:r>
            <a:r>
              <a:rPr lang="en-CA" u="sng" dirty="0"/>
              <a:t>write to</a:t>
            </a:r>
            <a:r>
              <a:rPr lang="en-CA" dirty="0"/>
              <a:t> or </a:t>
            </a:r>
            <a:r>
              <a:rPr lang="en-CA" u="sng" dirty="0"/>
              <a:t>read from</a:t>
            </a:r>
            <a:r>
              <a:rPr lang="en-CA" dirty="0"/>
              <a:t> memory they should not be allowed to access.</a:t>
            </a:r>
          </a:p>
          <a:p>
            <a:endParaRPr lang="en-CA" dirty="0"/>
          </a:p>
          <a:p>
            <a:r>
              <a:rPr lang="en-CA" dirty="0"/>
              <a:t>Often an attacker wants to </a:t>
            </a:r>
            <a:r>
              <a:rPr lang="en-CA" u="sng" dirty="0"/>
              <a:t>execute</a:t>
            </a:r>
            <a:r>
              <a:rPr lang="en-CA" dirty="0"/>
              <a:t> some buffer they have written a program to.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F26EA2-4A6F-AE51-FC72-15E3C22484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2026-03-04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D7A739-1EC9-8AD8-8FCE-A8D03CB5D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5CE202-4F56-0641-289C-E82BA8B99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12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056449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68074-8620-9C93-AFD9-1DC7B5434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Hardware Memory Protection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1526D2-2967-A16F-DE01-74893E774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2026-03-04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9BD56F-7371-113E-7987-DCBBC57E6E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53C000-EBDA-1404-35E7-7D05ECDA5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13</a:t>
            </a:fld>
            <a:endParaRPr lang="en-CA"/>
          </a:p>
        </p:txBody>
      </p:sp>
      <p:pic>
        <p:nvPicPr>
          <p:cNvPr id="7170" name="Picture 2" descr="Arm Community">
            <a:extLst>
              <a:ext uri="{FF2B5EF4-FFF2-40B4-BE49-F238E27FC236}">
                <a16:creationId xmlns:a16="http://schemas.microsoft.com/office/drawing/2014/main" id="{177D9E35-ED10-6233-9AE1-E6EF9867B9F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9092" y="1635980"/>
            <a:ext cx="5676006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3C3993D-8B23-25F2-E292-21F542FACA34}"/>
              </a:ext>
            </a:extLst>
          </p:cNvPr>
          <p:cNvSpPr txBox="1">
            <a:spLocks/>
          </p:cNvSpPr>
          <p:nvPr/>
        </p:nvSpPr>
        <p:spPr>
          <a:xfrm>
            <a:off x="7484249" y="1663334"/>
            <a:ext cx="32004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dirty="0"/>
              <a:t>Ideally each </a:t>
            </a:r>
            <a:r>
              <a:rPr lang="en-CA" i="1" dirty="0"/>
              <a:t>task</a:t>
            </a:r>
            <a:r>
              <a:rPr lang="en-CA" dirty="0"/>
              <a:t> would only have access to certain data.</a:t>
            </a:r>
          </a:p>
          <a:p>
            <a:endParaRPr lang="en-CA" dirty="0"/>
          </a:p>
          <a:p>
            <a:r>
              <a:rPr lang="en-CA" dirty="0"/>
              <a:t>The capabilities of the MPU depend on the device.</a:t>
            </a:r>
          </a:p>
          <a:p>
            <a:endParaRPr lang="en-CA" dirty="0"/>
          </a:p>
          <a:p>
            <a:r>
              <a:rPr lang="en-CA" dirty="0"/>
              <a:t>Minimum supports at least two modes</a:t>
            </a:r>
          </a:p>
        </p:txBody>
      </p:sp>
    </p:spTree>
    <p:extLst>
      <p:ext uri="{BB962C8B-B14F-4D97-AF65-F5344CB8AC3E}">
        <p14:creationId xmlns:p14="http://schemas.microsoft.com/office/powerpoint/2010/main" val="1371325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41CD8-C1BF-3485-AD45-FB457612F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Privileged &amp; Unprivileged Modes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FA56E7-A94C-8B9B-E21D-D4A77F21D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2026-03-04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7E40CF-940A-FA15-EA45-479CAADE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BA65DB-AF4A-F5E6-8D49-C8B0F5A7A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14</a:t>
            </a:fld>
            <a:endParaRPr lang="en-CA"/>
          </a:p>
        </p:txBody>
      </p:sp>
      <p:pic>
        <p:nvPicPr>
          <p:cNvPr id="5122" name="Picture 2" descr="Indes.com">
            <a:extLst>
              <a:ext uri="{FF2B5EF4-FFF2-40B4-BE49-F238E27FC236}">
                <a16:creationId xmlns:a16="http://schemas.microsoft.com/office/drawing/2014/main" id="{6E87C9FE-48F7-7B6A-5AE9-7932D917CF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5923" y="1452563"/>
            <a:ext cx="8792338" cy="490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1937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AF700-1850-9D6C-7BE2-1C2850D8C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Read / Write / Execute Permissions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D90C12-89FD-425D-4CFF-EEA8DB139B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Similar to on e.g., Linux:</a:t>
            </a:r>
          </a:p>
          <a:p>
            <a:pPr lvl="1"/>
            <a:r>
              <a:rPr lang="en-CA" dirty="0"/>
              <a:t>Files can have permission for “read”, “write” and “execute”</a:t>
            </a:r>
          </a:p>
          <a:p>
            <a:pPr lvl="1"/>
            <a:r>
              <a:rPr lang="en-CA" dirty="0"/>
              <a:t>Permissions can vary for owner or others (e.g., privileged vs. unprivileged)</a:t>
            </a:r>
          </a:p>
          <a:p>
            <a:pPr lvl="1"/>
            <a:endParaRPr lang="en-CA" dirty="0"/>
          </a:p>
          <a:p>
            <a:r>
              <a:rPr lang="en-CA" dirty="0"/>
              <a:t>MPUs enforce this over </a:t>
            </a:r>
            <a:r>
              <a:rPr lang="en-CA" u="sng" dirty="0"/>
              <a:t>address spaces</a:t>
            </a:r>
            <a:r>
              <a:rPr lang="en-CA" dirty="0"/>
              <a:t>.</a:t>
            </a:r>
          </a:p>
          <a:p>
            <a:endParaRPr lang="en-CA" dirty="0"/>
          </a:p>
          <a:p>
            <a:r>
              <a:rPr lang="en-CA" dirty="0"/>
              <a:t>You need to carefully manage your address spaces to help with this.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0C1099-C3A0-CC52-858B-55B7AF621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2026-03-04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4BF435-15DA-6F36-0872-3B5302AD8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D912E1-A847-90C5-291A-95D96CFD6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15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507972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AD925-D54E-03F7-D1EC-9D695C9DB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Note: Harvard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3B752E-EF68-98C9-9F10-C901CA04A1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Harvard architectures naturally enforce non-execute on data</a:t>
            </a:r>
          </a:p>
          <a:p>
            <a:pPr lvl="1"/>
            <a:r>
              <a:rPr lang="en-CA" dirty="0"/>
              <a:t>Impossible in all cases to execute from the data region!</a:t>
            </a:r>
          </a:p>
          <a:p>
            <a:pPr lvl="1"/>
            <a:endParaRPr lang="en-CA" dirty="0"/>
          </a:p>
          <a:p>
            <a:r>
              <a:rPr lang="en-CA" dirty="0"/>
              <a:t>Arm by default </a:t>
            </a:r>
            <a:r>
              <a:rPr lang="en-CA" i="1" dirty="0"/>
              <a:t>allow</a:t>
            </a:r>
            <a:r>
              <a:rPr lang="en-CA" dirty="0"/>
              <a:t> execution from data region (even if you never use it).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4B45B0-A64B-2F24-3773-41CA58F41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2026-03-04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2135ED-97DA-EE42-9D1F-41667A968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6EEF1E-4470-1FD8-62AD-66276F71B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16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993036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Arrow: Right 17">
            <a:extLst>
              <a:ext uri="{FF2B5EF4-FFF2-40B4-BE49-F238E27FC236}">
                <a16:creationId xmlns:a16="http://schemas.microsoft.com/office/drawing/2014/main" id="{76157429-AAB6-1F8F-A020-BCD6E3CD1D26}"/>
              </a:ext>
            </a:extLst>
          </p:cNvPr>
          <p:cNvSpPr/>
          <p:nvPr/>
        </p:nvSpPr>
        <p:spPr>
          <a:xfrm rot="5400000">
            <a:off x="3965075" y="3801474"/>
            <a:ext cx="1523439" cy="610042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1536AD1C-7445-5BB0-336F-EDAD8C2BF73A}"/>
              </a:ext>
            </a:extLst>
          </p:cNvPr>
          <p:cNvSpPr/>
          <p:nvPr/>
        </p:nvSpPr>
        <p:spPr>
          <a:xfrm rot="5400000">
            <a:off x="4266402" y="2318857"/>
            <a:ext cx="895467" cy="610042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BE560D32-7A82-C61F-6941-8DC3993486DB}"/>
              </a:ext>
            </a:extLst>
          </p:cNvPr>
          <p:cNvSpPr/>
          <p:nvPr/>
        </p:nvSpPr>
        <p:spPr>
          <a:xfrm>
            <a:off x="5143625" y="3397655"/>
            <a:ext cx="1958414" cy="610042"/>
          </a:xfrm>
          <a:prstGeom prst="rightArrow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0D7572E6-EB8F-CEA6-5D86-89B7BE9970DE}"/>
              </a:ext>
            </a:extLst>
          </p:cNvPr>
          <p:cNvSpPr/>
          <p:nvPr/>
        </p:nvSpPr>
        <p:spPr>
          <a:xfrm rot="5400000">
            <a:off x="7225021" y="2425935"/>
            <a:ext cx="848739" cy="61004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3681711B-5182-DFA1-531D-E14EA6417AD6}"/>
              </a:ext>
            </a:extLst>
          </p:cNvPr>
          <p:cNvSpPr/>
          <p:nvPr/>
        </p:nvSpPr>
        <p:spPr>
          <a:xfrm>
            <a:off x="8043517" y="3397655"/>
            <a:ext cx="1487675" cy="61004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10B491-9B99-1A86-F646-4C52ADBE80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Memory Access Logic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2E9BE2-F6AC-0E09-C89C-EA9D34149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2026-03-04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2759F9-D6CD-3DBD-B4FC-BCCA90AEA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7D0359-0727-9565-6150-74A17EF24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17</a:t>
            </a:fld>
            <a:endParaRPr lang="en-CA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7B1C37C-1BD7-CED3-E132-EB0529B9D24B}"/>
              </a:ext>
            </a:extLst>
          </p:cNvPr>
          <p:cNvSpPr/>
          <p:nvPr/>
        </p:nvSpPr>
        <p:spPr>
          <a:xfrm>
            <a:off x="535300" y="2740172"/>
            <a:ext cx="2362448" cy="1696599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CPU Address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154E702-3CCE-D79A-FD28-30236142AA05}"/>
              </a:ext>
            </a:extLst>
          </p:cNvPr>
          <p:cNvSpPr/>
          <p:nvPr/>
        </p:nvSpPr>
        <p:spPr>
          <a:xfrm>
            <a:off x="3405142" y="1690688"/>
            <a:ext cx="2362448" cy="84874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Access Regions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E06B1FC-9B80-056E-CAA7-FDCCE7379067}"/>
              </a:ext>
            </a:extLst>
          </p:cNvPr>
          <p:cNvSpPr/>
          <p:nvPr/>
        </p:nvSpPr>
        <p:spPr>
          <a:xfrm>
            <a:off x="6513243" y="1690688"/>
            <a:ext cx="2362448" cy="8487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Address Relocation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B38137-C32B-5611-49B2-EE2A0C7DD707}"/>
              </a:ext>
            </a:extLst>
          </p:cNvPr>
          <p:cNvSpPr/>
          <p:nvPr/>
        </p:nvSpPr>
        <p:spPr>
          <a:xfrm>
            <a:off x="9531192" y="1843969"/>
            <a:ext cx="2362448" cy="4086752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Physical</a:t>
            </a:r>
            <a:br>
              <a:rPr lang="en-CA" dirty="0"/>
            </a:br>
            <a:r>
              <a:rPr lang="en-CA" dirty="0"/>
              <a:t>Memory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6AD7B58-4937-49F7-910C-97C13813ECA9}"/>
              </a:ext>
            </a:extLst>
          </p:cNvPr>
          <p:cNvSpPr/>
          <p:nvPr/>
        </p:nvSpPr>
        <p:spPr>
          <a:xfrm>
            <a:off x="7102039" y="3155324"/>
            <a:ext cx="1094704" cy="109470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7200" b="1" dirty="0"/>
              <a:t>+</a:t>
            </a:r>
          </a:p>
        </p:txBody>
      </p:sp>
      <p:sp>
        <p:nvSpPr>
          <p:cNvPr id="14" name="Diamond 13">
            <a:extLst>
              <a:ext uri="{FF2B5EF4-FFF2-40B4-BE49-F238E27FC236}">
                <a16:creationId xmlns:a16="http://schemas.microsoft.com/office/drawing/2014/main" id="{817132A6-1585-A9BD-D949-BE8C3AD9D276}"/>
              </a:ext>
            </a:extLst>
          </p:cNvPr>
          <p:cNvSpPr/>
          <p:nvPr/>
        </p:nvSpPr>
        <p:spPr>
          <a:xfrm>
            <a:off x="3793215" y="3071611"/>
            <a:ext cx="1841843" cy="1262130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Check</a:t>
            </a: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283FBE98-4F92-7F09-0556-20507B121002}"/>
              </a:ext>
            </a:extLst>
          </p:cNvPr>
          <p:cNvSpPr/>
          <p:nvPr/>
        </p:nvSpPr>
        <p:spPr>
          <a:xfrm>
            <a:off x="2897748" y="3397655"/>
            <a:ext cx="895467" cy="610042"/>
          </a:xfrm>
          <a:prstGeom prst="right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E40CB3A-8397-769A-CF6B-161D5139CD3E}"/>
              </a:ext>
            </a:extLst>
          </p:cNvPr>
          <p:cNvSpPr/>
          <p:nvPr/>
        </p:nvSpPr>
        <p:spPr>
          <a:xfrm>
            <a:off x="3532911" y="4890166"/>
            <a:ext cx="2362448" cy="106019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FAIL: Trap</a:t>
            </a:r>
          </a:p>
        </p:txBody>
      </p:sp>
    </p:spTree>
    <p:extLst>
      <p:ext uri="{BB962C8B-B14F-4D97-AF65-F5344CB8AC3E}">
        <p14:creationId xmlns:p14="http://schemas.microsoft.com/office/powerpoint/2010/main" val="7757917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BCE60-422B-7D07-B752-FCDDB2064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Address Space Layout Randomization (ASLR)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A6BE7F-85C4-3F61-55DE-3EB32A68A7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44479"/>
            <a:ext cx="10720754" cy="1519360"/>
          </a:xfrm>
        </p:spPr>
        <p:txBody>
          <a:bodyPr/>
          <a:lstStyle/>
          <a:p>
            <a:r>
              <a:rPr lang="en-CA" dirty="0"/>
              <a:t>Now common on Oses (</a:t>
            </a:r>
            <a:r>
              <a:rPr lang="en-CA" u="sng" dirty="0"/>
              <a:t>not</a:t>
            </a:r>
            <a:r>
              <a:rPr lang="en-CA" dirty="0"/>
              <a:t> microcontrollers) – randomly changes where processes are in memory</a:t>
            </a:r>
          </a:p>
          <a:p>
            <a:r>
              <a:rPr lang="en-CA" dirty="0"/>
              <a:t>Makes it difficult (impossible) for attacker to exploit normal orders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BC7F8E-7C1F-78CE-6134-05A511D70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2026-03-04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C78CCE-D087-464C-EDA8-483B010E4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F2DB59-A64F-7905-C090-E199BD58A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18</a:t>
            </a:fld>
            <a:endParaRPr lang="en-CA"/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966C0E30-EE05-D43A-498A-D8311D3084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7707" y="3429000"/>
            <a:ext cx="9947031" cy="28647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82085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D0255-2A93-9DBE-B947-675109A73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MPU &amp; MMU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181A02-0A54-D42D-730D-B3E789A348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MPU (Memory Protection Unit)</a:t>
            </a:r>
          </a:p>
          <a:p>
            <a:pPr lvl="1"/>
            <a:r>
              <a:rPr lang="en-CA" dirty="0"/>
              <a:t>Normally part of microcontrollers</a:t>
            </a:r>
          </a:p>
          <a:p>
            <a:pPr lvl="1"/>
            <a:r>
              <a:rPr lang="en-CA" dirty="0"/>
              <a:t>Fixed number of regions we can configure</a:t>
            </a:r>
          </a:p>
          <a:p>
            <a:endParaRPr lang="en-CA" dirty="0"/>
          </a:p>
          <a:p>
            <a:r>
              <a:rPr lang="en-CA" dirty="0"/>
              <a:t>MMU (Memory Management Unit)</a:t>
            </a:r>
          </a:p>
          <a:p>
            <a:pPr lvl="1"/>
            <a:r>
              <a:rPr lang="en-CA" dirty="0"/>
              <a:t>Normally part of “application-class” processors (e.g., Running Linux/Android/Oses)</a:t>
            </a:r>
          </a:p>
          <a:p>
            <a:pPr lvl="1"/>
            <a:r>
              <a:rPr lang="en-CA" dirty="0"/>
              <a:t>Address virtualization support, many additional features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3F767-1FDC-B89A-7606-170C3137A4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2026-03-04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49CF40-79B2-B5B7-BB56-3AAE4FFF8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B9A300-C5BD-D0C6-4559-FC95340E0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19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423866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12B90-29AF-4ABB-D8ED-42B468D50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MPU Example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8C1744-CCDE-6668-18BF-7133E93C8C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2026-03-04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217EA9-B7F8-AAB6-B561-21BA8978B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E7E8D9-ADA7-0011-B887-1A9558ABA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20</a:t>
            </a:fld>
            <a:endParaRPr lang="en-CA"/>
          </a:p>
        </p:txBody>
      </p:sp>
      <p:pic>
        <p:nvPicPr>
          <p:cNvPr id="7" name="Content Placeholder 6" descr="A diagram of a computer&#10;&#10;AI-generated content may be incorrect.">
            <a:extLst>
              <a:ext uri="{FF2B5EF4-FFF2-40B4-BE49-F238E27FC236}">
                <a16:creationId xmlns:a16="http://schemas.microsoft.com/office/drawing/2014/main" id="{9C944C34-97C5-B121-5266-AC9AED4D37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-96" b="63501"/>
          <a:stretch>
            <a:fillRect/>
          </a:stretch>
        </p:blipFill>
        <p:spPr>
          <a:xfrm>
            <a:off x="1013679" y="1603420"/>
            <a:ext cx="6944250" cy="4262907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D60DD6D-CDF9-71FF-08B8-A5994E7D9537}"/>
              </a:ext>
            </a:extLst>
          </p:cNvPr>
          <p:cNvSpPr txBox="1">
            <a:spLocks/>
          </p:cNvSpPr>
          <p:nvPr/>
        </p:nvSpPr>
        <p:spPr>
          <a:xfrm>
            <a:off x="8365901" y="2638906"/>
            <a:ext cx="3398949" cy="27692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dirty="0"/>
              <a:t>Note MPU is part of the </a:t>
            </a:r>
            <a:r>
              <a:rPr lang="en-CA" u="sng" dirty="0"/>
              <a:t>core</a:t>
            </a:r>
            <a:endParaRPr lang="en-CA" dirty="0"/>
          </a:p>
          <a:p>
            <a:endParaRPr lang="en-CA" dirty="0"/>
          </a:p>
          <a:p>
            <a:r>
              <a:rPr lang="en-CA" dirty="0"/>
              <a:t>DMA (another bus controller) </a:t>
            </a:r>
            <a:r>
              <a:rPr lang="en-CA" b="1" u="sng" dirty="0"/>
              <a:t>is not bound by MPU</a:t>
            </a:r>
            <a:r>
              <a:rPr lang="en-CA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38631781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932C5-B728-4379-D44A-6AD5E568E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STM32F3 MPU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F6CB0D-DB13-C1F2-AF82-A069E430F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550666"/>
            <a:ext cx="10515600" cy="734647"/>
          </a:xfrm>
        </p:spPr>
        <p:txBody>
          <a:bodyPr/>
          <a:lstStyle/>
          <a:p>
            <a:r>
              <a:rPr lang="en-CA" dirty="0"/>
              <a:t>E.g., disable execution from RAM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E24772-884F-6225-18D1-508979B09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2026-03-04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650E12-3AEF-3059-E553-DCA3896D6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849AF2-BF68-68D8-1350-4A9919779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21</a:t>
            </a:fld>
            <a:endParaRPr lang="en-CA"/>
          </a:p>
        </p:txBody>
      </p:sp>
      <p:pic>
        <p:nvPicPr>
          <p:cNvPr id="8" name="Picture 7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8AC98BE5-2363-BC52-CBE7-6A9F72D67B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391053"/>
            <a:ext cx="6927986" cy="2868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09321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445A3-FA44-89BE-93C1-89E4D1B8A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STM32 MPU 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9DAF5C-C704-E240-2D49-B6F7A5B74C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5625" y="4255623"/>
            <a:ext cx="10515600" cy="6463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CA" sz="2000" dirty="0">
                <a:hlinkClick r:id="rId2"/>
              </a:rPr>
              <a:t>https://www.st.com/resource/en/application_note/an4838-introduction-to-memory-protection-unit-management-on-stm32-mcus-stmicroelectronics.pdf</a:t>
            </a:r>
            <a:r>
              <a:rPr lang="en-CA" sz="2000" dirty="0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3A933B-5810-451F-3F35-9CD01A3A4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2026-03-04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88E392-7055-B556-80B0-310235ECE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16861B-491D-C7EF-E867-5EDF37B85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22</a:t>
            </a:fld>
            <a:endParaRPr lang="en-CA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A078F65-4BAB-D86A-A28F-438F7939A1A0}"/>
              </a:ext>
            </a:extLst>
          </p:cNvPr>
          <p:cNvSpPr txBox="1"/>
          <p:nvPr/>
        </p:nvSpPr>
        <p:spPr>
          <a:xfrm>
            <a:off x="1005625" y="5047272"/>
            <a:ext cx="992853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000" dirty="0">
                <a:hlinkClick r:id="rId3"/>
              </a:rPr>
              <a:t>https://www.st.com/resource/en/programming_manual/pm0214-stm32-cortexm4-mcus-and-mpus-programming-manual-stmicroelectronics.pdf</a:t>
            </a:r>
            <a:r>
              <a:rPr lang="en-CA" sz="20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447124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8547E-5EB9-679F-00BE-EE05F2341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STM32 MPU 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6B2131-04ED-4BC5-AF4C-F6211CAB1E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dirty="0"/>
              <a:t>&lt;See </a:t>
            </a:r>
            <a:r>
              <a:rPr lang="en-CA" dirty="0" err="1"/>
              <a:t>Segger</a:t>
            </a:r>
            <a:r>
              <a:rPr lang="en-CA" dirty="0"/>
              <a:t>&gt;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3161CD-B31D-3F01-131E-EB196A7E2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2026-03-04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1B398D-5212-5AE8-5498-E6B8408CF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DA6CFC-8630-1507-DBF3-7CFF5DF25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23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555649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243AC-57AD-5BA6-9873-4415B6292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Memory Safe Languages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451688-D076-9BC5-8BBD-4E8B359110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839790"/>
          </a:xfrm>
        </p:spPr>
        <p:txBody>
          <a:bodyPr/>
          <a:lstStyle/>
          <a:p>
            <a:r>
              <a:rPr lang="en-CA" dirty="0"/>
              <a:t>C is </a:t>
            </a:r>
            <a:r>
              <a:rPr lang="en-CA" u="sng" dirty="0"/>
              <a:t>not</a:t>
            </a:r>
            <a:r>
              <a:rPr lang="en-CA" dirty="0"/>
              <a:t> memory safe as you can do this:</a:t>
            </a:r>
          </a:p>
          <a:p>
            <a:pPr marL="0" indent="0">
              <a:buNone/>
            </a:pP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char buffer[8];</a:t>
            </a:r>
          </a:p>
          <a:p>
            <a:pPr marL="0" indent="0">
              <a:buNone/>
            </a:pP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buffer[8] = ‘x’;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D0F044-5295-6FA6-E016-D9C5C382F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2026-03-04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82BA90-5920-FF89-A378-FF814ACF1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0F28A4-DE69-E47C-C5E2-543FCC54D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24</a:t>
            </a:fld>
            <a:endParaRPr lang="en-CA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AD046AE-C7EF-F813-77CD-C1211857641D}"/>
              </a:ext>
            </a:extLst>
          </p:cNvPr>
          <p:cNvSpPr txBox="1">
            <a:spLocks/>
          </p:cNvSpPr>
          <p:nvPr/>
        </p:nvSpPr>
        <p:spPr>
          <a:xfrm>
            <a:off x="838200" y="3963133"/>
            <a:ext cx="10515600" cy="183979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dirty="0"/>
              <a:t>You may get a compiler warning in that case, but if passed as a pointer there would be </a:t>
            </a:r>
            <a:r>
              <a:rPr lang="en-CA" u="sng" dirty="0"/>
              <a:t>no warning</a:t>
            </a:r>
            <a:r>
              <a:rPr lang="en-CA" dirty="0"/>
              <a:t>.</a:t>
            </a:r>
          </a:p>
          <a:p>
            <a:endParaRPr lang="en-CA" dirty="0"/>
          </a:p>
          <a:p>
            <a:r>
              <a:rPr lang="en-CA" dirty="0"/>
              <a:t>This is the exact bug type that caused the </a:t>
            </a:r>
            <a:r>
              <a:rPr lang="en-CA" dirty="0" err="1"/>
              <a:t>HeartBleed</a:t>
            </a:r>
            <a:r>
              <a:rPr lang="en-CA" dirty="0"/>
              <a:t> attack earlier.</a:t>
            </a:r>
          </a:p>
        </p:txBody>
      </p:sp>
    </p:spTree>
    <p:extLst>
      <p:ext uri="{BB962C8B-B14F-4D97-AF65-F5344CB8AC3E}">
        <p14:creationId xmlns:p14="http://schemas.microsoft.com/office/powerpoint/2010/main" val="26234604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71E08E-6D2C-C319-6E30-4A1D31737B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B5A72-8864-0A08-F309-F6577B9DB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More Invalid C Demos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5C29A7-5E77-511D-CEAD-8EA80DE52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2026-03-04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8B6397-C646-B029-5B79-FE4D389E8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8BAE55-53C8-CF0A-7209-65F5BAD25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25</a:t>
            </a:fld>
            <a:endParaRPr lang="en-CA"/>
          </a:p>
        </p:txBody>
      </p:sp>
      <p:pic>
        <p:nvPicPr>
          <p:cNvPr id="11" name="Picture 10" descr="A computer screen with text&#10;&#10;AI-generated content may be incorrect.">
            <a:extLst>
              <a:ext uri="{FF2B5EF4-FFF2-40B4-BE49-F238E27FC236}">
                <a16:creationId xmlns:a16="http://schemas.microsoft.com/office/drawing/2014/main" id="{8588CA08-655F-8F60-6CE3-A11A91CDA7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4341" y="2016695"/>
            <a:ext cx="5710346" cy="3563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97320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E758E9-B12D-5473-0F77-9604F8BEE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0B6C2-EFBA-66A1-2320-A53002570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Memory Safe Languages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538BED-7E22-92A1-C6BD-40E1238F9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2026-03-04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2B73BB-FDF6-8AC4-C048-7FA5CD35A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923CBA-77AA-CF15-EC9F-3DADEFB57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26</a:t>
            </a:fld>
            <a:endParaRPr lang="en-CA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C6F84CC-B272-2FB8-6B6A-F77D09BB61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Hardware cannot prevent many of these problems – MPU would see them as </a:t>
            </a:r>
            <a:r>
              <a:rPr lang="en-CA" u="sng" dirty="0"/>
              <a:t>valid</a:t>
            </a:r>
            <a:r>
              <a:rPr lang="en-CA" dirty="0"/>
              <a:t>.</a:t>
            </a:r>
          </a:p>
          <a:p>
            <a:endParaRPr lang="en-CA" dirty="0"/>
          </a:p>
          <a:p>
            <a:r>
              <a:rPr lang="en-CA" dirty="0"/>
              <a:t>Memory-safe language guarantees:</a:t>
            </a:r>
          </a:p>
          <a:p>
            <a:pPr lvl="1"/>
            <a:r>
              <a:rPr lang="en-CA" dirty="0"/>
              <a:t>No buffer overflow</a:t>
            </a:r>
          </a:p>
          <a:p>
            <a:pPr lvl="1"/>
            <a:r>
              <a:rPr lang="en-CA" dirty="0"/>
              <a:t>No use-after-free</a:t>
            </a:r>
          </a:p>
          <a:p>
            <a:pPr lvl="1"/>
            <a:r>
              <a:rPr lang="en-CA" dirty="0"/>
              <a:t>No dangling pointers</a:t>
            </a:r>
          </a:p>
          <a:p>
            <a:pPr lvl="1"/>
            <a:r>
              <a:rPr lang="en-CA" dirty="0"/>
              <a:t>No invalid pointer arithmetic</a:t>
            </a:r>
          </a:p>
        </p:txBody>
      </p:sp>
    </p:spTree>
    <p:extLst>
      <p:ext uri="{BB962C8B-B14F-4D97-AF65-F5344CB8AC3E}">
        <p14:creationId xmlns:p14="http://schemas.microsoft.com/office/powerpoint/2010/main" val="29453692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A5689-7059-C504-DE31-9098A684C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Memory Unsafe Language Hints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983D6A-D80A-25F2-7561-CCD2334182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Generally memory-</a:t>
            </a:r>
            <a:r>
              <a:rPr lang="en-CA" i="1" dirty="0"/>
              <a:t>unsafe </a:t>
            </a:r>
            <a:r>
              <a:rPr lang="en-CA" dirty="0"/>
              <a:t>languages allow you to:</a:t>
            </a:r>
          </a:p>
          <a:p>
            <a:pPr lvl="1"/>
            <a:r>
              <a:rPr lang="en-CA" dirty="0"/>
              <a:t>Directly manipulate pointers</a:t>
            </a:r>
          </a:p>
          <a:p>
            <a:pPr lvl="1"/>
            <a:r>
              <a:rPr lang="en-CA" dirty="0"/>
              <a:t>Cast any value to any other value</a:t>
            </a:r>
          </a:p>
          <a:p>
            <a:pPr lvl="1"/>
            <a:r>
              <a:rPr lang="en-CA" dirty="0"/>
              <a:t>Perform manual memory management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8D06B1-6469-83AB-F962-CFC1BB528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2026-03-04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23C30F-3CBD-0BF1-ED99-2736EF9561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D9AA22-F1F0-50BD-3C71-FB71BDF70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27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200544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F24670-1E96-4AD6-2BA4-1E91ADB58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67B47-B119-3D6B-CF68-CF4C2F7FE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Memory Safe Languages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719069-FD36-9D97-F1D8-E2B6F919A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2026-03-04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73A8EE-51DB-37A2-07BD-B357561CC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20DA87-9B4C-6763-C48B-F704FC141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28</a:t>
            </a:fld>
            <a:endParaRPr lang="en-CA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D3552B8-56F8-C3AF-B3C1-5A86245EC4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4170881"/>
              </p:ext>
            </p:extLst>
          </p:nvPr>
        </p:nvGraphicFramePr>
        <p:xfrm>
          <a:off x="3113824" y="2638619"/>
          <a:ext cx="5310032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5016">
                  <a:extLst>
                    <a:ext uri="{9D8B030D-6E8A-4147-A177-3AD203B41FA5}">
                      <a16:colId xmlns:a16="http://schemas.microsoft.com/office/drawing/2014/main" val="972379604"/>
                    </a:ext>
                  </a:extLst>
                </a:gridCol>
                <a:gridCol w="2655016">
                  <a:extLst>
                    <a:ext uri="{9D8B030D-6E8A-4147-A177-3AD203B41FA5}">
                      <a16:colId xmlns:a16="http://schemas.microsoft.com/office/drawing/2014/main" val="2296751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Language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Approach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68098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Java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Runtime checks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47757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Python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Runtime checks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12273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Go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Garbage collection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09660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Rust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Compile-time safety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21457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Swift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Strong type system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2237734"/>
                  </a:ext>
                </a:extLst>
              </a:tr>
            </a:tbl>
          </a:graphicData>
        </a:graphic>
      </p:graphicFrame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8B3A8D8-2F4B-960B-F64D-871F03B741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CA" dirty="0"/>
              <a:t>E.g., a few languages &amp; how they achieve that goal:</a:t>
            </a:r>
          </a:p>
        </p:txBody>
      </p:sp>
    </p:spTree>
    <p:extLst>
      <p:ext uri="{BB962C8B-B14F-4D97-AF65-F5344CB8AC3E}">
        <p14:creationId xmlns:p14="http://schemas.microsoft.com/office/powerpoint/2010/main" val="175219862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C051D1-F337-883E-51A0-6EE2ED4DD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D47DD-4E35-455D-4E5C-FD081E85E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Runtime Memory Safety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1D6A33-1C60-2FAB-0858-E05BAA412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2026-03-04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F9EDE7-3FE6-675F-5E37-701469D88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24C313-8352-4689-4F91-A7B0A9378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29</a:t>
            </a:fld>
            <a:endParaRPr lang="en-CA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1E17F7A-5C77-A5C7-EECF-614E5B4944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026239" cy="4066460"/>
          </a:xfrm>
        </p:spPr>
        <p:txBody>
          <a:bodyPr/>
          <a:lstStyle/>
          <a:p>
            <a:pPr marL="0" indent="0">
              <a:buNone/>
            </a:pPr>
            <a:r>
              <a:rPr lang="en-CA" dirty="0"/>
              <a:t>Enforced </a:t>
            </a:r>
            <a:r>
              <a:rPr lang="en-CA" u="sng" dirty="0"/>
              <a:t>at runtime</a:t>
            </a:r>
            <a:r>
              <a:rPr lang="en-CA" dirty="0"/>
              <a:t> – not detected until you try and execute the code:</a:t>
            </a:r>
          </a:p>
          <a:p>
            <a:r>
              <a:rPr lang="en-CA" dirty="0"/>
              <a:t>Bounds checking</a:t>
            </a:r>
          </a:p>
          <a:p>
            <a:r>
              <a:rPr lang="en-CA" dirty="0"/>
              <a:t>Null checks</a:t>
            </a:r>
          </a:p>
          <a:p>
            <a:r>
              <a:rPr lang="en-CA" dirty="0"/>
              <a:t>Garbage collection</a:t>
            </a:r>
          </a:p>
          <a:p>
            <a:r>
              <a:rPr lang="en-CA" dirty="0"/>
              <a:t>Type Safety</a:t>
            </a:r>
          </a:p>
        </p:txBody>
      </p:sp>
      <p:pic>
        <p:nvPicPr>
          <p:cNvPr id="9" name="Picture 8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48DAE21D-53C4-4BE2-76C6-341C50FEB7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8534" y="3287275"/>
            <a:ext cx="5990242" cy="1529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93546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88051-488A-7C29-F04B-2866B0ECF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Compiler-Time Memory Safety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FF8E67-97B5-2398-7D12-F7E6637131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Rust prevents errors </a:t>
            </a:r>
            <a:r>
              <a:rPr lang="en-CA" u="sng" dirty="0"/>
              <a:t>before execution</a:t>
            </a:r>
            <a:endParaRPr lang="en-CA" dirty="0"/>
          </a:p>
          <a:p>
            <a:r>
              <a:rPr lang="en-CA" dirty="0"/>
              <a:t>Perfect for embedded systems where can be difficult to see error lots.</a:t>
            </a:r>
          </a:p>
          <a:p>
            <a:r>
              <a:rPr lang="en-CA" dirty="0"/>
              <a:t>Concepts of this mean tracking:</a:t>
            </a:r>
          </a:p>
          <a:p>
            <a:pPr lvl="1"/>
            <a:r>
              <a:rPr lang="en-CA" dirty="0"/>
              <a:t>Ownership</a:t>
            </a:r>
          </a:p>
          <a:p>
            <a:pPr lvl="1"/>
            <a:r>
              <a:rPr lang="en-CA" dirty="0"/>
              <a:t>Borrowing</a:t>
            </a:r>
          </a:p>
          <a:p>
            <a:pPr lvl="1"/>
            <a:r>
              <a:rPr lang="en-CA" dirty="0"/>
              <a:t>Lifetimes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BBC438-AF24-BDD2-E11C-862A0C05E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2026-03-04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8668B1-FA1C-B51E-9DDF-D9FFC37E4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D09F82-C0C8-AFD1-6B23-C0F17F170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30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3246605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04AAF-BC66-36C5-8D9F-E409A6EBA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Rust Ownership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AFD261-D112-966A-FBFB-A767399648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Every value was </a:t>
            </a:r>
            <a:r>
              <a:rPr lang="en-CA" u="sng" dirty="0"/>
              <a:t>one owner</a:t>
            </a:r>
            <a:r>
              <a:rPr lang="en-CA" dirty="0"/>
              <a:t>.</a:t>
            </a:r>
          </a:p>
          <a:p>
            <a:r>
              <a:rPr lang="en-CA" dirty="0"/>
              <a:t>Ownership can </a:t>
            </a:r>
            <a:r>
              <a:rPr lang="en-CA" u="sng" dirty="0"/>
              <a:t>move</a:t>
            </a:r>
            <a:r>
              <a:rPr lang="en-CA" dirty="0"/>
              <a:t>.</a:t>
            </a:r>
          </a:p>
          <a:p>
            <a:r>
              <a:rPr lang="en-CA" dirty="0"/>
              <a:t>References must following borrowing rules.</a:t>
            </a:r>
          </a:p>
          <a:p>
            <a:r>
              <a:rPr lang="en-CA" dirty="0"/>
              <a:t>Lifetimes are checked and must be valid.</a:t>
            </a:r>
          </a:p>
          <a:p>
            <a:endParaRPr lang="en-CA" dirty="0"/>
          </a:p>
          <a:p>
            <a:pPr marL="0" indent="0">
              <a:buNone/>
            </a:pPr>
            <a:r>
              <a:rPr lang="en-CA" dirty="0"/>
              <a:t>See next page for example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65C769-0D68-3746-CC84-DB8689262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2026-03-04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D99207-45EC-F2C0-A17A-6DCBA82F5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882AE2-57E9-1D7A-DA99-CBFC58585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31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3579085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6929C-9E44-6DB2-5045-743DC90F1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e.g., Rust compiling an error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CADCF8-D5EC-8AF5-93CF-E0F5254AC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2026-03-04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1F7CA4-44CA-4AFD-FC8C-FBE93D70D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3557A5-0EF9-4D7D-00FB-F0D6285A5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32</a:t>
            </a:fld>
            <a:endParaRPr lang="en-CA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1E2AE1-6640-B710-EF28-2147E0541236}"/>
              </a:ext>
            </a:extLst>
          </p:cNvPr>
          <p:cNvSpPr txBox="1"/>
          <p:nvPr/>
        </p:nvSpPr>
        <p:spPr>
          <a:xfrm>
            <a:off x="533399" y="5578331"/>
            <a:ext cx="104329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/>
              <a:t>https://play.rust-lang.org/?version=stable&amp;mode=debug&amp;edition=2024</a:t>
            </a:r>
          </a:p>
        </p:txBody>
      </p:sp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C3493D6-4568-3A3C-9BDB-D7CA763FE1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58565"/>
            <a:ext cx="12192000" cy="3573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436196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A5927-C229-617F-9B79-A2ADF188F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Memory Safe CPU Architectures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9CFCD3-01C6-63B7-35E8-FCD91FB6F9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New designs of processors try to enforce some of these concepts </a:t>
            </a:r>
            <a:r>
              <a:rPr lang="en-CA" u="sng" dirty="0"/>
              <a:t>in hardware</a:t>
            </a:r>
            <a:r>
              <a:rPr lang="en-CA" dirty="0"/>
              <a:t>.</a:t>
            </a:r>
          </a:p>
          <a:p>
            <a:endParaRPr lang="en-CA" dirty="0"/>
          </a:p>
          <a:p>
            <a:r>
              <a:rPr lang="en-US" dirty="0"/>
              <a:t>Capability Hardware Enhanced RISC Instructions (CHERI) and </a:t>
            </a:r>
            <a:r>
              <a:rPr lang="en-US" dirty="0" err="1"/>
              <a:t>CHERIoT</a:t>
            </a:r>
            <a:r>
              <a:rPr lang="en-US" dirty="0"/>
              <a:t> are two variants of this idea (higher &amp; lower performance)</a:t>
            </a:r>
          </a:p>
          <a:p>
            <a:endParaRPr lang="en-US" dirty="0"/>
          </a:p>
          <a:p>
            <a:r>
              <a:rPr lang="en-US" dirty="0"/>
              <a:t>In CHERI pointers become </a:t>
            </a:r>
            <a:r>
              <a:rPr lang="en-US" u="sng" dirty="0"/>
              <a:t>capabilities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Capabilities in hardware track address, bounds, permissions, and validity</a:t>
            </a:r>
            <a:endParaRPr lang="en-CA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6ECC5F-7FEC-6F71-6939-9472EDA77E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2026-03-04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1355B5-6612-96C8-C2EB-EA17AD319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339BCD-A55F-6535-1029-7530B1127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33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6374283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BE011-1BB2-6480-CF73-B8F43FEA2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CPU Core: Initial</a:t>
            </a:r>
          </a:p>
        </p:txBody>
      </p:sp>
      <p:pic>
        <p:nvPicPr>
          <p:cNvPr id="8" name="Content Placeholder 7" descr="A diagram of a computer program&#10;&#10;AI-generated content may be incorrect.">
            <a:extLst>
              <a:ext uri="{FF2B5EF4-FFF2-40B4-BE49-F238E27FC236}">
                <a16:creationId xmlns:a16="http://schemas.microsoft.com/office/drawing/2014/main" id="{D1BA80FF-47B3-E577-A302-31A0C12543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60222" y="1825625"/>
            <a:ext cx="6471555" cy="435133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E4D3D4-E1C5-F2A2-4B2A-1DE48A12C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2026-03-04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739262-D329-9FF9-9749-26B23EA2C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11043E-759B-C4E6-FAB7-06A09C053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34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3729104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2FAADA-CF7A-6E90-322B-EEBEA0A54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C58D9-A0F1-0B76-7CBD-C12F9A435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CPU Core: Initial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35A979-A868-500E-C9E7-D1728C842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2026-03-04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95EA3D-41FC-B90A-6513-8200B46E1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65C019-EE71-CDD5-91FE-E108199E0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35</a:t>
            </a:fld>
            <a:endParaRPr lang="en-CA"/>
          </a:p>
        </p:txBody>
      </p:sp>
      <p:pic>
        <p:nvPicPr>
          <p:cNvPr id="10" name="Content Placeholder 9" descr="A diagram of a computer program&#10;&#10;AI-generated content may be incorrect.">
            <a:extLst>
              <a:ext uri="{FF2B5EF4-FFF2-40B4-BE49-F238E27FC236}">
                <a16:creationId xmlns:a16="http://schemas.microsoft.com/office/drawing/2014/main" id="{20B08C90-216A-F137-26AB-CE1BDA41F4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11852" y="1825625"/>
            <a:ext cx="636829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61701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F1A79-91E4-CC6A-5458-F421B9E11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e.g., </a:t>
            </a:r>
            <a:r>
              <a:rPr lang="en-CA" dirty="0" err="1"/>
              <a:t>CHERIoT</a:t>
            </a:r>
            <a:r>
              <a:rPr lang="en-CA" dirty="0"/>
              <a:t> Code (Programmer View)</a:t>
            </a:r>
          </a:p>
        </p:txBody>
      </p:sp>
      <p:pic>
        <p:nvPicPr>
          <p:cNvPr id="8" name="Content Placeholder 7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89ED6F52-396B-84A3-7B72-3B77A19D31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4614" y="2161997"/>
            <a:ext cx="8909077" cy="3053885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8993A1-A0B9-EB52-EA4B-BD57EA2AC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2026-03-04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B1E298-2C34-2F7A-2704-2E1CF0DC1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B7C771-905E-A392-65D5-24CA11207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36</a:t>
            </a:fld>
            <a:endParaRPr lang="en-CA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BE4627D-55A2-B3DF-5ABC-C716ABBE4D7B}"/>
              </a:ext>
            </a:extLst>
          </p:cNvPr>
          <p:cNvSpPr txBox="1"/>
          <p:nvPr/>
        </p:nvSpPr>
        <p:spPr>
          <a:xfrm>
            <a:off x="1540009" y="5462950"/>
            <a:ext cx="111392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>
                <a:hlinkClick r:id="rId3"/>
              </a:rPr>
              <a:t>https://github.com/CHERIoT-Platform/cheriot-rtos/blob/main/examples/08.memory_safety/memory_safety_inner.cc#L69</a:t>
            </a:r>
            <a:r>
              <a:rPr lang="en-CA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5398342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D2A15-DD75-8B2F-D312-6FA11EC6A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Other Features: Capabilities and Compartments</a:t>
            </a:r>
          </a:p>
        </p:txBody>
      </p:sp>
      <p:pic>
        <p:nvPicPr>
          <p:cNvPr id="8" name="Content Placeholder 7" descr="A magnifying glass over a box&#10;&#10;AI-generated content may be incorrect.">
            <a:extLst>
              <a:ext uri="{FF2B5EF4-FFF2-40B4-BE49-F238E27FC236}">
                <a16:creationId xmlns:a16="http://schemas.microsoft.com/office/drawing/2014/main" id="{84A8CE1C-0D27-B708-0D05-5E2FB3FBC6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0550" y="2185895"/>
            <a:ext cx="9961246" cy="3422853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FF10D7-FC50-2BF0-05B8-D82902E61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2026-03-04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40D1CF-DBA1-F0E7-6CF7-B9B4C12C7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17DF9-AFEC-7F8D-C212-B1C605D13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37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9004880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87975-0A93-1CFF-EF64-A84042177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Hardware Enforced Memory Safety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9331A3-9676-3DAC-C429-59C8237E28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Unlike with programming language, the code </a:t>
            </a:r>
            <a:r>
              <a:rPr lang="en-CA" u="sng" dirty="0"/>
              <a:t>will not run.</a:t>
            </a:r>
          </a:p>
          <a:p>
            <a:r>
              <a:rPr lang="en-CA" dirty="0"/>
              <a:t>Trade-off as may want to determine this at compile-time when that could be know.</a:t>
            </a:r>
          </a:p>
          <a:p>
            <a:pPr lvl="1"/>
            <a:r>
              <a:rPr lang="en-CA" dirty="0"/>
              <a:t>Analysis tools can also determine this, leading to “best of both worlds”</a:t>
            </a:r>
          </a:p>
          <a:p>
            <a:r>
              <a:rPr lang="en-CA" dirty="0" err="1"/>
              <a:t>CHERIoT</a:t>
            </a:r>
            <a:r>
              <a:rPr lang="en-CA" dirty="0"/>
              <a:t> is new – first physical devices demonstrated this year, but active development</a:t>
            </a:r>
          </a:p>
          <a:p>
            <a:r>
              <a:rPr lang="en-CA" dirty="0"/>
              <a:t>May be something you run across later in your career!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CF25D0-172D-6E33-4076-8588BC5B3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2026-03-04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FF3FA5-4B0D-17AF-A90B-D7192717C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FDC3BC-9BB5-68F9-5453-0855E2E57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38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1412745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A070A-C3C8-33C7-8E85-736972158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Memory Safety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B9B78C-2398-1732-3CBA-80A67E4FB0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Memory safety normally refers to preventing “out of bounds” access.</a:t>
            </a:r>
          </a:p>
          <a:p>
            <a:r>
              <a:rPr lang="en-CA" dirty="0"/>
              <a:t>Often presents a security risk, but also a safety risk if e.g., crashing program causes a physical device to misbehave.</a:t>
            </a:r>
          </a:p>
          <a:p>
            <a:r>
              <a:rPr lang="en-CA" dirty="0"/>
              <a:t>Memory Protection Unit (MPU) is most commonly used device in smaller microcontrollers to enforce region level access.</a:t>
            </a:r>
          </a:p>
          <a:p>
            <a:r>
              <a:rPr lang="en-CA" dirty="0"/>
              <a:t>Memory-safe languages (such as Rust) and architectures (such as </a:t>
            </a:r>
            <a:r>
              <a:rPr lang="en-CA" dirty="0" err="1"/>
              <a:t>CHERIoT</a:t>
            </a:r>
            <a:r>
              <a:rPr lang="en-CA" dirty="0"/>
              <a:t>) gaining wider acceptance in embedded.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E89AA7-CD5D-BDD5-5351-34063637CF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2026-03-04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85E16E-24A2-FD4F-29B7-80631A009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6BF951-A583-EBD9-8CA4-241C3D936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39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683051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2375</TotalTime>
  <Words>1621</Words>
  <Application>Microsoft Office PowerPoint</Application>
  <PresentationFormat>Widescreen</PresentationFormat>
  <Paragraphs>306</Paragraphs>
  <Slides>39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4" baseType="lpstr">
      <vt:lpstr>Aptos</vt:lpstr>
      <vt:lpstr>Aptos Display</vt:lpstr>
      <vt:lpstr>Arial</vt:lpstr>
      <vt:lpstr>Courier New</vt:lpstr>
      <vt:lpstr>Office Theme</vt:lpstr>
      <vt:lpstr>Computer Architecture: Memory Safety &amp; Protection</vt:lpstr>
      <vt:lpstr>Lectures</vt:lpstr>
      <vt:lpstr>Busses that don’t respond or Invalid</vt:lpstr>
      <vt:lpstr>Memory Safety</vt:lpstr>
      <vt:lpstr>Memory Error Correction (ECC)</vt:lpstr>
      <vt:lpstr>ECC Memory</vt:lpstr>
      <vt:lpstr>ECC Memory in Servers</vt:lpstr>
      <vt:lpstr>Microcontroller ECC Memory</vt:lpstr>
      <vt:lpstr>Invalid Memory Access Problems</vt:lpstr>
      <vt:lpstr>e.g., HeartBleed</vt:lpstr>
      <vt:lpstr>e.g., HeartBleed</vt:lpstr>
      <vt:lpstr>Memory Overwriting &amp; Reading</vt:lpstr>
      <vt:lpstr>Hardware Memory Protection</vt:lpstr>
      <vt:lpstr>Privileged &amp; Unprivileged Modes</vt:lpstr>
      <vt:lpstr>Read / Write / Execute Permissions</vt:lpstr>
      <vt:lpstr>Note: Harvard Architecture</vt:lpstr>
      <vt:lpstr>Memory Access Logic</vt:lpstr>
      <vt:lpstr>Address Space Layout Randomization (ASLR)</vt:lpstr>
      <vt:lpstr>MPU &amp; MMU</vt:lpstr>
      <vt:lpstr>MPU Example</vt:lpstr>
      <vt:lpstr>STM32F3 MPU Setup</vt:lpstr>
      <vt:lpstr>STM32 MPU Introduction</vt:lpstr>
      <vt:lpstr>STM32 MPU Demo</vt:lpstr>
      <vt:lpstr>Memory Safe Languages</vt:lpstr>
      <vt:lpstr>More Invalid C Demos</vt:lpstr>
      <vt:lpstr>Memory Safe Languages</vt:lpstr>
      <vt:lpstr>Memory Unsafe Language Hints</vt:lpstr>
      <vt:lpstr>Memory Safe Languages</vt:lpstr>
      <vt:lpstr>Runtime Memory Safety</vt:lpstr>
      <vt:lpstr>Compiler-Time Memory Safety</vt:lpstr>
      <vt:lpstr>Rust Ownership Model</vt:lpstr>
      <vt:lpstr>e.g., Rust compiling an error</vt:lpstr>
      <vt:lpstr>Memory Safe CPU Architectures</vt:lpstr>
      <vt:lpstr>CPU Core: Initial</vt:lpstr>
      <vt:lpstr>CPU Core: Initial</vt:lpstr>
      <vt:lpstr>e.g., CHERIoT Code (Programmer View)</vt:lpstr>
      <vt:lpstr>Other Features: Capabilities and Compartments</vt:lpstr>
      <vt:lpstr>Hardware Enforced Memory Safety</vt:lpstr>
      <vt:lpstr>Memory Safety 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Colin O'Flynn</dc:creator>
  <cp:lastModifiedBy>Colin O'Flynn</cp:lastModifiedBy>
  <cp:revision>38</cp:revision>
  <dcterms:created xsi:type="dcterms:W3CDTF">2026-02-08T23:56:58Z</dcterms:created>
  <dcterms:modified xsi:type="dcterms:W3CDTF">2026-03-04T17:41:19Z</dcterms:modified>
</cp:coreProperties>
</file>