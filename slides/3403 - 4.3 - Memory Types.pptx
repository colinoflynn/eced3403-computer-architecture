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79" r:id="rId4"/>
    <p:sldId id="280" r:id="rId5"/>
    <p:sldId id="283" r:id="rId6"/>
    <p:sldId id="284" r:id="rId7"/>
    <p:sldId id="282" r:id="rId8"/>
    <p:sldId id="281" r:id="rId9"/>
    <p:sldId id="304" r:id="rId10"/>
    <p:sldId id="305" r:id="rId11"/>
    <p:sldId id="285" r:id="rId12"/>
    <p:sldId id="309" r:id="rId13"/>
    <p:sldId id="310" r:id="rId14"/>
    <p:sldId id="306" r:id="rId15"/>
    <p:sldId id="286" r:id="rId16"/>
    <p:sldId id="307" r:id="rId17"/>
    <p:sldId id="287" r:id="rId18"/>
    <p:sldId id="308" r:id="rId19"/>
    <p:sldId id="311" r:id="rId20"/>
    <p:sldId id="312" r:id="rId21"/>
    <p:sldId id="313" r:id="rId22"/>
    <p:sldId id="317" r:id="rId23"/>
    <p:sldId id="289" r:id="rId24"/>
    <p:sldId id="292" r:id="rId25"/>
    <p:sldId id="294" r:id="rId26"/>
    <p:sldId id="295" r:id="rId27"/>
    <p:sldId id="300" r:id="rId28"/>
    <p:sldId id="301" r:id="rId29"/>
    <p:sldId id="296" r:id="rId30"/>
    <p:sldId id="297" r:id="rId31"/>
    <p:sldId id="298" r:id="rId32"/>
    <p:sldId id="299" r:id="rId33"/>
    <p:sldId id="302" r:id="rId34"/>
    <p:sldId id="303" r:id="rId35"/>
    <p:sldId id="320" r:id="rId36"/>
    <p:sldId id="321" r:id="rId37"/>
    <p:sldId id="314" r:id="rId38"/>
    <p:sldId id="315" r:id="rId39"/>
    <p:sldId id="316" r:id="rId40"/>
    <p:sldId id="318" r:id="rId41"/>
    <p:sldId id="290" r:id="rId42"/>
    <p:sldId id="293" r:id="rId43"/>
    <p:sldId id="291" r:id="rId44"/>
    <p:sldId id="31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9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400AA-101D-490E-9D4E-C89A20702DB7}" type="datetimeFigureOut">
              <a:rPr lang="en-CA" smtClean="0"/>
              <a:t>2026-03-09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3026F-2F57-4911-B7AF-7A689FB873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263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C467B-3273-4353-9FBF-06D73C896B7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9908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C20F8-4895-94C2-8FA2-66E560A3D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3532E-8058-C5C8-2506-01C74706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20B31-ECF3-1B78-C88E-2148C3B10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72FD-17C4-4195-9A46-AE8481F14B8C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1BAD8-50A4-147C-2CD6-F410FAA5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736EB-F489-50CF-C0A0-04EB3CCF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3789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FFDF-AD45-70DA-DBFC-39804BF3F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2D168-5FB0-0976-8F46-0E62B2230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1FBDD-8676-E7A6-9767-AB25F16F1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474CF-B37F-47E1-344C-FD179A8E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9AB56-2130-1784-C270-DE61E834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801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6BE87-9176-DC6D-7E6D-AED5F1B4A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C646E-906C-DE6E-F460-1AC7588A2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40353-D6E5-F285-0B15-2DB721750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D8C76-B400-4F53-8805-742D98EC80C2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B755-C4F9-EE1D-2472-393D0DBA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453E9-EC5D-3196-40C9-35FA1716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169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1056-F3E9-D796-0188-DB704770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28AF2-16F2-34A3-7D15-A28F084D7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00C63-AE05-0355-4E48-2A5900428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35A27-2CA0-DA96-DE81-30258991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C1D2-65BD-4030-B320-CFCAC7C2CF77}" type="datetime1">
              <a:rPr lang="en-CA" smtClean="0"/>
              <a:t>2026-03-09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28EA9-8003-DD37-3C59-F8052CFF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FAD97-AD46-797F-A73B-AF034EAE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323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8877C-0091-8117-3240-C15EE8097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04D97-6B5B-4B40-4797-44D7356E7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142B3-B5E2-E0F0-2A8C-A393861C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2CD81-F1F0-AA13-E635-956E2240D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AB232-10B9-29C1-5C2E-2889B2CE3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6067B-4CB1-4ADC-0871-7F90B6EA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6206-5BA6-460D-9780-A5A1F3FC520F}" type="datetime1">
              <a:rPr lang="en-CA" smtClean="0"/>
              <a:t>2026-03-09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72D8B8-EC13-2FE1-4AC1-DA30BE30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4DC02A-2269-D62D-A2F6-4EF60E09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4608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41633-4B93-3962-0831-3F79E9AB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F8BB15-178F-4440-5C62-42B7740A3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C05AF-8116-461A-AD38-E69AB126D756}" type="datetime1">
              <a:rPr lang="en-CA" smtClean="0"/>
              <a:t>2026-03-09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C8318-4472-251E-FF42-F757E514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9102C-45D2-0478-F645-1A88A7A1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568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25DD8B-C610-0C5A-B29C-D1B094483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9D55-1BF1-40D6-87EC-FFE4362AD15D}" type="datetime1">
              <a:rPr lang="en-CA" smtClean="0"/>
              <a:t>2026-03-09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B6D3F-76F9-6977-7F11-BE45F2EC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A9206-29F6-A2E5-EDBE-A7B2B18C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1174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7E14-E8C6-533B-D648-163F2F54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A9B72-F8AD-A435-F12C-6AD72286F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432E5-2EAF-0407-8CD8-9B140466B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2223D-CE1E-B50D-3F81-A6233691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4D12-9B66-4D3F-BFEA-EB6939410680}" type="datetime1">
              <a:rPr lang="en-CA" smtClean="0"/>
              <a:t>2026-03-09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A51B3-198E-8FF6-7810-ABDEB19C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FA87D-3783-15DA-A1C4-C367745B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7592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1862D-A78F-02BE-CD84-089873284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63AF3-1586-FA07-67E3-0C17B2BA1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2F072-26D7-47EA-01F2-D095376AD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45053-29D5-8E85-C3A3-7FE2C872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CAEB-FDAC-4944-A700-E5025FBDCFB8}" type="datetime1">
              <a:rPr lang="en-CA" smtClean="0"/>
              <a:t>2026-03-09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246A4-4AA2-74B5-1BEF-D6B2F575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4B5FB-02D4-18AB-B564-1BE49B67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800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ECA42-0B39-62AD-0647-16416EEC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3D16F-BC9B-504D-20C9-5B9DDFCF7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7887E-9BD0-50E7-7855-5A6892289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88EE-D2E8-458C-B025-86AB65CB2342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2909D-9B71-3004-5853-0865DFCA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AFD81-4FDD-5E6A-7EF0-A0AF3D9E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302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0C928-04C0-FFD8-6FB7-52544F5E6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AE9ED-B388-AC41-6080-6F91ABFBF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55B1A-AF28-25B7-80B2-2EF9AF2FA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D418E-0BAA-477E-AE93-7DEEFAFBE002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1F440-1924-B1AA-DA08-FF6D4D5C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20E6E-67ED-9028-647B-5F9E902E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3101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5F461-5089-4FA6-F30A-FEECC037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A3026-0C22-41E8-F2F9-B44737EDE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2E1FB-D0DD-0542-98E0-F8AD6C0C62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9C524-F283-4997-8372-EC621E6F8B97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F4F27-F292-F8E1-8EEB-4B04DCFE5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F6AB7-62BE-C74A-0375-1B18D98B1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31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laycomputer.co.uk/" TargetMode="External"/><Relationship Id="rId2" Type="http://schemas.openxmlformats.org/officeDocument/2006/relationships/hyperlink" Target="https://web.cecs.pdx.edu/~harry/Relay/RelayPaper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bedded.com/flash-101-nand-flash-vs-nor-flash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0332-C356-1B1E-0B6B-B1E4E812BA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Computer Architecture:</a:t>
            </a:r>
            <a:br>
              <a:rPr lang="en-CA" dirty="0"/>
            </a:br>
            <a:r>
              <a:rPr lang="en-CA" i="1" dirty="0"/>
              <a:t>Memory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56E0B-2030-B06C-4A76-67F52B07E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Dr. Colin O’Flynn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286F8-7046-B580-89F1-4F057535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5903-4A42-43A9-9B07-0A555E8C01D2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94224-0D5F-188B-78F3-15A498B5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17701-B7BA-E8D0-BE9E-EECDE6DB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493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ADA9-27CC-7B3F-58A4-E641BF35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9C3AB-3011-E0FF-7C9F-80D076637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How does a program run on a machine?</a:t>
            </a:r>
          </a:p>
          <a:p>
            <a:r>
              <a:rPr lang="en-CA" dirty="0"/>
              <a:t>How do you compile from high-level code to machine code?</a:t>
            </a:r>
          </a:p>
          <a:p>
            <a:r>
              <a:rPr lang="en-CA" dirty="0"/>
              <a:t>How does the machine run? (Control Flow)</a:t>
            </a:r>
          </a:p>
          <a:p>
            <a:r>
              <a:rPr lang="en-CA" dirty="0"/>
              <a:t>How does the machine store data?</a:t>
            </a:r>
          </a:p>
          <a:p>
            <a:r>
              <a:rPr lang="en-CA" dirty="0"/>
              <a:t>How does the machine interface using buses?</a:t>
            </a:r>
          </a:p>
          <a:p>
            <a:r>
              <a:rPr lang="en-CA" dirty="0"/>
              <a:t>What does it mean to have “allowed” memory?</a:t>
            </a:r>
          </a:p>
          <a:p>
            <a:r>
              <a:rPr lang="en-CA" b="1" dirty="0">
                <a:solidFill>
                  <a:srgbClr val="FF0000"/>
                </a:solidFill>
              </a:rPr>
              <a:t>Why is some memory faster &amp; slower?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How does the machine speed up data access?</a:t>
            </a:r>
          </a:p>
          <a:p>
            <a:endParaRPr lang="en-CA" dirty="0">
              <a:solidFill>
                <a:srgbClr val="FF0000"/>
              </a:solidFill>
            </a:endParaRPr>
          </a:p>
          <a:p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6FB1E-13D4-AF84-CD57-0DE27803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975C-2D17-4D58-BAA2-AE3D2D8697E0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42B00-C73D-1737-27CD-9FFFCF53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C70CA-A863-53D2-59FA-8884AFF8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39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7450-2176-F7E1-663B-44CF7E54F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would a bus not respond on time?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BEBCB-09A7-B8AE-7D62-961C09946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F1D8C-199D-B847-A60D-1C1C05B7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D3A7C-999B-CB88-6002-2BF0BCD68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</a:t>
            </a:fld>
            <a:endParaRPr lang="en-CA"/>
          </a:p>
        </p:txBody>
      </p:sp>
      <p:pic>
        <p:nvPicPr>
          <p:cNvPr id="7" name="Content Placeholder 7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7AD7C2D9-0DCB-9195-C710-223F29C3E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089" y="1356701"/>
            <a:ext cx="7355869" cy="475492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6593158-2CCD-8424-5F6C-AE7CC44FFBFA}"/>
              </a:ext>
            </a:extLst>
          </p:cNvPr>
          <p:cNvSpPr txBox="1">
            <a:spLocks/>
          </p:cNvSpPr>
          <p:nvPr/>
        </p:nvSpPr>
        <p:spPr>
          <a:xfrm>
            <a:off x="7854461" y="2271470"/>
            <a:ext cx="4275016" cy="244902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Prior lectures looked at </a:t>
            </a:r>
            <a:r>
              <a:rPr lang="en-CA" u="sng" dirty="0"/>
              <a:t>busses</a:t>
            </a:r>
            <a:endParaRPr lang="en-CA" dirty="0"/>
          </a:p>
          <a:p>
            <a:endParaRPr lang="en-CA" dirty="0"/>
          </a:p>
          <a:p>
            <a:r>
              <a:rPr lang="en-CA" dirty="0"/>
              <a:t>This lecture will look in detail at </a:t>
            </a:r>
            <a:r>
              <a:rPr lang="en-CA" u="sng" dirty="0"/>
              <a:t>why</a:t>
            </a:r>
            <a:r>
              <a:rPr lang="en-CA" dirty="0"/>
              <a:t> we have many choices.</a:t>
            </a:r>
          </a:p>
        </p:txBody>
      </p:sp>
    </p:spTree>
    <p:extLst>
      <p:ext uri="{BB962C8B-B14F-4D97-AF65-F5344CB8AC3E}">
        <p14:creationId xmlns:p14="http://schemas.microsoft.com/office/powerpoint/2010/main" val="47653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12FA9-E5E4-9F24-D61D-66B4B659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Properties of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AAC8A-D34D-3534-CD3D-551292196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Speed</a:t>
            </a:r>
          </a:p>
          <a:p>
            <a:endParaRPr lang="en-CA" dirty="0"/>
          </a:p>
          <a:p>
            <a:r>
              <a:rPr lang="en-CA" dirty="0"/>
              <a:t>Density</a:t>
            </a:r>
          </a:p>
          <a:p>
            <a:endParaRPr lang="en-CA" dirty="0"/>
          </a:p>
          <a:p>
            <a:r>
              <a:rPr lang="en-CA" dirty="0"/>
              <a:t>Cost</a:t>
            </a:r>
          </a:p>
          <a:p>
            <a:endParaRPr lang="en-CA" dirty="0"/>
          </a:p>
          <a:p>
            <a:r>
              <a:rPr lang="en-CA" dirty="0"/>
              <a:t>Volatility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58F49-35A0-5774-F5AD-E44D15F37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49C70-6CE9-6AE0-C347-BECEFB95E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AC25-3183-4084-4B3E-332EB6CFE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0342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7009A-D9E2-764A-80A6-6781D61AF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Comparison of Memory Types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FBAB878-592D-B886-EFB4-2589440F0C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1005787"/>
              </p:ext>
            </p:extLst>
          </p:nvPr>
        </p:nvGraphicFramePr>
        <p:xfrm>
          <a:off x="419637" y="2121837"/>
          <a:ext cx="11209985" cy="35706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41997">
                  <a:extLst>
                    <a:ext uri="{9D8B030D-6E8A-4147-A177-3AD203B41FA5}">
                      <a16:colId xmlns:a16="http://schemas.microsoft.com/office/drawing/2014/main" val="2057264111"/>
                    </a:ext>
                  </a:extLst>
                </a:gridCol>
                <a:gridCol w="2241997">
                  <a:extLst>
                    <a:ext uri="{9D8B030D-6E8A-4147-A177-3AD203B41FA5}">
                      <a16:colId xmlns:a16="http://schemas.microsoft.com/office/drawing/2014/main" val="3946115806"/>
                    </a:ext>
                  </a:extLst>
                </a:gridCol>
                <a:gridCol w="2241997">
                  <a:extLst>
                    <a:ext uri="{9D8B030D-6E8A-4147-A177-3AD203B41FA5}">
                      <a16:colId xmlns:a16="http://schemas.microsoft.com/office/drawing/2014/main" val="1467610963"/>
                    </a:ext>
                  </a:extLst>
                </a:gridCol>
                <a:gridCol w="2241997">
                  <a:extLst>
                    <a:ext uri="{9D8B030D-6E8A-4147-A177-3AD203B41FA5}">
                      <a16:colId xmlns:a16="http://schemas.microsoft.com/office/drawing/2014/main" val="1335629605"/>
                    </a:ext>
                  </a:extLst>
                </a:gridCol>
                <a:gridCol w="2241997">
                  <a:extLst>
                    <a:ext uri="{9D8B030D-6E8A-4147-A177-3AD203B41FA5}">
                      <a16:colId xmlns:a16="http://schemas.microsoft.com/office/drawing/2014/main" val="2177038766"/>
                    </a:ext>
                  </a:extLst>
                </a:gridCol>
              </a:tblGrid>
              <a:tr h="755523">
                <a:tc>
                  <a:txBody>
                    <a:bodyPr/>
                    <a:lstStyle/>
                    <a:p>
                      <a:pPr algn="ctr"/>
                      <a:endParaRPr lang="en-C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Density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Volatility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9078450"/>
                  </a:ext>
                </a:extLst>
              </a:tr>
              <a:tr h="755523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Static 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Requires Power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228047"/>
                  </a:ext>
                </a:extLst>
              </a:tr>
              <a:tr h="755523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Dynamic 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Requires Active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5694513"/>
                  </a:ext>
                </a:extLst>
              </a:tr>
              <a:tr h="1304056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Flash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Slower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&gt;10 year without power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43062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86296-4315-4D19-2D9C-DBBC660D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56B45-950E-8C38-6378-D6F544B5D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76E21-19FA-F185-D422-A63AF80B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3170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EE94C-E3D9-1194-AD92-2B3853192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Typical Small Microcontroller</a:t>
            </a:r>
          </a:p>
        </p:txBody>
      </p:sp>
      <p:pic>
        <p:nvPicPr>
          <p:cNvPr id="8" name="Content Placeholder 7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10E6953F-8537-25A3-0AC8-73C10C850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7057" y="1841256"/>
            <a:ext cx="3936852" cy="384834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1AA87-3144-6CAB-324F-1D879717A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D8E0A-D6D6-ABFB-3762-D8A2C39BB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DB264-8FB2-384D-B2E5-363EA34C8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6</a:t>
            </a:fld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1197F0-99E3-4EDA-15CA-086D68CC2C50}"/>
              </a:ext>
            </a:extLst>
          </p:cNvPr>
          <p:cNvSpPr txBox="1"/>
          <p:nvPr/>
        </p:nvSpPr>
        <p:spPr>
          <a:xfrm>
            <a:off x="1283593" y="5710019"/>
            <a:ext cx="10152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https://www.usenix.org/system/files/conference/woot17/woot17-paper-obermaier.pdf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0F4FB8-5C20-EBEF-6C2C-B64B41DF9CBF}"/>
              </a:ext>
            </a:extLst>
          </p:cNvPr>
          <p:cNvSpPr txBox="1"/>
          <p:nvPr/>
        </p:nvSpPr>
        <p:spPr>
          <a:xfrm>
            <a:off x="5661876" y="2980598"/>
            <a:ext cx="60949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STM32F051R8T6: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/>
              <a:t>Cortex-M0 (simpler than M4 we are using)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/>
              <a:t>64 Kbyte Flash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/>
              <a:t>8 Kbyte SRAM</a:t>
            </a:r>
          </a:p>
        </p:txBody>
      </p:sp>
    </p:spTree>
    <p:extLst>
      <p:ext uri="{BB962C8B-B14F-4D97-AF65-F5344CB8AC3E}">
        <p14:creationId xmlns:p14="http://schemas.microsoft.com/office/powerpoint/2010/main" val="2776434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45EC-D473-6767-4D7D-D83C3B3DF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Tapes are Still used in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AEE10-833E-664F-0685-906862D0E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425DE-F13C-A5D1-3C2F-686F3D60B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9764D-82AE-3ECC-C3E1-1A82BE7C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7</a:t>
            </a:fld>
            <a:endParaRPr lang="en-CA"/>
          </a:p>
        </p:txBody>
      </p:sp>
      <p:pic>
        <p:nvPicPr>
          <p:cNvPr id="9" name="Picture 8" descr="A blue rectangular object with red text&#10;&#10;AI-generated content may be incorrect.">
            <a:extLst>
              <a:ext uri="{FF2B5EF4-FFF2-40B4-BE49-F238E27FC236}">
                <a16:creationId xmlns:a16="http://schemas.microsoft.com/office/drawing/2014/main" id="{DC5B0F5E-0D5A-C8C6-A440-A2295A760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554" y="1454175"/>
            <a:ext cx="10160000" cy="43118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46C5A7-99C4-B78E-7448-00FE451B7A66}"/>
              </a:ext>
            </a:extLst>
          </p:cNvPr>
          <p:cNvSpPr txBox="1"/>
          <p:nvPr/>
        </p:nvSpPr>
        <p:spPr>
          <a:xfrm>
            <a:off x="1320800" y="5924062"/>
            <a:ext cx="971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Speed: </a:t>
            </a:r>
            <a:r>
              <a:rPr lang="en-CA" b="1" dirty="0">
                <a:solidFill>
                  <a:srgbClr val="FF0000"/>
                </a:solidFill>
              </a:rPr>
              <a:t>VERY SLOW   </a:t>
            </a:r>
            <a:r>
              <a:rPr lang="en-CA" b="1" dirty="0"/>
              <a:t>Density: </a:t>
            </a:r>
            <a:r>
              <a:rPr lang="en-CA" b="1" dirty="0">
                <a:solidFill>
                  <a:srgbClr val="00B050"/>
                </a:solidFill>
              </a:rPr>
              <a:t>VERY HIGH    </a:t>
            </a:r>
            <a:r>
              <a:rPr lang="en-CA" b="1" dirty="0"/>
              <a:t>Cost: </a:t>
            </a:r>
            <a:r>
              <a:rPr lang="en-CA" b="1" dirty="0">
                <a:solidFill>
                  <a:srgbClr val="00B050"/>
                </a:solidFill>
              </a:rPr>
              <a:t>VERY LOW    </a:t>
            </a:r>
            <a:r>
              <a:rPr lang="en-CA" b="1" dirty="0"/>
              <a:t>Volatility: </a:t>
            </a:r>
            <a:r>
              <a:rPr lang="en-CA" b="1" dirty="0">
                <a:solidFill>
                  <a:srgbClr val="00B050"/>
                </a:solidFill>
              </a:rPr>
              <a:t>VERY LONG</a:t>
            </a:r>
          </a:p>
        </p:txBody>
      </p:sp>
    </p:spTree>
    <p:extLst>
      <p:ext uri="{BB962C8B-B14F-4D97-AF65-F5344CB8AC3E}">
        <p14:creationId xmlns:p14="http://schemas.microsoft.com/office/powerpoint/2010/main" val="584532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F82D1-74EF-4777-6CC0-5053A493A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History of Computer Memory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AC532-5EE7-EAED-E4AE-F82290E00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963CF-33D0-A230-58A4-DAAA36BAF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0DE7A-50EA-6CEF-E990-5B5E6413A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8</a:t>
            </a:fld>
            <a:endParaRPr lang="en-CA"/>
          </a:p>
        </p:txBody>
      </p:sp>
      <p:pic>
        <p:nvPicPr>
          <p:cNvPr id="8194" name="Picture 2" descr="non volatile memory - How to store one bit without the use of an IC? -  Electrical Engineering Stack Exchange">
            <a:extLst>
              <a:ext uri="{FF2B5EF4-FFF2-40B4-BE49-F238E27FC236}">
                <a16:creationId xmlns:a16="http://schemas.microsoft.com/office/drawing/2014/main" id="{0D3C97D2-380B-C55A-86C5-9E256313CA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69"/>
          <a:stretch>
            <a:fillRect/>
          </a:stretch>
        </p:blipFill>
        <p:spPr bwMode="auto">
          <a:xfrm>
            <a:off x="1223700" y="2025064"/>
            <a:ext cx="2514007" cy="3006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undefined">
            <a:extLst>
              <a:ext uri="{FF2B5EF4-FFF2-40B4-BE49-F238E27FC236}">
                <a16:creationId xmlns:a16="http://schemas.microsoft.com/office/drawing/2014/main" id="{596D392A-4537-3FAE-7BF8-19C78211C7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28" b="8167"/>
          <a:stretch>
            <a:fillRect/>
          </a:stretch>
        </p:blipFill>
        <p:spPr bwMode="auto">
          <a:xfrm>
            <a:off x="3976078" y="1430215"/>
            <a:ext cx="5433646" cy="4618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close-up of a metal grid&#10;&#10;AI-generated content may be incorrect.">
            <a:extLst>
              <a:ext uri="{FF2B5EF4-FFF2-40B4-BE49-F238E27FC236}">
                <a16:creationId xmlns:a16="http://schemas.microsoft.com/office/drawing/2014/main" id="{9DE10727-E702-61CD-0662-4DB7DBBA7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195" y="2532185"/>
            <a:ext cx="320893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123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D55EA-B2E7-25A7-9E8D-E733FFC42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Modern Relay Computers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59266-ED53-8AC1-4C21-5A6161D83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28067"/>
            <a:ext cx="10515600" cy="548895"/>
          </a:xfrm>
        </p:spPr>
        <p:txBody>
          <a:bodyPr/>
          <a:lstStyle/>
          <a:p>
            <a:r>
              <a:rPr lang="en-CA" dirty="0">
                <a:hlinkClick r:id="rId2"/>
              </a:rPr>
              <a:t>https://web.cecs.pdx.edu/~harry/Relay/RelayPaper.pdf</a:t>
            </a:r>
            <a:r>
              <a:rPr lang="en-CA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F2F7A-9B65-8B20-5899-5872701EF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9785E-6EAD-49B6-5334-3D2FFA93A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1602F-56F1-6273-54E8-363FB802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9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696024-8414-DC3D-31EB-7F9E8A16EBEF}"/>
              </a:ext>
            </a:extLst>
          </p:cNvPr>
          <p:cNvSpPr txBox="1"/>
          <p:nvPr/>
        </p:nvSpPr>
        <p:spPr>
          <a:xfrm>
            <a:off x="3581400" y="5258735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3"/>
              </a:rPr>
              <a:t>https://www.relaycomputer.co.uk/</a:t>
            </a:r>
            <a:r>
              <a:rPr lang="en-CA" dirty="0"/>
              <a:t>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4E7E261-5DEF-7642-8234-A1CC977DC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669" y="1597678"/>
            <a:ext cx="5026204" cy="3336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ALU Arithmetic Card">
            <a:extLst>
              <a:ext uri="{FF2B5EF4-FFF2-40B4-BE49-F238E27FC236}">
                <a16:creationId xmlns:a16="http://schemas.microsoft.com/office/drawing/2014/main" id="{A89C3AC3-8F04-2F61-7EC2-30919275D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248" y="1575348"/>
            <a:ext cx="2502290" cy="3336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240FBE-3BA5-A434-6047-8D0D34CF4E64}"/>
              </a:ext>
            </a:extLst>
          </p:cNvPr>
          <p:cNvSpPr txBox="1"/>
          <p:nvPr/>
        </p:nvSpPr>
        <p:spPr>
          <a:xfrm>
            <a:off x="838200" y="4911733"/>
            <a:ext cx="7173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/>
              <a:t>Modern SRAM chips used in combination with MANY relays..</a:t>
            </a:r>
          </a:p>
        </p:txBody>
      </p:sp>
    </p:spTree>
    <p:extLst>
      <p:ext uri="{BB962C8B-B14F-4D97-AF65-F5344CB8AC3E}">
        <p14:creationId xmlns:p14="http://schemas.microsoft.com/office/powerpoint/2010/main" val="1592802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1C59B-FDFE-31C1-E83E-C5AC41DE5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Core Memory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536A4-53F3-49AB-6574-19056AD2F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method of arraying core (magnetic) based arrays will follow closely our usage of EEPROM/FLASH Arrays.</a:t>
            </a:r>
          </a:p>
          <a:p>
            <a:endParaRPr lang="en-CA" dirty="0"/>
          </a:p>
          <a:p>
            <a:r>
              <a:rPr lang="en-CA" dirty="0"/>
              <a:t>Including ideas of “sensing” a stored charge, and “programming”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7D9F8-EDF8-A386-4BE4-BDEC885D3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B43C0-15E4-2B1B-0D8D-8511D4D52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60A7A-0E79-7FCA-B18F-A4479E894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7451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631A9-0F59-FBD7-DD31-113C0B8D3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Registers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517BF-4B28-5B94-5DBF-DBD046C56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50662-6C04-61C7-50B3-777949D7C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7451F-D30C-7BB6-88BF-C9F7686A1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11</a:t>
            </a:fld>
            <a:endParaRPr lang="en-CA"/>
          </a:p>
        </p:txBody>
      </p:sp>
      <p:pic>
        <p:nvPicPr>
          <p:cNvPr id="9218" name="Picture 2" descr="flipflop - I understand how D flip flop works but still not understand how  it &quot;store&quot; a bit of data in a register in a running computer - Electrical  Engineering Stack Exchange">
            <a:extLst>
              <a:ext uri="{FF2B5EF4-FFF2-40B4-BE49-F238E27FC236}">
                <a16:creationId xmlns:a16="http://schemas.microsoft.com/office/drawing/2014/main" id="{8ED4F782-9C2F-FCD7-6425-0C8F6510A6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0" b="52798"/>
          <a:stretch>
            <a:fillRect/>
          </a:stretch>
        </p:blipFill>
        <p:spPr bwMode="auto">
          <a:xfrm>
            <a:off x="720970" y="1547446"/>
            <a:ext cx="10536386" cy="2039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Flip-flops and registers">
            <a:extLst>
              <a:ext uri="{FF2B5EF4-FFF2-40B4-BE49-F238E27FC236}">
                <a16:creationId xmlns:a16="http://schemas.microsoft.com/office/drawing/2014/main" id="{B281F080-5AF4-A63F-0715-277234CBF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1265" y="4342790"/>
            <a:ext cx="4838700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7878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E39342-D212-E130-3A82-68881F2923D3}"/>
              </a:ext>
            </a:extLst>
          </p:cNvPr>
          <p:cNvCxnSpPr>
            <a:cxnSpLocks/>
          </p:cNvCxnSpPr>
          <p:nvPr/>
        </p:nvCxnSpPr>
        <p:spPr>
          <a:xfrm>
            <a:off x="10384664" y="2515673"/>
            <a:ext cx="0" cy="3193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9047403-471E-25BA-25E5-6713E76872AB}"/>
              </a:ext>
            </a:extLst>
          </p:cNvPr>
          <p:cNvCxnSpPr>
            <a:cxnSpLocks/>
          </p:cNvCxnSpPr>
          <p:nvPr/>
        </p:nvCxnSpPr>
        <p:spPr>
          <a:xfrm>
            <a:off x="6855854" y="2515673"/>
            <a:ext cx="0" cy="3193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80497B2-4116-7C30-22B3-91B7A6E5C23C}"/>
              </a:ext>
            </a:extLst>
          </p:cNvPr>
          <p:cNvCxnSpPr>
            <a:cxnSpLocks/>
          </p:cNvCxnSpPr>
          <p:nvPr/>
        </p:nvCxnSpPr>
        <p:spPr>
          <a:xfrm>
            <a:off x="5314681" y="2515673"/>
            <a:ext cx="0" cy="3193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4CF532D-FDA9-1B17-3D6D-23E22C92E27B}"/>
              </a:ext>
            </a:extLst>
          </p:cNvPr>
          <p:cNvCxnSpPr>
            <a:cxnSpLocks/>
          </p:cNvCxnSpPr>
          <p:nvPr/>
        </p:nvCxnSpPr>
        <p:spPr>
          <a:xfrm>
            <a:off x="3706968" y="2515673"/>
            <a:ext cx="0" cy="3193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4DDB17F-63E9-D8DE-E860-A3A641EF415E}"/>
              </a:ext>
            </a:extLst>
          </p:cNvPr>
          <p:cNvCxnSpPr>
            <a:cxnSpLocks/>
          </p:cNvCxnSpPr>
          <p:nvPr/>
        </p:nvCxnSpPr>
        <p:spPr>
          <a:xfrm>
            <a:off x="2228045" y="2575774"/>
            <a:ext cx="0" cy="3193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48379DE-72BD-1415-4C52-A2BD13C91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Storage Arrays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59FC9-B700-81AC-2274-08404D598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2E389-944B-9360-A2B2-76477D562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6783F-BECF-8D9A-59E2-D886E54BC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12</a:t>
            </a:fld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BD956D-8A9D-A20F-0E3D-C827E81C1FC9}"/>
              </a:ext>
            </a:extLst>
          </p:cNvPr>
          <p:cNvSpPr/>
          <p:nvPr/>
        </p:nvSpPr>
        <p:spPr>
          <a:xfrm>
            <a:off x="1883508" y="2407138"/>
            <a:ext cx="625230" cy="4611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DA415B-4FE7-977E-54E0-231475A58605}"/>
              </a:ext>
            </a:extLst>
          </p:cNvPr>
          <p:cNvSpPr/>
          <p:nvPr/>
        </p:nvSpPr>
        <p:spPr>
          <a:xfrm>
            <a:off x="1897185" y="3376247"/>
            <a:ext cx="625230" cy="4611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8D8390-EB66-BB9C-5EDD-7E2145CBA78D}"/>
              </a:ext>
            </a:extLst>
          </p:cNvPr>
          <p:cNvSpPr/>
          <p:nvPr/>
        </p:nvSpPr>
        <p:spPr>
          <a:xfrm>
            <a:off x="1897185" y="4405190"/>
            <a:ext cx="625230" cy="4611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DF63ED-B575-8030-620F-0A9ABB43DBF5}"/>
              </a:ext>
            </a:extLst>
          </p:cNvPr>
          <p:cNvSpPr/>
          <p:nvPr/>
        </p:nvSpPr>
        <p:spPr>
          <a:xfrm>
            <a:off x="3399693" y="2407138"/>
            <a:ext cx="625230" cy="4611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64C7A5-78FD-396C-106A-954D517736AF}"/>
              </a:ext>
            </a:extLst>
          </p:cNvPr>
          <p:cNvSpPr/>
          <p:nvPr/>
        </p:nvSpPr>
        <p:spPr>
          <a:xfrm>
            <a:off x="3413370" y="3376247"/>
            <a:ext cx="625230" cy="4611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FDD833-E8A7-3078-D00F-F1A16522B114}"/>
              </a:ext>
            </a:extLst>
          </p:cNvPr>
          <p:cNvSpPr/>
          <p:nvPr/>
        </p:nvSpPr>
        <p:spPr>
          <a:xfrm>
            <a:off x="3413370" y="4405190"/>
            <a:ext cx="625230" cy="4611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DC854D-8422-A065-F5A5-336D9C6EE005}"/>
              </a:ext>
            </a:extLst>
          </p:cNvPr>
          <p:cNvSpPr/>
          <p:nvPr/>
        </p:nvSpPr>
        <p:spPr>
          <a:xfrm>
            <a:off x="4971989" y="2407138"/>
            <a:ext cx="625230" cy="4611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20E087-6B21-2998-3A2C-8B0601C249A2}"/>
              </a:ext>
            </a:extLst>
          </p:cNvPr>
          <p:cNvSpPr/>
          <p:nvPr/>
        </p:nvSpPr>
        <p:spPr>
          <a:xfrm>
            <a:off x="4985666" y="3376247"/>
            <a:ext cx="625230" cy="4611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EAB828-177A-3B59-B5D3-A90B3DBD69B7}"/>
              </a:ext>
            </a:extLst>
          </p:cNvPr>
          <p:cNvSpPr/>
          <p:nvPr/>
        </p:nvSpPr>
        <p:spPr>
          <a:xfrm>
            <a:off x="4985666" y="4405190"/>
            <a:ext cx="625230" cy="4611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5D35C2-959E-6200-C898-259D48DD27C3}"/>
              </a:ext>
            </a:extLst>
          </p:cNvPr>
          <p:cNvSpPr/>
          <p:nvPr/>
        </p:nvSpPr>
        <p:spPr>
          <a:xfrm>
            <a:off x="6544285" y="2407138"/>
            <a:ext cx="625230" cy="4611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8A3D86-E11F-03B9-3C9E-48971064CEFC}"/>
              </a:ext>
            </a:extLst>
          </p:cNvPr>
          <p:cNvSpPr/>
          <p:nvPr/>
        </p:nvSpPr>
        <p:spPr>
          <a:xfrm>
            <a:off x="6557962" y="3376247"/>
            <a:ext cx="625230" cy="4611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043725-A2BD-0DFA-1085-93565B7C4BDF}"/>
              </a:ext>
            </a:extLst>
          </p:cNvPr>
          <p:cNvSpPr/>
          <p:nvPr/>
        </p:nvSpPr>
        <p:spPr>
          <a:xfrm>
            <a:off x="6557962" y="4405190"/>
            <a:ext cx="625230" cy="4611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5A0D1C-32B7-5C0D-2F38-89991ADC185A}"/>
              </a:ext>
            </a:extLst>
          </p:cNvPr>
          <p:cNvSpPr/>
          <p:nvPr/>
        </p:nvSpPr>
        <p:spPr>
          <a:xfrm>
            <a:off x="10059446" y="2407138"/>
            <a:ext cx="625230" cy="4611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26745D-F52F-C88B-FB8B-2107CA8E1D5B}"/>
              </a:ext>
            </a:extLst>
          </p:cNvPr>
          <p:cNvSpPr/>
          <p:nvPr/>
        </p:nvSpPr>
        <p:spPr>
          <a:xfrm>
            <a:off x="10073123" y="3376247"/>
            <a:ext cx="625230" cy="4611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837C38-2B9F-854C-E27D-651C9EC8772D}"/>
              </a:ext>
            </a:extLst>
          </p:cNvPr>
          <p:cNvSpPr/>
          <p:nvPr/>
        </p:nvSpPr>
        <p:spPr>
          <a:xfrm>
            <a:off x="10073123" y="4405190"/>
            <a:ext cx="625230" cy="4611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D0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EB73A03-18F3-EF95-92C6-50D1CFD1BE94}"/>
              </a:ext>
            </a:extLst>
          </p:cNvPr>
          <p:cNvCxnSpPr>
            <a:cxnSpLocks/>
          </p:cNvCxnSpPr>
          <p:nvPr/>
        </p:nvCxnSpPr>
        <p:spPr>
          <a:xfrm>
            <a:off x="706191" y="2625143"/>
            <a:ext cx="94874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E5D02DF-34D0-7A1F-0489-C4CDC43A6BCC}"/>
              </a:ext>
            </a:extLst>
          </p:cNvPr>
          <p:cNvCxnSpPr>
            <a:cxnSpLocks/>
          </p:cNvCxnSpPr>
          <p:nvPr/>
        </p:nvCxnSpPr>
        <p:spPr>
          <a:xfrm>
            <a:off x="706191" y="3621109"/>
            <a:ext cx="9487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6FE4FB5-EC52-3B2D-5578-28242198E996}"/>
              </a:ext>
            </a:extLst>
          </p:cNvPr>
          <p:cNvCxnSpPr>
            <a:cxnSpLocks/>
          </p:cNvCxnSpPr>
          <p:nvPr/>
        </p:nvCxnSpPr>
        <p:spPr>
          <a:xfrm>
            <a:off x="706191" y="4623515"/>
            <a:ext cx="94874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6B38DF8-DB39-6C18-647C-D6DF97AC7737}"/>
              </a:ext>
            </a:extLst>
          </p:cNvPr>
          <p:cNvSpPr txBox="1"/>
          <p:nvPr/>
        </p:nvSpPr>
        <p:spPr>
          <a:xfrm>
            <a:off x="4494728" y="5818169"/>
            <a:ext cx="4346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 err="1"/>
              <a:t>Bitlines</a:t>
            </a:r>
            <a:r>
              <a:rPr lang="en-CA" sz="2400" dirty="0"/>
              <a:t> (Columns)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5ADEF1-7185-BF4C-7B7B-185E40BC8296}"/>
              </a:ext>
            </a:extLst>
          </p:cNvPr>
          <p:cNvSpPr txBox="1"/>
          <p:nvPr/>
        </p:nvSpPr>
        <p:spPr>
          <a:xfrm rot="16200000">
            <a:off x="-1048625" y="3006058"/>
            <a:ext cx="3076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 err="1"/>
              <a:t>Wordlines</a:t>
            </a:r>
            <a:r>
              <a:rPr lang="en-CA" sz="2400" dirty="0"/>
              <a:t> (Rows)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0306E91-2B2F-B26A-FED1-5153EEFDB0EA}"/>
              </a:ext>
            </a:extLst>
          </p:cNvPr>
          <p:cNvSpPr/>
          <p:nvPr/>
        </p:nvSpPr>
        <p:spPr>
          <a:xfrm>
            <a:off x="7910037" y="2596182"/>
            <a:ext cx="122349" cy="137705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4D88C24-3666-D2D7-E814-3952C94B569D}"/>
              </a:ext>
            </a:extLst>
          </p:cNvPr>
          <p:cNvSpPr/>
          <p:nvPr/>
        </p:nvSpPr>
        <p:spPr>
          <a:xfrm>
            <a:off x="9017606" y="2596182"/>
            <a:ext cx="122349" cy="137705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FB3BB5C-EA29-1552-14A3-F92757B6C2CC}"/>
              </a:ext>
            </a:extLst>
          </p:cNvPr>
          <p:cNvSpPr/>
          <p:nvPr/>
        </p:nvSpPr>
        <p:spPr>
          <a:xfrm>
            <a:off x="7910037" y="3543009"/>
            <a:ext cx="122349" cy="1377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6BEBCAB-6B9E-0523-29C8-13D563A9F04D}"/>
              </a:ext>
            </a:extLst>
          </p:cNvPr>
          <p:cNvSpPr/>
          <p:nvPr/>
        </p:nvSpPr>
        <p:spPr>
          <a:xfrm>
            <a:off x="9017606" y="3543009"/>
            <a:ext cx="122349" cy="1377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DE4E69E-BFC0-DCEF-39E7-401E6873CE1C}"/>
              </a:ext>
            </a:extLst>
          </p:cNvPr>
          <p:cNvSpPr/>
          <p:nvPr/>
        </p:nvSpPr>
        <p:spPr>
          <a:xfrm>
            <a:off x="7910037" y="4554662"/>
            <a:ext cx="122349" cy="137705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E0665F4-EB80-6882-3A5C-16CC7073F9CA}"/>
              </a:ext>
            </a:extLst>
          </p:cNvPr>
          <p:cNvSpPr/>
          <p:nvPr/>
        </p:nvSpPr>
        <p:spPr>
          <a:xfrm>
            <a:off x="9017606" y="4554662"/>
            <a:ext cx="122349" cy="137705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2698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3F23F-EC28-D0D0-E728-326B1015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A017D-FB0E-B156-395F-4990C59DC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Static RAM (SRAM) Access</a:t>
            </a:r>
          </a:p>
        </p:txBody>
      </p:sp>
      <p:pic>
        <p:nvPicPr>
          <p:cNvPr id="8" name="Content Placeholder 7" descr="A diagram of a computer&#10;&#10;AI-generated content may be incorrect.">
            <a:extLst>
              <a:ext uri="{FF2B5EF4-FFF2-40B4-BE49-F238E27FC236}">
                <a16:creationId xmlns:a16="http://schemas.microsoft.com/office/drawing/2014/main" id="{05F6199E-DD9D-944F-06FF-F8833683C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418" y="1847850"/>
            <a:ext cx="5959968" cy="372346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C8008-5E17-902F-B347-A456C90D4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A754F-B233-4885-731C-EB290F88D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B0F64-B4DC-54A7-7D32-48177E84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13</a:t>
            </a:fld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57218D-3C36-162D-83C1-A9FFC3EBCFAF}"/>
              </a:ext>
            </a:extLst>
          </p:cNvPr>
          <p:cNvSpPr txBox="1"/>
          <p:nvPr/>
        </p:nvSpPr>
        <p:spPr>
          <a:xfrm>
            <a:off x="1406769" y="1634270"/>
            <a:ext cx="8190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From Lecture 4.1: Memory Busses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98F5B7-3CF6-BD11-4992-B06EE6EAF915}"/>
              </a:ext>
            </a:extLst>
          </p:cNvPr>
          <p:cNvSpPr txBox="1"/>
          <p:nvPr/>
        </p:nvSpPr>
        <p:spPr>
          <a:xfrm>
            <a:off x="6865705" y="3238689"/>
            <a:ext cx="49377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 err="1"/>
              <a:t>Wordline</a:t>
            </a:r>
            <a:r>
              <a:rPr lang="en-CA" sz="2400" dirty="0"/>
              <a:t> = Decoder selects word</a:t>
            </a:r>
          </a:p>
          <a:p>
            <a:endParaRPr lang="en-CA" sz="2400" dirty="0"/>
          </a:p>
          <a:p>
            <a:r>
              <a:rPr lang="en-CA" sz="2400" dirty="0"/>
              <a:t>Column I/O = Data Bits</a:t>
            </a:r>
          </a:p>
        </p:txBody>
      </p:sp>
    </p:spTree>
    <p:extLst>
      <p:ext uri="{BB962C8B-B14F-4D97-AF65-F5344CB8AC3E}">
        <p14:creationId xmlns:p14="http://schemas.microsoft.com/office/powerpoint/2010/main" val="1590640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FE8CB-5FD6-2685-AD91-124F00407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9946E-7CE6-9B64-1606-320701B09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Static RAM (SRAM) Cells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575EB-8C52-1765-C05A-7135F7AA6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2BB89-03A2-8BB6-4D21-536B3F527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F2E03-4548-08BD-4EA0-FDB0B49D1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14</a:t>
            </a:fld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5BB69-5189-5CDF-2161-CB712D591D88}"/>
              </a:ext>
            </a:extLst>
          </p:cNvPr>
          <p:cNvSpPr txBox="1"/>
          <p:nvPr/>
        </p:nvSpPr>
        <p:spPr>
          <a:xfrm>
            <a:off x="7066451" y="2136338"/>
            <a:ext cx="45810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SRAM cells have two inverters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Bitlines</a:t>
            </a:r>
            <a:r>
              <a:rPr lang="en-CA" dirty="0"/>
              <a:t> (read) are read </a:t>
            </a:r>
            <a:r>
              <a:rPr lang="en-CA" u="sng" dirty="0"/>
              <a:t>differentially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 write simply drives a </a:t>
            </a:r>
            <a:r>
              <a:rPr lang="en-CA" u="sng" dirty="0"/>
              <a:t>strong</a:t>
            </a:r>
            <a:r>
              <a:rPr lang="en-CA" dirty="0"/>
              <a:t> signal that overpowers the inverter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 read uses a </a:t>
            </a:r>
            <a:r>
              <a:rPr lang="en-CA" u="sng" dirty="0"/>
              <a:t>weak</a:t>
            </a:r>
            <a:r>
              <a:rPr lang="en-CA" dirty="0"/>
              <a:t> current to detect the voltage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362F2BEF-DF1F-E960-80E8-3D4F6669B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698" y="1690688"/>
            <a:ext cx="5405803" cy="405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6154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601E-904D-4A32-0075-662352A4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Static RAM (SRAM) Cells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0DEF5-D12A-F82F-76FF-7CCD8CA73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7D3E0-6CB3-B67E-EFCC-82DD5212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947F2-8834-B7D3-9DFB-5A08C8B6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15</a:t>
            </a:fld>
            <a:endParaRPr lang="en-CA"/>
          </a:p>
        </p:txBody>
      </p:sp>
      <p:pic>
        <p:nvPicPr>
          <p:cNvPr id="10242" name="Picture 2" descr="1: Standard 6T-SRAM cell circuit">
            <a:extLst>
              <a:ext uri="{FF2B5EF4-FFF2-40B4-BE49-F238E27FC236}">
                <a16:creationId xmlns:a16="http://schemas.microsoft.com/office/drawing/2014/main" id="{400D932D-4373-F151-6062-D6C5679A0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09" y="1918147"/>
            <a:ext cx="6852138" cy="3612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22CA30-FC87-CB9D-B342-D2C3BA997785}"/>
              </a:ext>
            </a:extLst>
          </p:cNvPr>
          <p:cNvSpPr txBox="1"/>
          <p:nvPr/>
        </p:nvSpPr>
        <p:spPr>
          <a:xfrm>
            <a:off x="7548286" y="2424806"/>
            <a:ext cx="39311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Implementation has 6 transistors</a:t>
            </a:r>
          </a:p>
          <a:p>
            <a:endParaRPr lang="en-CA" sz="2400" dirty="0"/>
          </a:p>
          <a:p>
            <a:r>
              <a:rPr lang="en-CA" sz="2400" dirty="0"/>
              <a:t>(6 transistors = 1 bit)</a:t>
            </a:r>
          </a:p>
          <a:p>
            <a:endParaRPr lang="en-CA" sz="2400" dirty="0"/>
          </a:p>
          <a:p>
            <a:endParaRPr lang="en-CA" sz="2400" dirty="0"/>
          </a:p>
          <a:p>
            <a:r>
              <a:rPr lang="en-CA" sz="2400" dirty="0"/>
              <a:t>More transistors needed in some situations (lower voltages </a:t>
            </a:r>
            <a:r>
              <a:rPr lang="en-CA" sz="2400" dirty="0" err="1"/>
              <a:t>etc</a:t>
            </a:r>
            <a:r>
              <a:rPr lang="en-CA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7164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4EF5-607A-6DF2-747C-CDA131694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SRAM Access</a:t>
            </a:r>
          </a:p>
        </p:txBody>
      </p:sp>
      <p:pic>
        <p:nvPicPr>
          <p:cNvPr id="8" name="Content Placeholder 7" descr="A diagram of a computer&#10;&#10;AI-generated content may be incorrect.">
            <a:extLst>
              <a:ext uri="{FF2B5EF4-FFF2-40B4-BE49-F238E27FC236}">
                <a16:creationId xmlns:a16="http://schemas.microsoft.com/office/drawing/2014/main" id="{EF080659-E172-2803-0415-AA2D511782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418" y="1847850"/>
            <a:ext cx="5959968" cy="372346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F78AC-C1CB-4AEA-5D43-48C7C698B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20F15-F42F-CEB8-0D47-30EB67E6B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6B5B4-9132-2512-A53E-3C92F145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16</a:t>
            </a:fld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29700B-F05B-6B6C-5B66-D823D4823D9D}"/>
              </a:ext>
            </a:extLst>
          </p:cNvPr>
          <p:cNvSpPr txBox="1"/>
          <p:nvPr/>
        </p:nvSpPr>
        <p:spPr>
          <a:xfrm>
            <a:off x="1406769" y="1634270"/>
            <a:ext cx="8190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From Lecture 4.1: Memory Busses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80E9E5-A939-31B3-E867-1D31B1BC8A27}"/>
              </a:ext>
            </a:extLst>
          </p:cNvPr>
          <p:cNvSpPr txBox="1"/>
          <p:nvPr/>
        </p:nvSpPr>
        <p:spPr>
          <a:xfrm>
            <a:off x="7084646" y="3272747"/>
            <a:ext cx="42691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Random Access: simply enable the </a:t>
            </a:r>
            <a:r>
              <a:rPr lang="en-CA" dirty="0" err="1"/>
              <a:t>wordline</a:t>
            </a:r>
            <a:r>
              <a:rPr lang="en-CA" dirty="0"/>
              <a:t> and the bits are available.</a:t>
            </a:r>
          </a:p>
          <a:p>
            <a:endParaRPr lang="en-CA" dirty="0"/>
          </a:p>
          <a:p>
            <a:r>
              <a:rPr lang="en-CA" dirty="0"/>
              <a:t>No clock needed!</a:t>
            </a:r>
          </a:p>
        </p:txBody>
      </p:sp>
    </p:spTree>
    <p:extLst>
      <p:ext uri="{BB962C8B-B14F-4D97-AF65-F5344CB8AC3E}">
        <p14:creationId xmlns:p14="http://schemas.microsoft.com/office/powerpoint/2010/main" val="1294882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BCF6-4FEC-F7DE-FC2F-8D4EBDDDA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SRAM Memory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2990D-A1CC-45E1-C297-A7971350C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Equal access time across memory array</a:t>
            </a:r>
          </a:p>
          <a:p>
            <a:r>
              <a:rPr lang="en-CA" dirty="0"/>
              <a:t>Read &amp; write are similar in access</a:t>
            </a:r>
          </a:p>
          <a:p>
            <a:r>
              <a:rPr lang="en-CA" dirty="0"/>
              <a:t>Unlimited read/write cycles</a:t>
            </a:r>
          </a:p>
          <a:p>
            <a:r>
              <a:rPr lang="en-CA" dirty="0"/>
              <a:t>Requires power to maintain data</a:t>
            </a:r>
          </a:p>
          <a:p>
            <a:r>
              <a:rPr lang="en-CA" dirty="0"/>
              <a:t>Uses 6 transistors per bit (minimum)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10E32-6D2D-B046-0CE1-47496586F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BEA25-FE34-4E57-507A-A7B9352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27611-2ECD-6E83-8E01-644855299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5697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1D87B-3295-49B5-5D85-31728A3C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RAM (DRAM)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1EEAE-E9C4-97D9-8D74-50BDD798E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A9786-4A23-44A7-667A-9CA6C6DE9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8E364-3913-0DE6-0A1D-EF0AFF1F2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18</a:t>
            </a:fld>
            <a:endParaRPr lang="en-CA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FD1D8AF3-CC23-E1A3-3FB1-439F32EC42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665" y="1690688"/>
            <a:ext cx="8534400" cy="359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B3B9C3-B3B4-625E-3651-DC8E1D5492AA}"/>
              </a:ext>
            </a:extLst>
          </p:cNvPr>
          <p:cNvSpPr txBox="1"/>
          <p:nvPr/>
        </p:nvSpPr>
        <p:spPr>
          <a:xfrm>
            <a:off x="1654934" y="5156021"/>
            <a:ext cx="9981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DRAM stores the charge on a capacitor (not using a logic element)</a:t>
            </a:r>
          </a:p>
          <a:p>
            <a:r>
              <a:rPr lang="en-CA" i="1" dirty="0"/>
              <a:t>DOWNSIDE</a:t>
            </a:r>
            <a:r>
              <a:rPr lang="en-CA" dirty="0"/>
              <a:t>: Reads are </a:t>
            </a:r>
            <a:r>
              <a:rPr lang="en-CA" u="sng" dirty="0"/>
              <a:t>destructive</a:t>
            </a:r>
            <a:r>
              <a:rPr lang="en-CA" dirty="0"/>
              <a:t>, capacitor will discharge quickly over time (needs a “refresh”)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2738738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86F5A-1E3E-8DCA-DA1A-37FE6ADC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DRAM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D68E8-60C4-1288-3349-0D2F0D6AF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Dynamic RAM (DRAM) requires a </a:t>
            </a:r>
            <a:r>
              <a:rPr lang="en-CA" u="sng" dirty="0"/>
              <a:t>controller</a:t>
            </a:r>
            <a:r>
              <a:rPr lang="en-CA" dirty="0"/>
              <a:t> that is actively working to refresh rows</a:t>
            </a:r>
          </a:p>
          <a:p>
            <a:pPr lvl="1"/>
            <a:r>
              <a:rPr lang="en-CA" dirty="0"/>
              <a:t>Typically in range of every ~32 – 64 mS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The savings </a:t>
            </a:r>
            <a:r>
              <a:rPr lang="en-CA" u="sng" dirty="0"/>
              <a:t>per cell</a:t>
            </a:r>
            <a:r>
              <a:rPr lang="en-CA" dirty="0"/>
              <a:t> are so high that this extra complexity is worth it above some storage size</a:t>
            </a:r>
          </a:p>
          <a:p>
            <a:endParaRPr lang="en-CA" dirty="0"/>
          </a:p>
          <a:p>
            <a:r>
              <a:rPr lang="en-CA" dirty="0"/>
              <a:t>Refresh cycles mean:</a:t>
            </a:r>
          </a:p>
          <a:p>
            <a:pPr lvl="1"/>
            <a:r>
              <a:rPr lang="en-CA" dirty="0"/>
              <a:t>Impossible to have 100% bus usage</a:t>
            </a:r>
          </a:p>
          <a:p>
            <a:pPr lvl="1"/>
            <a:r>
              <a:rPr lang="en-CA" dirty="0"/>
              <a:t>Some intelligence in read/buffering/refresh cycles can be needed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EDAE2-4664-34F8-B4C0-AC5DA27C8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8D11A-58D7-307A-2417-32FBE8E94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C8A34-25A7-DACF-5D08-1EE40F8A5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1802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EF3E3-5A4F-BC4C-F230-A27691BE2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Sidenote: PSRAM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704B5-BBB6-1BCF-493E-A0D6B4C37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0679"/>
          </a:xfrm>
        </p:spPr>
        <p:txBody>
          <a:bodyPr/>
          <a:lstStyle/>
          <a:p>
            <a:r>
              <a:rPr lang="en-CA" dirty="0"/>
              <a:t>You may run across something called “Pseudo SRAM” (PSRAM)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5076F-8B52-5BD6-87F8-9DE613E5A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3A28B-CF64-4475-5E3E-20436B534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72757-EF57-0123-9D65-8ADDB9B5B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20</a:t>
            </a:fld>
            <a:endParaRPr lang="en-CA"/>
          </a:p>
        </p:txBody>
      </p:sp>
      <p:pic>
        <p:nvPicPr>
          <p:cNvPr id="8" name="Picture 7" descr="A close-up of a text&#10;&#10;AI-generated content may be incorrect.">
            <a:extLst>
              <a:ext uri="{FF2B5EF4-FFF2-40B4-BE49-F238E27FC236}">
                <a16:creationId xmlns:a16="http://schemas.microsoft.com/office/drawing/2014/main" id="{D58AE96F-D972-383F-CB5E-F206DC2A3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38" y="2466304"/>
            <a:ext cx="10927724" cy="25765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A35ECA-A583-435C-8DB0-78DFC4953991}"/>
              </a:ext>
            </a:extLst>
          </p:cNvPr>
          <p:cNvSpPr txBox="1"/>
          <p:nvPr/>
        </p:nvSpPr>
        <p:spPr>
          <a:xfrm>
            <a:off x="1403797" y="5467082"/>
            <a:ext cx="9871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Tries to combine SRAM “ease of use” with DRAM cost/density</a:t>
            </a:r>
          </a:p>
        </p:txBody>
      </p:sp>
    </p:spTree>
    <p:extLst>
      <p:ext uri="{BB962C8B-B14F-4D97-AF65-F5344CB8AC3E}">
        <p14:creationId xmlns:p14="http://schemas.microsoft.com/office/powerpoint/2010/main" val="929047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5B6C3-E659-A4BC-B266-EA275AB95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SRAM vs. PSRAM vs. DDR Memory Costs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67EF6-AB1D-17D1-FEC3-A55BC6DC7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398"/>
            <a:ext cx="10515600" cy="866060"/>
          </a:xfrm>
        </p:spPr>
        <p:txBody>
          <a:bodyPr/>
          <a:lstStyle/>
          <a:p>
            <a:r>
              <a:rPr lang="en-CA" dirty="0"/>
              <a:t>Lets say you wanted to add memory to your design: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0BB26-7D5C-1183-8AF9-358E0090C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D7301-446F-8BDD-C534-3DD65DBC2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7BC3A-4761-D3D7-3637-81E422AF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21</a:t>
            </a:fld>
            <a:endParaRPr lang="en-CA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AAB8E05-7005-BE0E-1DDA-07AB7E3F52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40439"/>
              </p:ext>
            </p:extLst>
          </p:nvPr>
        </p:nvGraphicFramePr>
        <p:xfrm>
          <a:off x="531611" y="2129866"/>
          <a:ext cx="10949905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9981">
                  <a:extLst>
                    <a:ext uri="{9D8B030D-6E8A-4147-A177-3AD203B41FA5}">
                      <a16:colId xmlns:a16="http://schemas.microsoft.com/office/drawing/2014/main" val="1622484989"/>
                    </a:ext>
                  </a:extLst>
                </a:gridCol>
                <a:gridCol w="1786014">
                  <a:extLst>
                    <a:ext uri="{9D8B030D-6E8A-4147-A177-3AD203B41FA5}">
                      <a16:colId xmlns:a16="http://schemas.microsoft.com/office/drawing/2014/main" val="2821638609"/>
                    </a:ext>
                  </a:extLst>
                </a:gridCol>
                <a:gridCol w="1996225">
                  <a:extLst>
                    <a:ext uri="{9D8B030D-6E8A-4147-A177-3AD203B41FA5}">
                      <a16:colId xmlns:a16="http://schemas.microsoft.com/office/drawing/2014/main" val="3689805346"/>
                    </a:ext>
                  </a:extLst>
                </a:gridCol>
                <a:gridCol w="3303431">
                  <a:extLst>
                    <a:ext uri="{9D8B030D-6E8A-4147-A177-3AD203B41FA5}">
                      <a16:colId xmlns:a16="http://schemas.microsoft.com/office/drawing/2014/main" val="2780682576"/>
                    </a:ext>
                  </a:extLst>
                </a:gridCol>
                <a:gridCol w="1674254">
                  <a:extLst>
                    <a:ext uri="{9D8B030D-6E8A-4147-A177-3AD203B41FA5}">
                      <a16:colId xmlns:a16="http://schemas.microsoft.com/office/drawing/2014/main" val="1846670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Speed (approx.)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Part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732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128 </a:t>
                      </a:r>
                      <a:r>
                        <a:rPr lang="en-CA" dirty="0" err="1"/>
                        <a:t>KByte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22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CY62128ELL-45SXI</a:t>
                      </a:r>
                    </a:p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$4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859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4 </a:t>
                      </a:r>
                      <a:r>
                        <a:rPr lang="en-CA" dirty="0" err="1"/>
                        <a:t>MByte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AS6C3216A-55TIN</a:t>
                      </a:r>
                    </a:p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$43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869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32 </a:t>
                      </a:r>
                      <a:r>
                        <a:rPr lang="en-CA" dirty="0" err="1"/>
                        <a:t>MByte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143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AS4C16M16SA-7TCN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$7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595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128 </a:t>
                      </a:r>
                      <a:r>
                        <a:rPr lang="en-CA" dirty="0" err="1"/>
                        <a:t>MByte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800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IS43TR16640C-125JBLI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$9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048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PSRAM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8 </a:t>
                      </a:r>
                      <a:r>
                        <a:rPr lang="en-CA" dirty="0" err="1"/>
                        <a:t>MByte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IS66WVR8M8FALL-104NLI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$8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97034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C2E25C6-3C40-0052-7F69-375406AFCC15}"/>
              </a:ext>
            </a:extLst>
          </p:cNvPr>
          <p:cNvSpPr txBox="1"/>
          <p:nvPr/>
        </p:nvSpPr>
        <p:spPr>
          <a:xfrm>
            <a:off x="2273121" y="5770952"/>
            <a:ext cx="6761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/>
              <a:t>NOTE: Many subtilties hidden, giving you “order of magnitude” only</a:t>
            </a:r>
          </a:p>
        </p:txBody>
      </p:sp>
    </p:spTree>
    <p:extLst>
      <p:ext uri="{BB962C8B-B14F-4D97-AF65-F5344CB8AC3E}">
        <p14:creationId xmlns:p14="http://schemas.microsoft.com/office/powerpoint/2010/main" val="4036041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B9F12-35D6-F743-F40D-3ADE1482D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2CE7D-D49B-FBD9-7D15-08410100B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DRAM Memory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80D39-F4CB-4D96-FD33-C84684B1F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Varied access time</a:t>
            </a:r>
          </a:p>
          <a:p>
            <a:r>
              <a:rPr lang="en-CA" dirty="0"/>
              <a:t>Read &amp; write are similar in access</a:t>
            </a:r>
          </a:p>
          <a:p>
            <a:r>
              <a:rPr lang="en-CA" dirty="0"/>
              <a:t>Unlimited read/write cycles</a:t>
            </a:r>
          </a:p>
          <a:p>
            <a:r>
              <a:rPr lang="en-CA" dirty="0"/>
              <a:t>Requires power AND activity to maintain data</a:t>
            </a:r>
          </a:p>
          <a:p>
            <a:r>
              <a:rPr lang="en-CA" dirty="0"/>
              <a:t>Uses 1 transistor + 1 capacitor per bit (minimum)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7B45B-AB7B-C5CD-1223-B0952F190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BF34-DE78-F681-D7AB-50103C869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6349A-5B9C-2355-2D7D-7C62BDBD7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973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B606B-1745-0B4B-F38B-664F6537C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EEPROM / FLASH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0958A-A36D-CFD4-138E-2AF640F78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How do we store data that is </a:t>
            </a:r>
            <a:r>
              <a:rPr lang="en-CA" u="sng" dirty="0"/>
              <a:t>non-volatile</a:t>
            </a:r>
            <a:r>
              <a:rPr lang="en-CA" dirty="0"/>
              <a:t> in computer systems?</a:t>
            </a:r>
          </a:p>
          <a:p>
            <a:endParaRPr lang="en-CA" dirty="0"/>
          </a:p>
          <a:p>
            <a:r>
              <a:rPr lang="en-CA" dirty="0"/>
              <a:t>Electronically Erasable Programmable Read Only Memory (EEPROM) &amp; Flash memory are two common technologies you will see</a:t>
            </a:r>
          </a:p>
          <a:p>
            <a:endParaRPr lang="en-CA" dirty="0"/>
          </a:p>
          <a:p>
            <a:r>
              <a:rPr lang="en-CA" dirty="0"/>
              <a:t>They both use the same idea – a </a:t>
            </a:r>
            <a:r>
              <a:rPr lang="en-CA" i="1" dirty="0"/>
              <a:t>floating gate</a:t>
            </a:r>
            <a:r>
              <a:rPr lang="en-CA" dirty="0"/>
              <a:t>, but with slightly different implementations</a:t>
            </a:r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39C36-735F-C50A-DA47-D3615139D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AC628-7971-C70C-7310-1E9A68C6A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9C828-94A5-E655-194A-CD7EC6224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1486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27C512 EPROM">
            <a:extLst>
              <a:ext uri="{FF2B5EF4-FFF2-40B4-BE49-F238E27FC236}">
                <a16:creationId xmlns:a16="http://schemas.microsoft.com/office/drawing/2014/main" id="{3E487013-52AA-ED16-7D7B-FAD7142C2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298" y="2044365"/>
            <a:ext cx="3313226" cy="3893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949FC5-439B-FBC5-096E-A2FE0C8E0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Historical Interests: EPROM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18510-50C9-F5B9-A21A-AEC18C99F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009185" cy="4351338"/>
          </a:xfrm>
        </p:spPr>
        <p:txBody>
          <a:bodyPr/>
          <a:lstStyle/>
          <a:p>
            <a:r>
              <a:rPr lang="en-CA" dirty="0"/>
              <a:t>EPROM = Erasable Programmable Read Only Memory</a:t>
            </a:r>
          </a:p>
          <a:p>
            <a:r>
              <a:rPr lang="en-CA" dirty="0"/>
              <a:t>Some of our original embedded systems used these – required a long (5-15 min) UV exposure to erase</a:t>
            </a:r>
          </a:p>
          <a:p>
            <a:pPr lvl="1"/>
            <a:r>
              <a:rPr lang="en-CA" dirty="0"/>
              <a:t>Very annoying for debugging!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6E3AA-1C4B-578F-C1E5-ED2340A52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4BFFC-E982-C854-6769-53140267A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DBE41-6FD2-08FB-1B96-83084CAA6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1454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44E51-4B84-5D5A-7B47-F19CA0C57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Floating Gate Storage - Reads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AEEB5-F63F-FC26-96E3-F0233110F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6519A-417A-8E1A-A620-3AB845B8D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EDE1C-8CF7-3039-7E1B-038A9B4E8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25</a:t>
            </a:fld>
            <a:endParaRPr lang="en-CA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BBF412-8523-99B2-D539-E40A4D76F4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20" y="2398406"/>
            <a:ext cx="4478765" cy="2239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4DC1502-2DFD-2361-8A2E-8BB6E31C7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480" y="2077701"/>
            <a:ext cx="7661460" cy="383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3806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88DA-2E47-6D46-86B1-6DB2F9179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Floating Gate Storage - Writes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806A2-8CFA-DD43-FF7C-656C82718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32581-7FC6-4567-2184-8DF1D2F75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C703D-23BD-4B6B-4D5C-D64B4D76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26</a:t>
            </a:fld>
            <a:endParaRPr lang="en-CA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E6C8EF5-C6EE-24AB-ECC3-86BFDFB8E9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443" y="1992007"/>
            <a:ext cx="8333030" cy="4166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836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DD0EA-8816-FBCE-8E01-8F537F4DB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EEPROM vs. Flash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2DC79-D99B-B01A-8A25-D5253EDA9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355" y="1847850"/>
            <a:ext cx="3937000" cy="4351338"/>
          </a:xfrm>
        </p:spPr>
        <p:txBody>
          <a:bodyPr/>
          <a:lstStyle/>
          <a:p>
            <a:r>
              <a:rPr lang="en-CA" dirty="0"/>
              <a:t>EEPROM has an additional </a:t>
            </a:r>
            <a:r>
              <a:rPr lang="en-CA" u="sng" dirty="0"/>
              <a:t>select</a:t>
            </a:r>
            <a:r>
              <a:rPr lang="en-CA" dirty="0"/>
              <a:t> gate.</a:t>
            </a:r>
          </a:p>
          <a:p>
            <a:endParaRPr lang="en-CA" dirty="0"/>
          </a:p>
          <a:p>
            <a:r>
              <a:rPr lang="en-CA" dirty="0"/>
              <a:t>This allows erase/read/write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BF526-3140-AA3A-6FFD-C9ECFC27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D78BF-D889-0F19-4729-11838960D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20973-E031-C2BA-EF30-4A1C2C8C9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27</a:t>
            </a:fld>
            <a:endParaRPr lang="en-CA"/>
          </a:p>
        </p:txBody>
      </p:sp>
      <p:pic>
        <p:nvPicPr>
          <p:cNvPr id="5122" name="Picture 2" descr="Microchip Releases the Largest Capacity EEPROM Chip Available to the Market  - News">
            <a:extLst>
              <a:ext uri="{FF2B5EF4-FFF2-40B4-BE49-F238E27FC236}">
                <a16:creationId xmlns:a16="http://schemas.microsoft.com/office/drawing/2014/main" id="{069320B2-5E7D-6198-1553-6A1C6CD73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449" y="2057644"/>
            <a:ext cx="7557863" cy="366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485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A4C72-6D49-CDD8-64D3-DEE23AB6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Read/Program Voltage Notes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FFC90-CD41-BBE5-04D9-D7556C4ED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AE35C-446A-409B-F22F-033DBBE3B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9AB60-427A-441A-4D27-E29C968E0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28</a:t>
            </a:fld>
            <a:endParaRPr lang="en-CA"/>
          </a:p>
        </p:txBody>
      </p:sp>
      <p:pic>
        <p:nvPicPr>
          <p:cNvPr id="8" name="Picture 7" descr="A diagram of a diagram of a flash drive&#10;&#10;AI-generated content may be incorrect.">
            <a:extLst>
              <a:ext uri="{FF2B5EF4-FFF2-40B4-BE49-F238E27FC236}">
                <a16:creationId xmlns:a16="http://schemas.microsoft.com/office/drawing/2014/main" id="{CE37099D-3853-D728-0856-B0DD66520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147" y="1917881"/>
            <a:ext cx="7999706" cy="437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008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105AB-B742-87D2-0320-0BDAA63AB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Flash: NOR vs NAND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B4404-30E2-C2E3-B7FD-4C4F43EE2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5ADDF-F5DE-36D6-9D79-1D5666BE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097FE-FAB2-A902-E549-CF5E4C51B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29</a:t>
            </a:fld>
            <a:endParaRPr lang="en-CA"/>
          </a:p>
        </p:txBody>
      </p:sp>
      <p:pic>
        <p:nvPicPr>
          <p:cNvPr id="12" name="Picture 11" descr="A diagram of a flash architecture&#10;&#10;AI-generated content may be incorrect.">
            <a:extLst>
              <a:ext uri="{FF2B5EF4-FFF2-40B4-BE49-F238E27FC236}">
                <a16:creationId xmlns:a16="http://schemas.microsoft.com/office/drawing/2014/main" id="{DD2739EA-4EA8-778E-8285-4E480B476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729" y="1227015"/>
            <a:ext cx="5262917" cy="46775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CDD19C0-0E14-9364-FE7F-3F9524AEED67}"/>
              </a:ext>
            </a:extLst>
          </p:cNvPr>
          <p:cNvSpPr txBox="1"/>
          <p:nvPr/>
        </p:nvSpPr>
        <p:spPr>
          <a:xfrm>
            <a:off x="838200" y="5904523"/>
            <a:ext cx="9194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3"/>
              </a:rPr>
              <a:t>https://www.embedded.com/flash-101-nand-flash-vs-nor-flash/</a:t>
            </a:r>
            <a:r>
              <a:rPr lang="en-CA" dirty="0"/>
              <a:t>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C31AAC7-7235-2CA2-7D9B-3DB75049A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354" y="1390100"/>
            <a:ext cx="6163692" cy="4351338"/>
          </a:xfrm>
        </p:spPr>
        <p:txBody>
          <a:bodyPr>
            <a:normAutofit lnSpcReduction="10000"/>
          </a:bodyPr>
          <a:lstStyle/>
          <a:p>
            <a:r>
              <a:rPr lang="en-CA" dirty="0"/>
              <a:t>Flash memory saves the select gate.</a:t>
            </a:r>
          </a:p>
          <a:p>
            <a:endParaRPr lang="en-CA" dirty="0"/>
          </a:p>
          <a:p>
            <a:r>
              <a:rPr lang="en-CA" dirty="0"/>
              <a:t>Two different organizations:</a:t>
            </a:r>
          </a:p>
          <a:p>
            <a:pPr lvl="1"/>
            <a:r>
              <a:rPr lang="en-CA" dirty="0"/>
              <a:t>NOR allows per-bit output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NAND reduces connection (higher density) but more likely to have errors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i="1" dirty="0"/>
              <a:t>NOR = Microcontroller flash</a:t>
            </a:r>
          </a:p>
          <a:p>
            <a:pPr marL="0" indent="0">
              <a:buNone/>
            </a:pPr>
            <a:r>
              <a:rPr lang="en-CA" i="1" dirty="0"/>
              <a:t>NAND = SSD, SD Card, </a:t>
            </a:r>
            <a:r>
              <a:rPr lang="en-CA" i="1" dirty="0" err="1"/>
              <a:t>etc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14615847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98645-852F-6059-F559-414D9550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NOR </a:t>
            </a:r>
            <a:r>
              <a:rPr lang="en-CA" dirty="0" err="1"/>
              <a:t>Bitline</a:t>
            </a:r>
            <a:r>
              <a:rPr lang="en-CA" dirty="0"/>
              <a:t> / </a:t>
            </a:r>
            <a:r>
              <a:rPr lang="en-CA" dirty="0" err="1"/>
              <a:t>Wordline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D6349-697B-72E8-BAF3-84464693E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22CCE-D813-7DEA-ADC7-9C7B215B6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295FA-3887-3AD9-5FF6-268791B33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30</a:t>
            </a:fld>
            <a:endParaRPr lang="en-CA"/>
          </a:p>
        </p:txBody>
      </p:sp>
      <p:pic>
        <p:nvPicPr>
          <p:cNvPr id="8" name="Picture 7" descr="A diagram of a memory cell&#10;&#10;AI-generated content may be incorrect.">
            <a:extLst>
              <a:ext uri="{FF2B5EF4-FFF2-40B4-BE49-F238E27FC236}">
                <a16:creationId xmlns:a16="http://schemas.microsoft.com/office/drawing/2014/main" id="{EABF1A8D-BC45-7AC5-F960-8D7D560AE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230" y="2081489"/>
            <a:ext cx="2024344" cy="3884059"/>
          </a:xfrm>
          <a:prstGeom prst="rect">
            <a:avLst/>
          </a:prstGeom>
        </p:spPr>
      </p:pic>
      <p:pic>
        <p:nvPicPr>
          <p:cNvPr id="11" name="Picture 10" descr="A diagram of a memory cell&#10;&#10;AI-generated content may be incorrect.">
            <a:extLst>
              <a:ext uri="{FF2B5EF4-FFF2-40B4-BE49-F238E27FC236}">
                <a16:creationId xmlns:a16="http://schemas.microsoft.com/office/drawing/2014/main" id="{BE9F8F16-9018-E96A-7E04-7CD29A7601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889"/>
          <a:stretch>
            <a:fillRect/>
          </a:stretch>
        </p:blipFill>
        <p:spPr>
          <a:xfrm>
            <a:off x="3084574" y="2081488"/>
            <a:ext cx="1216856" cy="3884059"/>
          </a:xfrm>
          <a:prstGeom prst="rect">
            <a:avLst/>
          </a:prstGeom>
        </p:spPr>
      </p:pic>
      <p:pic>
        <p:nvPicPr>
          <p:cNvPr id="13" name="Picture 12" descr="A diagram of a memory cell&#10;&#10;AI-generated content may be incorrect.">
            <a:extLst>
              <a:ext uri="{FF2B5EF4-FFF2-40B4-BE49-F238E27FC236}">
                <a16:creationId xmlns:a16="http://schemas.microsoft.com/office/drawing/2014/main" id="{DDBE0F85-0D47-71A9-345E-D51ED2C36C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889"/>
          <a:stretch>
            <a:fillRect/>
          </a:stretch>
        </p:blipFill>
        <p:spPr>
          <a:xfrm>
            <a:off x="4301430" y="2081487"/>
            <a:ext cx="1216856" cy="3884059"/>
          </a:xfrm>
          <a:prstGeom prst="rect">
            <a:avLst/>
          </a:prstGeom>
        </p:spPr>
      </p:pic>
      <p:pic>
        <p:nvPicPr>
          <p:cNvPr id="14" name="Picture 13" descr="A diagram of a memory cell&#10;&#10;AI-generated content may be incorrect.">
            <a:extLst>
              <a:ext uri="{FF2B5EF4-FFF2-40B4-BE49-F238E27FC236}">
                <a16:creationId xmlns:a16="http://schemas.microsoft.com/office/drawing/2014/main" id="{BD5E5F55-A556-BADA-6645-2E2A27D245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889"/>
          <a:stretch>
            <a:fillRect/>
          </a:stretch>
        </p:blipFill>
        <p:spPr>
          <a:xfrm>
            <a:off x="5518286" y="2081487"/>
            <a:ext cx="1216856" cy="3884059"/>
          </a:xfrm>
          <a:prstGeom prst="rect">
            <a:avLst/>
          </a:prstGeom>
        </p:spPr>
      </p:pic>
      <p:pic>
        <p:nvPicPr>
          <p:cNvPr id="15" name="Picture 14" descr="A diagram of a memory cell&#10;&#10;AI-generated content may be incorrect.">
            <a:extLst>
              <a:ext uri="{FF2B5EF4-FFF2-40B4-BE49-F238E27FC236}">
                <a16:creationId xmlns:a16="http://schemas.microsoft.com/office/drawing/2014/main" id="{65C2DA4B-0FA2-F1FD-BAFD-52E35BCE45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889"/>
          <a:stretch>
            <a:fillRect/>
          </a:stretch>
        </p:blipFill>
        <p:spPr>
          <a:xfrm>
            <a:off x="6735142" y="2081486"/>
            <a:ext cx="1216856" cy="3884059"/>
          </a:xfrm>
          <a:prstGeom prst="rect">
            <a:avLst/>
          </a:prstGeom>
        </p:spPr>
      </p:pic>
      <p:pic>
        <p:nvPicPr>
          <p:cNvPr id="16" name="Picture 15" descr="A diagram of a memory cell&#10;&#10;AI-generated content may be incorrect.">
            <a:extLst>
              <a:ext uri="{FF2B5EF4-FFF2-40B4-BE49-F238E27FC236}">
                <a16:creationId xmlns:a16="http://schemas.microsoft.com/office/drawing/2014/main" id="{BB287F0C-BC90-B626-B6D2-BDB06595AA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889"/>
          <a:stretch>
            <a:fillRect/>
          </a:stretch>
        </p:blipFill>
        <p:spPr>
          <a:xfrm>
            <a:off x="7951998" y="2081485"/>
            <a:ext cx="1216856" cy="38840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A8E997D-C659-12A2-4B5E-7075B84072B6}"/>
              </a:ext>
            </a:extLst>
          </p:cNvPr>
          <p:cNvSpPr txBox="1"/>
          <p:nvPr/>
        </p:nvSpPr>
        <p:spPr>
          <a:xfrm>
            <a:off x="2297724" y="1690687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Bit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3370E7-2EB7-4EA1-CBA9-EAF84B28A788}"/>
              </a:ext>
            </a:extLst>
          </p:cNvPr>
          <p:cNvSpPr txBox="1"/>
          <p:nvPr/>
        </p:nvSpPr>
        <p:spPr>
          <a:xfrm>
            <a:off x="3660569" y="1690685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Bit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711B62-51CB-67EE-3855-C64A759EA423}"/>
              </a:ext>
            </a:extLst>
          </p:cNvPr>
          <p:cNvSpPr txBox="1"/>
          <p:nvPr/>
        </p:nvSpPr>
        <p:spPr>
          <a:xfrm>
            <a:off x="4838738" y="1690924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Bit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1C0DF6-42AF-B77F-DCC3-4CC08906B143}"/>
              </a:ext>
            </a:extLst>
          </p:cNvPr>
          <p:cNvSpPr txBox="1"/>
          <p:nvPr/>
        </p:nvSpPr>
        <p:spPr>
          <a:xfrm>
            <a:off x="6016907" y="1690340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Bit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1ED2F4-2729-9AA1-9118-06A83793B988}"/>
              </a:ext>
            </a:extLst>
          </p:cNvPr>
          <p:cNvSpPr txBox="1"/>
          <p:nvPr/>
        </p:nvSpPr>
        <p:spPr>
          <a:xfrm>
            <a:off x="7195239" y="1690340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Bit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D9C72D-CC19-5A15-A9EE-3170949A40F5}"/>
              </a:ext>
            </a:extLst>
          </p:cNvPr>
          <p:cNvSpPr txBox="1"/>
          <p:nvPr/>
        </p:nvSpPr>
        <p:spPr>
          <a:xfrm>
            <a:off x="8452339" y="1690340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Bit 5</a:t>
            </a:r>
          </a:p>
        </p:txBody>
      </p:sp>
    </p:spTree>
    <p:extLst>
      <p:ext uri="{BB962C8B-B14F-4D97-AF65-F5344CB8AC3E}">
        <p14:creationId xmlns:p14="http://schemas.microsoft.com/office/powerpoint/2010/main" val="4125411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47C5A-9A04-2B5A-5684-08465EB2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Flash Memory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B0FBE-0034-B9E6-82A5-BDD585835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Flash memory normally has </a:t>
            </a:r>
            <a:r>
              <a:rPr lang="en-CA" u="sng" dirty="0"/>
              <a:t>pages</a:t>
            </a:r>
            <a:r>
              <a:rPr lang="en-CA" dirty="0"/>
              <a:t> that define a single “block”:</a:t>
            </a:r>
          </a:p>
          <a:p>
            <a:pPr lvl="1"/>
            <a:r>
              <a:rPr lang="en-CA" dirty="0"/>
              <a:t>That block is always read &amp; written together</a:t>
            </a:r>
          </a:p>
          <a:p>
            <a:pPr lvl="1"/>
            <a:r>
              <a:rPr lang="en-CA" dirty="0"/>
              <a:t>Used as it improves density</a:t>
            </a:r>
          </a:p>
          <a:p>
            <a:pPr lvl="1"/>
            <a:endParaRPr lang="en-CA" dirty="0"/>
          </a:p>
          <a:p>
            <a:r>
              <a:rPr lang="en-CA" dirty="0"/>
              <a:t>To program flash memory:</a:t>
            </a:r>
          </a:p>
          <a:p>
            <a:pPr lvl="1"/>
            <a:r>
              <a:rPr lang="en-CA" dirty="0"/>
              <a:t>Entire page erased to a “1”</a:t>
            </a:r>
          </a:p>
          <a:p>
            <a:pPr lvl="1"/>
            <a:r>
              <a:rPr lang="en-CA" dirty="0"/>
              <a:t>Single bits can be programmed to a “0”</a:t>
            </a:r>
          </a:p>
          <a:p>
            <a:pPr lvl="1"/>
            <a:endParaRPr lang="en-CA" dirty="0"/>
          </a:p>
          <a:p>
            <a:r>
              <a:rPr lang="en-CA" dirty="0"/>
              <a:t>Normally a page is written at once, but you can always program individual bits to “0” later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9DA53-A114-542B-313C-9AC837E3B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450DE-F242-358C-3D53-E86EF9660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CF675-D541-56BA-F61F-65D3E7C9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78729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F5C77-7069-7A20-7B67-1FF7E72AF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Flash Memory Writes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FC638-471B-1177-BD73-580A86044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If you needed to change a single byte:</a:t>
            </a:r>
          </a:p>
          <a:p>
            <a:pPr lvl="1"/>
            <a:r>
              <a:rPr lang="en-CA" dirty="0"/>
              <a:t>Read FLASH page to a buffer</a:t>
            </a:r>
          </a:p>
          <a:p>
            <a:pPr lvl="1"/>
            <a:r>
              <a:rPr lang="en-CA" dirty="0"/>
              <a:t>Change the required byte</a:t>
            </a:r>
          </a:p>
          <a:p>
            <a:pPr lvl="1"/>
            <a:r>
              <a:rPr lang="en-CA" dirty="0"/>
              <a:t>Erase entire FLASH page</a:t>
            </a:r>
          </a:p>
          <a:p>
            <a:pPr lvl="1"/>
            <a:r>
              <a:rPr lang="en-CA" dirty="0"/>
              <a:t>Write entire FLASH page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D17EB-AF49-6CD0-E5B2-60E32A990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51280-9B66-728C-854D-E106DD76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3C57C-AA64-1E00-827A-ECC5C90CD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9335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07153-6F1C-6B7B-4B94-1F4899AEC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Flash Memory Organization (Width)</a:t>
            </a:r>
          </a:p>
        </p:txBody>
      </p:sp>
      <p:pic>
        <p:nvPicPr>
          <p:cNvPr id="8" name="Content Placeholder 7" descr="A screenshot of a flash memory&#10;&#10;AI-generated content may be incorrect.">
            <a:extLst>
              <a:ext uri="{FF2B5EF4-FFF2-40B4-BE49-F238E27FC236}">
                <a16:creationId xmlns:a16="http://schemas.microsoft.com/office/drawing/2014/main" id="{6512EB62-CFAF-1ADB-F5BC-B3F41E1ED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582"/>
          <a:stretch>
            <a:fillRect/>
          </a:stretch>
        </p:blipFill>
        <p:spPr>
          <a:xfrm>
            <a:off x="541314" y="1690688"/>
            <a:ext cx="7263284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2D20F-982C-151F-CD0D-D3CC9543E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26F7D-2612-BDA5-3ACF-C0A61CBDC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836C9-DAA4-D739-4F37-AD2021BCF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33</a:t>
            </a:fld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53A09D-6CBD-E10D-FE77-36576BC780DD}"/>
              </a:ext>
            </a:extLst>
          </p:cNvPr>
          <p:cNvSpPr txBox="1"/>
          <p:nvPr/>
        </p:nvSpPr>
        <p:spPr>
          <a:xfrm>
            <a:off x="8313313" y="2775933"/>
            <a:ext cx="34515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In memory with sequential access being common, having extra width is </a:t>
            </a:r>
            <a:r>
              <a:rPr lang="en-CA" b="1" u="sng" dirty="0"/>
              <a:t>very useful</a:t>
            </a:r>
            <a:r>
              <a:rPr lang="en-CA" b="1" dirty="0"/>
              <a:t>.</a:t>
            </a:r>
          </a:p>
          <a:p>
            <a:endParaRPr lang="en-CA" b="1" dirty="0"/>
          </a:p>
          <a:p>
            <a:r>
              <a:rPr lang="en-CA" b="1" dirty="0"/>
              <a:t>Typical in embedded devices (32-bit busses) to see 64-bit or 128-bit (2 or 4 words).</a:t>
            </a:r>
          </a:p>
          <a:p>
            <a:endParaRPr lang="en-CA" b="1" dirty="0"/>
          </a:p>
          <a:p>
            <a:r>
              <a:rPr lang="en-CA" b="1" dirty="0"/>
              <a:t>Think e.g., typical instruction flow being linear</a:t>
            </a:r>
          </a:p>
        </p:txBody>
      </p:sp>
    </p:spTree>
    <p:extLst>
      <p:ext uri="{BB962C8B-B14F-4D97-AF65-F5344CB8AC3E}">
        <p14:creationId xmlns:p14="http://schemas.microsoft.com/office/powerpoint/2010/main" val="12394050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7A670-B0B3-D045-10EF-5364095C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Flash “Accelerator”</a:t>
            </a:r>
          </a:p>
        </p:txBody>
      </p:sp>
      <p:pic>
        <p:nvPicPr>
          <p:cNvPr id="8" name="Content Placeholder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E68527C2-F12B-C633-505F-922B391D10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7549" y="1690688"/>
            <a:ext cx="9140831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92A77-07BE-59C7-A44A-0702E539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93C08-8FE9-582F-3C36-37F993A5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F56AB-9EBB-BDB5-A861-2D251A08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79004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71736-1D4E-F78A-6D9C-17E32DF16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Flash Timing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5E149-AD85-2361-D2FD-17E2CD0CB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6170"/>
            <a:ext cx="10515600" cy="1883490"/>
          </a:xfrm>
        </p:spPr>
        <p:txBody>
          <a:bodyPr/>
          <a:lstStyle/>
          <a:p>
            <a:r>
              <a:rPr lang="en-CA" dirty="0"/>
              <a:t>Here is some demo code with 3 examples:</a:t>
            </a:r>
          </a:p>
          <a:p>
            <a:pPr lvl="1"/>
            <a:r>
              <a:rPr lang="en-CA" dirty="0"/>
              <a:t>Running from SRAM</a:t>
            </a:r>
          </a:p>
          <a:p>
            <a:pPr lvl="1"/>
            <a:r>
              <a:rPr lang="en-CA" dirty="0"/>
              <a:t>Running from Flash (normal code style)</a:t>
            </a:r>
          </a:p>
          <a:p>
            <a:pPr lvl="1"/>
            <a:r>
              <a:rPr lang="en-CA" dirty="0"/>
              <a:t>Running from Flash (“jumpy” code that requires more loads)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46D5C-CC19-4F4C-5042-47AD24911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F22F9-242C-82C8-9847-D09735243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3BC3E-0B72-2FAB-C91A-E00E74E3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35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8413E8-F80C-EDFD-FE0D-F1D553056418}"/>
              </a:ext>
            </a:extLst>
          </p:cNvPr>
          <p:cNvSpPr txBox="1"/>
          <p:nvPr/>
        </p:nvSpPr>
        <p:spPr>
          <a:xfrm>
            <a:off x="1637227" y="3970903"/>
            <a:ext cx="25741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adds r1, r1, r2</a:t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eors r2, r2, r1</a:t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adds r2, r2, #3</a:t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subs r0, r0, #1</a:t>
            </a:r>
            <a:b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bne loop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4EB73-EE56-B3B7-5406-3A1902BBD390}"/>
              </a:ext>
            </a:extLst>
          </p:cNvPr>
          <p:cNvSpPr txBox="1"/>
          <p:nvPr/>
        </p:nvSpPr>
        <p:spPr>
          <a:xfrm>
            <a:off x="5166038" y="3709115"/>
            <a:ext cx="60949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 step1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step1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adds 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 step2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step2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eors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 step3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step3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adds 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subs 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loop</a:t>
            </a:r>
          </a:p>
        </p:txBody>
      </p:sp>
    </p:spTree>
    <p:extLst>
      <p:ext uri="{BB962C8B-B14F-4D97-AF65-F5344CB8AC3E}">
        <p14:creationId xmlns:p14="http://schemas.microsoft.com/office/powerpoint/2010/main" val="33308776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AC287-D637-6002-B2A5-25E17663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C53EA-B251-4A67-E3C3-F0FCCB24A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50916"/>
          </a:xfrm>
        </p:spPr>
        <p:txBody>
          <a:bodyPr/>
          <a:lstStyle/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&lt;Live Demo&gt;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99EED-EC41-45F5-7742-83A6180E1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8FA84-55F2-F509-5CDE-36E9310B6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139D6-1186-C5B0-DC76-5F9FBD60E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36</a:t>
            </a:fld>
            <a:endParaRPr lang="en-CA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B12198-44AA-A65B-2D77-5C6DD1449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98" y="4259972"/>
            <a:ext cx="4324954" cy="733527"/>
          </a:xfrm>
          <a:prstGeom prst="rect">
            <a:avLst/>
          </a:prstGeom>
        </p:spPr>
      </p:pic>
      <p:pic>
        <p:nvPicPr>
          <p:cNvPr id="10" name="Picture 9" descr="A close up of a computer screen&#10;&#10;AI-generated content may be incorrect.">
            <a:extLst>
              <a:ext uri="{FF2B5EF4-FFF2-40B4-BE49-F238E27FC236}">
                <a16:creationId xmlns:a16="http://schemas.microsoft.com/office/drawing/2014/main" id="{B9EA4403-5515-8815-8E89-22D0E06AA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259972"/>
            <a:ext cx="4496427" cy="6763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B4298F-59C9-BD85-E6AC-90BFDC25C45B}"/>
              </a:ext>
            </a:extLst>
          </p:cNvPr>
          <p:cNvSpPr txBox="1"/>
          <p:nvPr/>
        </p:nvSpPr>
        <p:spPr>
          <a:xfrm>
            <a:off x="3316310" y="2868873"/>
            <a:ext cx="7643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Compile with “Release” (Optimizations on)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3B2D91-607D-F493-FA8B-FCEAC0AD513B}"/>
              </a:ext>
            </a:extLst>
          </p:cNvPr>
          <p:cNvSpPr txBox="1"/>
          <p:nvPr/>
        </p:nvSpPr>
        <p:spPr>
          <a:xfrm>
            <a:off x="1110792" y="4984467"/>
            <a:ext cx="4324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Slow CPU Speed (Flash faster than CPU)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D1DEF0-DA4B-19DB-BED1-3DA66F755106}"/>
              </a:ext>
            </a:extLst>
          </p:cNvPr>
          <p:cNvSpPr txBox="1"/>
          <p:nvPr/>
        </p:nvSpPr>
        <p:spPr>
          <a:xfrm>
            <a:off x="6139992" y="4984467"/>
            <a:ext cx="4941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High CPU Speed (Flash slower than CPU)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012B72-FE54-1BDF-7080-A150207961FF}"/>
              </a:ext>
            </a:extLst>
          </p:cNvPr>
          <p:cNvSpPr txBox="1"/>
          <p:nvPr/>
        </p:nvSpPr>
        <p:spPr>
          <a:xfrm>
            <a:off x="3316310" y="1905933"/>
            <a:ext cx="76436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Compile project with:</a:t>
            </a:r>
          </a:p>
          <a:p>
            <a:r>
              <a:rPr lang="en-CA" dirty="0"/>
              <a:t>	slides_4_3_memoryspeed.c</a:t>
            </a:r>
          </a:p>
          <a:p>
            <a:r>
              <a:rPr lang="en-CA" dirty="0"/>
              <a:t>	slides_4_3_loops.s</a:t>
            </a:r>
          </a:p>
        </p:txBody>
      </p:sp>
    </p:spTree>
    <p:extLst>
      <p:ext uri="{BB962C8B-B14F-4D97-AF65-F5344CB8AC3E}">
        <p14:creationId xmlns:p14="http://schemas.microsoft.com/office/powerpoint/2010/main" val="11232407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21B4-5AD8-0111-6F7C-718FED74A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Flash Cycles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12775-F344-30B0-5B42-D69334E04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9177"/>
            <a:ext cx="10515600" cy="2794716"/>
          </a:xfrm>
        </p:spPr>
        <p:txBody>
          <a:bodyPr>
            <a:normAutofit fontScale="85000" lnSpcReduction="20000"/>
          </a:bodyPr>
          <a:lstStyle/>
          <a:p>
            <a:r>
              <a:rPr lang="en-CA" dirty="0"/>
              <a:t>SRAM/DRAM have “unlimited” lifetimes</a:t>
            </a:r>
          </a:p>
          <a:p>
            <a:r>
              <a:rPr lang="en-CA" dirty="0"/>
              <a:t>Flash/EEPROM have a limited number of </a:t>
            </a:r>
            <a:r>
              <a:rPr lang="en-CA" u="sng" dirty="0"/>
              <a:t>cycles</a:t>
            </a:r>
          </a:p>
          <a:p>
            <a:pPr lvl="1"/>
            <a:r>
              <a:rPr lang="en-CA" dirty="0"/>
              <a:t>Each time the gate charge is erased/written slowly causes additional breakdown</a:t>
            </a:r>
          </a:p>
          <a:p>
            <a:pPr lvl="1"/>
            <a:r>
              <a:rPr lang="en-CA" dirty="0"/>
              <a:t>Manufacturer can adjust specifications to provide different user requirements. Trade-off between density &amp; reliability/cycles.</a:t>
            </a:r>
          </a:p>
          <a:p>
            <a:r>
              <a:rPr lang="en-CA" dirty="0"/>
              <a:t>Be aware these specs are often at full temp range (you may see 10-1000x more cycles in practice)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E.g., from AtMega328P Datasheet: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F65B9-239F-4F1E-92A8-0A74B7CA6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6ED67-0FE0-243F-F8BE-013A131F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ECED3403 Computer Architecture. Colin O'Flynn.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6B147-C3FA-930D-50B4-A7BE752C5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37</a:t>
            </a:fld>
            <a:endParaRPr lang="en-CA" dirty="0"/>
          </a:p>
        </p:txBody>
      </p:sp>
      <p:pic>
        <p:nvPicPr>
          <p:cNvPr id="8" name="Picture 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09F7000-D8E0-F1AE-486D-EB011070F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376979"/>
            <a:ext cx="5714546" cy="190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9189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8E72D-9E03-8EF7-22F5-3D985C0DB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Wear Leveling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C30A8-D807-2A56-D356-E94AD9200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4114800" cy="4486274"/>
          </a:xfrm>
        </p:spPr>
        <p:txBody>
          <a:bodyPr/>
          <a:lstStyle/>
          <a:p>
            <a:r>
              <a:rPr lang="en-CA" dirty="0"/>
              <a:t>Cycle life is </a:t>
            </a:r>
            <a:r>
              <a:rPr lang="en-CA" u="sng" dirty="0"/>
              <a:t>per cell</a:t>
            </a:r>
            <a:r>
              <a:rPr lang="en-CA" dirty="0"/>
              <a:t>.</a:t>
            </a:r>
          </a:p>
          <a:p>
            <a:r>
              <a:rPr lang="en-CA" dirty="0"/>
              <a:t>E.g., if you had a counter that increments every 1 second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EC8F5-E9CC-9AED-28FE-6FC1E099E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5D854-969E-99C3-FBB9-57D7BA812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E7BF7-85CC-FD0B-2828-CD1378E7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38</a:t>
            </a:fld>
            <a:endParaRPr lang="en-CA"/>
          </a:p>
        </p:txBody>
      </p:sp>
      <p:pic>
        <p:nvPicPr>
          <p:cNvPr id="15364" name="Picture 4" descr="Wear Leveling - Transcend Information, Inc.">
            <a:extLst>
              <a:ext uri="{FF2B5EF4-FFF2-40B4-BE49-F238E27FC236}">
                <a16:creationId xmlns:a16="http://schemas.microsoft.com/office/drawing/2014/main" id="{A518D134-5F46-F856-3F80-3FDAA464B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188" y="1589403"/>
            <a:ext cx="6464275" cy="4113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9762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2394-2396-D3C3-990B-47DBDF804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Wear Leveling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39B52-5A77-C1C5-392D-82BD79ED1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Writing 1 byte of 256 byte every second:</a:t>
            </a:r>
          </a:p>
          <a:p>
            <a:endParaRPr lang="en-CA" dirty="0"/>
          </a:p>
          <a:p>
            <a:pPr lvl="1"/>
            <a:r>
              <a:rPr lang="en-CA" dirty="0"/>
              <a:t>w/o Wear Leveling (same byte)</a:t>
            </a:r>
          </a:p>
          <a:p>
            <a:pPr lvl="2"/>
            <a:r>
              <a:rPr lang="en-CA" dirty="0"/>
              <a:t>86 400 cycles per day</a:t>
            </a:r>
          </a:p>
          <a:p>
            <a:pPr lvl="2"/>
            <a:r>
              <a:rPr lang="en-CA" dirty="0"/>
              <a:t>2 592 000 cycles per month</a:t>
            </a:r>
          </a:p>
          <a:p>
            <a:pPr lvl="3"/>
            <a:r>
              <a:rPr lang="en-CA" dirty="0"/>
              <a:t>~1.1 day </a:t>
            </a:r>
            <a:r>
              <a:rPr lang="en-CA" dirty="0" err="1"/>
              <a:t>lifespace</a:t>
            </a:r>
            <a:r>
              <a:rPr lang="en-CA" dirty="0"/>
              <a:t> of device @ 100K cycles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w/ Wear Leveling (spread among 256 bytes)</a:t>
            </a:r>
          </a:p>
          <a:p>
            <a:pPr lvl="2"/>
            <a:r>
              <a:rPr lang="en-CA" dirty="0"/>
              <a:t>337 cycles per day</a:t>
            </a:r>
          </a:p>
          <a:p>
            <a:pPr lvl="2"/>
            <a:r>
              <a:rPr lang="en-CA" dirty="0"/>
              <a:t>10 125 cyclers per month</a:t>
            </a:r>
          </a:p>
          <a:p>
            <a:pPr lvl="3"/>
            <a:r>
              <a:rPr lang="en-CA" dirty="0"/>
              <a:t>~10 month lifespan of device @ 100K cycles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30CEA-2003-F267-DF68-F4F355017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DB1A8-8D4E-68DA-9070-5CB054159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8547E-10F6-62C6-E546-D3D147B3F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87238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2D097-D413-288E-46CC-427DFEC72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1AD51-D7DA-8361-B32C-76EA728FE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Flash/EEPROM Memory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58B80-AC8C-598A-E506-7AE35B2EB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Equal access time across memory array</a:t>
            </a:r>
          </a:p>
          <a:p>
            <a:r>
              <a:rPr lang="en-CA" dirty="0"/>
              <a:t>Read &amp; write are very different</a:t>
            </a:r>
          </a:p>
          <a:p>
            <a:pPr lvl="1"/>
            <a:r>
              <a:rPr lang="en-CA" dirty="0"/>
              <a:t>Write requires per-page access</a:t>
            </a:r>
          </a:p>
          <a:p>
            <a:r>
              <a:rPr lang="en-CA" dirty="0"/>
              <a:t>Unlimited read, limited write cycles</a:t>
            </a:r>
          </a:p>
          <a:p>
            <a:r>
              <a:rPr lang="en-CA" dirty="0"/>
              <a:t>Data is non-volatile (maintained without power)</a:t>
            </a:r>
          </a:p>
          <a:p>
            <a:r>
              <a:rPr lang="en-CA" dirty="0"/>
              <a:t>Uses 1 transistor + floating gate per bit (minimum)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B3177-EA49-CB36-D6FD-3CDE1117C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7297C-EB7D-E3C2-C589-281DA7F6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97763-8F61-E746-5120-0BA51EF50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61445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FD43-6250-9682-87CB-93808314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B4BFE-130C-7003-F158-EF60CB5FC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486" y="1690688"/>
            <a:ext cx="3997817" cy="4351338"/>
          </a:xfrm>
        </p:spPr>
        <p:txBody>
          <a:bodyPr>
            <a:normAutofit lnSpcReduction="10000"/>
          </a:bodyPr>
          <a:lstStyle/>
          <a:p>
            <a:r>
              <a:rPr lang="en-CA" dirty="0"/>
              <a:t>Transistors are either present or absent at interconnections</a:t>
            </a:r>
          </a:p>
          <a:p>
            <a:endParaRPr lang="en-CA" dirty="0"/>
          </a:p>
          <a:p>
            <a:r>
              <a:rPr lang="en-CA" dirty="0"/>
              <a:t>Transistor present pulls line LOW</a:t>
            </a:r>
          </a:p>
          <a:p>
            <a:endParaRPr lang="en-CA" dirty="0"/>
          </a:p>
          <a:p>
            <a:r>
              <a:rPr lang="en-CA" dirty="0"/>
              <a:t>Used for permanent data </a:t>
            </a:r>
            <a:r>
              <a:rPr lang="en-CA" u="sng" dirty="0"/>
              <a:t>defined at manufacture time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AB3E5-BB65-82F7-13FA-1FA820E7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F48D4-54C7-2508-BC7D-AF327214F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5E2C3-5AA0-DA2A-21B2-413B6191C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41</a:t>
            </a:fld>
            <a:endParaRPr lang="en-CA"/>
          </a:p>
        </p:txBody>
      </p:sp>
      <p:pic>
        <p:nvPicPr>
          <p:cNvPr id="13314" name="Picture 2" descr="ROM Memory">
            <a:extLst>
              <a:ext uri="{FF2B5EF4-FFF2-40B4-BE49-F238E27FC236}">
                <a16:creationId xmlns:a16="http://schemas.microsoft.com/office/drawing/2014/main" id="{30DC8C19-C72A-91D7-C1E9-E0D188E1D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795" y="2157413"/>
            <a:ext cx="6267450" cy="345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31226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60A21-7586-934C-B65F-3214D3DD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E-Fuses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3D67-4087-C581-31A3-0ADC2A8C7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42515" cy="4351338"/>
          </a:xfrm>
        </p:spPr>
        <p:txBody>
          <a:bodyPr/>
          <a:lstStyle/>
          <a:p>
            <a:r>
              <a:rPr lang="en-CA" dirty="0"/>
              <a:t>Programmable “in the field”.</a:t>
            </a:r>
          </a:p>
          <a:p>
            <a:r>
              <a:rPr lang="en-CA" dirty="0"/>
              <a:t>Requires higher voltages/current to blow a physical link.</a:t>
            </a:r>
          </a:p>
          <a:p>
            <a:r>
              <a:rPr lang="en-CA" dirty="0"/>
              <a:t>Often used for security keys and other “cannot change” things</a:t>
            </a:r>
          </a:p>
          <a:p>
            <a:r>
              <a:rPr lang="en-CA" dirty="0"/>
              <a:t>Different technologies for 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2BEFC-5F9B-F4B4-2823-98EAF9A90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0DBB6-D091-561E-BBA7-2F8FC098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B011F-03BE-E3B2-4DBC-670AB0369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42</a:t>
            </a:fld>
            <a:endParaRPr lang="en-CA"/>
          </a:p>
        </p:txBody>
      </p:sp>
      <p:pic>
        <p:nvPicPr>
          <p:cNvPr id="14338" name="Picture 2" descr="The Benefits Of Antifuse OTP">
            <a:extLst>
              <a:ext uri="{FF2B5EF4-FFF2-40B4-BE49-F238E27FC236}">
                <a16:creationId xmlns:a16="http://schemas.microsoft.com/office/drawing/2014/main" id="{1687A2E4-A2A6-14BA-69F9-82EF01C99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975" y="2161381"/>
            <a:ext cx="4972050" cy="37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5133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3A404-9233-1872-5451-07195C058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Emulated ROM, Flash, and Fuses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5CDE8-5FC0-D749-2F8C-C6A5A906E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Some devices have </a:t>
            </a:r>
            <a:r>
              <a:rPr lang="en-CA" u="sng" dirty="0"/>
              <a:t>only flash memory</a:t>
            </a:r>
            <a:endParaRPr lang="en-CA" dirty="0"/>
          </a:p>
          <a:p>
            <a:r>
              <a:rPr lang="en-CA" dirty="0"/>
              <a:t>They will attempt to “emulate” the missing bits using control logic:</a:t>
            </a:r>
          </a:p>
          <a:p>
            <a:pPr lvl="1"/>
            <a:r>
              <a:rPr lang="en-CA" dirty="0"/>
              <a:t>“Fuses” are in Flash</a:t>
            </a:r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85789-4524-9AD1-5613-AD93B8C6A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535C9-20FD-03EB-6BA3-437829AB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049F2-55E9-4C0C-4500-9A7AE4CC0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36115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52BD2-8ECD-2424-3785-899F8B2D8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 of Memory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8C3E5-48C6-B243-5282-134FE1CE4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Different memory types have different:</a:t>
            </a:r>
          </a:p>
          <a:p>
            <a:pPr lvl="1"/>
            <a:r>
              <a:rPr lang="en-CA" dirty="0"/>
              <a:t>Speed (access speed)</a:t>
            </a:r>
          </a:p>
          <a:p>
            <a:pPr lvl="1"/>
            <a:r>
              <a:rPr lang="en-CA" dirty="0"/>
              <a:t>Density</a:t>
            </a:r>
          </a:p>
          <a:p>
            <a:pPr lvl="1"/>
            <a:r>
              <a:rPr lang="en-CA" dirty="0"/>
              <a:t>Organization</a:t>
            </a:r>
          </a:p>
          <a:p>
            <a:pPr lvl="1"/>
            <a:r>
              <a:rPr lang="en-CA" dirty="0"/>
              <a:t>Capabilities (read vs write sizes)</a:t>
            </a:r>
          </a:p>
          <a:p>
            <a:pPr lvl="1"/>
            <a:r>
              <a:rPr lang="en-CA" dirty="0"/>
              <a:t>Storage lifetime</a:t>
            </a:r>
          </a:p>
          <a:p>
            <a:pPr lvl="1"/>
            <a:r>
              <a:rPr lang="en-CA" dirty="0"/>
              <a:t>Complexity</a:t>
            </a:r>
          </a:p>
          <a:p>
            <a:r>
              <a:rPr lang="en-CA" dirty="0"/>
              <a:t>Similar organization (</a:t>
            </a:r>
            <a:r>
              <a:rPr lang="en-CA" dirty="0" err="1"/>
              <a:t>wordline</a:t>
            </a:r>
            <a:r>
              <a:rPr lang="en-CA" dirty="0"/>
              <a:t> vs. </a:t>
            </a:r>
            <a:r>
              <a:rPr lang="en-CA" dirty="0" err="1"/>
              <a:t>bitlines</a:t>
            </a:r>
            <a:r>
              <a:rPr lang="en-CA" dirty="0"/>
              <a:t>) in most memories</a:t>
            </a:r>
          </a:p>
          <a:p>
            <a:r>
              <a:rPr lang="en-CA" dirty="0"/>
              <a:t>SRAM and Flash/EEPROM in </a:t>
            </a:r>
            <a:r>
              <a:rPr lang="en-CA" i="1" dirty="0"/>
              <a:t>all</a:t>
            </a:r>
            <a:r>
              <a:rPr lang="en-CA" dirty="0"/>
              <a:t> embedded systems</a:t>
            </a:r>
          </a:p>
          <a:p>
            <a:r>
              <a:rPr lang="en-CA" dirty="0"/>
              <a:t>DRAM normal in </a:t>
            </a:r>
            <a:r>
              <a:rPr lang="en-CA" i="1" dirty="0"/>
              <a:t>larger</a:t>
            </a:r>
            <a:r>
              <a:rPr lang="en-CA" dirty="0"/>
              <a:t> embedded systems (Linux/Android)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C2857-2F3E-127F-A511-E710B8DF0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B23F6-90A9-4A98-76E7-D4080609A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F1C0D-31DE-5620-38BD-25B780BD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1197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4234</TotalTime>
  <Words>1986</Words>
  <Application>Microsoft Office PowerPoint</Application>
  <PresentationFormat>Widescreen</PresentationFormat>
  <Paragraphs>428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Aptos</vt:lpstr>
      <vt:lpstr>Aptos Display</vt:lpstr>
      <vt:lpstr>Arial</vt:lpstr>
      <vt:lpstr>Courier New</vt:lpstr>
      <vt:lpstr>Office Theme</vt:lpstr>
      <vt:lpstr>Computer Architecture: Memory Types</vt:lpstr>
      <vt:lpstr>Lectures</vt:lpstr>
      <vt:lpstr>Why would a bus not respond on time?</vt:lpstr>
      <vt:lpstr>Properties of Memory</vt:lpstr>
      <vt:lpstr>Comparison of Memory Types</vt:lpstr>
      <vt:lpstr>Typical Small Microcontroller</vt:lpstr>
      <vt:lpstr>Why Tapes are Still used in 2026</vt:lpstr>
      <vt:lpstr>History of Computer Memory</vt:lpstr>
      <vt:lpstr>Modern Relay Computers</vt:lpstr>
      <vt:lpstr>Core Memory Arrays</vt:lpstr>
      <vt:lpstr>Registers</vt:lpstr>
      <vt:lpstr>Storage Arrays</vt:lpstr>
      <vt:lpstr>Static RAM (SRAM) Access</vt:lpstr>
      <vt:lpstr>Static RAM (SRAM) Cells</vt:lpstr>
      <vt:lpstr>Static RAM (SRAM) Cells</vt:lpstr>
      <vt:lpstr>SRAM Access</vt:lpstr>
      <vt:lpstr>SRAM Memory Properties</vt:lpstr>
      <vt:lpstr>Dynamic RAM (DRAM)</vt:lpstr>
      <vt:lpstr>DRAM Fundamentals</vt:lpstr>
      <vt:lpstr>Sidenote: PSRAM</vt:lpstr>
      <vt:lpstr>e.g., SRAM vs. PSRAM vs. DDR Memory Costs</vt:lpstr>
      <vt:lpstr>DRAM Memory Properties</vt:lpstr>
      <vt:lpstr>EEPROM / FLASH</vt:lpstr>
      <vt:lpstr>Historical Interests: EPROM</vt:lpstr>
      <vt:lpstr>Floating Gate Storage - Reads</vt:lpstr>
      <vt:lpstr>Floating Gate Storage - Writes</vt:lpstr>
      <vt:lpstr>EEPROM vs. Flash</vt:lpstr>
      <vt:lpstr>Read/Program Voltage Notes</vt:lpstr>
      <vt:lpstr>Flash: NOR vs NAND</vt:lpstr>
      <vt:lpstr>e.g., NOR Bitline / Wordline</vt:lpstr>
      <vt:lpstr>Flash Memory Pages</vt:lpstr>
      <vt:lpstr>Flash Memory Writes</vt:lpstr>
      <vt:lpstr>Flash Memory Organization (Width)</vt:lpstr>
      <vt:lpstr>Flash “Accelerator”</vt:lpstr>
      <vt:lpstr>Flash Timing Demo</vt:lpstr>
      <vt:lpstr>PowerPoint Presentation</vt:lpstr>
      <vt:lpstr>Flash Cycles</vt:lpstr>
      <vt:lpstr>Wear Leveling</vt:lpstr>
      <vt:lpstr>Wear Leveling Example</vt:lpstr>
      <vt:lpstr>Flash/EEPROM Memory Properties</vt:lpstr>
      <vt:lpstr>ROM</vt:lpstr>
      <vt:lpstr>E-Fuses</vt:lpstr>
      <vt:lpstr>Emulated ROM, Flash, and Fuses</vt:lpstr>
      <vt:lpstr>Summary of Memory Types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Colin O'Flynn</dc:creator>
  <cp:lastModifiedBy>Colin O'Flynn</cp:lastModifiedBy>
  <cp:revision>50</cp:revision>
  <dcterms:created xsi:type="dcterms:W3CDTF">2026-02-08T23:56:58Z</dcterms:created>
  <dcterms:modified xsi:type="dcterms:W3CDTF">2026-03-10T15:15:48Z</dcterms:modified>
</cp:coreProperties>
</file>