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79" r:id="rId4"/>
    <p:sldId id="280" r:id="rId5"/>
    <p:sldId id="281" r:id="rId6"/>
    <p:sldId id="285" r:id="rId7"/>
    <p:sldId id="282" r:id="rId8"/>
    <p:sldId id="289" r:id="rId9"/>
    <p:sldId id="406" r:id="rId10"/>
    <p:sldId id="409" r:id="rId11"/>
    <p:sldId id="288" r:id="rId12"/>
    <p:sldId id="283" r:id="rId13"/>
    <p:sldId id="284" r:id="rId14"/>
    <p:sldId id="410" r:id="rId15"/>
    <p:sldId id="411" r:id="rId16"/>
    <p:sldId id="412" r:id="rId17"/>
    <p:sldId id="415" r:id="rId18"/>
    <p:sldId id="413" r:id="rId19"/>
    <p:sldId id="416" r:id="rId20"/>
    <p:sldId id="417" r:id="rId21"/>
    <p:sldId id="420" r:id="rId22"/>
    <p:sldId id="419" r:id="rId23"/>
    <p:sldId id="290" r:id="rId24"/>
    <p:sldId id="372" r:id="rId25"/>
    <p:sldId id="373" r:id="rId26"/>
    <p:sldId id="286" r:id="rId27"/>
    <p:sldId id="407" r:id="rId28"/>
    <p:sldId id="408" r:id="rId29"/>
    <p:sldId id="287" r:id="rId30"/>
    <p:sldId id="292" r:id="rId31"/>
    <p:sldId id="381" r:id="rId32"/>
    <p:sldId id="405" r:id="rId33"/>
    <p:sldId id="387" r:id="rId34"/>
    <p:sldId id="293" r:id="rId35"/>
    <p:sldId id="423" r:id="rId36"/>
    <p:sldId id="422" r:id="rId37"/>
    <p:sldId id="421" r:id="rId38"/>
    <p:sldId id="424" r:id="rId39"/>
    <p:sldId id="426" r:id="rId40"/>
    <p:sldId id="425" r:id="rId41"/>
    <p:sldId id="427" r:id="rId42"/>
    <p:sldId id="428" r:id="rId43"/>
    <p:sldId id="429" r:id="rId44"/>
    <p:sldId id="430" r:id="rId45"/>
    <p:sldId id="431" r:id="rId46"/>
    <p:sldId id="432" r:id="rId47"/>
    <p:sldId id="433" r:id="rId48"/>
    <p:sldId id="434" r:id="rId49"/>
    <p:sldId id="435" r:id="rId50"/>
    <p:sldId id="436" r:id="rId51"/>
    <p:sldId id="437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8" autoAdjust="0"/>
    <p:restoredTop sz="94660"/>
  </p:normalViewPr>
  <p:slideViewPr>
    <p:cSldViewPr snapToGrid="0">
      <p:cViewPr varScale="1">
        <p:scale>
          <a:sx n="98" d="100"/>
          <a:sy n="98" d="100"/>
        </p:scale>
        <p:origin x="96" y="10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B400AA-101D-490E-9D4E-C89A20702DB7}" type="datetimeFigureOut">
              <a:rPr lang="en-CA" smtClean="0"/>
              <a:t>2026-03-11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E3026F-2F57-4911-B7AF-7A689FB873B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8263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C467B-3273-4353-9FBF-06D73C896B70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9908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400347CB-BE5D-00C9-FE93-D618CD47EA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D332E03-3BC0-41D1-9BED-D3C1005594D9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543746" name="Rectangle 2">
            <a:extLst>
              <a:ext uri="{FF2B5EF4-FFF2-40B4-BE49-F238E27FC236}">
                <a16:creationId xmlns:a16="http://schemas.microsoft.com/office/drawing/2014/main" id="{4924F3B3-9C27-E1DF-EEF6-1A07FF30AC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3747" name="Rectangle 3">
            <a:extLst>
              <a:ext uri="{FF2B5EF4-FFF2-40B4-BE49-F238E27FC236}">
                <a16:creationId xmlns:a16="http://schemas.microsoft.com/office/drawing/2014/main" id="{C1096594-D7E3-FCC2-0577-E30E3CE754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C20F8-4895-94C2-8FA2-66E560A3DD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13532E-8058-C5C8-2506-01C74706A4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20B31-ECF3-1B78-C88E-2148C3B10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572FD-17C4-4195-9A46-AE8481F14B8C}" type="datetime1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1BAD8-50A4-147C-2CD6-F410FAA50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736EB-F489-50CF-C0A0-04EB3CCF9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3789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7FFDF-AD45-70DA-DBFC-39804BF3F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2D168-5FB0-0976-8F46-0E62B2230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1FBDD-8676-E7A6-9767-AB25F16F1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474CF-B37F-47E1-344C-FD179A8E2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9AB56-2130-1784-C270-DE61E834A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88019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6BE87-9176-DC6D-7E6D-AED5F1B4A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EC646E-906C-DE6E-F460-1AC7588A2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40353-D6E5-F285-0B15-2DB721750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D8C76-B400-4F53-8805-742D98EC80C2}" type="datetime1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EB755-C4F9-EE1D-2472-393D0DBAB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453E9-EC5D-3196-40C9-35FA1716D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31698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D1056-F3E9-D796-0188-DB7047707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28AF2-16F2-34A3-7D15-A28F084D7F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200C63-AE05-0355-4E48-2A59004280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E35A27-2CA0-DA96-DE81-302589919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C1D2-65BD-4030-B320-CFCAC7C2CF77}" type="datetime1">
              <a:rPr lang="en-CA" smtClean="0"/>
              <a:t>2026-03-11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28EA9-8003-DD37-3C59-F8052CFF8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4FAD97-AD46-797F-A73B-AF034EAEA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3238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8877C-0091-8117-3240-C15EE8097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604D97-6B5B-4B40-4797-44D7356E7D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4142B3-B5E2-E0F0-2A8C-A393861C7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C2CD81-F1F0-AA13-E635-956E2240D5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FAB232-10B9-29C1-5C2E-2889B2CE38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D6067B-4CB1-4ADC-0871-7F90B6EA9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16206-5BA6-460D-9780-A5A1F3FC520F}" type="datetime1">
              <a:rPr lang="en-CA" smtClean="0"/>
              <a:t>2026-03-11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72D8B8-EC13-2FE1-4AC1-DA30BE305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4DC02A-2269-D62D-A2F6-4EF60E091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4608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41633-4B93-3962-0831-3F79E9ABF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F8BB15-178F-4440-5C62-42B7740A3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C05AF-8116-461A-AD38-E69AB126D756}" type="datetime1">
              <a:rPr lang="en-CA" smtClean="0"/>
              <a:t>2026-03-11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4C8318-4472-251E-FF42-F757E514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E9102C-45D2-0478-F645-1A88A7A11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25682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25DD8B-C610-0C5A-B29C-D1B094483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A9D55-1BF1-40D6-87EC-FFE4362AD15D}" type="datetime1">
              <a:rPr lang="en-CA" smtClean="0"/>
              <a:t>2026-03-11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6B6D3F-76F9-6977-7F11-BE45F2EC0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5A9206-29F6-A2E5-EDBE-A7B2B18CD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1174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47E14-E8C6-533B-D648-163F2F54E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A9B72-F8AD-A435-F12C-6AD72286F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7432E5-2EAF-0407-8CD8-9B140466B1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02223D-CE1E-B50D-3F81-A62336919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A4D12-9B66-4D3F-BFEA-EB6939410680}" type="datetime1">
              <a:rPr lang="en-CA" smtClean="0"/>
              <a:t>2026-03-11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EA51B3-198E-8FF6-7810-ABDEB19C2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7FA87D-3783-15DA-A1C4-C367745B7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77592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1862D-A78F-02BE-CD84-089873284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463AF3-1586-FA07-67E3-0C17B2BA1E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72F072-26D7-47EA-01F2-D095376AD2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645053-29D5-8E85-C3A3-7FE2C8726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CAEB-FDAC-4944-A700-E5025FBDCFB8}" type="datetime1">
              <a:rPr lang="en-CA" smtClean="0"/>
              <a:t>2026-03-11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6246A4-4AA2-74B5-1BEF-D6B2F5758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84B5FB-02D4-18AB-B564-1BE49B678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98006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ECA42-0B39-62AD-0647-16416EEC9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A3D16F-BC9B-504D-20C9-5B9DDFCF7F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7887E-9BD0-50E7-7855-5A6892289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888EE-D2E8-458C-B025-86AB65CB2342}" type="datetime1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2909D-9B71-3004-5853-0865DFCA6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AFD81-4FDD-5E6A-7EF0-A0AF3D9E8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33024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40C928-04C0-FFD8-6FB7-52544F5E6A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7AE9ED-B388-AC41-6080-6F91ABFBFF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55B1A-AF28-25B7-80B2-2EF9AF2FA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D418E-0BAA-477E-AE93-7DEEFAFBE002}" type="datetime1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1F440-1924-B1AA-DA08-FF6D4D5C9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20E6E-67ED-9028-647B-5F9E902E6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23101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25F461-5089-4FA6-F30A-FEECC0377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2A3026-0C22-41E8-F2F9-B44737EDE9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2E1FB-D0DD-0542-98E0-F8AD6C0C62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E9C524-F283-4997-8372-EC621E6F8B97}" type="datetime1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F4F27-F292-F8E1-8EEB-4B04DCFE55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F6AB7-62BE-C74A-0375-1B18D98B1B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25CC40-D0F6-4666-ABAA-DE78F621EF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231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40332-C356-1B1E-0B6B-B1E4E812BA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Computer Architecture:</a:t>
            </a:r>
            <a:br>
              <a:rPr lang="en-CA" dirty="0"/>
            </a:br>
            <a:r>
              <a:rPr lang="en-CA" i="1" dirty="0"/>
              <a:t>Memory Caches and Performance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A56E0B-2030-B06C-4A76-67F52B07E9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Dr. Colin O’Flynn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286F8-7046-B580-89F1-4F0575352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05903-4A42-43A9-9B07-0A555E8C01D2}" type="datetime1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94224-0D5F-188B-78F3-15A498B54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17701-B7BA-E8D0-BE9E-EECDE6DB3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94930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9ADA9-27CC-7B3F-58A4-E641BF35C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9C3AB-3011-E0FF-7C9F-80D07663722F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r>
              <a:rPr lang="en-CA" dirty="0"/>
              <a:t>How does a program run on a machine?</a:t>
            </a:r>
          </a:p>
          <a:p>
            <a:r>
              <a:rPr lang="en-CA" dirty="0"/>
              <a:t>How do you compile from high-level code to machine code?</a:t>
            </a:r>
          </a:p>
          <a:p>
            <a:r>
              <a:rPr lang="en-CA" dirty="0"/>
              <a:t>How does the machine run? (Control Flow)</a:t>
            </a:r>
          </a:p>
          <a:p>
            <a:r>
              <a:rPr lang="en-CA" dirty="0"/>
              <a:t>How does the machine store data?</a:t>
            </a:r>
          </a:p>
          <a:p>
            <a:r>
              <a:rPr lang="en-CA" dirty="0"/>
              <a:t>How does the machine interface using buses?</a:t>
            </a:r>
          </a:p>
          <a:p>
            <a:r>
              <a:rPr lang="en-CA" dirty="0"/>
              <a:t>What does it mean to have “allowed” memory?</a:t>
            </a:r>
          </a:p>
          <a:p>
            <a:r>
              <a:rPr lang="en-CA" dirty="0"/>
              <a:t>Why is some memory faster &amp; slower?</a:t>
            </a:r>
          </a:p>
          <a:p>
            <a:r>
              <a:rPr lang="en-CA" b="1" dirty="0">
                <a:solidFill>
                  <a:srgbClr val="FF0000"/>
                </a:solidFill>
              </a:rPr>
              <a:t>How does the machine speed up data access?</a:t>
            </a:r>
          </a:p>
          <a:p>
            <a:endParaRPr lang="en-CA" dirty="0">
              <a:solidFill>
                <a:srgbClr val="FF0000"/>
              </a:solidFill>
            </a:endParaRPr>
          </a:p>
          <a:p>
            <a:endParaRPr lang="en-CA" b="1" dirty="0">
              <a:solidFill>
                <a:srgbClr val="FF0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6FB1E-13D4-AF84-CD57-0DE278036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5975C-2D17-4D58-BAA2-AE3D2D8697E0}" type="datetime1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42B00-C73D-1737-27CD-9FFFCF533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C70CA-A863-53D2-59FA-8884AFF82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FE6AF-7EC0-4502-9F71-820950EA8DB2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339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D7450-2176-F7E1-663B-44CF7E54F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What’s all this other stuff near the CPU?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BEBCB-09A7-B8AE-7D62-961C09946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F1D8C-199D-B847-A60D-1C1C05B7E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6D3A7C-999B-CB88-6002-2BF0BCD68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</a:t>
            </a:fld>
            <a:endParaRPr lang="en-CA"/>
          </a:p>
        </p:txBody>
      </p:sp>
      <p:pic>
        <p:nvPicPr>
          <p:cNvPr id="7" name="Content Placeholder 7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7AD7C2D9-0DCB-9195-C710-223F29C3EA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0089" y="1356701"/>
            <a:ext cx="7355869" cy="4754929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6593158-2CCD-8424-5F6C-AE7CC44FFBFA}"/>
              </a:ext>
            </a:extLst>
          </p:cNvPr>
          <p:cNvSpPr txBox="1">
            <a:spLocks/>
          </p:cNvSpPr>
          <p:nvPr/>
        </p:nvSpPr>
        <p:spPr>
          <a:xfrm>
            <a:off x="7854461" y="2271470"/>
            <a:ext cx="4275016" cy="24490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/>
              <a:t>Finally we answer how the CPU deals with latency.</a:t>
            </a:r>
          </a:p>
        </p:txBody>
      </p:sp>
    </p:spTree>
    <p:extLst>
      <p:ext uri="{BB962C8B-B14F-4D97-AF65-F5344CB8AC3E}">
        <p14:creationId xmlns:p14="http://schemas.microsoft.com/office/powerpoint/2010/main" val="476532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4C640-3C1B-3247-E389-9F440DB93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Memory Wall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58A09-75AB-2CD6-800E-5AB63142E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73246" cy="4351338"/>
          </a:xfrm>
        </p:spPr>
        <p:txBody>
          <a:bodyPr/>
          <a:lstStyle/>
          <a:p>
            <a:r>
              <a:rPr lang="en-CA" dirty="0"/>
              <a:t>CPU speed has increased much faster than memory speed.</a:t>
            </a:r>
          </a:p>
          <a:p>
            <a:endParaRPr lang="en-CA" dirty="0"/>
          </a:p>
          <a:p>
            <a:r>
              <a:rPr lang="en-CA" dirty="0"/>
              <a:t>Memory becomes the limiting factor!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EA5F23-76DB-A285-6C2B-0808E57C9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0FDAA-40AB-F9E1-0029-C09DD5412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ED586-E566-5518-94E1-1E1328D7E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4</a:t>
            </a:fld>
            <a:endParaRPr lang="en-CA"/>
          </a:p>
        </p:txBody>
      </p:sp>
      <p:pic>
        <p:nvPicPr>
          <p:cNvPr id="12" name="Picture 11" descr="A graph showing the memory of a processor&#10;&#10;AI-generated content may be incorrect.">
            <a:extLst>
              <a:ext uri="{FF2B5EF4-FFF2-40B4-BE49-F238E27FC236}">
                <a16:creationId xmlns:a16="http://schemas.microsoft.com/office/drawing/2014/main" id="{828542B8-1CA3-A507-DD6E-5C28CDC85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717" y="1825625"/>
            <a:ext cx="626982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213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0ABBC-E757-028D-9C69-A302F56BE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Registers </a:t>
            </a:r>
            <a:r>
              <a:rPr lang="en-CA" dirty="0">
                <a:sym typeface="Wingdings" panose="05000000000000000000" pitchFamily="2" charset="2"/>
              </a:rPr>
              <a:t> Caches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BFB51-C181-EF3D-A9E6-9B5480ECA2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CA" dirty="0"/>
              <a:t>We already have the idea of </a:t>
            </a:r>
            <a:r>
              <a:rPr lang="en-CA" u="sng" dirty="0"/>
              <a:t>registers</a:t>
            </a:r>
            <a:r>
              <a:rPr lang="en-CA" dirty="0"/>
              <a:t> which are very fast…</a:t>
            </a:r>
          </a:p>
          <a:p>
            <a:endParaRPr lang="en-CA" dirty="0"/>
          </a:p>
          <a:p>
            <a:r>
              <a:rPr lang="en-CA" dirty="0"/>
              <a:t>We know from previous lectures that registers are basically memory…</a:t>
            </a:r>
          </a:p>
          <a:p>
            <a:endParaRPr lang="en-CA" dirty="0"/>
          </a:p>
          <a:p>
            <a:r>
              <a:rPr lang="en-CA" dirty="0" err="1"/>
              <a:t>Sooo</a:t>
            </a:r>
            <a:r>
              <a:rPr lang="en-CA" dirty="0"/>
              <a:t>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EF07F-A539-DAFD-14CA-3320DA713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F6010F-8C45-7CF6-C89C-999B98587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1769D-6D2B-B2CF-0F16-3BF79AF64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5</a:t>
            </a:fld>
            <a:endParaRPr lang="en-CA"/>
          </a:p>
        </p:txBody>
      </p:sp>
      <p:pic>
        <p:nvPicPr>
          <p:cNvPr id="2050" name="Picture 2" descr="What is a Register in a CPU and How Does it Work? - Total Phase">
            <a:extLst>
              <a:ext uri="{FF2B5EF4-FFF2-40B4-BE49-F238E27FC236}">
                <a16:creationId xmlns:a16="http://schemas.microsoft.com/office/drawing/2014/main" id="{289DBE6C-B79A-D51A-65BA-655B143DA9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0863" y="1436932"/>
            <a:ext cx="6038054" cy="4740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9755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95B44-59A6-816D-B6F6-87680C200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7C0B9-0227-925C-FE7A-F0D0E307D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Registers </a:t>
            </a:r>
            <a:r>
              <a:rPr lang="en-CA" dirty="0">
                <a:sym typeface="Wingdings" panose="05000000000000000000" pitchFamily="2" charset="2"/>
              </a:rPr>
              <a:t> Caches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08C80-7A04-D17B-56AB-AFF42A272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686908" cy="4114067"/>
          </a:xfrm>
        </p:spPr>
        <p:txBody>
          <a:bodyPr>
            <a:normAutofit/>
          </a:bodyPr>
          <a:lstStyle/>
          <a:p>
            <a:r>
              <a:rPr lang="en-CA" dirty="0"/>
              <a:t>Put some memory right by the CPU!</a:t>
            </a:r>
          </a:p>
          <a:p>
            <a:endParaRPr lang="en-CA" dirty="0"/>
          </a:p>
          <a:p>
            <a:r>
              <a:rPr lang="en-CA" dirty="0"/>
              <a:t>This memory keeps copies of data we access frequently.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AE912-22CD-B541-4048-0BFC599B4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EC2EB-4583-DB86-05E8-0F468EE37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B3190-66CF-8F4B-D4B9-E16ACA28E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6</a:t>
            </a:fld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AA0E8B-3153-4CD3-43E8-3773691AF1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459"/>
          <a:stretch>
            <a:fillRect/>
          </a:stretch>
        </p:blipFill>
        <p:spPr bwMode="auto">
          <a:xfrm>
            <a:off x="4978399" y="2107346"/>
            <a:ext cx="6776916" cy="2193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0196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C695C-5CFD-DBB8-38F2-5379C427E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Why Caches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700F0-65AA-4C7F-B57A-51665FD76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Assume two memories in a system:</a:t>
            </a:r>
          </a:p>
          <a:p>
            <a:pPr lvl="1"/>
            <a:r>
              <a:rPr lang="en-CA" dirty="0"/>
              <a:t>1 mS (Memory 1)</a:t>
            </a:r>
          </a:p>
          <a:p>
            <a:pPr lvl="1"/>
            <a:r>
              <a:rPr lang="en-CA" dirty="0"/>
              <a:t>100 mS (Memory 2)</a:t>
            </a:r>
          </a:p>
          <a:p>
            <a:pPr lvl="1"/>
            <a:endParaRPr lang="en-CA" dirty="0"/>
          </a:p>
          <a:p>
            <a:r>
              <a:rPr lang="en-CA" dirty="0"/>
              <a:t>If 95% of memory accesses on faster level, average access time:</a:t>
            </a:r>
          </a:p>
          <a:p>
            <a:endParaRPr lang="en-CA" dirty="0"/>
          </a:p>
          <a:p>
            <a:pPr marL="0" indent="0">
              <a:buNone/>
            </a:pPr>
            <a:r>
              <a:rPr lang="en-CA" dirty="0"/>
              <a:t>	(0.95)(1mS) + (0.05)(100mS) 	=	0.95mS + 5mS</a:t>
            </a:r>
          </a:p>
          <a:p>
            <a:pPr marL="0" indent="0">
              <a:buNone/>
            </a:pPr>
            <a:r>
              <a:rPr lang="en-CA" dirty="0"/>
              <a:t>						=	</a:t>
            </a:r>
            <a:r>
              <a:rPr lang="en-CA" b="1" dirty="0"/>
              <a:t>5.95mS</a:t>
            </a:r>
            <a:endParaRPr lang="en-CA" b="1" i="1" dirty="0"/>
          </a:p>
          <a:p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164E9-4F72-1F84-B52B-E3268A78E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4E8C3-FF04-C8C3-FE02-BB3AF26BB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268688-BB6A-92B4-88C5-B4A8D1D5E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36393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06390-9395-990C-4A46-01E82BFDF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Cache Operation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009CB-953C-6688-5491-26700CA20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C0F77-248B-FA91-DF47-C229217A6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8B05B-578E-72D9-97E4-6AD9850E8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8</a:t>
            </a:fld>
            <a:endParaRPr lang="en-CA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2AA0E8B-3153-4CD3-43E8-3773691AF19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459"/>
          <a:stretch>
            <a:fillRect/>
          </a:stretch>
        </p:blipFill>
        <p:spPr bwMode="auto">
          <a:xfrm>
            <a:off x="3105838" y="2024490"/>
            <a:ext cx="5504762" cy="17809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6FD4421-2915-2F10-3B9F-ED6BA377C674}"/>
              </a:ext>
            </a:extLst>
          </p:cNvPr>
          <p:cNvSpPr txBox="1">
            <a:spLocks/>
          </p:cNvSpPr>
          <p:nvPr/>
        </p:nvSpPr>
        <p:spPr>
          <a:xfrm>
            <a:off x="838200" y="3805419"/>
            <a:ext cx="10515600" cy="237154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CA" dirty="0"/>
              <a:t>CPU requests memory location.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CA" dirty="0">
                <a:cs typeface="Courier New" panose="02070309020205020404" pitchFamily="49" charset="0"/>
              </a:rPr>
              <a:t>Check cache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CA" dirty="0">
                <a:cs typeface="Courier New" panose="02070309020205020404" pitchFamily="49" charset="0"/>
              </a:rPr>
              <a:t>If present, return from cache (“</a:t>
            </a:r>
            <a:r>
              <a:rPr lang="en-CA" i="1" dirty="0">
                <a:cs typeface="Courier New" panose="02070309020205020404" pitchFamily="49" charset="0"/>
              </a:rPr>
              <a:t>cache hit”)</a:t>
            </a:r>
            <a:endParaRPr lang="en-CA" dirty="0">
              <a:cs typeface="Courier New" panose="02070309020205020404" pitchFamily="49" charset="0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CA" dirty="0">
                <a:cs typeface="Courier New" panose="02070309020205020404" pitchFamily="49" charset="0"/>
              </a:rPr>
              <a:t>If not, read from main memory and copy to cache (“</a:t>
            </a:r>
            <a:r>
              <a:rPr lang="en-CA" i="1" dirty="0">
                <a:cs typeface="Courier New" panose="02070309020205020404" pitchFamily="49" charset="0"/>
              </a:rPr>
              <a:t>cache miss”)</a:t>
            </a:r>
            <a:endParaRPr lang="en-CA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9098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0CD7F-EBF6-A4A5-7272-148512418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Access Time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6B477-944B-D39A-BDDB-4A12A8399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3942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Calculate </a:t>
            </a:r>
            <a:r>
              <a:rPr lang="en-US" i="1" dirty="0"/>
              <a:t>Average Memory Access Time (AMAT)</a:t>
            </a:r>
            <a:r>
              <a:rPr lang="en-US" dirty="0"/>
              <a:t>: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9DB77-9238-EDD3-D059-75127851F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227F95-243D-628C-23DE-B0D3737E4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CC6098-80E7-8683-48DF-87A98A26A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9</a:t>
            </a:fld>
            <a:endParaRPr lang="en-CA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BDE93CE-2BFD-75A3-FC6C-4AE3F028A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201" y="2799983"/>
            <a:ext cx="5172797" cy="43821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B933579-4D88-194B-2F05-A7E7F3CDE2D1}"/>
              </a:ext>
            </a:extLst>
          </p:cNvPr>
          <p:cNvSpPr txBox="1"/>
          <p:nvPr/>
        </p:nvSpPr>
        <p:spPr>
          <a:xfrm>
            <a:off x="1414585" y="3535285"/>
            <a:ext cx="950350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</a:t>
            </a:r>
            <a:r>
              <a:rPr lang="en-US" i="1" baseline="-25000" dirty="0"/>
              <a:t>hit</a:t>
            </a:r>
            <a:r>
              <a:rPr lang="en-US" dirty="0"/>
              <a:t> = Cache hit time</a:t>
            </a:r>
          </a:p>
          <a:p>
            <a:r>
              <a:rPr lang="en-US" i="1" dirty="0" err="1"/>
              <a:t>MissRate</a:t>
            </a:r>
            <a:r>
              <a:rPr lang="en-US" dirty="0"/>
              <a:t> = fraction of accesses that miss</a:t>
            </a:r>
          </a:p>
          <a:p>
            <a:r>
              <a:rPr lang="en-US" i="1" dirty="0" err="1"/>
              <a:t>MissPenalty</a:t>
            </a:r>
            <a:r>
              <a:rPr lang="en-US" dirty="0"/>
              <a:t> = Extra cache miss time (e.g., above </a:t>
            </a:r>
            <a:r>
              <a:rPr lang="en-US" i="1" dirty="0"/>
              <a:t>T</a:t>
            </a:r>
            <a:r>
              <a:rPr lang="en-US" i="1" baseline="-25000" dirty="0"/>
              <a:t>hit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i="1" dirty="0"/>
              <a:t>Normally times = CPU Cycles</a:t>
            </a:r>
            <a:endParaRPr lang="en-CA" i="1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16127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0E23B-5369-42A2-8811-0AEAAD3FC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vs. Instruction Caches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64F4A-2DE9-B3B8-2572-CC2A5E8CDA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2179"/>
            <a:ext cx="10515600" cy="10191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If we have an </a:t>
            </a:r>
            <a:r>
              <a:rPr lang="en-US" u="sng" dirty="0"/>
              <a:t>instruction cache</a:t>
            </a:r>
            <a:r>
              <a:rPr lang="en-US" dirty="0"/>
              <a:t> (not just data memory), we can convert the above to a </a:t>
            </a:r>
            <a:r>
              <a:rPr lang="en-US" i="1" dirty="0"/>
              <a:t>Cycles Per Instruction</a:t>
            </a:r>
            <a:r>
              <a:rPr lang="en-US" dirty="0"/>
              <a:t> (CPI):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D64A8C-28B2-73CB-8FA1-CA5946479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C6065-447C-6313-D625-D8B6CDCEA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E6DBB-60CE-B06B-5ADB-7C09D2C64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10</a:t>
            </a:fld>
            <a:endParaRPr lang="en-C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58019D-836E-D7EA-E9A9-174C10AF6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7250" y="3181963"/>
            <a:ext cx="9240540" cy="69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704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08A83-94AC-997B-3A9F-E17424DB2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A1E9E-E2B0-0062-BC13-FD997E761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Why Caches Work (Cont’d)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F7F07-D3E6-72C8-342E-C776380F9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CA" b="1" i="1" dirty="0"/>
          </a:p>
          <a:p>
            <a:pPr marL="0" indent="0">
              <a:buNone/>
            </a:pPr>
            <a:endParaRPr lang="en-CA" b="1" i="1" dirty="0"/>
          </a:p>
          <a:p>
            <a:pPr marL="0" indent="0">
              <a:buNone/>
            </a:pPr>
            <a:r>
              <a:rPr lang="en-CA" b="1" i="1" dirty="0"/>
              <a:t>If we can get the majority of data access to fast memory, we still win big.</a:t>
            </a:r>
          </a:p>
          <a:p>
            <a:pPr marL="0" indent="0">
              <a:buNone/>
            </a:pPr>
            <a:endParaRPr lang="en-CA" b="1" i="1" dirty="0"/>
          </a:p>
          <a:p>
            <a:pPr marL="0" indent="0">
              <a:buNone/>
            </a:pPr>
            <a:r>
              <a:rPr lang="en-CA" b="1" i="1" dirty="0"/>
              <a:t>Occasional slow copies from memory are fine, worth copying to fast memory when possible.</a:t>
            </a:r>
          </a:p>
          <a:p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98491-8472-D38D-5C19-8488F3392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FAD9B-B985-0389-9975-B692711E9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1DB53-8B29-F116-CFD2-AF49FAC9B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31793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EDF45-888A-696A-508B-C7ECAB798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Why Caches Work: Temporal Locality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7560E-CEA2-8733-DF96-930843D90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n-NO" dirty="0">
                <a:latin typeface="Courier New" panose="02070309020205020404" pitchFamily="49" charset="0"/>
                <a:cs typeface="Courier New" panose="02070309020205020404" pitchFamily="49" charset="0"/>
              </a:rPr>
              <a:t>for(int i=0;i&lt;100;i++)</a:t>
            </a:r>
            <a:br>
              <a:rPr lang="nn-NO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n-NO" dirty="0">
                <a:latin typeface="Courier New" panose="02070309020205020404" pitchFamily="49" charset="0"/>
                <a:cs typeface="Courier New" panose="02070309020205020404" pitchFamily="49" charset="0"/>
              </a:rPr>
              <a:t>	sum += array[0];</a:t>
            </a:r>
          </a:p>
          <a:p>
            <a:pPr marL="0" indent="0">
              <a:buNone/>
            </a:pPr>
            <a:endParaRPr lang="nn-NO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n-NO" dirty="0">
                <a:cs typeface="Courier New" panose="02070309020205020404" pitchFamily="49" charset="0"/>
              </a:rPr>
              <a:t>Memory accessed recently is </a:t>
            </a:r>
            <a:r>
              <a:rPr lang="nn-NO" u="sng" dirty="0">
                <a:cs typeface="Courier New" panose="02070309020205020404" pitchFamily="49" charset="0"/>
              </a:rPr>
              <a:t>very likely</a:t>
            </a:r>
            <a:r>
              <a:rPr lang="nn-NO" dirty="0">
                <a:cs typeface="Courier New" panose="02070309020205020404" pitchFamily="49" charset="0"/>
              </a:rPr>
              <a:t> to be accessed again.</a:t>
            </a:r>
          </a:p>
          <a:p>
            <a:pPr marL="0" indent="0">
              <a:buNone/>
            </a:pPr>
            <a:endParaRPr lang="nn-NO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n-NO" dirty="0">
                <a:cs typeface="Courier New" panose="02070309020205020404" pitchFamily="49" charset="0"/>
              </a:rPr>
              <a:t>If we access data, very likely we will access it again soon.</a:t>
            </a:r>
            <a:endParaRPr lang="en-CA" dirty="0"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E1721-3EE2-5B1F-131E-93DF38E86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0ABBB-432D-7E18-39FF-56ADBD7A2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8856DA-28BA-83D8-BB48-8FEBC4C11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35798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DB71A-014B-C045-64F1-C177DF63A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Why Caches Work: Spatial Locality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EA516-D17C-7C43-D15E-51B1719B3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Functions often access data in similar areas (think stack usage!). Or for example another loop: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nn-NO" dirty="0">
                <a:latin typeface="Courier New" panose="02070309020205020404" pitchFamily="49" charset="0"/>
                <a:cs typeface="Courier New" panose="02070309020205020404" pitchFamily="49" charset="0"/>
              </a:rPr>
              <a:t>for(int i=0;i&lt;100;i++)</a:t>
            </a:r>
            <a:br>
              <a:rPr lang="nn-NO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n-NO" dirty="0">
                <a:latin typeface="Courier New" panose="02070309020205020404" pitchFamily="49" charset="0"/>
                <a:cs typeface="Courier New" panose="02070309020205020404" pitchFamily="49" charset="0"/>
              </a:rPr>
              <a:t>	sum += array[i];</a:t>
            </a:r>
          </a:p>
          <a:p>
            <a:pPr marL="0" indent="0">
              <a:buNone/>
            </a:pPr>
            <a:endParaRPr lang="nn-NO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n-NO" dirty="0">
                <a:cs typeface="Courier New" panose="02070309020205020404" pitchFamily="49" charset="0"/>
              </a:rPr>
              <a:t>If we access data, very likely we will access nearby data.</a:t>
            </a:r>
            <a:endParaRPr lang="en-CA" dirty="0"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595C6-7C72-5F3A-A81D-B0F9AFCF8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B06D1-0ED1-A160-9AE2-C18A01308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589B8-D005-31DA-6344-8777433CE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41082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D7F2D-D9D5-3220-DD87-D52B53108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Caches Work: Instruction Access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AB440-3C3E-5A76-52DD-D3962354E8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Programs tend to follow linear flow.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Many jumps will be within a short area (e.g., think if() statements).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1DF8E-94A0-8819-8032-D96F65C55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321BC-DD85-B871-81E2-291417218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BCC0C-982B-7939-0B96-28CAD3860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22491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3A8AC-3AF9-C806-BEAE-41BB14285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8DE5E-A5B5-767F-2E72-36062E3C8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Caches Work: Compilers &amp; Designers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8F08A-8B27-E462-170C-C37F192DA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4106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Compilers (or designers) can </a:t>
            </a:r>
            <a:r>
              <a:rPr lang="en-US" u="sng" dirty="0"/>
              <a:t>optimize both data and instructions for cache usage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 of a simple matrix multiply: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906850-8354-8A13-4359-C755503F6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6640D-4BC6-E8DE-52CB-1B0CEC1C5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50EA3-3E5F-AF70-8BB4-A9EA20C62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15</a:t>
            </a:fld>
            <a:endParaRPr lang="en-CA"/>
          </a:p>
        </p:txBody>
      </p:sp>
      <p:pic>
        <p:nvPicPr>
          <p:cNvPr id="1026" name="Picture 2" descr="Matrix Multiplication-Why is it a big deal? | by Charchithowitzer | Medium">
            <a:extLst>
              <a:ext uri="{FF2B5EF4-FFF2-40B4-BE49-F238E27FC236}">
                <a16:creationId xmlns:a16="http://schemas.microsoft.com/office/drawing/2014/main" id="{F548FA56-7E36-8B65-4552-D13CAC7EF1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8585" y="3836178"/>
            <a:ext cx="6510215" cy="2199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02631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F54B2-EFC5-CA89-DC23-A502433FE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-j-k</a:t>
            </a:r>
            <a:endParaRPr lang="en-CA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E91C8-1F42-E8D6-9A3C-A45E8AF3B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4944"/>
            <a:ext cx="10515600" cy="31906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CA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CA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&lt; N; </a:t>
            </a:r>
            <a:r>
              <a:rPr lang="en-CA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pPr marL="0" indent="0">
              <a:buNone/>
            </a:pP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(j = 0; j &lt; N; </a:t>
            </a:r>
            <a:r>
              <a:rPr lang="en-CA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j++</a:t>
            </a: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buNone/>
            </a:pP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(k = 0; k &lt; N; k++) {</a:t>
            </a:r>
          </a:p>
          <a:p>
            <a:pPr marL="0" indent="0">
              <a:buNone/>
            </a:pP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C[</a:t>
            </a:r>
            <a:r>
              <a:rPr lang="en-CA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][j] += A[</a:t>
            </a:r>
            <a:r>
              <a:rPr lang="en-CA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][k] * B[k][j];</a:t>
            </a:r>
          </a:p>
          <a:p>
            <a:pPr marL="0" indent="0">
              <a:buNone/>
            </a:pP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55CFD-C1DE-039E-D8BF-B559379D0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055B7-BB09-B164-6B94-96FFAD4D0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08D78-5F4F-469B-54D9-615BEB8D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16</a:t>
            </a:fld>
            <a:endParaRPr lang="en-C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C7AE2F-41A7-F856-AB83-3C6240D76186}"/>
              </a:ext>
            </a:extLst>
          </p:cNvPr>
          <p:cNvSpPr txBox="1"/>
          <p:nvPr/>
        </p:nvSpPr>
        <p:spPr>
          <a:xfrm>
            <a:off x="2029496" y="5009882"/>
            <a:ext cx="91944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A[</a:t>
            </a:r>
            <a:r>
              <a:rPr lang="en-US" sz="2400" dirty="0" err="1"/>
              <a:t>i</a:t>
            </a:r>
            <a:r>
              <a:rPr lang="en-US" sz="2400" dirty="0"/>
              <a:t>][k]: walks across a row (good)</a:t>
            </a:r>
          </a:p>
          <a:p>
            <a:r>
              <a:rPr lang="en-US" sz="2400" dirty="0"/>
              <a:t>B[k][j]: walks down a column (bad)</a:t>
            </a:r>
          </a:p>
          <a:p>
            <a:r>
              <a:rPr lang="en-US" sz="2400" dirty="0"/>
              <a:t>C[</a:t>
            </a:r>
            <a:r>
              <a:rPr lang="en-US" sz="2400" dirty="0" err="1"/>
              <a:t>i</a:t>
            </a:r>
            <a:r>
              <a:rPr lang="en-US" sz="2400" dirty="0"/>
              <a:t>][j]: same element reused in the inner loop (good)</a:t>
            </a: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6727243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FBDE6-FC8B-41DF-AD07-C8424E834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89C68-3916-0916-5782-366D26766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-k-j</a:t>
            </a:r>
            <a:endParaRPr lang="en-CA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6117D-4613-DEA1-FBB9-C7887E827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4944"/>
            <a:ext cx="10515600" cy="31906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CA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CA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&lt; N; </a:t>
            </a:r>
            <a:r>
              <a:rPr lang="en-CA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pPr marL="0" indent="0">
              <a:buNone/>
            </a:pP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(k = 0; k &lt; N; k++) {</a:t>
            </a:r>
          </a:p>
          <a:p>
            <a:pPr marL="0" indent="0">
              <a:buNone/>
            </a:pP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(j = 0; j &lt; N; </a:t>
            </a:r>
            <a:r>
              <a:rPr lang="en-CA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j++</a:t>
            </a: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buNone/>
            </a:pP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C[</a:t>
            </a:r>
            <a:r>
              <a:rPr lang="en-CA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][j] += A[</a:t>
            </a:r>
            <a:r>
              <a:rPr lang="en-CA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][k] * B[k][j];</a:t>
            </a:r>
          </a:p>
          <a:p>
            <a:pPr marL="0" indent="0">
              <a:buNone/>
            </a:pP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5EC5C-DD58-DB86-89EF-D876EB645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2480A-C530-7BA0-4CB5-E5D15D0B6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31BB7-F4A7-C646-49FA-13930FB10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17</a:t>
            </a:fld>
            <a:endParaRPr lang="en-C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6ADF97-A6CA-72F5-6203-51298316C63B}"/>
              </a:ext>
            </a:extLst>
          </p:cNvPr>
          <p:cNvSpPr txBox="1"/>
          <p:nvPr/>
        </p:nvSpPr>
        <p:spPr>
          <a:xfrm>
            <a:off x="2029496" y="5009882"/>
            <a:ext cx="91944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A[</a:t>
            </a:r>
            <a:r>
              <a:rPr lang="en-US" sz="2400" dirty="0" err="1"/>
              <a:t>i</a:t>
            </a:r>
            <a:r>
              <a:rPr lang="en-US" sz="2400" dirty="0"/>
              <a:t>][k]: one value reused across the whole inner (very good)</a:t>
            </a:r>
          </a:p>
          <a:p>
            <a:r>
              <a:rPr lang="en-US" sz="2400" dirty="0"/>
              <a:t>B[k][j]: walks across a row of B (good)</a:t>
            </a:r>
          </a:p>
          <a:p>
            <a:r>
              <a:rPr lang="en-US" sz="2400" dirty="0"/>
              <a:t>C[</a:t>
            </a:r>
            <a:r>
              <a:rPr lang="en-US" sz="2400" dirty="0" err="1"/>
              <a:t>i</a:t>
            </a:r>
            <a:r>
              <a:rPr lang="en-US" sz="2400" dirty="0"/>
              <a:t>][j]: walks across a row of C (good)</a:t>
            </a: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2340177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E51CA-F880-4CFD-C590-FDDED417D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  <a:endParaRPr lang="en-CA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B77BDC3-2107-EC6D-9425-96E55FEA15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0" y="667778"/>
            <a:ext cx="5351171" cy="433562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51B68-D0FF-8DF2-E8E8-AC9E7A417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60FD8-D7A3-6861-7CED-AD732951B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A0169-6FAA-F184-B479-23F55E24E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18</a:t>
            </a:fld>
            <a:endParaRPr lang="en-C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930F23-8F9E-6007-844B-229D5A1E0914}"/>
              </a:ext>
            </a:extLst>
          </p:cNvPr>
          <p:cNvSpPr txBox="1"/>
          <p:nvPr/>
        </p:nvSpPr>
        <p:spPr>
          <a:xfrm>
            <a:off x="2487233" y="5652683"/>
            <a:ext cx="80863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/>
              <a:t>(See </a:t>
            </a:r>
            <a:r>
              <a:rPr lang="en-CA" sz="2400" b="1" dirty="0"/>
              <a:t>cache_simulator_tool.html </a:t>
            </a:r>
            <a:r>
              <a:rPr lang="en-CA" sz="2400" dirty="0"/>
              <a:t>in class repo)</a:t>
            </a:r>
          </a:p>
        </p:txBody>
      </p:sp>
    </p:spTree>
    <p:extLst>
      <p:ext uri="{BB962C8B-B14F-4D97-AF65-F5344CB8AC3E}">
        <p14:creationId xmlns:p14="http://schemas.microsoft.com/office/powerpoint/2010/main" val="2496521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4EAE5-8C9B-90B6-E605-091F739B2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A9A37-115F-BBB6-5DD1-4086CAB0C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addr(X[i][j]) = base + (i * N + j) * element_size</a:t>
            </a:r>
          </a:p>
          <a:p>
            <a:pPr marL="0" indent="0">
              <a:buNone/>
            </a:pPr>
            <a:endParaRPr lang="pt-B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Changing by “j” jumps only by 1 (in cache)</a:t>
            </a:r>
          </a:p>
          <a:p>
            <a:r>
              <a:rPr lang="pt-B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Changing by “1” jumpers by N (maybe out of cache)</a:t>
            </a:r>
            <a:endParaRPr lang="en-CA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CB1B76-CFBD-369E-21C7-ACF947375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BE68B-2AE7-31C6-4E01-EBA72E015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CC637-4AA8-1003-778D-13E8D37E6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771551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DAB23-9502-7064-4B6C-43E17CE7C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IJK Address Example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A675D-2E2A-4594-3B9A-0E15E53A7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21B9A-E3F8-3546-1500-8616B2E26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E58F1-A15C-4C36-631C-8C61005FF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20</a:t>
            </a:fld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29B317-45F2-576B-DEC1-494F5D5EE2C1}"/>
              </a:ext>
            </a:extLst>
          </p:cNvPr>
          <p:cNvSpPr txBox="1"/>
          <p:nvPr/>
        </p:nvSpPr>
        <p:spPr>
          <a:xfrm>
            <a:off x="1244421" y="1427175"/>
            <a:ext cx="6094926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dirty="0"/>
              <a:t> 0,</a:t>
            </a:r>
          </a:p>
          <a:p>
            <a:r>
              <a:rPr lang="en-CA" sz="1200" dirty="0"/>
              <a:t> 1000000,</a:t>
            </a:r>
          </a:p>
          <a:p>
            <a:r>
              <a:rPr lang="en-CA" sz="1200" dirty="0"/>
              <a:t> 2000000,</a:t>
            </a:r>
          </a:p>
          <a:p>
            <a:r>
              <a:rPr lang="en-CA" sz="1200" dirty="0"/>
              <a:t> 8,</a:t>
            </a:r>
          </a:p>
          <a:p>
            <a:r>
              <a:rPr lang="en-CA" sz="1200" dirty="0"/>
              <a:t> 1000080,</a:t>
            </a:r>
          </a:p>
          <a:p>
            <a:r>
              <a:rPr lang="en-CA" sz="1200" dirty="0"/>
              <a:t> 2000000,</a:t>
            </a:r>
          </a:p>
          <a:p>
            <a:r>
              <a:rPr lang="en-CA" sz="1200" dirty="0"/>
              <a:t> 16,</a:t>
            </a:r>
          </a:p>
          <a:p>
            <a:r>
              <a:rPr lang="en-CA" sz="1200" dirty="0"/>
              <a:t> 1000160,</a:t>
            </a:r>
          </a:p>
          <a:p>
            <a:r>
              <a:rPr lang="en-CA" sz="1200" dirty="0"/>
              <a:t> 2000000,</a:t>
            </a:r>
          </a:p>
          <a:p>
            <a:r>
              <a:rPr lang="en-CA" sz="1200" dirty="0"/>
              <a:t> 24,</a:t>
            </a:r>
          </a:p>
          <a:p>
            <a:r>
              <a:rPr lang="en-CA" sz="1200" dirty="0"/>
              <a:t> 1000240,</a:t>
            </a:r>
          </a:p>
          <a:p>
            <a:r>
              <a:rPr lang="en-CA" sz="1200" dirty="0"/>
              <a:t> 2000000,</a:t>
            </a:r>
          </a:p>
          <a:p>
            <a:r>
              <a:rPr lang="en-CA" sz="1200" dirty="0"/>
              <a:t> 32,</a:t>
            </a:r>
          </a:p>
          <a:p>
            <a:r>
              <a:rPr lang="en-CA" sz="1200" dirty="0"/>
              <a:t> 1000320,</a:t>
            </a:r>
          </a:p>
          <a:p>
            <a:r>
              <a:rPr lang="en-CA" sz="1200" dirty="0"/>
              <a:t> 2000000,</a:t>
            </a:r>
          </a:p>
          <a:p>
            <a:r>
              <a:rPr lang="en-CA" sz="1200" dirty="0"/>
              <a:t> 40,</a:t>
            </a:r>
          </a:p>
          <a:p>
            <a:r>
              <a:rPr lang="en-CA" sz="1200" dirty="0"/>
              <a:t> 1000400,</a:t>
            </a:r>
          </a:p>
          <a:p>
            <a:r>
              <a:rPr lang="en-CA" sz="1200" dirty="0"/>
              <a:t> 2000000,</a:t>
            </a:r>
          </a:p>
          <a:p>
            <a:r>
              <a:rPr lang="en-CA" sz="1200" dirty="0"/>
              <a:t> 48,</a:t>
            </a:r>
          </a:p>
          <a:p>
            <a:r>
              <a:rPr lang="en-CA" sz="1200" dirty="0"/>
              <a:t> 1000480,</a:t>
            </a:r>
          </a:p>
          <a:p>
            <a:r>
              <a:rPr lang="en-CA" sz="1200" dirty="0"/>
              <a:t> 2000000,</a:t>
            </a:r>
          </a:p>
          <a:p>
            <a:r>
              <a:rPr lang="en-CA" sz="1200" dirty="0"/>
              <a:t> 56,</a:t>
            </a:r>
          </a:p>
          <a:p>
            <a:r>
              <a:rPr lang="en-CA" sz="1200" dirty="0"/>
              <a:t> 1000560,</a:t>
            </a:r>
          </a:p>
          <a:p>
            <a:r>
              <a:rPr lang="en-CA" sz="1200" dirty="0"/>
              <a:t> 2000000,</a:t>
            </a:r>
          </a:p>
          <a:p>
            <a:r>
              <a:rPr lang="en-CA" sz="1200" dirty="0"/>
              <a:t> 64,</a:t>
            </a:r>
          </a:p>
        </p:txBody>
      </p:sp>
    </p:spTree>
    <p:extLst>
      <p:ext uri="{BB962C8B-B14F-4D97-AF65-F5344CB8AC3E}">
        <p14:creationId xmlns:p14="http://schemas.microsoft.com/office/powerpoint/2010/main" val="33651538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4208D-1229-F956-6C2A-B2DAFA249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A1FA7-049A-BF45-AFFF-B1E624278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IKJ Address Example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94659-46E1-F4C1-6709-FBAD43C6A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DBAF6-E9FF-16BB-B2D9-47666AF61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DD05C4-A479-6F84-7372-8A1F16470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21</a:t>
            </a:fld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41C708-B279-E508-A324-E806ACF38785}"/>
              </a:ext>
            </a:extLst>
          </p:cNvPr>
          <p:cNvSpPr txBox="1"/>
          <p:nvPr/>
        </p:nvSpPr>
        <p:spPr>
          <a:xfrm>
            <a:off x="1244421" y="1427175"/>
            <a:ext cx="609492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dirty="0"/>
              <a:t>0,</a:t>
            </a:r>
          </a:p>
          <a:p>
            <a:r>
              <a:rPr lang="en-CA" sz="1200" dirty="0"/>
              <a:t> 1000000,</a:t>
            </a:r>
          </a:p>
          <a:p>
            <a:r>
              <a:rPr lang="en-CA" sz="1200" dirty="0"/>
              <a:t> 2000000,</a:t>
            </a:r>
          </a:p>
          <a:p>
            <a:r>
              <a:rPr lang="en-CA" sz="1200" dirty="0"/>
              <a:t> 0,</a:t>
            </a:r>
          </a:p>
          <a:p>
            <a:r>
              <a:rPr lang="en-CA" sz="1200" dirty="0"/>
              <a:t> 1000008,</a:t>
            </a:r>
          </a:p>
          <a:p>
            <a:r>
              <a:rPr lang="en-CA" sz="1200" dirty="0"/>
              <a:t> 2000008,</a:t>
            </a:r>
          </a:p>
          <a:p>
            <a:r>
              <a:rPr lang="en-CA" sz="1200" dirty="0"/>
              <a:t> 0,</a:t>
            </a:r>
          </a:p>
          <a:p>
            <a:r>
              <a:rPr lang="en-CA" sz="1200" dirty="0"/>
              <a:t> 1000016,</a:t>
            </a:r>
          </a:p>
          <a:p>
            <a:r>
              <a:rPr lang="en-CA" sz="1200" dirty="0"/>
              <a:t> 2000016,</a:t>
            </a:r>
          </a:p>
          <a:p>
            <a:r>
              <a:rPr lang="en-CA" sz="1200" dirty="0"/>
              <a:t> 0,</a:t>
            </a:r>
          </a:p>
          <a:p>
            <a:r>
              <a:rPr lang="en-CA" sz="1200" dirty="0"/>
              <a:t> 1000024,</a:t>
            </a:r>
          </a:p>
          <a:p>
            <a:r>
              <a:rPr lang="en-CA" sz="1200" dirty="0"/>
              <a:t> 2000024,</a:t>
            </a:r>
          </a:p>
          <a:p>
            <a:r>
              <a:rPr lang="en-CA" sz="1200" dirty="0"/>
              <a:t> 0,</a:t>
            </a:r>
          </a:p>
          <a:p>
            <a:r>
              <a:rPr lang="en-CA" sz="1200" dirty="0"/>
              <a:t> 1000032,</a:t>
            </a:r>
          </a:p>
          <a:p>
            <a:r>
              <a:rPr lang="en-CA" sz="1200" dirty="0"/>
              <a:t> 2000032,</a:t>
            </a:r>
          </a:p>
          <a:p>
            <a:r>
              <a:rPr lang="en-CA" sz="1200" dirty="0"/>
              <a:t> 0,</a:t>
            </a:r>
          </a:p>
          <a:p>
            <a:r>
              <a:rPr lang="en-CA" sz="1200" dirty="0"/>
              <a:t> 1000040,</a:t>
            </a:r>
          </a:p>
          <a:p>
            <a:r>
              <a:rPr lang="en-CA" sz="1200" dirty="0"/>
              <a:t> 2000040,</a:t>
            </a:r>
          </a:p>
          <a:p>
            <a:r>
              <a:rPr lang="en-CA" sz="1200" dirty="0"/>
              <a:t> 0,</a:t>
            </a:r>
          </a:p>
          <a:p>
            <a:r>
              <a:rPr lang="en-CA" sz="1200" dirty="0"/>
              <a:t> 1000048,</a:t>
            </a:r>
          </a:p>
          <a:p>
            <a:r>
              <a:rPr lang="en-CA" sz="1200" dirty="0"/>
              <a:t> 2000048,</a:t>
            </a:r>
          </a:p>
          <a:p>
            <a:r>
              <a:rPr lang="en-CA" sz="1200" dirty="0"/>
              <a:t> 0,</a:t>
            </a:r>
          </a:p>
          <a:p>
            <a:r>
              <a:rPr lang="en-CA" sz="1200" dirty="0"/>
              <a:t> 1000056,</a:t>
            </a:r>
          </a:p>
          <a:p>
            <a:r>
              <a:rPr lang="en-CA" sz="1200" dirty="0"/>
              <a:t> 2000056,</a:t>
            </a:r>
          </a:p>
          <a:p>
            <a:r>
              <a:rPr lang="en-CA" sz="1200" dirty="0"/>
              <a:t> 0,</a:t>
            </a:r>
          </a:p>
          <a:p>
            <a:r>
              <a:rPr lang="en-CA" sz="1200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11297620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E9A7782-D7DE-018E-CE44-6D5478C35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110" y="4499390"/>
            <a:ext cx="1254877" cy="16775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82EF9F-4835-3D4C-4105-48FCA29B0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Cache Note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4B97E-D88E-A06D-3E67-2647719C94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Note that the addresses access different areas of memory.</a:t>
            </a:r>
          </a:p>
          <a:p>
            <a:r>
              <a:rPr lang="en-US" dirty="0"/>
              <a:t>The cache is smart enough to track </a:t>
            </a:r>
            <a:r>
              <a:rPr lang="en-US" u="sng" dirty="0"/>
              <a:t>multiple different areas</a:t>
            </a:r>
          </a:p>
          <a:p>
            <a:r>
              <a:rPr lang="en-US" dirty="0"/>
              <a:t>It does this through a method of </a:t>
            </a:r>
            <a:r>
              <a:rPr lang="en-US" u="sng" dirty="0"/>
              <a:t>memory tags</a:t>
            </a:r>
          </a:p>
          <a:p>
            <a:endParaRPr lang="en-US" u="sng" dirty="0"/>
          </a:p>
          <a:p>
            <a:pPr marL="0" indent="0">
              <a:buNone/>
            </a:pPr>
            <a:r>
              <a:rPr lang="en-US" dirty="0"/>
              <a:t>e.g., in IKJ example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A232FB-6F7B-40DE-9D71-9EE1C5C0D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26D76A-65B9-09C7-0BF0-44373AED5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314DC-454E-EF18-0AD0-E3EBF82B0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22</a:t>
            </a:fld>
            <a:endParaRPr lang="en-CA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6F5B296-0777-E940-955F-21E76A3FDB39}"/>
              </a:ext>
            </a:extLst>
          </p:cNvPr>
          <p:cNvCxnSpPr/>
          <p:nvPr/>
        </p:nvCxnSpPr>
        <p:spPr>
          <a:xfrm flipH="1">
            <a:off x="2015544" y="4243589"/>
            <a:ext cx="2923504" cy="3284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B381095-CAC5-357D-133D-4692AFE6DEE1}"/>
              </a:ext>
            </a:extLst>
          </p:cNvPr>
          <p:cNvCxnSpPr>
            <a:cxnSpLocks/>
          </p:cNvCxnSpPr>
          <p:nvPr/>
        </p:nvCxnSpPr>
        <p:spPr>
          <a:xfrm flipH="1">
            <a:off x="1964028" y="4290353"/>
            <a:ext cx="2975020" cy="8483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F2168BF-63C8-4187-2852-4058AE7E6AC8}"/>
              </a:ext>
            </a:extLst>
          </p:cNvPr>
          <p:cNvCxnSpPr>
            <a:cxnSpLocks/>
          </p:cNvCxnSpPr>
          <p:nvPr/>
        </p:nvCxnSpPr>
        <p:spPr>
          <a:xfrm flipH="1">
            <a:off x="1964028" y="4364453"/>
            <a:ext cx="2975020" cy="13333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88D311D-D1EB-8D1F-E790-4FE51ED432F3}"/>
              </a:ext>
            </a:extLst>
          </p:cNvPr>
          <p:cNvCxnSpPr>
            <a:cxnSpLocks/>
          </p:cNvCxnSpPr>
          <p:nvPr/>
        </p:nvCxnSpPr>
        <p:spPr>
          <a:xfrm flipH="1" flipV="1">
            <a:off x="2418008" y="4781037"/>
            <a:ext cx="2385812" cy="4651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4E58F4D-D780-8ADC-2C4C-814B3158DFA0}"/>
              </a:ext>
            </a:extLst>
          </p:cNvPr>
          <p:cNvCxnSpPr>
            <a:cxnSpLocks/>
          </p:cNvCxnSpPr>
          <p:nvPr/>
        </p:nvCxnSpPr>
        <p:spPr>
          <a:xfrm flipH="1">
            <a:off x="2418008" y="5305670"/>
            <a:ext cx="2385812" cy="325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BD9317E-FB75-1AAF-704C-DFD3CB2C0A05}"/>
              </a:ext>
            </a:extLst>
          </p:cNvPr>
          <p:cNvCxnSpPr>
            <a:cxnSpLocks/>
          </p:cNvCxnSpPr>
          <p:nvPr/>
        </p:nvCxnSpPr>
        <p:spPr>
          <a:xfrm flipH="1">
            <a:off x="2418008" y="5347707"/>
            <a:ext cx="2385812" cy="5135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2A377F4-2366-9C27-AADA-5D54A37B1F9A}"/>
              </a:ext>
            </a:extLst>
          </p:cNvPr>
          <p:cNvCxnSpPr>
            <a:cxnSpLocks/>
          </p:cNvCxnSpPr>
          <p:nvPr/>
        </p:nvCxnSpPr>
        <p:spPr>
          <a:xfrm flipH="1" flipV="1">
            <a:off x="2466304" y="4959177"/>
            <a:ext cx="2435715" cy="97706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FB91E30-DA1E-9138-3CFB-6903EAC9871B}"/>
              </a:ext>
            </a:extLst>
          </p:cNvPr>
          <p:cNvCxnSpPr>
            <a:cxnSpLocks/>
          </p:cNvCxnSpPr>
          <p:nvPr/>
        </p:nvCxnSpPr>
        <p:spPr>
          <a:xfrm flipH="1" flipV="1">
            <a:off x="2429275" y="5525847"/>
            <a:ext cx="2472744" cy="44213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F1091B4-4AF2-026C-F1A4-4D66F5DD56AF}"/>
              </a:ext>
            </a:extLst>
          </p:cNvPr>
          <p:cNvCxnSpPr>
            <a:cxnSpLocks/>
          </p:cNvCxnSpPr>
          <p:nvPr/>
        </p:nvCxnSpPr>
        <p:spPr>
          <a:xfrm flipH="1">
            <a:off x="2466304" y="6048977"/>
            <a:ext cx="2435715" cy="11414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2A0C0350-2F78-F4DA-31AA-66009A49CDFC}"/>
              </a:ext>
            </a:extLst>
          </p:cNvPr>
          <p:cNvSpPr txBox="1"/>
          <p:nvPr/>
        </p:nvSpPr>
        <p:spPr>
          <a:xfrm>
            <a:off x="4944237" y="4098451"/>
            <a:ext cx="683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Tag 1</a:t>
            </a:r>
            <a:endParaRPr lang="en-CA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8569C02-7370-DE86-2794-373E9AA3A339}"/>
              </a:ext>
            </a:extLst>
          </p:cNvPr>
          <p:cNvSpPr txBox="1"/>
          <p:nvPr/>
        </p:nvSpPr>
        <p:spPr>
          <a:xfrm>
            <a:off x="4902019" y="5099025"/>
            <a:ext cx="683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Tag 2</a:t>
            </a:r>
            <a:endParaRPr lang="en-CA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2520656-B72C-949D-D002-10B6BC5B87CA}"/>
              </a:ext>
            </a:extLst>
          </p:cNvPr>
          <p:cNvSpPr txBox="1"/>
          <p:nvPr/>
        </p:nvSpPr>
        <p:spPr>
          <a:xfrm>
            <a:off x="4930185" y="5854395"/>
            <a:ext cx="683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Tag 3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008671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96CFB-D1FB-93E5-CDC2-9B6ED3A49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Cache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31CB6-8717-E774-BDCD-18F0F9F2D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Cache includes</a:t>
            </a:r>
            <a:r>
              <a:rPr lang="en-CA" i="1" dirty="0"/>
              <a:t> tags</a:t>
            </a:r>
            <a:r>
              <a:rPr lang="en-CA" dirty="0"/>
              <a:t> to identify the address of a block of main memory.</a:t>
            </a:r>
          </a:p>
          <a:p>
            <a:endParaRPr lang="en-CA" dirty="0"/>
          </a:p>
          <a:p>
            <a:r>
              <a:rPr lang="en-CA" dirty="0"/>
              <a:t>Main memory is divided into blocks of K words, meaning have up to:</a:t>
            </a:r>
          </a:p>
          <a:p>
            <a:pPr marL="0" indent="0">
              <a:buNone/>
            </a:pPr>
            <a:r>
              <a:rPr lang="en-CA" dirty="0"/>
              <a:t>	M = 2</a:t>
            </a:r>
            <a:r>
              <a:rPr lang="en-CA" baseline="30000" dirty="0"/>
              <a:t>n</a:t>
            </a:r>
            <a:r>
              <a:rPr lang="en-CA" dirty="0"/>
              <a:t> / K possible blocks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Cache could have up to C blocks of main memory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B17D8-8983-BADF-DFD1-727C75A7D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96D642-618B-5772-7DBA-FDBBB6BEE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5C066-A95E-CADA-C8DA-D1637D420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072911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906" name="Rectangle 2">
            <a:extLst>
              <a:ext uri="{FF2B5EF4-FFF2-40B4-BE49-F238E27FC236}">
                <a16:creationId xmlns:a16="http://schemas.microsoft.com/office/drawing/2014/main" id="{9D059C79-C93D-BE14-5972-0F63B84677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4000"/>
              <a:t>Cache Structure (continued)</a:t>
            </a:r>
          </a:p>
        </p:txBody>
      </p:sp>
      <p:grpSp>
        <p:nvGrpSpPr>
          <p:cNvPr id="507921" name="Group 17">
            <a:extLst>
              <a:ext uri="{FF2B5EF4-FFF2-40B4-BE49-F238E27FC236}">
                <a16:creationId xmlns:a16="http://schemas.microsoft.com/office/drawing/2014/main" id="{008C918F-7178-005E-755C-17C157926867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1371600"/>
            <a:ext cx="5149850" cy="4737100"/>
            <a:chOff x="1152" y="864"/>
            <a:chExt cx="3244" cy="2984"/>
          </a:xfrm>
        </p:grpSpPr>
        <p:sp>
          <p:nvSpPr>
            <p:cNvPr id="507909" name="Rectangle 5">
              <a:extLst>
                <a:ext uri="{FF2B5EF4-FFF2-40B4-BE49-F238E27FC236}">
                  <a16:creationId xmlns:a16="http://schemas.microsoft.com/office/drawing/2014/main" id="{656307DA-13C1-90E0-7AD6-FF4C784D06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7" y="1280"/>
              <a:ext cx="464" cy="1951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7910" name="Rectangle 6">
              <a:extLst>
                <a:ext uri="{FF2B5EF4-FFF2-40B4-BE49-F238E27FC236}">
                  <a16:creationId xmlns:a16="http://schemas.microsoft.com/office/drawing/2014/main" id="{905E1791-5433-2942-CB4C-4FD7B6BF33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1" y="1280"/>
              <a:ext cx="1853" cy="1951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7911" name="Line 7">
              <a:extLst>
                <a:ext uri="{FF2B5EF4-FFF2-40B4-BE49-F238E27FC236}">
                  <a16:creationId xmlns:a16="http://schemas.microsoft.com/office/drawing/2014/main" id="{4555031F-7BDF-E23C-4D96-023F532542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7" y="1524"/>
              <a:ext cx="231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07912" name="Line 8">
              <a:extLst>
                <a:ext uri="{FF2B5EF4-FFF2-40B4-BE49-F238E27FC236}">
                  <a16:creationId xmlns:a16="http://schemas.microsoft.com/office/drawing/2014/main" id="{9B1A182B-B073-725B-C361-B718B2AFA8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7" y="1768"/>
              <a:ext cx="231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07913" name="Line 9">
              <a:extLst>
                <a:ext uri="{FF2B5EF4-FFF2-40B4-BE49-F238E27FC236}">
                  <a16:creationId xmlns:a16="http://schemas.microsoft.com/office/drawing/2014/main" id="{3281D765-9A3C-B3FD-C55F-B07621B96A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7" y="2012"/>
              <a:ext cx="231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07914" name="Line 10">
              <a:extLst>
                <a:ext uri="{FF2B5EF4-FFF2-40B4-BE49-F238E27FC236}">
                  <a16:creationId xmlns:a16="http://schemas.microsoft.com/office/drawing/2014/main" id="{3E19548E-B56F-2BCB-C5B3-37A055A15C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7" y="2987"/>
              <a:ext cx="231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07915" name="Line 11">
              <a:extLst>
                <a:ext uri="{FF2B5EF4-FFF2-40B4-BE49-F238E27FC236}">
                  <a16:creationId xmlns:a16="http://schemas.microsoft.com/office/drawing/2014/main" id="{4BAC4DDF-7E9D-D48F-275A-0FE447F0E6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2256"/>
              <a:ext cx="0" cy="60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07916" name="Text Box 12">
              <a:extLst>
                <a:ext uri="{FF2B5EF4-FFF2-40B4-BE49-F238E27FC236}">
                  <a16:creationId xmlns:a16="http://schemas.microsoft.com/office/drawing/2014/main" id="{8F4D8CAF-C5CB-9A44-0068-AFEC780F54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864"/>
              <a:ext cx="579" cy="2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r" eaLnBrk="0" hangingPunct="0">
                <a:spcBef>
                  <a:spcPct val="0"/>
                </a:spcBef>
              </a:pPr>
              <a:r>
                <a:rPr lang="en-US" altLang="en-US" sz="2200">
                  <a:latin typeface="Times New Roman" panose="02020603050405020304" pitchFamily="18" charset="0"/>
                </a:rPr>
                <a:t>Line</a:t>
              </a:r>
              <a:br>
                <a:rPr lang="en-US" altLang="en-US" sz="2200">
                  <a:latin typeface="Times New Roman" panose="02020603050405020304" pitchFamily="18" charset="0"/>
                </a:rPr>
              </a:br>
              <a:r>
                <a:rPr lang="en-US" altLang="en-US" sz="2200">
                  <a:latin typeface="Times New Roman" panose="02020603050405020304" pitchFamily="18" charset="0"/>
                </a:rPr>
                <a:t>number</a:t>
              </a:r>
              <a:br>
                <a:rPr lang="en-US" altLang="en-US" sz="2200">
                  <a:latin typeface="Times New Roman" panose="02020603050405020304" pitchFamily="18" charset="0"/>
                </a:rPr>
              </a:br>
              <a:r>
                <a:rPr lang="en-US" altLang="en-US" sz="2200">
                  <a:latin typeface="Times New Roman" panose="02020603050405020304" pitchFamily="18" charset="0"/>
                </a:rPr>
                <a:t>0</a:t>
              </a:r>
              <a:br>
                <a:rPr lang="en-US" altLang="en-US" sz="2200">
                  <a:latin typeface="Times New Roman" panose="02020603050405020304" pitchFamily="18" charset="0"/>
                </a:rPr>
              </a:br>
              <a:r>
                <a:rPr lang="en-US" altLang="en-US" sz="2200">
                  <a:latin typeface="Times New Roman" panose="02020603050405020304" pitchFamily="18" charset="0"/>
                </a:rPr>
                <a:t>1</a:t>
              </a:r>
              <a:br>
                <a:rPr lang="en-US" altLang="en-US" sz="2200">
                  <a:latin typeface="Times New Roman" panose="02020603050405020304" pitchFamily="18" charset="0"/>
                </a:rPr>
              </a:br>
              <a:r>
                <a:rPr lang="en-US" altLang="en-US" sz="2200">
                  <a:latin typeface="Times New Roman" panose="02020603050405020304" pitchFamily="18" charset="0"/>
                </a:rPr>
                <a:t>2</a:t>
              </a:r>
            </a:p>
            <a:p>
              <a:pPr algn="r" eaLnBrk="0" hangingPunct="0">
                <a:spcBef>
                  <a:spcPct val="0"/>
                </a:spcBef>
              </a:pPr>
              <a:endParaRPr lang="en-US" altLang="en-US" sz="2200">
                <a:latin typeface="Times New Roman" panose="02020603050405020304" pitchFamily="18" charset="0"/>
              </a:endParaRPr>
            </a:p>
            <a:p>
              <a:pPr algn="r" eaLnBrk="0" hangingPunct="0">
                <a:spcBef>
                  <a:spcPct val="0"/>
                </a:spcBef>
              </a:pPr>
              <a:endParaRPr lang="en-US" altLang="en-US" sz="2200">
                <a:latin typeface="Times New Roman" panose="02020603050405020304" pitchFamily="18" charset="0"/>
              </a:endParaRPr>
            </a:p>
            <a:p>
              <a:pPr algn="r" eaLnBrk="0" hangingPunct="0">
                <a:spcBef>
                  <a:spcPct val="0"/>
                </a:spcBef>
              </a:pPr>
              <a:endParaRPr lang="en-US" altLang="en-US" sz="2200">
                <a:latin typeface="Times New Roman" panose="02020603050405020304" pitchFamily="18" charset="0"/>
              </a:endParaRPr>
            </a:p>
            <a:p>
              <a:pPr algn="r" eaLnBrk="0" hangingPunct="0">
                <a:spcBef>
                  <a:spcPct val="0"/>
                </a:spcBef>
              </a:pPr>
              <a:endParaRPr lang="en-US" altLang="en-US" sz="2200">
                <a:latin typeface="Times New Roman" panose="02020603050405020304" pitchFamily="18" charset="0"/>
              </a:endParaRPr>
            </a:p>
            <a:p>
              <a:pPr algn="r" eaLnBrk="0" hangingPunct="0">
                <a:spcBef>
                  <a:spcPct val="0"/>
                </a:spcBef>
              </a:pPr>
              <a:endParaRPr lang="en-US" altLang="en-US" sz="2200">
                <a:latin typeface="Times New Roman" panose="02020603050405020304" pitchFamily="18" charset="0"/>
              </a:endParaRPr>
            </a:p>
            <a:p>
              <a:pPr algn="r" eaLnBrk="0" hangingPunct="0">
                <a:spcBef>
                  <a:spcPct val="0"/>
                </a:spcBef>
              </a:pPr>
              <a:r>
                <a:rPr lang="en-US" altLang="en-US" sz="2200">
                  <a:latin typeface="Times New Roman" panose="02020603050405020304" pitchFamily="18" charset="0"/>
                </a:rPr>
                <a:t>C-1</a:t>
              </a:r>
            </a:p>
          </p:txBody>
        </p:sp>
        <p:sp>
          <p:nvSpPr>
            <p:cNvPr id="507917" name="Text Box 13">
              <a:extLst>
                <a:ext uri="{FF2B5EF4-FFF2-40B4-BE49-F238E27FC236}">
                  <a16:creationId xmlns:a16="http://schemas.microsoft.com/office/drawing/2014/main" id="{AA38B970-8AF8-5FAC-C2D5-13B83C1CF3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3" y="1037"/>
              <a:ext cx="2433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l" eaLnBrk="0" hangingPunct="0">
                <a:spcBef>
                  <a:spcPct val="0"/>
                </a:spcBef>
              </a:pPr>
              <a:r>
                <a:rPr lang="en-US" altLang="en-US" sz="2400">
                  <a:latin typeface="Times New Roman" panose="02020603050405020304" pitchFamily="18" charset="0"/>
                </a:rPr>
                <a:t>Tag               Block</a:t>
              </a:r>
            </a:p>
          </p:txBody>
        </p:sp>
        <p:sp>
          <p:nvSpPr>
            <p:cNvPr id="507918" name="Text Box 14">
              <a:extLst>
                <a:ext uri="{FF2B5EF4-FFF2-40B4-BE49-F238E27FC236}">
                  <a16:creationId xmlns:a16="http://schemas.microsoft.com/office/drawing/2014/main" id="{DD487CEA-1F63-11C8-40C5-8B061F4E04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3360"/>
              <a:ext cx="1824" cy="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eaLnBrk="0" hangingPunct="0">
                <a:spcBef>
                  <a:spcPct val="0"/>
                </a:spcBef>
              </a:pPr>
              <a:r>
                <a:rPr lang="en-US" altLang="en-US" sz="2100" dirty="0">
                  <a:latin typeface="Times New Roman" panose="02020603050405020304" pitchFamily="18" charset="0"/>
                </a:rPr>
                <a:t>Block length</a:t>
              </a:r>
              <a:br>
                <a:rPr lang="en-US" altLang="en-US" sz="2100" dirty="0">
                  <a:latin typeface="Times New Roman" panose="02020603050405020304" pitchFamily="18" charset="0"/>
                </a:rPr>
              </a:br>
              <a:r>
                <a:rPr lang="en-US" altLang="en-US" sz="2100" dirty="0">
                  <a:latin typeface="Times New Roman" panose="02020603050405020304" pitchFamily="18" charset="0"/>
                </a:rPr>
                <a:t>(K words)</a:t>
              </a:r>
              <a:endParaRPr lang="en-US" altLang="en-US" sz="4400" dirty="0">
                <a:latin typeface="Times New Roman" panose="02020603050405020304" pitchFamily="18" charset="0"/>
              </a:endParaRPr>
            </a:p>
          </p:txBody>
        </p:sp>
        <p:sp>
          <p:nvSpPr>
            <p:cNvPr id="507919" name="Line 15">
              <a:extLst>
                <a:ext uri="{FF2B5EF4-FFF2-40B4-BE49-F238E27FC236}">
                  <a16:creationId xmlns:a16="http://schemas.microsoft.com/office/drawing/2014/main" id="{97C1F606-2D94-AE81-E150-60EFC04E2F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11" y="3596"/>
              <a:ext cx="4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07920" name="Line 16">
              <a:extLst>
                <a:ext uri="{FF2B5EF4-FFF2-40B4-BE49-F238E27FC236}">
                  <a16:creationId xmlns:a16="http://schemas.microsoft.com/office/drawing/2014/main" id="{1252DCCF-87D7-D2FA-93AE-3819E124AA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1" y="3596"/>
              <a:ext cx="4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A"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930" name="Rectangle 2">
            <a:extLst>
              <a:ext uri="{FF2B5EF4-FFF2-40B4-BE49-F238E27FC236}">
                <a16:creationId xmlns:a16="http://schemas.microsoft.com/office/drawing/2014/main" id="{142BF7A7-D343-80CC-2148-2C85E92FA3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4000"/>
              <a:t>Memory Divided into Blocks</a:t>
            </a:r>
            <a:endParaRPr lang="en-GB" altLang="en-US" sz="3600"/>
          </a:p>
        </p:txBody>
      </p:sp>
      <p:grpSp>
        <p:nvGrpSpPr>
          <p:cNvPr id="508968" name="Group 40">
            <a:extLst>
              <a:ext uri="{FF2B5EF4-FFF2-40B4-BE49-F238E27FC236}">
                <a16:creationId xmlns:a16="http://schemas.microsoft.com/office/drawing/2014/main" id="{7A82FE9D-DD59-A98E-2104-379CA7DC886A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1219200"/>
            <a:ext cx="4876800" cy="5029200"/>
            <a:chOff x="1296" y="768"/>
            <a:chExt cx="3072" cy="3168"/>
          </a:xfrm>
        </p:grpSpPr>
        <p:sp>
          <p:nvSpPr>
            <p:cNvPr id="508950" name="Rectangle 22">
              <a:extLst>
                <a:ext uri="{FF2B5EF4-FFF2-40B4-BE49-F238E27FC236}">
                  <a16:creationId xmlns:a16="http://schemas.microsoft.com/office/drawing/2014/main" id="{8FE1D880-FA19-13C1-56FC-8A16D18596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5" y="2400"/>
              <a:ext cx="991" cy="10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8933" name="Rectangle 5">
              <a:extLst>
                <a:ext uri="{FF2B5EF4-FFF2-40B4-BE49-F238E27FC236}">
                  <a16:creationId xmlns:a16="http://schemas.microsoft.com/office/drawing/2014/main" id="{D4E5F772-035C-E52F-FA81-65769CA634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8" y="1173"/>
              <a:ext cx="991" cy="103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508934" name="Line 6">
              <a:extLst>
                <a:ext uri="{FF2B5EF4-FFF2-40B4-BE49-F238E27FC236}">
                  <a16:creationId xmlns:a16="http://schemas.microsoft.com/office/drawing/2014/main" id="{223CC02D-8DCC-F4CF-F1DF-4CCD11F62D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8" y="1351"/>
              <a:ext cx="99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08935" name="Line 7">
              <a:extLst>
                <a:ext uri="{FF2B5EF4-FFF2-40B4-BE49-F238E27FC236}">
                  <a16:creationId xmlns:a16="http://schemas.microsoft.com/office/drawing/2014/main" id="{E11594FB-F9BD-8416-75B8-0F995954E5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8" y="1529"/>
              <a:ext cx="99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08936" name="Line 8">
              <a:extLst>
                <a:ext uri="{FF2B5EF4-FFF2-40B4-BE49-F238E27FC236}">
                  <a16:creationId xmlns:a16="http://schemas.microsoft.com/office/drawing/2014/main" id="{F446D0B9-3FAE-4F7F-6211-CF3B2701E1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8" y="1707"/>
              <a:ext cx="99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08937" name="Line 9">
              <a:extLst>
                <a:ext uri="{FF2B5EF4-FFF2-40B4-BE49-F238E27FC236}">
                  <a16:creationId xmlns:a16="http://schemas.microsoft.com/office/drawing/2014/main" id="{9A08B582-00FE-7492-FFC4-FBF6607AC0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8" y="2016"/>
              <a:ext cx="99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08938" name="Line 10">
              <a:extLst>
                <a:ext uri="{FF2B5EF4-FFF2-40B4-BE49-F238E27FC236}">
                  <a16:creationId xmlns:a16="http://schemas.microsoft.com/office/drawing/2014/main" id="{F1943826-0AB2-975B-4460-0CEA9AB750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8" y="2599"/>
              <a:ext cx="99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08939" name="AutoShape 11">
              <a:extLst>
                <a:ext uri="{FF2B5EF4-FFF2-40B4-BE49-F238E27FC236}">
                  <a16:creationId xmlns:a16="http://schemas.microsoft.com/office/drawing/2014/main" id="{80630E0E-D09D-E89E-C3CC-F3B722EA42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6" y="1173"/>
              <a:ext cx="161" cy="843"/>
            </a:xfrm>
            <a:prstGeom prst="rightBrace">
              <a:avLst>
                <a:gd name="adj1" fmla="val 43634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08941" name="Text Box 13">
              <a:extLst>
                <a:ext uri="{FF2B5EF4-FFF2-40B4-BE49-F238E27FC236}">
                  <a16:creationId xmlns:a16="http://schemas.microsoft.com/office/drawing/2014/main" id="{DE2D9EB0-B825-5D58-FE7E-A03751A4CA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7" y="1440"/>
              <a:ext cx="991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eaLnBrk="0" hangingPunct="0">
                <a:spcBef>
                  <a:spcPct val="0"/>
                </a:spcBef>
              </a:pPr>
              <a:r>
                <a:rPr lang="en-US" altLang="en-US" sz="2000">
                  <a:latin typeface="Times New Roman" panose="02020603050405020304" pitchFamily="18" charset="0"/>
                </a:rPr>
                <a:t>Block of </a:t>
              </a:r>
              <a:br>
                <a:rPr lang="en-US" altLang="en-US" sz="2000">
                  <a:latin typeface="Times New Roman" panose="02020603050405020304" pitchFamily="18" charset="0"/>
                </a:rPr>
              </a:br>
              <a:r>
                <a:rPr lang="en-US" altLang="en-US" sz="2000">
                  <a:latin typeface="Times New Roman" panose="02020603050405020304" pitchFamily="18" charset="0"/>
                </a:rPr>
                <a:t>K words</a:t>
              </a:r>
              <a:endParaRPr lang="en-US" altLang="en-US" sz="4000">
                <a:latin typeface="Times New Roman" panose="02020603050405020304" pitchFamily="18" charset="0"/>
              </a:endParaRPr>
            </a:p>
          </p:txBody>
        </p:sp>
        <p:sp>
          <p:nvSpPr>
            <p:cNvPr id="508942" name="Text Box 14">
              <a:extLst>
                <a:ext uri="{FF2B5EF4-FFF2-40B4-BE49-F238E27FC236}">
                  <a16:creationId xmlns:a16="http://schemas.microsoft.com/office/drawing/2014/main" id="{C479FEC6-C237-E1D3-4EC0-5B5606E907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7" y="2852"/>
              <a:ext cx="793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l" eaLnBrk="0" hangingPunct="0">
                <a:spcBef>
                  <a:spcPct val="0"/>
                </a:spcBef>
              </a:pPr>
              <a:r>
                <a:rPr lang="en-US" altLang="en-US" sz="2000">
                  <a:latin typeface="Times New Roman" panose="02020603050405020304" pitchFamily="18" charset="0"/>
                </a:rPr>
                <a:t>Block</a:t>
              </a:r>
              <a:endParaRPr lang="en-US" altLang="en-US" sz="4000">
                <a:latin typeface="Times New Roman" panose="02020603050405020304" pitchFamily="18" charset="0"/>
              </a:endParaRPr>
            </a:p>
          </p:txBody>
        </p:sp>
        <p:sp>
          <p:nvSpPr>
            <p:cNvPr id="508943" name="Text Box 15">
              <a:extLst>
                <a:ext uri="{FF2B5EF4-FFF2-40B4-BE49-F238E27FC236}">
                  <a16:creationId xmlns:a16="http://schemas.microsoft.com/office/drawing/2014/main" id="{F620E8F4-BC58-5B89-154A-62D0328266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8" y="3758"/>
              <a:ext cx="892" cy="1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eaLnBrk="0" hangingPunct="0">
                <a:spcBef>
                  <a:spcPct val="0"/>
                </a:spcBef>
              </a:pPr>
              <a:r>
                <a:rPr lang="en-US" altLang="en-US" sz="1900">
                  <a:latin typeface="Times New Roman" panose="02020603050405020304" pitchFamily="18" charset="0"/>
                </a:rPr>
                <a:t>Word length</a:t>
              </a:r>
              <a:endParaRPr lang="en-US" altLang="en-US" sz="4000">
                <a:latin typeface="Times New Roman" panose="02020603050405020304" pitchFamily="18" charset="0"/>
              </a:endParaRPr>
            </a:p>
          </p:txBody>
        </p:sp>
        <p:sp>
          <p:nvSpPr>
            <p:cNvPr id="508944" name="Line 16">
              <a:extLst>
                <a:ext uri="{FF2B5EF4-FFF2-40B4-BE49-F238E27FC236}">
                  <a16:creationId xmlns:a16="http://schemas.microsoft.com/office/drawing/2014/main" id="{0225D269-5E02-0B77-730D-7062BA257E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88" y="3669"/>
              <a:ext cx="99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508945" name="Text Box 17">
              <a:extLst>
                <a:ext uri="{FF2B5EF4-FFF2-40B4-BE49-F238E27FC236}">
                  <a16:creationId xmlns:a16="http://schemas.microsoft.com/office/drawing/2014/main" id="{3CAB458A-95BA-0BF4-DD26-DBD430B6B5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768"/>
              <a:ext cx="991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eaLnBrk="0" hangingPunct="0">
                <a:spcBef>
                  <a:spcPct val="0"/>
                </a:spcBef>
              </a:pPr>
              <a:r>
                <a:rPr lang="en-US" altLang="en-US" sz="2100">
                  <a:latin typeface="Times New Roman" panose="02020603050405020304" pitchFamily="18" charset="0"/>
                </a:rPr>
                <a:t>Memory Address</a:t>
              </a:r>
              <a:endParaRPr lang="en-US" altLang="en-US" sz="4400">
                <a:latin typeface="Times New Roman" panose="02020603050405020304" pitchFamily="18" charset="0"/>
              </a:endParaRPr>
            </a:p>
          </p:txBody>
        </p:sp>
        <p:sp>
          <p:nvSpPr>
            <p:cNvPr id="508946" name="Text Box 18">
              <a:extLst>
                <a:ext uri="{FF2B5EF4-FFF2-40B4-BE49-F238E27FC236}">
                  <a16:creationId xmlns:a16="http://schemas.microsoft.com/office/drawing/2014/main" id="{444C6524-D557-A7CF-51D7-C6E890B01C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3" y="1200"/>
              <a:ext cx="496" cy="2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r" eaLnBrk="0" hangingPunct="0">
                <a:spcBef>
                  <a:spcPct val="0"/>
                </a:spcBef>
              </a:pPr>
              <a:r>
                <a:rPr lang="en-US" altLang="en-US" sz="1700">
                  <a:latin typeface="Times New Roman" panose="02020603050405020304" pitchFamily="18" charset="0"/>
                </a:rPr>
                <a:t>1</a:t>
              </a:r>
              <a:br>
                <a:rPr lang="en-US" altLang="en-US" sz="1700">
                  <a:latin typeface="Times New Roman" panose="02020603050405020304" pitchFamily="18" charset="0"/>
                </a:rPr>
              </a:br>
              <a:r>
                <a:rPr lang="en-US" altLang="en-US" sz="1700">
                  <a:latin typeface="Times New Roman" panose="02020603050405020304" pitchFamily="18" charset="0"/>
                </a:rPr>
                <a:t>2</a:t>
              </a:r>
              <a:br>
                <a:rPr lang="en-US" altLang="en-US" sz="1700">
                  <a:latin typeface="Times New Roman" panose="02020603050405020304" pitchFamily="18" charset="0"/>
                </a:rPr>
              </a:br>
              <a:r>
                <a:rPr lang="en-US" altLang="en-US" sz="1700">
                  <a:latin typeface="Times New Roman" panose="02020603050405020304" pitchFamily="18" charset="0"/>
                </a:rPr>
                <a:t>3</a:t>
              </a:r>
            </a:p>
            <a:p>
              <a:pPr algn="r" eaLnBrk="0" hangingPunct="0">
                <a:spcBef>
                  <a:spcPct val="0"/>
                </a:spcBef>
              </a:pPr>
              <a:endParaRPr lang="en-US" altLang="en-US" sz="1700">
                <a:latin typeface="Times New Roman" panose="02020603050405020304" pitchFamily="18" charset="0"/>
              </a:endParaRPr>
            </a:p>
            <a:p>
              <a:pPr algn="r" eaLnBrk="0" hangingPunct="0">
                <a:spcBef>
                  <a:spcPct val="0"/>
                </a:spcBef>
              </a:pPr>
              <a:endParaRPr lang="en-US" altLang="en-US" sz="1700">
                <a:latin typeface="Times New Roman" panose="02020603050405020304" pitchFamily="18" charset="0"/>
              </a:endParaRPr>
            </a:p>
            <a:p>
              <a:pPr algn="r" eaLnBrk="0" hangingPunct="0">
                <a:spcBef>
                  <a:spcPct val="0"/>
                </a:spcBef>
              </a:pPr>
              <a:endParaRPr lang="en-US" altLang="en-US" sz="1700">
                <a:latin typeface="Times New Roman" panose="02020603050405020304" pitchFamily="18" charset="0"/>
              </a:endParaRPr>
            </a:p>
            <a:p>
              <a:pPr algn="r" eaLnBrk="0" hangingPunct="0">
                <a:spcBef>
                  <a:spcPct val="0"/>
                </a:spcBef>
              </a:pPr>
              <a:endParaRPr lang="en-US" altLang="en-US" sz="1700">
                <a:latin typeface="Times New Roman" panose="02020603050405020304" pitchFamily="18" charset="0"/>
              </a:endParaRPr>
            </a:p>
            <a:p>
              <a:pPr algn="r" eaLnBrk="0" hangingPunct="0">
                <a:spcBef>
                  <a:spcPct val="0"/>
                </a:spcBef>
              </a:pPr>
              <a:endParaRPr lang="en-US" altLang="en-US" sz="1700">
                <a:latin typeface="Times New Roman" panose="02020603050405020304" pitchFamily="18" charset="0"/>
              </a:endParaRPr>
            </a:p>
            <a:p>
              <a:pPr algn="r" eaLnBrk="0" hangingPunct="0">
                <a:spcBef>
                  <a:spcPct val="0"/>
                </a:spcBef>
              </a:pPr>
              <a:endParaRPr lang="en-US" altLang="en-US" sz="1700">
                <a:latin typeface="Times New Roman" panose="02020603050405020304" pitchFamily="18" charset="0"/>
              </a:endParaRPr>
            </a:p>
            <a:p>
              <a:pPr algn="r" eaLnBrk="0" hangingPunct="0">
                <a:spcBef>
                  <a:spcPct val="0"/>
                </a:spcBef>
              </a:pPr>
              <a:endParaRPr lang="en-US" altLang="en-US" sz="1700">
                <a:latin typeface="Times New Roman" panose="02020603050405020304" pitchFamily="18" charset="0"/>
              </a:endParaRPr>
            </a:p>
            <a:p>
              <a:pPr algn="r" eaLnBrk="0" hangingPunct="0">
                <a:spcBef>
                  <a:spcPct val="0"/>
                </a:spcBef>
              </a:pPr>
              <a:endParaRPr lang="en-US" altLang="en-US" sz="1700">
                <a:latin typeface="Times New Roman" panose="02020603050405020304" pitchFamily="18" charset="0"/>
              </a:endParaRPr>
            </a:p>
            <a:p>
              <a:pPr algn="r" eaLnBrk="0" hangingPunct="0">
                <a:spcBef>
                  <a:spcPct val="0"/>
                </a:spcBef>
              </a:pPr>
              <a:endParaRPr lang="en-US" altLang="en-US" sz="1700">
                <a:latin typeface="Times New Roman" panose="02020603050405020304" pitchFamily="18" charset="0"/>
              </a:endParaRPr>
            </a:p>
            <a:p>
              <a:pPr algn="r" eaLnBrk="0" hangingPunct="0">
                <a:spcBef>
                  <a:spcPct val="0"/>
                </a:spcBef>
              </a:pPr>
              <a:endParaRPr lang="en-US" altLang="en-US" sz="1700">
                <a:latin typeface="Times New Roman" panose="02020603050405020304" pitchFamily="18" charset="0"/>
              </a:endParaRPr>
            </a:p>
            <a:p>
              <a:pPr algn="r" eaLnBrk="0" hangingPunct="0">
                <a:spcBef>
                  <a:spcPct val="0"/>
                </a:spcBef>
              </a:pPr>
              <a:r>
                <a:rPr lang="en-US" altLang="en-US" sz="1700">
                  <a:latin typeface="Times New Roman" panose="02020603050405020304" pitchFamily="18" charset="0"/>
                </a:rPr>
                <a:t>2</a:t>
              </a:r>
              <a:r>
                <a:rPr lang="en-US" altLang="en-US" sz="1700" baseline="30000">
                  <a:latin typeface="Times New Roman" panose="02020603050405020304" pitchFamily="18" charset="0"/>
                </a:rPr>
                <a:t>n</a:t>
              </a:r>
              <a:r>
                <a:rPr lang="en-US" altLang="en-US" sz="1700">
                  <a:latin typeface="Times New Roman" panose="02020603050405020304" pitchFamily="18" charset="0"/>
                </a:rPr>
                <a:t>-1</a:t>
              </a:r>
              <a:endParaRPr lang="en-US" altLang="en-US" sz="3600">
                <a:latin typeface="Times New Roman" panose="02020603050405020304" pitchFamily="18" charset="0"/>
              </a:endParaRPr>
            </a:p>
          </p:txBody>
        </p:sp>
        <p:sp>
          <p:nvSpPr>
            <p:cNvPr id="508947" name="AutoShape 19">
              <a:extLst>
                <a:ext uri="{FF2B5EF4-FFF2-40B4-BE49-F238E27FC236}">
                  <a16:creationId xmlns:a16="http://schemas.microsoft.com/office/drawing/2014/main" id="{25836C93-AF2A-2548-E2F3-1DDC11731F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6" y="2613"/>
              <a:ext cx="161" cy="843"/>
            </a:xfrm>
            <a:prstGeom prst="rightBrace">
              <a:avLst>
                <a:gd name="adj1" fmla="val 43634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CA"/>
            </a:p>
          </p:txBody>
        </p:sp>
        <p:grpSp>
          <p:nvGrpSpPr>
            <p:cNvPr id="508959" name="Group 31">
              <a:extLst>
                <a:ext uri="{FF2B5EF4-FFF2-40B4-BE49-F238E27FC236}">
                  <a16:creationId xmlns:a16="http://schemas.microsoft.com/office/drawing/2014/main" id="{7E4AB3D5-1848-D5EA-6849-364663272F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4" y="2112"/>
              <a:ext cx="1248" cy="192"/>
              <a:chOff x="2064" y="2112"/>
              <a:chExt cx="1248" cy="192"/>
            </a:xfrm>
          </p:grpSpPr>
          <p:sp>
            <p:nvSpPr>
              <p:cNvPr id="508951" name="Line 23">
                <a:extLst>
                  <a:ext uri="{FF2B5EF4-FFF2-40B4-BE49-F238E27FC236}">
                    <a16:creationId xmlns:a16="http://schemas.microsoft.com/office/drawing/2014/main" id="{D8C00625-E714-481A-91B3-33A60E3103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4" y="2208"/>
                <a:ext cx="576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508952" name="Line 24">
                <a:extLst>
                  <a:ext uri="{FF2B5EF4-FFF2-40B4-BE49-F238E27FC236}">
                    <a16:creationId xmlns:a16="http://schemas.microsoft.com/office/drawing/2014/main" id="{88FAE1DD-8F7B-3495-67E3-C44289EABC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4" y="2208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508957" name="AutoShape 29">
                <a:extLst>
                  <a:ext uri="{FF2B5EF4-FFF2-40B4-BE49-F238E27FC236}">
                    <a16:creationId xmlns:a16="http://schemas.microsoft.com/office/drawing/2014/main" id="{8A8E6578-97F3-7AFE-6536-7D50DF9A6B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5" y="2142"/>
                <a:ext cx="96" cy="144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508953" name="Line 25">
                <a:extLst>
                  <a:ext uri="{FF2B5EF4-FFF2-40B4-BE49-F238E27FC236}">
                    <a16:creationId xmlns:a16="http://schemas.microsoft.com/office/drawing/2014/main" id="{B41AAA17-E6A8-A1C5-DCCD-2CB56AC7E2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40" y="2112"/>
                <a:ext cx="48" cy="9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508958" name="AutoShape 30">
                <a:extLst>
                  <a:ext uri="{FF2B5EF4-FFF2-40B4-BE49-F238E27FC236}">
                    <a16:creationId xmlns:a16="http://schemas.microsoft.com/office/drawing/2014/main" id="{35CE3A59-7E54-DB4D-B877-D37C06F40F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2694" y="2160"/>
                <a:ext cx="96" cy="144"/>
              </a:xfrm>
              <a:prstGeom prst="triangle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508954" name="Line 26">
                <a:extLst>
                  <a:ext uri="{FF2B5EF4-FFF2-40B4-BE49-F238E27FC236}">
                    <a16:creationId xmlns:a16="http://schemas.microsoft.com/office/drawing/2014/main" id="{A3800B84-C53D-AF4E-27FE-81A3AD54BC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736" y="2208"/>
                <a:ext cx="48" cy="9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508955" name="Line 27">
                <a:extLst>
                  <a:ext uri="{FF2B5EF4-FFF2-40B4-BE49-F238E27FC236}">
                    <a16:creationId xmlns:a16="http://schemas.microsoft.com/office/drawing/2014/main" id="{A6D5DCBC-4AD4-A3CE-BE26-5C5A32EFA7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88" y="2112"/>
                <a:ext cx="48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A"/>
              </a:p>
            </p:txBody>
          </p:sp>
        </p:grpSp>
        <p:grpSp>
          <p:nvGrpSpPr>
            <p:cNvPr id="508960" name="Group 32">
              <a:extLst>
                <a:ext uri="{FF2B5EF4-FFF2-40B4-BE49-F238E27FC236}">
                  <a16:creationId xmlns:a16="http://schemas.microsoft.com/office/drawing/2014/main" id="{CB7EF46A-7096-84CF-A822-A097B819E91F}"/>
                </a:ext>
              </a:extLst>
            </p:cNvPr>
            <p:cNvGrpSpPr>
              <a:grpSpLocks/>
            </p:cNvGrpSpPr>
            <p:nvPr/>
          </p:nvGrpSpPr>
          <p:grpSpPr bwMode="auto">
            <a:xfrm rot="-10800000">
              <a:off x="2079" y="2304"/>
              <a:ext cx="1248" cy="192"/>
              <a:chOff x="2064" y="2112"/>
              <a:chExt cx="1248" cy="192"/>
            </a:xfrm>
          </p:grpSpPr>
          <p:sp>
            <p:nvSpPr>
              <p:cNvPr id="508961" name="Line 33">
                <a:extLst>
                  <a:ext uri="{FF2B5EF4-FFF2-40B4-BE49-F238E27FC236}">
                    <a16:creationId xmlns:a16="http://schemas.microsoft.com/office/drawing/2014/main" id="{8E36B924-B9A2-11FE-C8DB-598E28A55F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4" y="2208"/>
                <a:ext cx="576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508962" name="Line 34">
                <a:extLst>
                  <a:ext uri="{FF2B5EF4-FFF2-40B4-BE49-F238E27FC236}">
                    <a16:creationId xmlns:a16="http://schemas.microsoft.com/office/drawing/2014/main" id="{42C390D8-5C67-02A0-D6F4-1C0F7DBFEF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4" y="2208"/>
                <a:ext cx="528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508963" name="AutoShape 35">
                <a:extLst>
                  <a:ext uri="{FF2B5EF4-FFF2-40B4-BE49-F238E27FC236}">
                    <a16:creationId xmlns:a16="http://schemas.microsoft.com/office/drawing/2014/main" id="{676960B7-9810-CBC7-D445-B66D1155ED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5" y="2142"/>
                <a:ext cx="96" cy="144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508964" name="Line 36">
                <a:extLst>
                  <a:ext uri="{FF2B5EF4-FFF2-40B4-BE49-F238E27FC236}">
                    <a16:creationId xmlns:a16="http://schemas.microsoft.com/office/drawing/2014/main" id="{5458EE63-FE95-A38F-2FAE-B167183A4D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40" y="2112"/>
                <a:ext cx="48" cy="9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508965" name="AutoShape 37">
                <a:extLst>
                  <a:ext uri="{FF2B5EF4-FFF2-40B4-BE49-F238E27FC236}">
                    <a16:creationId xmlns:a16="http://schemas.microsoft.com/office/drawing/2014/main" id="{62A0CB13-AFD5-681F-F4F3-EABA9C0E34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2694" y="2160"/>
                <a:ext cx="96" cy="144"/>
              </a:xfrm>
              <a:prstGeom prst="triangle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508966" name="Line 38">
                <a:extLst>
                  <a:ext uri="{FF2B5EF4-FFF2-40B4-BE49-F238E27FC236}">
                    <a16:creationId xmlns:a16="http://schemas.microsoft.com/office/drawing/2014/main" id="{624AF288-F21C-823A-56D8-7B6D1E8DBE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736" y="2208"/>
                <a:ext cx="48" cy="9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508967" name="Line 39">
                <a:extLst>
                  <a:ext uri="{FF2B5EF4-FFF2-40B4-BE49-F238E27FC236}">
                    <a16:creationId xmlns:a16="http://schemas.microsoft.com/office/drawing/2014/main" id="{633DFBF7-4BA7-CE60-0172-A58DEDAF32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88" y="2112"/>
                <a:ext cx="48" cy="19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CA"/>
              </a:p>
            </p:txBody>
          </p:sp>
        </p:grp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454BA-785B-6735-C6A2-A7993F272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09202-FD92-2677-5FD4-329C8F85A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Memory Hierarchy with Multiple Caches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584933-7759-0B31-CB6F-53C06B083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0AEB5B-767F-3F7F-4D7C-630ADBEEB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70E25-6B7D-C24F-F7EC-E691200C2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26</a:t>
            </a:fld>
            <a:endParaRPr lang="en-CA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BDB5CD-90A3-2B9B-B856-020D99F96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046785" cy="4351338"/>
          </a:xfrm>
        </p:spPr>
        <p:txBody>
          <a:bodyPr/>
          <a:lstStyle/>
          <a:p>
            <a:r>
              <a:rPr lang="en-CA" dirty="0"/>
              <a:t>Modern CPUs may include multiple levels of caches – L3 / L2 / L1</a:t>
            </a:r>
          </a:p>
          <a:p>
            <a:endParaRPr lang="en-CA" dirty="0"/>
          </a:p>
          <a:p>
            <a:r>
              <a:rPr lang="en-CA" dirty="0"/>
              <a:t>Small embedded devices typically have one level </a:t>
            </a:r>
            <a:r>
              <a:rPr lang="en-CA" u="sng" dirty="0"/>
              <a:t>but</a:t>
            </a:r>
            <a:r>
              <a:rPr lang="en-CA" dirty="0"/>
              <a:t> may have different instruction &amp; data caches</a:t>
            </a:r>
          </a:p>
        </p:txBody>
      </p:sp>
      <p:pic>
        <p:nvPicPr>
          <p:cNvPr id="3076" name="Picture 4" descr="Myths Programmers Believe about CPU Caches – Software the Hard way">
            <a:extLst>
              <a:ext uri="{FF2B5EF4-FFF2-40B4-BE49-F238E27FC236}">
                <a16:creationId xmlns:a16="http://schemas.microsoft.com/office/drawing/2014/main" id="{AA1A692F-B4F9-D9C0-FEB8-F8970CE80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6963" y="1174750"/>
            <a:ext cx="4410075" cy="518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3690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39286-0E70-ECFD-A2B1-146B20453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Multi-Level Access Time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1ABF4-A9A7-BA31-4B96-392608AA7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26E912-C9D9-9396-6A9A-D78F3717C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B1C84-8FD6-D65B-0AAC-C58D5CB02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27</a:t>
            </a:fld>
            <a:endParaRPr lang="en-C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E3D233-214E-E660-000F-8788F4A3C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204" y="2297437"/>
            <a:ext cx="8996996" cy="73493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86702D-A3FC-10FB-D4BF-25F3CA6483C6}"/>
              </a:ext>
            </a:extLst>
          </p:cNvPr>
          <p:cNvSpPr txBox="1"/>
          <p:nvPr/>
        </p:nvSpPr>
        <p:spPr>
          <a:xfrm>
            <a:off x="1414585" y="3535285"/>
            <a:ext cx="950350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</a:t>
            </a:r>
            <a:r>
              <a:rPr lang="en-US" i="1" baseline="-25000" dirty="0"/>
              <a:t>L1</a:t>
            </a:r>
            <a:r>
              <a:rPr lang="en-US" dirty="0"/>
              <a:t> = Level 1 hit time</a:t>
            </a:r>
          </a:p>
          <a:p>
            <a:r>
              <a:rPr lang="en-US" i="1" dirty="0"/>
              <a:t>MR</a:t>
            </a:r>
            <a:r>
              <a:rPr lang="en-US" i="1" baseline="-25000" dirty="0"/>
              <a:t>L1</a:t>
            </a:r>
            <a:r>
              <a:rPr lang="en-US" dirty="0"/>
              <a:t> = Miss Rate on Level 1</a:t>
            </a:r>
          </a:p>
          <a:p>
            <a:r>
              <a:rPr lang="en-US" i="1" dirty="0"/>
              <a:t>T</a:t>
            </a:r>
            <a:r>
              <a:rPr lang="en-US" i="1" baseline="-25000" dirty="0"/>
              <a:t>L2</a:t>
            </a:r>
            <a:r>
              <a:rPr lang="en-US" dirty="0"/>
              <a:t> = Level 2 hit time</a:t>
            </a:r>
          </a:p>
          <a:p>
            <a:r>
              <a:rPr lang="en-US" i="1" dirty="0"/>
              <a:t>MR</a:t>
            </a:r>
            <a:r>
              <a:rPr lang="en-US" i="1" baseline="-25000" dirty="0"/>
              <a:t>L2</a:t>
            </a:r>
            <a:r>
              <a:rPr lang="en-US" dirty="0"/>
              <a:t> = Miss Rate on Level 2</a:t>
            </a:r>
          </a:p>
          <a:p>
            <a:r>
              <a:rPr lang="en-US" i="1" dirty="0" err="1"/>
              <a:t>MissPenalty</a:t>
            </a:r>
            <a:r>
              <a:rPr lang="en-US" i="1" baseline="-25000" dirty="0" err="1"/>
              <a:t>Mem</a:t>
            </a:r>
            <a:r>
              <a:rPr lang="en-US" dirty="0"/>
              <a:t> = Extra cache miss time (e.g., above </a:t>
            </a:r>
            <a:r>
              <a:rPr lang="en-US" i="1" dirty="0"/>
              <a:t>MR</a:t>
            </a:r>
            <a:r>
              <a:rPr lang="en-US" i="1" baseline="-25000" dirty="0"/>
              <a:t>L2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i="1" dirty="0"/>
              <a:t>Normally times = CPU Cycles</a:t>
            </a:r>
            <a:endParaRPr lang="en-CA" i="1" dirty="0"/>
          </a:p>
        </p:txBody>
      </p:sp>
    </p:spTree>
    <p:extLst>
      <p:ext uri="{BB962C8B-B14F-4D97-AF65-F5344CB8AC3E}">
        <p14:creationId xmlns:p14="http://schemas.microsoft.com/office/powerpoint/2010/main" val="8910591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91A17-CC7D-FE0F-96C4-FCD968318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Formula Intuition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EF111-712F-BAFA-45F5-3447252F6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Multiple levels of caches allow us to optimize by going for:</a:t>
            </a:r>
          </a:p>
          <a:p>
            <a:pPr lvl="1"/>
            <a:r>
              <a:rPr lang="en-US" u="sng" dirty="0"/>
              <a:t>Very fast </a:t>
            </a:r>
            <a:r>
              <a:rPr lang="en-US" dirty="0"/>
              <a:t>L1 that has a moderate miss rate	</a:t>
            </a:r>
          </a:p>
          <a:p>
            <a:pPr lvl="2"/>
            <a:r>
              <a:rPr lang="en-US" dirty="0"/>
              <a:t>“Moderate miss rate” </a:t>
            </a:r>
            <a:r>
              <a:rPr lang="en-US" dirty="0">
                <a:sym typeface="Wingdings" panose="05000000000000000000" pitchFamily="2" charset="2"/>
              </a:rPr>
              <a:t> Smaller</a:t>
            </a:r>
            <a:endParaRPr lang="en-US" dirty="0"/>
          </a:p>
          <a:p>
            <a:pPr lvl="1"/>
            <a:r>
              <a:rPr lang="en-US" u="sng" dirty="0"/>
              <a:t>Fast</a:t>
            </a:r>
            <a:r>
              <a:rPr lang="en-US" dirty="0"/>
              <a:t> L2 with a lower miss rate</a:t>
            </a:r>
          </a:p>
          <a:p>
            <a:pPr lvl="2"/>
            <a:r>
              <a:rPr lang="en-US" dirty="0"/>
              <a:t>“Lower miss rate” </a:t>
            </a:r>
            <a:r>
              <a:rPr lang="en-US" dirty="0">
                <a:sym typeface="Wingdings" panose="05000000000000000000" pitchFamily="2" charset="2"/>
              </a:rPr>
              <a:t> Larger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FF1F8C-AD0A-B267-ACEF-A5A1D5CEB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73C36-3763-9B93-D4C7-20B1F6C99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DD4B4-5584-68DD-4888-C0965A50C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847992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A7674-942A-52B9-47F1-1961A5B23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0B075-8E00-88FC-82B9-36A45963D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Memory Hierarchy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9A3B2-6EEC-976C-1121-E1AB97DF6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D84AF2-2B83-8234-3949-E896FD9C5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814E75-EBF8-F276-8195-2873B399F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29</a:t>
            </a:fld>
            <a:endParaRPr lang="en-CA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C81FFE9-4518-61B8-F852-B3A6B6FF4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96508" cy="4351338"/>
          </a:xfrm>
        </p:spPr>
        <p:txBody>
          <a:bodyPr/>
          <a:lstStyle/>
          <a:p>
            <a:r>
              <a:rPr lang="en-CA" dirty="0"/>
              <a:t>Compare the area of the L3 cache to the CPU core itself (L2 &amp; L1 are inside each of the cores)</a:t>
            </a:r>
          </a:p>
          <a:p>
            <a:endParaRPr lang="en-CA" dirty="0"/>
          </a:p>
          <a:p>
            <a:r>
              <a:rPr lang="en-CA" dirty="0"/>
              <a:t>Memory access is one of the most fundamental problems in CPU speed.</a:t>
            </a:r>
          </a:p>
        </p:txBody>
      </p:sp>
      <p:pic>
        <p:nvPicPr>
          <p:cNvPr id="5124" name="Picture 4" descr="Spectre And Meltdown: How Cache Works | Hackaday">
            <a:extLst>
              <a:ext uri="{FF2B5EF4-FFF2-40B4-BE49-F238E27FC236}">
                <a16:creationId xmlns:a16="http://schemas.microsoft.com/office/drawing/2014/main" id="{F1A7ABA3-6045-A077-8BD5-6E298EB03B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2884" y="941797"/>
            <a:ext cx="4400916" cy="4974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51445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B902D-29FC-D052-A1C8-26F09E89F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Cache Design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621D8-2455-0B7D-F28F-9DCD286DA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Size</a:t>
            </a:r>
          </a:p>
          <a:p>
            <a:r>
              <a:rPr lang="en-US" dirty="0"/>
              <a:t>Mapping Function</a:t>
            </a:r>
          </a:p>
          <a:p>
            <a:r>
              <a:rPr lang="en-US" dirty="0"/>
              <a:t>Replacement Algorithm</a:t>
            </a:r>
          </a:p>
          <a:p>
            <a:r>
              <a:rPr lang="en-US" dirty="0"/>
              <a:t>Write Policy</a:t>
            </a:r>
          </a:p>
          <a:p>
            <a:r>
              <a:rPr lang="en-US" dirty="0"/>
              <a:t>Block Size</a:t>
            </a:r>
          </a:p>
          <a:p>
            <a:r>
              <a:rPr lang="en-US" dirty="0"/>
              <a:t>Number of Caches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F6019-33D6-1804-35F6-1C57D73E9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6DF42-7BAB-C572-69E9-84E50482D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42681-C7C3-6D5E-30BF-3B18509E4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926166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122" name="Rectangle 2">
            <a:extLst>
              <a:ext uri="{FF2B5EF4-FFF2-40B4-BE49-F238E27FC236}">
                <a16:creationId xmlns:a16="http://schemas.microsoft.com/office/drawing/2014/main" id="{C9AC0D49-3FB7-80B4-2C77-5DCC228E3A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4000"/>
              <a:t>Cache size</a:t>
            </a:r>
            <a:endParaRPr lang="en-US" altLang="en-US" sz="4000"/>
          </a:p>
        </p:txBody>
      </p:sp>
      <p:sp>
        <p:nvSpPr>
          <p:cNvPr id="517123" name="Rectangle 3">
            <a:extLst>
              <a:ext uri="{FF2B5EF4-FFF2-40B4-BE49-F238E27FC236}">
                <a16:creationId xmlns:a16="http://schemas.microsoft.com/office/drawing/2014/main" id="{90325AE2-DC5E-6AE7-2563-A6470F8FF0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Cost – More cache is expensive</a:t>
            </a:r>
          </a:p>
          <a:p>
            <a:r>
              <a:rPr lang="en-US" altLang="en-US"/>
              <a:t>Speed</a:t>
            </a:r>
          </a:p>
          <a:p>
            <a:pPr lvl="1"/>
            <a:r>
              <a:rPr lang="en-US" altLang="en-US"/>
              <a:t>More cache is faster (up to a point) </a:t>
            </a:r>
          </a:p>
          <a:p>
            <a:pPr lvl="1"/>
            <a:r>
              <a:rPr lang="en-US" altLang="en-US"/>
              <a:t>Larger decoding circuits slow up a cache</a:t>
            </a:r>
          </a:p>
          <a:p>
            <a:pPr lvl="1"/>
            <a:r>
              <a:rPr lang="en-US" altLang="en-US"/>
              <a:t>Algorithm is needed for mapping main memory addresses to lines in the cache.  This takes more time than just a direct RAM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22" name="Rectangle 2">
            <a:extLst>
              <a:ext uri="{FF2B5EF4-FFF2-40B4-BE49-F238E27FC236}">
                <a16:creationId xmlns:a16="http://schemas.microsoft.com/office/drawing/2014/main" id="{8BB887F2-E869-9ADD-DF79-45AD624C14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en-US" altLang="en-US"/>
              <a:t>Typical Cache Organization</a:t>
            </a:r>
          </a:p>
        </p:txBody>
      </p:sp>
      <p:pic>
        <p:nvPicPr>
          <p:cNvPr id="542723" name="Picture 3">
            <a:extLst>
              <a:ext uri="{FF2B5EF4-FFF2-40B4-BE49-F238E27FC236}">
                <a16:creationId xmlns:a16="http://schemas.microsoft.com/office/drawing/2014/main" id="{734E0AA1-A28D-818F-5448-933EEDB44E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063"/>
          <a:stretch>
            <a:fillRect/>
          </a:stretch>
        </p:blipFill>
        <p:spPr bwMode="auto">
          <a:xfrm>
            <a:off x="2590800" y="1219201"/>
            <a:ext cx="7086600" cy="4811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266" name="Rectangle 2">
            <a:extLst>
              <a:ext uri="{FF2B5EF4-FFF2-40B4-BE49-F238E27FC236}">
                <a16:creationId xmlns:a16="http://schemas.microsoft.com/office/drawing/2014/main" id="{52AFB3EE-DBF7-24DD-555A-6FE53B1169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4000"/>
              <a:t>Mapping Functions</a:t>
            </a:r>
            <a:endParaRPr lang="en-US" altLang="en-US" sz="3600"/>
          </a:p>
        </p:txBody>
      </p:sp>
      <p:sp>
        <p:nvSpPr>
          <p:cNvPr id="523267" name="Rectangle 3">
            <a:extLst>
              <a:ext uri="{FF2B5EF4-FFF2-40B4-BE49-F238E27FC236}">
                <a16:creationId xmlns:a16="http://schemas.microsoft.com/office/drawing/2014/main" id="{66CF4BE4-BD01-60A3-2BCE-D845705ACC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/>
              <a:t>A mapping function is the method used to locate a memory address within a cache</a:t>
            </a:r>
          </a:p>
          <a:p>
            <a:r>
              <a:rPr lang="en-GB" altLang="en-US"/>
              <a:t>It is used when copying a block from main memory to the cache and it is used again when trying to retrieve data from the cache</a:t>
            </a:r>
          </a:p>
          <a:p>
            <a:r>
              <a:rPr lang="en-GB" altLang="en-US"/>
              <a:t>There are three kinds of mapping functions</a:t>
            </a:r>
            <a:endParaRPr lang="en-US" altLang="en-US" sz="2400"/>
          </a:p>
          <a:p>
            <a:pPr lvl="1"/>
            <a:r>
              <a:rPr lang="en-GB" altLang="en-US"/>
              <a:t>Direct</a:t>
            </a:r>
            <a:endParaRPr lang="en-US" altLang="en-US"/>
          </a:p>
          <a:p>
            <a:pPr lvl="1"/>
            <a:r>
              <a:rPr lang="en-GB" altLang="en-US"/>
              <a:t>Associative</a:t>
            </a:r>
            <a:endParaRPr lang="en-US" altLang="en-US"/>
          </a:p>
          <a:p>
            <a:pPr lvl="1"/>
            <a:r>
              <a:rPr lang="en-GB" altLang="en-US"/>
              <a:t>Set Associative</a:t>
            </a:r>
            <a:endParaRPr lang="en-US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21575-D8E2-6A63-50D2-4D4E170A1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 Mapping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12D91-C9C9-4949-96B4-3810EEBC5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block of main memory maps to </a:t>
            </a:r>
            <a:r>
              <a:rPr lang="en-US" u="sng" dirty="0"/>
              <a:t>only one</a:t>
            </a:r>
            <a:r>
              <a:rPr lang="en-US" dirty="0"/>
              <a:t> cache line</a:t>
            </a:r>
          </a:p>
          <a:p>
            <a:pPr lvl="1"/>
            <a:r>
              <a:rPr lang="en-US" dirty="0"/>
              <a:t>If a block is in memory, it is always found in the same cache line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B9269-BE44-EB68-E9B7-E54212367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F3362-FAF3-EB9D-7D0A-CF2F62A9C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9237-F623-FFE8-8EC3-A240121CC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34</a:t>
            </a:fld>
            <a:endParaRPr lang="en-CA"/>
          </a:p>
        </p:txBody>
      </p:sp>
      <p:pic>
        <p:nvPicPr>
          <p:cNvPr id="7" name="table">
            <a:extLst>
              <a:ext uri="{FF2B5EF4-FFF2-40B4-BE49-F238E27FC236}">
                <a16:creationId xmlns:a16="http://schemas.microsoft.com/office/drawing/2014/main" id="{69712623-44D4-A26A-E6B1-F233D0C57DC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66715" y="2852814"/>
            <a:ext cx="6781800" cy="2803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9579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225C5-D3DD-E43B-1F4B-2AD2B7C6E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 Mapping Access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EC0C0-9E2B-BD73-8701-13481B746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398C1-916E-FA7A-556F-9E674C288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ADD84-795F-7B34-FDCE-5EA98C0A3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35</a:t>
            </a:fld>
            <a:endParaRPr lang="en-CA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19F469B-6A24-466A-B71F-4759213179A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200299"/>
            <a:ext cx="8040077" cy="5156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32472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D5C17-149A-8C56-7E51-CA8D81F93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 Mapping Features / Problems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5E771-F920-88C9-8CE6-C1C2FAFFF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 &amp; Easy / Fast to Implement</a:t>
            </a:r>
          </a:p>
          <a:p>
            <a:pPr lvl="1"/>
            <a:r>
              <a:rPr lang="en-US" dirty="0"/>
              <a:t>Can calculate cache line from address</a:t>
            </a:r>
          </a:p>
          <a:p>
            <a:pPr lvl="1"/>
            <a:endParaRPr lang="en-US" dirty="0"/>
          </a:p>
          <a:p>
            <a:r>
              <a:rPr lang="en-US" dirty="0"/>
              <a:t>A program accessing 2 blocks mapping to the same line repeatedly causes “thrashing”</a:t>
            </a:r>
          </a:p>
          <a:p>
            <a:pPr lvl="1"/>
            <a:r>
              <a:rPr lang="en-US" dirty="0"/>
              <a:t>This has very poor performance as cache has constant misses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533D2-758C-D561-8B5E-C4A25C6E0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91A3D-9236-9267-BC07-2ECEC515F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56EBD-5521-F518-1FF1-0B22D68FF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629662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5F04B-1A86-3F10-9C74-5BEB7A842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Associative Mapping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AA98B-83E2-FE1F-FAA2-9AA135AF1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Load blocks as used into cache lines</a:t>
            </a:r>
          </a:p>
          <a:p>
            <a:r>
              <a:rPr lang="en-US" dirty="0"/>
              <a:t>Need to search cache lines to find possible </a:t>
            </a:r>
            <a:r>
              <a:rPr lang="en-US" dirty="0" err="1"/>
              <a:t>mrmory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3260A-B23B-804B-8CFB-A2859A040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AE6344-D36A-4B2D-BAA6-18DD222E6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68349-0D81-D8C0-D69D-856E58328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63685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808CA-0010-7263-DB75-3B6295F78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Fully Associative Mapping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5FDF2-75B6-1DCB-BA08-FF376543B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26B04-9116-4173-9E79-82B439E5E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E09A9D-0EEA-5E11-954C-416195C99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38</a:t>
            </a:fld>
            <a:endParaRPr lang="en-CA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FDBE48B-50BD-DA3C-E28B-23B1CF788D6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7947" y="1309809"/>
            <a:ext cx="8374145" cy="5106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60730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DBCBF-509E-9B16-35E5-3C18F54DD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Fully Associative Mapping Problems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6CD13-052E-13E2-1296-B6A39C8191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Search of a large cache is problematic! Ruins the point of a cache… </a:t>
            </a:r>
          </a:p>
          <a:p>
            <a:endParaRPr lang="en-US" dirty="0"/>
          </a:p>
          <a:p>
            <a:r>
              <a:rPr lang="en-US" dirty="0"/>
              <a:t>So split the search up into smaller sections.</a:t>
            </a:r>
          </a:p>
          <a:p>
            <a:endParaRPr lang="en-US" dirty="0"/>
          </a:p>
          <a:p>
            <a:r>
              <a:rPr lang="en-US" dirty="0"/>
              <a:t>We say there is </a:t>
            </a:r>
            <a:r>
              <a:rPr lang="en-US" i="1" dirty="0"/>
              <a:t>k</a:t>
            </a:r>
            <a:r>
              <a:rPr lang="en-US" dirty="0"/>
              <a:t> blocks/lines in each set</a:t>
            </a:r>
          </a:p>
          <a:p>
            <a:pPr lvl="1"/>
            <a:r>
              <a:rPr lang="en-US" dirty="0"/>
              <a:t>k = 1 is direct mapping (only one block it can be in)</a:t>
            </a:r>
          </a:p>
          <a:p>
            <a:pPr lvl="1"/>
            <a:r>
              <a:rPr lang="en-US" dirty="0"/>
              <a:t>k = 2 is common (2 possible blocks to search)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3B7A5-6582-52F5-2C50-BA45F3237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292264-81E1-F54F-7155-D31DC849E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517C0-A26E-FBC2-5EFF-6D010128C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39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970682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5B69F-1710-EC68-073C-BF6A2D618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K-Way Associative Mapping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68602-70CE-3847-F426-3213480BE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B3849-BFE5-D627-8358-2C642E697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3D998-CACD-5BB5-6630-7E0F3C04A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40</a:t>
            </a:fld>
            <a:endParaRPr lang="en-CA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ABB1EC6-0692-E997-1572-6C9C359BEAF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7267" y="1268962"/>
            <a:ext cx="7193779" cy="5013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40691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658F5-5602-DC0E-9349-4135B1C7D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Replacement Algorithm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F0F29-E262-543A-8430-1E08EBD25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For </a:t>
            </a:r>
            <a:r>
              <a:rPr lang="en-US" u="sng" dirty="0"/>
              <a:t>direct mapping</a:t>
            </a:r>
            <a:r>
              <a:rPr lang="en-US" dirty="0"/>
              <a:t> no algorithm – we have only one choice for where a new block goes.</a:t>
            </a:r>
          </a:p>
          <a:p>
            <a:endParaRPr lang="en-US" dirty="0"/>
          </a:p>
          <a:p>
            <a:r>
              <a:rPr lang="en-US" dirty="0"/>
              <a:t>Associative &amp; Set Associative have choices. Typically:</a:t>
            </a:r>
          </a:p>
          <a:p>
            <a:endParaRPr lang="en-US" dirty="0"/>
          </a:p>
          <a:p>
            <a:pPr lvl="1"/>
            <a:r>
              <a:rPr lang="en-US" dirty="0"/>
              <a:t>Least Recently Used (LRU)</a:t>
            </a:r>
          </a:p>
          <a:p>
            <a:pPr lvl="2"/>
            <a:r>
              <a:rPr lang="en-US" dirty="0"/>
              <a:t>Replace block not touched in the longest time</a:t>
            </a:r>
          </a:p>
          <a:p>
            <a:pPr lvl="2"/>
            <a:r>
              <a:rPr lang="en-US" dirty="0"/>
              <a:t>With 2-way associative store this in a bit, set a bit when one set is used. Replace unused set.</a:t>
            </a:r>
          </a:p>
          <a:p>
            <a:pPr marL="914400" lvl="2" indent="0">
              <a:buNone/>
            </a:pPr>
            <a:endParaRPr lang="en-US" dirty="0"/>
          </a:p>
          <a:p>
            <a:pPr lvl="1"/>
            <a:r>
              <a:rPr lang="en-US" dirty="0"/>
              <a:t>First In First Out (FIFO) needed for more sets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50B2F-C460-08A0-7573-5E0DAA560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5B4F6-8D2D-4DC8-C114-224575D41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06317-D05F-853B-5D3E-C457ADEAD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41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026179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C61A0-B43B-1335-EC7B-A11784F8C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to Cache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EAA1E-6695-64C6-41FE-B541D2131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happens when your processor </a:t>
            </a:r>
            <a:r>
              <a:rPr lang="en-US" u="sng" dirty="0"/>
              <a:t>writes</a:t>
            </a:r>
            <a:r>
              <a:rPr lang="en-US" dirty="0"/>
              <a:t> to memory?</a:t>
            </a:r>
          </a:p>
          <a:p>
            <a:endParaRPr lang="en-US" dirty="0"/>
          </a:p>
          <a:p>
            <a:r>
              <a:rPr lang="en-US" dirty="0"/>
              <a:t>Complexities:</a:t>
            </a:r>
          </a:p>
          <a:p>
            <a:pPr lvl="1"/>
            <a:r>
              <a:rPr lang="en-US" dirty="0"/>
              <a:t>If we write to cache, main memory is invalid.</a:t>
            </a:r>
          </a:p>
          <a:p>
            <a:pPr lvl="1"/>
            <a:r>
              <a:rPr lang="en-US" dirty="0"/>
              <a:t>If we write to memory, cache is invalid.</a:t>
            </a:r>
          </a:p>
          <a:p>
            <a:pPr lvl="1"/>
            <a:r>
              <a:rPr lang="en-US" dirty="0"/>
              <a:t>Consider also multiple CPU cores, or peripherals (DMA) accessing memory.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1D61D0-89E5-810C-16CB-C04E4592F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0548A-3192-E305-35C8-0F529E60E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6E1B7D-BD99-6DB6-33FB-F2A312AFC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42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452551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8AD72-E4F9-6FDF-FB6E-4390415EC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through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3FFBA-2755-CBDF-D109-9EE3638AC6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writes go to main memory and cache</a:t>
            </a:r>
          </a:p>
          <a:p>
            <a:r>
              <a:rPr lang="en-US" dirty="0"/>
              <a:t>Other CPUs monitor main memory traffic to keep cache up-to-date</a:t>
            </a:r>
          </a:p>
          <a:p>
            <a:endParaRPr lang="en-US" dirty="0"/>
          </a:p>
          <a:p>
            <a:r>
              <a:rPr lang="en-US" dirty="0"/>
              <a:t>Downsides:</a:t>
            </a:r>
          </a:p>
          <a:p>
            <a:pPr lvl="1"/>
            <a:r>
              <a:rPr lang="en-US" dirty="0"/>
              <a:t>Lots of bus traffic!</a:t>
            </a:r>
          </a:p>
          <a:p>
            <a:pPr lvl="1"/>
            <a:r>
              <a:rPr lang="en-US" dirty="0"/>
              <a:t>Slows down writes (memory access on every write)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2DAFFC-637B-7522-C93A-B0BECC357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B02DB-D9FB-CD5D-BFA4-F29CA9589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F192FF-A0B2-257A-E519-FB418CD0A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43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05639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87AEF-545D-0CF9-5908-F9F9A7BBD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back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B1C3C-624A-85F1-F0D2-B28B700C35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Writes update cache only</a:t>
            </a:r>
          </a:p>
          <a:p>
            <a:r>
              <a:rPr lang="en-US" dirty="0"/>
              <a:t>Cache tracks that an update (write) has happened</a:t>
            </a:r>
          </a:p>
          <a:p>
            <a:r>
              <a:rPr lang="en-US" dirty="0"/>
              <a:t>If block in cache to be removed (flushed), check if update happened, if so </a:t>
            </a:r>
            <a:r>
              <a:rPr lang="en-US" i="1" dirty="0"/>
              <a:t>write back</a:t>
            </a:r>
            <a:r>
              <a:rPr lang="en-US" dirty="0"/>
              <a:t> to main memory</a:t>
            </a:r>
          </a:p>
          <a:p>
            <a:endParaRPr lang="en-US" dirty="0"/>
          </a:p>
          <a:p>
            <a:r>
              <a:rPr lang="en-US" dirty="0"/>
              <a:t>Downsides:</a:t>
            </a:r>
          </a:p>
          <a:p>
            <a:pPr lvl="1"/>
            <a:r>
              <a:rPr lang="en-US" dirty="0"/>
              <a:t>Other caches get out of sync</a:t>
            </a:r>
          </a:p>
          <a:p>
            <a:pPr lvl="1"/>
            <a:r>
              <a:rPr lang="en-US" dirty="0"/>
              <a:t>I/O must access main memory through cache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B12A3-40D7-5315-FE17-A93B9926C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8351A-DDA1-EDF7-611E-8A23BDBB5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12015-D23C-FE53-7221-9FA253A84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44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779877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FF56B-7DE1-F2B3-81AF-CCF03A10B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Dealing with Multi-core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A48E4-E9CB-088F-6B99-8E4F15F15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Processors monitor bus to see if any writes of interest to them have occurred</a:t>
            </a:r>
          </a:p>
          <a:p>
            <a:endParaRPr lang="en-US" dirty="0"/>
          </a:p>
          <a:p>
            <a:r>
              <a:rPr lang="en-US" dirty="0"/>
              <a:t>Overseer monitors all caches and forces synchronization between them</a:t>
            </a:r>
          </a:p>
          <a:p>
            <a:endParaRPr lang="en-US" dirty="0"/>
          </a:p>
          <a:p>
            <a:r>
              <a:rPr lang="en-US" dirty="0"/>
              <a:t>Memory is marked as non-cacheable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C1CF23-303E-2FEC-C9B8-CA6B24B10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9C22A8-DD40-5336-A96E-80A15D365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C8627-C62E-3DF8-AE64-050ED19ED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45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3980237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7E859-D7F9-6560-F8E4-CA4E4168A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Embedded Processor Caches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2E716-916F-F6DF-A417-070116634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Smaller embedded systems will often </a:t>
            </a:r>
            <a:r>
              <a:rPr lang="en-US" u="sng" dirty="0"/>
              <a:t>not</a:t>
            </a:r>
            <a:r>
              <a:rPr lang="en-US" dirty="0"/>
              <a:t> have caches.</a:t>
            </a:r>
          </a:p>
          <a:p>
            <a:endParaRPr lang="en-US" dirty="0"/>
          </a:p>
          <a:p>
            <a:r>
              <a:rPr lang="en-US" dirty="0"/>
              <a:t>Normally there is a separate instruction cache (ICACHE) and data cache (DCACHE)</a:t>
            </a:r>
          </a:p>
          <a:p>
            <a:endParaRPr lang="en-US" dirty="0"/>
          </a:p>
          <a:p>
            <a:r>
              <a:rPr lang="en-US" dirty="0"/>
              <a:t>STM32F303 (Cortex-M4 based) </a:t>
            </a:r>
            <a:r>
              <a:rPr lang="en-US" u="sng" dirty="0"/>
              <a:t>does not</a:t>
            </a:r>
            <a:r>
              <a:rPr lang="en-US" dirty="0"/>
              <a:t> have either.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368B8-13FD-7B8D-47BD-1C95649F5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12C4FC-76C7-CABA-9A33-98DA74607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A0897-229B-7303-B212-E23D9CE80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46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61453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79F86-963B-2320-9519-B71842BE3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e.g., STM32F7 </a:t>
            </a:r>
            <a:endParaRPr lang="en-CA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F74025C-7382-F238-3B3F-208D21FBCF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43646" y="746736"/>
            <a:ext cx="7253796" cy="536452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4211B-83F1-CC76-BB06-9FBED32B3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B93DE-675D-69BD-258E-3AF6D9BA3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93CBA-3637-065F-9F1E-C90E1E39B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47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148925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D3DC1-A9A1-31FC-B27C-E8B9E6DBC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e.g., Default Cache Setup</a:t>
            </a:r>
            <a:endParaRPr lang="en-CA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6A81F54-2EC5-02B2-C118-03F80F49BC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13603"/>
            <a:ext cx="10515600" cy="358461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C5A819-DF5D-4EB1-F07B-E794A68F1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09DF73-C1A4-A6F5-0CC4-C39EC38F6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E4BD3-4E1F-867F-F26B-A5A8870F0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48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9948601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8B807-48F5-4B1D-8DBA-84738EACD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e.g., Cache Problems</a:t>
            </a:r>
            <a:endParaRPr lang="en-CA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35FB741-8E3A-EA0E-1D69-22D53AB648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66999" y="1825625"/>
            <a:ext cx="7058001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96564-D6C8-6CE9-BC8D-38B14BE97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792D7-005B-8DA6-899E-67A901212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E29CF-A9F8-DB1F-34DA-A8FC2FF7B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49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2311557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5A40D-B1B9-6CD1-AFFF-7EA60AA4E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e.g., Fixing Data Coherency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33BF1-FF70-B9D9-963A-8C74E2D33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Solution 1:</a:t>
            </a:r>
          </a:p>
          <a:p>
            <a:pPr marL="457200" lvl="1" indent="0">
              <a:buNone/>
            </a:pPr>
            <a:r>
              <a:rPr lang="en-US" b="1" dirty="0"/>
              <a:t>Manual cache maintenance operation: </a:t>
            </a:r>
            <a:r>
              <a:rPr lang="en-US" b="1" dirty="0" err="1"/>
              <a:t>SCB_CleanDCache</a:t>
            </a:r>
            <a:r>
              <a:rPr lang="en-US" b="1" dirty="0"/>
              <a:t>() when coherence problem exists (DMA).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Solution 2:</a:t>
            </a:r>
          </a:p>
          <a:p>
            <a:pPr marL="457200" lvl="1" indent="0">
              <a:buNone/>
            </a:pPr>
            <a:r>
              <a:rPr lang="en-US" b="1" dirty="0"/>
              <a:t>Modify SRAM1 to be “Write-Through” policy (WT instead of WBWA)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Solution 3:</a:t>
            </a:r>
          </a:p>
          <a:p>
            <a:pPr marL="457200" lvl="1" indent="0">
              <a:buNone/>
            </a:pPr>
            <a:r>
              <a:rPr lang="en-US" b="1" dirty="0"/>
              <a:t>Modify SRAM1 to be shared attribute (prevents D-cache usage)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Solution 4:</a:t>
            </a:r>
          </a:p>
          <a:p>
            <a:pPr marL="457200" lvl="1" indent="0">
              <a:buNone/>
            </a:pPr>
            <a:r>
              <a:rPr lang="en-US" b="1" dirty="0"/>
              <a:t>Modify all writes to be “Write-Through”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0A2951-1BCE-F722-F655-F5DC6DF71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C05E0-850E-76C0-C78F-41AC4FB33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7D9AF-F233-57C9-EA20-33204961A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50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3497178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5EEE8-CD4F-EDE6-0062-844EFE1CD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Caches &amp; Performance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14B7D-3CB5-9162-E4A2-9AF5138B3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Caching is an important solution to the memory wall problem.</a:t>
            </a:r>
          </a:p>
          <a:p>
            <a:r>
              <a:rPr lang="en-US" dirty="0"/>
              <a:t>Caching also helps with general bus contention problems.</a:t>
            </a:r>
          </a:p>
          <a:p>
            <a:r>
              <a:rPr lang="en-CA" dirty="0"/>
              <a:t>Different cache access patterns can drastically affect software performance.</a:t>
            </a:r>
          </a:p>
          <a:p>
            <a:r>
              <a:rPr lang="en-CA" dirty="0"/>
              <a:t>Reviewed cache tags &amp; replacement policy.</a:t>
            </a:r>
          </a:p>
          <a:p>
            <a:r>
              <a:rPr lang="en-CA" dirty="0"/>
              <a:t>Reviewed some examples of cache usage on STM32F7</a:t>
            </a:r>
          </a:p>
          <a:p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34E5A-659C-4520-F76A-FA947AE21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1A3F7-612D-48D0-A380-86227BC8600F}" type="datetime1">
              <a:rPr lang="en-CA" smtClean="0"/>
              <a:t>2026-03-11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CAE9A-14EB-A755-E752-768C2888C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67FFBB-1BC2-D10A-C6D3-9F759183A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5CC40-D0F6-4666-ABAA-DE78F621EF61}" type="slidenum">
              <a:rPr lang="en-CA" smtClean="0"/>
              <a:t>51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69518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3340</TotalTime>
  <Words>2424</Words>
  <Application>Microsoft Office PowerPoint</Application>
  <PresentationFormat>Widescreen</PresentationFormat>
  <Paragraphs>472</Paragraphs>
  <Slides>51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Aptos</vt:lpstr>
      <vt:lpstr>Aptos Display</vt:lpstr>
      <vt:lpstr>Arial</vt:lpstr>
      <vt:lpstr>Courier New</vt:lpstr>
      <vt:lpstr>Times New Roman</vt:lpstr>
      <vt:lpstr>Wingdings</vt:lpstr>
      <vt:lpstr>Office Theme</vt:lpstr>
      <vt:lpstr>Computer Architecture: Memory Caches and Performance</vt:lpstr>
      <vt:lpstr>Lectures</vt:lpstr>
      <vt:lpstr>What’s all this other stuff near the CPU?</vt:lpstr>
      <vt:lpstr>The Memory Wall</vt:lpstr>
      <vt:lpstr>Registers  Caches</vt:lpstr>
      <vt:lpstr>Registers  Caches</vt:lpstr>
      <vt:lpstr>Why Caches Work</vt:lpstr>
      <vt:lpstr>Cache Operation</vt:lpstr>
      <vt:lpstr>Memory Access Time</vt:lpstr>
      <vt:lpstr>Data vs. Instruction Caches</vt:lpstr>
      <vt:lpstr>Why Caches Work (Cont’d)</vt:lpstr>
      <vt:lpstr>Why Caches Work: Temporal Locality</vt:lpstr>
      <vt:lpstr>Why Caches Work: Spatial Locality</vt:lpstr>
      <vt:lpstr>Why Caches Work: Instruction Access</vt:lpstr>
      <vt:lpstr>Why Caches Work: Compilers &amp; Designers</vt:lpstr>
      <vt:lpstr>i-j-k</vt:lpstr>
      <vt:lpstr>i-k-j</vt:lpstr>
      <vt:lpstr>Demo</vt:lpstr>
      <vt:lpstr>Address</vt:lpstr>
      <vt:lpstr>IJK Address Example</vt:lpstr>
      <vt:lpstr>IKJ Address Example</vt:lpstr>
      <vt:lpstr>Important Cache Note</vt:lpstr>
      <vt:lpstr>Cache Structure</vt:lpstr>
      <vt:lpstr>Cache Structure (continued)</vt:lpstr>
      <vt:lpstr>Memory Divided into Blocks</vt:lpstr>
      <vt:lpstr>Memory Hierarchy with Multiple Caches</vt:lpstr>
      <vt:lpstr>Multi-Level Access Time</vt:lpstr>
      <vt:lpstr>Formula Intuition</vt:lpstr>
      <vt:lpstr>Memory Hierarchy</vt:lpstr>
      <vt:lpstr>Cache Design Questions</vt:lpstr>
      <vt:lpstr>Cache size</vt:lpstr>
      <vt:lpstr>Typical Cache Organization</vt:lpstr>
      <vt:lpstr>Mapping Functions</vt:lpstr>
      <vt:lpstr>Direct Mapping</vt:lpstr>
      <vt:lpstr>Direct Mapping Access</vt:lpstr>
      <vt:lpstr>Direct Mapping Features / Problems</vt:lpstr>
      <vt:lpstr>Associative Mapping</vt:lpstr>
      <vt:lpstr>Fully Associative Mapping</vt:lpstr>
      <vt:lpstr>Fully Associative Mapping Problems</vt:lpstr>
      <vt:lpstr>K-Way Associative Mapping</vt:lpstr>
      <vt:lpstr>Replacement Algorithm</vt:lpstr>
      <vt:lpstr>Writing to Cache</vt:lpstr>
      <vt:lpstr>Write through</vt:lpstr>
      <vt:lpstr>Write back</vt:lpstr>
      <vt:lpstr>Dealing with Multi-core</vt:lpstr>
      <vt:lpstr>Embedded Processor Caches</vt:lpstr>
      <vt:lpstr>e.g., STM32F7 </vt:lpstr>
      <vt:lpstr>e.g., Default Cache Setup</vt:lpstr>
      <vt:lpstr>e.g., Cache Problems</vt:lpstr>
      <vt:lpstr>e.g., Fixing Data Coherency</vt:lpstr>
      <vt:lpstr>Memory Caches &amp; Performance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Colin O'Flynn</dc:creator>
  <cp:lastModifiedBy>Colin O'Flynn</cp:lastModifiedBy>
  <cp:revision>57</cp:revision>
  <dcterms:created xsi:type="dcterms:W3CDTF">2026-02-08T23:56:58Z</dcterms:created>
  <dcterms:modified xsi:type="dcterms:W3CDTF">2026-03-11T16:31:41Z</dcterms:modified>
</cp:coreProperties>
</file>