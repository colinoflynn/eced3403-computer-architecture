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01" r:id="rId4"/>
    <p:sldId id="279" r:id="rId5"/>
    <p:sldId id="280" r:id="rId6"/>
    <p:sldId id="282" r:id="rId7"/>
    <p:sldId id="281" r:id="rId8"/>
    <p:sldId id="283" r:id="rId9"/>
    <p:sldId id="284" r:id="rId10"/>
    <p:sldId id="285" r:id="rId11"/>
    <p:sldId id="287" r:id="rId12"/>
    <p:sldId id="286" r:id="rId13"/>
    <p:sldId id="288" r:id="rId14"/>
    <p:sldId id="296" r:id="rId15"/>
    <p:sldId id="289" r:id="rId16"/>
    <p:sldId id="292" r:id="rId17"/>
    <p:sldId id="293" r:id="rId18"/>
    <p:sldId id="302" r:id="rId19"/>
    <p:sldId id="304" r:id="rId20"/>
    <p:sldId id="305" r:id="rId21"/>
    <p:sldId id="303" r:id="rId22"/>
    <p:sldId id="297" r:id="rId23"/>
    <p:sldId id="298" r:id="rId24"/>
    <p:sldId id="299" r:id="rId25"/>
    <p:sldId id="300" r:id="rId26"/>
    <p:sldId id="306" r:id="rId27"/>
    <p:sldId id="290" r:id="rId28"/>
    <p:sldId id="291" r:id="rId29"/>
    <p:sldId id="307" r:id="rId30"/>
    <p:sldId id="294" r:id="rId31"/>
    <p:sldId id="309" r:id="rId32"/>
    <p:sldId id="310" r:id="rId33"/>
    <p:sldId id="30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5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2026-03-15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8980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184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2026-03-15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2026-03-15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2026-03-15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2026-03-15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2026-03-15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2026-03-15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nolting/neorv32/blob/main/rtl/core/neorv32_cpu_frontend.vh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nolting/neorv32/blob/main/rtl/core/neorv32_cpu_control.vh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github.com/stnolting/neorv32/blob/main/rtl/core/neorv32_cpu_alu.vh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zipcpu.com/zipcpu/2017/08/11/simple-alu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Core and ALU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store, access, and control data?</a:t>
            </a:r>
          </a:p>
          <a:p>
            <a:r>
              <a:rPr lang="en-CA" b="1" dirty="0">
                <a:solidFill>
                  <a:srgbClr val="FF0000"/>
                </a:solidFill>
              </a:rPr>
              <a:t>How does the machine execute instructions?</a:t>
            </a:r>
          </a:p>
          <a:p>
            <a:r>
              <a:rPr lang="en-CA" i="1" dirty="0">
                <a:solidFill>
                  <a:schemeClr val="bg1">
                    <a:lumMod val="65000"/>
                  </a:schemeClr>
                </a:solidFill>
              </a:rPr>
              <a:t>How is execution made more efficient?</a:t>
            </a:r>
          </a:p>
          <a:p>
            <a:r>
              <a:rPr lang="en-CA" i="1" dirty="0">
                <a:solidFill>
                  <a:schemeClr val="bg1">
                    <a:lumMod val="65000"/>
                  </a:schemeClr>
                </a:solidFill>
              </a:rPr>
              <a:t>How do we measure execution?</a:t>
            </a:r>
          </a:p>
          <a:p>
            <a:endParaRPr lang="en-CA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5D17-EAEA-9E48-237A-FC13D0CA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Tie to ISA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6977C-79E4-B5A0-38DE-ED87E3BEC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Several of the topics “should” be call-backs to the ISA lecture</a:t>
            </a:r>
          </a:p>
          <a:p>
            <a:r>
              <a:rPr lang="en-CA" dirty="0"/>
              <a:t>In many instances we are going to look in more detail about </a:t>
            </a:r>
            <a:r>
              <a:rPr lang="en-CA" i="1" dirty="0"/>
              <a:t>why</a:t>
            </a:r>
            <a:r>
              <a:rPr lang="en-CA" dirty="0"/>
              <a:t> choices where made for the ISA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6AA0B-A0B5-4F37-1C00-AA2693112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641F8-1EDD-1902-1192-0D09412D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00894-CBEC-9311-5AE2-1ECD45E5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962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7450-2176-F7E1-663B-44CF7E54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What’s hidden in here?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BEBCB-09A7-B8AE-7D62-961C0994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1D8C-199D-B847-A60D-1C1C05B7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D3A7C-999B-CB88-6002-2BF0BCD6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  <p:pic>
        <p:nvPicPr>
          <p:cNvPr id="7" name="Content Placeholder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7AD7C2D9-0DCB-9195-C710-223F29C3E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089" y="1356701"/>
            <a:ext cx="7355869" cy="475492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593158-2CCD-8424-5F6C-AE7CC44FFBFA}"/>
              </a:ext>
            </a:extLst>
          </p:cNvPr>
          <p:cNvSpPr txBox="1">
            <a:spLocks/>
          </p:cNvSpPr>
          <p:nvPr/>
        </p:nvSpPr>
        <p:spPr>
          <a:xfrm>
            <a:off x="7854461" y="2271470"/>
            <a:ext cx="4275016" cy="2449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We now go inside the magic.</a:t>
            </a:r>
          </a:p>
        </p:txBody>
      </p:sp>
    </p:spTree>
    <p:extLst>
      <p:ext uri="{BB962C8B-B14F-4D97-AF65-F5344CB8AC3E}">
        <p14:creationId xmlns:p14="http://schemas.microsoft.com/office/powerpoint/2010/main" val="47653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10BA-09EF-3EE3-A356-A4A25ADB3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Arm vs RISC-V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F5BDD-9854-CC75-2B30-F67C62BE2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611"/>
            <a:ext cx="10515600" cy="3030351"/>
          </a:xfrm>
        </p:spPr>
        <p:txBody>
          <a:bodyPr/>
          <a:lstStyle/>
          <a:p>
            <a:pPr marL="342900" indent="-342900"/>
            <a:r>
              <a:rPr lang="en-CA" sz="2400" dirty="0"/>
              <a:t>RISC-V is unique as the Instruction Set Architecture is </a:t>
            </a:r>
            <a:r>
              <a:rPr lang="en-CA" sz="2400" i="1" dirty="0"/>
              <a:t>Open Source</a:t>
            </a:r>
            <a:r>
              <a:rPr lang="en-CA" sz="2400" dirty="0"/>
              <a:t>.</a:t>
            </a:r>
          </a:p>
          <a:p>
            <a:pPr marL="800100" lvl="1" indent="-342900"/>
            <a:r>
              <a:rPr lang="en-CA" dirty="0"/>
              <a:t>Other device (such as Arm) have a company behind then – you cannot use the </a:t>
            </a:r>
            <a:r>
              <a:rPr lang="en-CA" i="1" dirty="0"/>
              <a:t>instruction set</a:t>
            </a:r>
            <a:r>
              <a:rPr lang="en-CA" dirty="0"/>
              <a:t> without paying them $$$.</a:t>
            </a:r>
          </a:p>
          <a:p>
            <a:pPr marL="342900" indent="-342900"/>
            <a:r>
              <a:rPr lang="en-CA" sz="2400" dirty="0"/>
              <a:t>There are still commercial (closed source) </a:t>
            </a:r>
            <a:r>
              <a:rPr lang="en-CA" sz="2400" i="1" dirty="0"/>
              <a:t>implementations</a:t>
            </a:r>
            <a:r>
              <a:rPr lang="en-CA" sz="2400" dirty="0"/>
              <a:t> of RISC-V.</a:t>
            </a:r>
          </a:p>
          <a:p>
            <a:pPr marL="342900" indent="-342900"/>
            <a:r>
              <a:rPr lang="en-CA" sz="2400" dirty="0"/>
              <a:t>But there are also LOTS of open-source processors, simulators, etc.</a:t>
            </a:r>
          </a:p>
          <a:p>
            <a:pPr marL="0" indent="0">
              <a:buNone/>
            </a:pPr>
            <a:r>
              <a:rPr lang="en-CA" sz="2400" dirty="0"/>
              <a:t>We can </a:t>
            </a:r>
            <a:r>
              <a:rPr lang="en-CA" sz="2400" u="sng" dirty="0"/>
              <a:t>inspect the design of these open-source processors</a:t>
            </a:r>
            <a:r>
              <a:rPr lang="en-CA" sz="2400" dirty="0"/>
              <a:t>.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22B9A-AA7B-3F39-FDE5-DFC03313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F9D36-5F85-A924-AACE-1607317F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9133A-B0A0-EA85-03F9-C45F6CEC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  <p:pic>
        <p:nvPicPr>
          <p:cNvPr id="7" name="Picture 2" descr="RISC-V International – RISC-V: The Open Standard RISC Instruction Set  Architecture">
            <a:extLst>
              <a:ext uri="{FF2B5EF4-FFF2-40B4-BE49-F238E27FC236}">
                <a16:creationId xmlns:a16="http://schemas.microsoft.com/office/drawing/2014/main" id="{0DC02282-66D5-5076-6AD4-5772ABBC3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90688"/>
            <a:ext cx="6945920" cy="109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24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6824-A246-E7EA-47AD-5DB40DCB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Arm vs RISC-V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54E39-90F0-837E-4465-4EE351B79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the following slides I’ll switch between RISC-V &amp; Arm cores.</a:t>
            </a:r>
          </a:p>
          <a:p>
            <a:r>
              <a:rPr lang="en-CA" dirty="0"/>
              <a:t>They are </a:t>
            </a:r>
            <a:r>
              <a:rPr lang="en-CA" u="sng" dirty="0"/>
              <a:t>very similar </a:t>
            </a:r>
            <a:r>
              <a:rPr lang="en-CA" dirty="0"/>
              <a:t>for these purposes</a:t>
            </a:r>
          </a:p>
          <a:p>
            <a:r>
              <a:rPr lang="en-CA" dirty="0"/>
              <a:t>Most code examples will use Arm assembly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92009-7A20-5813-72FC-AA37EE302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45057-FDEC-5672-C6F3-A195A491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07B32-45FA-0370-5ABE-C2983CD1D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36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2190C-ADF6-2AC2-CC65-A54F78AC6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9F437-49C7-AD52-8FFC-50B78566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48D5-34DD-94AC-3BFA-066A4893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  <p:pic>
        <p:nvPicPr>
          <p:cNvPr id="7" name="Picture 2" descr="neorv32 cpu">
            <a:extLst>
              <a:ext uri="{FF2B5EF4-FFF2-40B4-BE49-F238E27FC236}">
                <a16:creationId xmlns:a16="http://schemas.microsoft.com/office/drawing/2014/main" id="{49E1CA46-B866-3280-F835-747E0ED267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57" y="542924"/>
            <a:ext cx="11827485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68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9573-2BB1-AE56-E51A-9FE8518F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Instruction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BB5C2-25F3-F0A9-9926-41F908CAB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7728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Fetch instruction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Decode instruction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 registers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Execute operation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Access memory (if needed)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result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2823C-BE5A-74AA-8D4A-09C517937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F3952-7DFF-6933-12BA-54E266A2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9FA7-C690-8A69-50C0-C5751F93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152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4E36-1320-5A8A-794E-DFB9AD11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R1, R2, R3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14645-B6CF-C3F3-ECA9-851A9093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CA" dirty="0"/>
              <a:t>Fetch		E0821003</a:t>
            </a:r>
          </a:p>
          <a:p>
            <a:pPr marL="514350" indent="-514350">
              <a:buAutoNum type="arabicPeriod"/>
            </a:pPr>
            <a:r>
              <a:rPr lang="en-CA" dirty="0"/>
              <a:t>Decode 		ADD R1, R2, R3</a:t>
            </a:r>
          </a:p>
          <a:p>
            <a:pPr marL="514350" indent="-514350">
              <a:buAutoNum type="arabicPeriod"/>
            </a:pPr>
            <a:r>
              <a:rPr lang="en-CA" dirty="0"/>
              <a:t>Read registers</a:t>
            </a:r>
          </a:p>
          <a:p>
            <a:pPr marL="914400" lvl="2" indent="0">
              <a:buNone/>
            </a:pPr>
            <a:r>
              <a:rPr lang="en-CA" b="1" dirty="0">
                <a:solidFill>
                  <a:srgbClr val="FF0000"/>
                </a:solidFill>
              </a:rPr>
              <a:t>Operand 1 &lt;= R2</a:t>
            </a:r>
          </a:p>
          <a:p>
            <a:pPr marL="914400" lvl="2" indent="0">
              <a:buNone/>
            </a:pPr>
            <a:r>
              <a:rPr lang="en-CA" b="1" dirty="0">
                <a:solidFill>
                  <a:srgbClr val="FF0000"/>
                </a:solidFill>
              </a:rPr>
              <a:t>Operand 2 &lt;= R3</a:t>
            </a:r>
          </a:p>
          <a:p>
            <a:pPr marL="514350" indent="-514350">
              <a:buAutoNum type="arabicPeriod"/>
            </a:pPr>
            <a:r>
              <a:rPr lang="en-CA" dirty="0"/>
              <a:t>Execute</a:t>
            </a:r>
          </a:p>
          <a:p>
            <a:pPr marL="0" indent="0">
              <a:buNone/>
            </a:pPr>
            <a:r>
              <a:rPr lang="en-CA" b="1" dirty="0"/>
              <a:t>	</a:t>
            </a:r>
            <a:r>
              <a:rPr lang="en-CA" sz="2000" b="1" dirty="0">
                <a:solidFill>
                  <a:srgbClr val="FF0000"/>
                </a:solidFill>
              </a:rPr>
              <a:t>Result = R2 + R3</a:t>
            </a:r>
          </a:p>
          <a:p>
            <a:pPr marL="0" indent="0">
              <a:buNone/>
            </a:pPr>
            <a:r>
              <a:rPr lang="en-CA" sz="2000" b="1" dirty="0">
                <a:solidFill>
                  <a:srgbClr val="FF0000"/>
                </a:solidFill>
              </a:rPr>
              <a:t>	Update flags</a:t>
            </a:r>
          </a:p>
          <a:p>
            <a:pPr marL="0" indent="0">
              <a:buNone/>
            </a:pPr>
            <a:r>
              <a:rPr lang="en-CA" dirty="0"/>
              <a:t>5.   Access memory (not needed)</a:t>
            </a:r>
          </a:p>
          <a:p>
            <a:pPr marL="514350" indent="-514350">
              <a:buAutoNum type="arabicPeriod" startAt="6"/>
            </a:pPr>
            <a:r>
              <a:rPr lang="en-CA" dirty="0"/>
              <a:t>Writeback</a:t>
            </a: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	</a:t>
            </a:r>
            <a:r>
              <a:rPr lang="en-CA" sz="2000" b="1" dirty="0">
                <a:solidFill>
                  <a:srgbClr val="FF0000"/>
                </a:solidFill>
              </a:rPr>
              <a:t>R1 &lt;= Result</a:t>
            </a:r>
          </a:p>
          <a:p>
            <a:pPr marL="0" indent="0">
              <a:buNone/>
            </a:pPr>
            <a:r>
              <a:rPr lang="en-CA" sz="2000" b="1" dirty="0">
                <a:solidFill>
                  <a:srgbClr val="FF0000"/>
                </a:solidFill>
              </a:rPr>
              <a:t>	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1A434-84FD-C84D-E872-2719B115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6294-FD0A-E62C-B60F-EAE93A6A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233B-2F3A-3193-65D3-80DEF5BA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196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CF8B-DDB7-F726-D836-1E0FE0A8B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CF6B2-A7F9-8F55-A595-B13B23696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19481"/>
          </a:xfrm>
        </p:spPr>
        <p:txBody>
          <a:bodyPr>
            <a:normAutofit/>
          </a:bodyPr>
          <a:lstStyle/>
          <a:p>
            <a:r>
              <a:rPr lang="en-CA" dirty="0"/>
              <a:t>Reads data from memory.</a:t>
            </a:r>
          </a:p>
          <a:p>
            <a:r>
              <a:rPr lang="en-CA" dirty="0"/>
              <a:t>May include </a:t>
            </a:r>
            <a:r>
              <a:rPr lang="en-CA" i="1" dirty="0"/>
              <a:t>prefetch</a:t>
            </a:r>
            <a:r>
              <a:rPr lang="en-CA" dirty="0"/>
              <a:t> buffer of possible instructions (e.g., assume we read next address)</a:t>
            </a:r>
          </a:p>
          <a:p>
            <a:r>
              <a:rPr lang="en-CA" dirty="0"/>
              <a:t>May include </a:t>
            </a:r>
            <a:r>
              <a:rPr lang="en-CA" i="1" dirty="0"/>
              <a:t>issue engine</a:t>
            </a:r>
            <a:r>
              <a:rPr lang="en-CA" dirty="0"/>
              <a:t> to deal with compressed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5CA6C-B42C-7636-6157-55923860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B8419-B7F1-2FF5-93AF-20C23C58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983F5-3099-C93D-698A-1E551BFD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04464-C714-8C12-17F6-BFC7CEBCFA4B}"/>
              </a:ext>
            </a:extLst>
          </p:cNvPr>
          <p:cNvSpPr txBox="1"/>
          <p:nvPr/>
        </p:nvSpPr>
        <p:spPr>
          <a:xfrm>
            <a:off x="838200" y="5457712"/>
            <a:ext cx="1124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https://github.com/stnolting/neorv32/blob/main/rtl/core/neorv32_cpu_frontend.vhd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05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BC6F-6B5E-5DA5-AE93-DC7F831C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623BB-2DD7-00E9-C5E5-B7C2792CC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 of such decoding was in the 2.0 ISA Slides: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Given 32-bits to encode our instructions, we may invent two simple instruction encoding formats for our processor, e.g.: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CDC9F4-3AAF-37A4-2739-9B64FB649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222" y="2967335"/>
            <a:ext cx="6602931" cy="46166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E48"/>
                </a:solidFill>
                <a:effectLst/>
                <a:latin typeface="Courier"/>
              </a:rPr>
              <a:t>Instruction Rd, Rs, Operand2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CB5DDD-C12E-6378-DD64-E9F2912F19D1}"/>
              </a:ext>
            </a:extLst>
          </p:cNvPr>
          <p:cNvGraphicFramePr>
            <a:graphicFrameLocks noGrp="1"/>
          </p:cNvGraphicFramePr>
          <p:nvPr/>
        </p:nvGraphicFramePr>
        <p:xfrm>
          <a:off x="1507958" y="5088153"/>
          <a:ext cx="857777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5555">
                  <a:extLst>
                    <a:ext uri="{9D8B030D-6E8A-4147-A177-3AD203B41FA5}">
                      <a16:colId xmlns:a16="http://schemas.microsoft.com/office/drawing/2014/main" val="1024391788"/>
                    </a:ext>
                  </a:extLst>
                </a:gridCol>
                <a:gridCol w="1715555">
                  <a:extLst>
                    <a:ext uri="{9D8B030D-6E8A-4147-A177-3AD203B41FA5}">
                      <a16:colId xmlns:a16="http://schemas.microsoft.com/office/drawing/2014/main" val="1587187768"/>
                    </a:ext>
                  </a:extLst>
                </a:gridCol>
                <a:gridCol w="1715555">
                  <a:extLst>
                    <a:ext uri="{9D8B030D-6E8A-4147-A177-3AD203B41FA5}">
                      <a16:colId xmlns:a16="http://schemas.microsoft.com/office/drawing/2014/main" val="3676686172"/>
                    </a:ext>
                  </a:extLst>
                </a:gridCol>
                <a:gridCol w="1715555">
                  <a:extLst>
                    <a:ext uri="{9D8B030D-6E8A-4147-A177-3AD203B41FA5}">
                      <a16:colId xmlns:a16="http://schemas.microsoft.com/office/drawing/2014/main" val="3022588486"/>
                    </a:ext>
                  </a:extLst>
                </a:gridCol>
                <a:gridCol w="1715555">
                  <a:extLst>
                    <a:ext uri="{9D8B030D-6E8A-4147-A177-3AD203B41FA5}">
                      <a16:colId xmlns:a16="http://schemas.microsoft.com/office/drawing/2014/main" val="2774791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4008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A8A968-81DD-796E-5FD5-EE9BAB083B70}"/>
              </a:ext>
            </a:extLst>
          </p:cNvPr>
          <p:cNvGraphicFramePr>
            <a:graphicFrameLocks noGrp="1"/>
          </p:cNvGraphicFramePr>
          <p:nvPr/>
        </p:nvGraphicFramePr>
        <p:xfrm>
          <a:off x="1507957" y="5914477"/>
          <a:ext cx="857777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5555">
                  <a:extLst>
                    <a:ext uri="{9D8B030D-6E8A-4147-A177-3AD203B41FA5}">
                      <a16:colId xmlns:a16="http://schemas.microsoft.com/office/drawing/2014/main" val="2940689376"/>
                    </a:ext>
                  </a:extLst>
                </a:gridCol>
                <a:gridCol w="1715555">
                  <a:extLst>
                    <a:ext uri="{9D8B030D-6E8A-4147-A177-3AD203B41FA5}">
                      <a16:colId xmlns:a16="http://schemas.microsoft.com/office/drawing/2014/main" val="2006347418"/>
                    </a:ext>
                  </a:extLst>
                </a:gridCol>
                <a:gridCol w="1715555">
                  <a:extLst>
                    <a:ext uri="{9D8B030D-6E8A-4147-A177-3AD203B41FA5}">
                      <a16:colId xmlns:a16="http://schemas.microsoft.com/office/drawing/2014/main" val="2094949158"/>
                    </a:ext>
                  </a:extLst>
                </a:gridCol>
                <a:gridCol w="3431110">
                  <a:extLst>
                    <a:ext uri="{9D8B030D-6E8A-4147-A177-3AD203B41FA5}">
                      <a16:colId xmlns:a16="http://schemas.microsoft.com/office/drawing/2014/main" val="31312495"/>
                    </a:ext>
                  </a:extLst>
                </a:gridCol>
              </a:tblGrid>
              <a:tr h="20109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 / 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immediate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434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01B2D9-24C0-3FB4-D9B8-6D7D6D27DE76}"/>
              </a:ext>
            </a:extLst>
          </p:cNvPr>
          <p:cNvSpPr txBox="1"/>
          <p:nvPr/>
        </p:nvSpPr>
        <p:spPr>
          <a:xfrm>
            <a:off x="8526644" y="4713790"/>
            <a:ext cx="591671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EFE93-BFDC-3393-7254-4A84F89D00A5}"/>
              </a:ext>
            </a:extLst>
          </p:cNvPr>
          <p:cNvSpPr txBox="1"/>
          <p:nvPr/>
        </p:nvSpPr>
        <p:spPr>
          <a:xfrm>
            <a:off x="6733705" y="4706339"/>
            <a:ext cx="591671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B80BF-9594-0D60-DBAE-CA38EC0241F3}"/>
              </a:ext>
            </a:extLst>
          </p:cNvPr>
          <p:cNvSpPr txBox="1"/>
          <p:nvPr/>
        </p:nvSpPr>
        <p:spPr>
          <a:xfrm>
            <a:off x="4940766" y="4721575"/>
            <a:ext cx="591671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dirty="0">
                <a:solidFill>
                  <a:schemeClr val="tx2"/>
                </a:solidFill>
                <a:latin typeface="+mn-lt"/>
                <a:ea typeface="+mn-ea"/>
              </a:rPr>
              <a:t>20</a:t>
            </a:r>
            <a:endParaRPr lang="en-GB" sz="21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6A4D17-060E-C349-CBDD-BB678F2815DA}"/>
              </a:ext>
            </a:extLst>
          </p:cNvPr>
          <p:cNvSpPr txBox="1"/>
          <p:nvPr/>
        </p:nvSpPr>
        <p:spPr>
          <a:xfrm>
            <a:off x="3299753" y="4713790"/>
            <a:ext cx="591671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4F97C-7CCB-1C25-7F55-C024FCA891D7}"/>
              </a:ext>
            </a:extLst>
          </p:cNvPr>
          <p:cNvSpPr txBox="1"/>
          <p:nvPr/>
        </p:nvSpPr>
        <p:spPr>
          <a:xfrm>
            <a:off x="1506814" y="4713790"/>
            <a:ext cx="591671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2F0E42-521A-2387-252B-835989EE419D}"/>
              </a:ext>
            </a:extLst>
          </p:cNvPr>
          <p:cNvSpPr txBox="1"/>
          <p:nvPr/>
        </p:nvSpPr>
        <p:spPr>
          <a:xfrm>
            <a:off x="9956746" y="4721575"/>
            <a:ext cx="725673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dirty="0">
                <a:solidFill>
                  <a:schemeClr val="tx2"/>
                </a:solidFill>
                <a:latin typeface="+mn-lt"/>
                <a:ea typeface="+mn-ea"/>
              </a:rPr>
              <a:t>0</a:t>
            </a:r>
            <a:endParaRPr lang="en-GB" sz="21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5B9B7-B431-D735-A549-6ECA5BB52967}"/>
              </a:ext>
            </a:extLst>
          </p:cNvPr>
          <p:cNvSpPr txBox="1"/>
          <p:nvPr/>
        </p:nvSpPr>
        <p:spPr>
          <a:xfrm>
            <a:off x="6733704" y="6442111"/>
            <a:ext cx="591671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156A06C-509A-4578-5FC8-DA7A95E6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C3C10-2DF1-48F3-ADE2-B042528FF2A7}" type="datetime1">
              <a:rPr lang="en-CA" smtClean="0"/>
              <a:t>2026-03-15</a:t>
            </a:fld>
            <a:endParaRPr lang="en-CA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1CC79A0-B8C4-522C-8BF1-347EEF6F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9F7EAAF-68FB-4968-C619-56ADED93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0118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1A2E-91A8-5C4C-B5B3-B90B8C5E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AA40B-6F8B-9E6A-16B1-C81E83BDE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0523"/>
            <a:ext cx="10515600" cy="1132352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hlinkClick r:id="rId2"/>
              </a:rPr>
              <a:t>https://github.com/stnolting/neorv32/blob/main/rtl/core/neorv32_cpu_control.vhd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B0F14-9F35-B322-19A9-1587AAB6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C282-24B0-5E87-BD0C-BA62A0E5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7ECA8-F9AB-5958-FF82-BF705FD9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097684-A0A4-4365-FDB9-95F5ED84DD2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Decoding is normally a simple mapping process of bits to various subsystems.</a:t>
            </a:r>
          </a:p>
          <a:p>
            <a:endParaRPr lang="en-CA" dirty="0"/>
          </a:p>
          <a:p>
            <a:r>
              <a:rPr lang="en-CA" dirty="0"/>
              <a:t>There is a fine line between fetch and decode – typically before any action is taken we consider this the </a:t>
            </a:r>
            <a:r>
              <a:rPr lang="en-CA" i="1" dirty="0"/>
              <a:t>Frontend</a:t>
            </a:r>
            <a:endParaRPr lang="en-CA" dirty="0"/>
          </a:p>
          <a:p>
            <a:endParaRPr lang="en-CA" dirty="0"/>
          </a:p>
          <a:p>
            <a:r>
              <a:rPr lang="en-CA" dirty="0"/>
              <a:t>Actual work is done in the </a:t>
            </a:r>
            <a:r>
              <a:rPr lang="en-CA" i="1" dirty="0"/>
              <a:t>Backend</a:t>
            </a:r>
            <a:r>
              <a:rPr lang="en-CA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69682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5CBB-9DB7-A280-88AC-441586F5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File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0600BE-B485-8A18-E639-B6DDED8E3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904" y="1690688"/>
            <a:ext cx="7530548" cy="288077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FEA99-643A-E313-CA33-52F9D271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9CB1D-4958-77B2-FE8D-03CC8F59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5CC6A-BCC9-98F4-7EA3-48A786A7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17300A-8278-FF75-0C91-CFD488DA9AD9}"/>
              </a:ext>
            </a:extLst>
          </p:cNvPr>
          <p:cNvSpPr txBox="1">
            <a:spLocks/>
          </p:cNvSpPr>
          <p:nvPr/>
        </p:nvSpPr>
        <p:spPr>
          <a:xfrm>
            <a:off x="838200" y="4750905"/>
            <a:ext cx="10515600" cy="1426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Registers are very fast memory near CPU</a:t>
            </a:r>
          </a:p>
          <a:p>
            <a:r>
              <a:rPr lang="en-CA" dirty="0"/>
              <a:t>Discussed in ISA lectures</a:t>
            </a:r>
          </a:p>
        </p:txBody>
      </p:sp>
    </p:spTree>
    <p:extLst>
      <p:ext uri="{BB962C8B-B14F-4D97-AF65-F5344CB8AC3E}">
        <p14:creationId xmlns:p14="http://schemas.microsoft.com/office/powerpoint/2010/main" val="363589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7AF3-4791-BF8F-D885-4401435E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Read Registers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87F61-69DD-96F8-FDDB-CA8D9390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EADB1-935D-3B11-E987-0595E663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80BFD-3A65-00B8-001C-64F1F00C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  <p:pic>
        <p:nvPicPr>
          <p:cNvPr id="7" name="Picture 2" descr="neorv32 cpu">
            <a:extLst>
              <a:ext uri="{FF2B5EF4-FFF2-40B4-BE49-F238E27FC236}">
                <a16:creationId xmlns:a16="http://schemas.microsoft.com/office/drawing/2014/main" id="{F5BBA17A-8F3D-61A5-E44F-67155093FB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13" y="1521863"/>
            <a:ext cx="10515601" cy="49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784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6F24E-9F33-8F87-E8DB-4F8AFBFC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4DB2B-A23A-8C34-BEE0-E27C61ACF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the </a:t>
            </a:r>
            <a:r>
              <a:rPr lang="en-CA" i="1" dirty="0"/>
              <a:t>backend</a:t>
            </a:r>
            <a:r>
              <a:rPr lang="en-CA" dirty="0"/>
              <a:t> – control (decode) and routing of data to appropriate resource.</a:t>
            </a:r>
          </a:p>
          <a:p>
            <a:r>
              <a:rPr lang="en-CA" dirty="0"/>
              <a:t>Basic operations are actually very simple: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7DEE3-F830-2FF4-D2DD-BC09BAB8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046D-3204-75B5-5A4D-501B6E98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475EB-ADF5-5F44-7D29-B8A74C4A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  <p:pic>
        <p:nvPicPr>
          <p:cNvPr id="7" name="Picture 2" descr="neorv32 cpu">
            <a:extLst>
              <a:ext uri="{FF2B5EF4-FFF2-40B4-BE49-F238E27FC236}">
                <a16:creationId xmlns:a16="http://schemas.microsoft.com/office/drawing/2014/main" id="{58CBD5F3-3579-994C-415A-9F82F2D55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01" t="3396" b="16048"/>
          <a:stretch>
            <a:fillRect/>
          </a:stretch>
        </p:blipFill>
        <p:spPr bwMode="auto">
          <a:xfrm>
            <a:off x="7902314" y="2279908"/>
            <a:ext cx="3366052" cy="348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112EBB-0885-2275-CBC5-3F5EDAD1496A}"/>
              </a:ext>
            </a:extLst>
          </p:cNvPr>
          <p:cNvSpPr txBox="1"/>
          <p:nvPr/>
        </p:nvSpPr>
        <p:spPr>
          <a:xfrm>
            <a:off x="747837" y="5942568"/>
            <a:ext cx="8208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4"/>
              </a:rPr>
              <a:t>https://github.com/stnolting/neorv32/blob/main/rtl/core/neorv32_cpu_alu.vhd</a:t>
            </a:r>
            <a:r>
              <a:rPr lang="en-CA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F50EC2-C4D1-DF1D-9C7C-098A51609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151" y="3267855"/>
            <a:ext cx="4053140" cy="240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89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AE69-E439-9F4E-61BB-1DEB99EC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DE0DF-BA4D-79CC-8B37-ED9402A53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Combination of simple arithmetic operations &amp; flags</a:t>
            </a:r>
          </a:p>
          <a:p>
            <a:r>
              <a:rPr lang="en-CA" dirty="0"/>
              <a:t>Performs comparisons, arithmetic, bitwise operations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C33D-54F2-0D81-A087-967899D3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3249A-6C45-D1B1-C85C-5FFBA3B0A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8EFB-EBAE-F6C1-0763-0EC5A06E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A0120C-091B-1B11-F2AD-6FCA0F546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820" y="2966229"/>
            <a:ext cx="3979771" cy="2860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6BD414-1517-DAC4-934A-39729C672413}"/>
              </a:ext>
            </a:extLst>
          </p:cNvPr>
          <p:cNvSpPr txBox="1"/>
          <p:nvPr/>
        </p:nvSpPr>
        <p:spPr>
          <a:xfrm>
            <a:off x="1077621" y="573129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https://zipcpu.com/zipcpu/2017/08/11/simple-alu.html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3864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E571-C5C5-645E-7429-DBED8881E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Status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A79F3-75D7-DE35-DF94-48D2E677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 = Negative result from ALU</a:t>
            </a:r>
          </a:p>
          <a:p>
            <a:r>
              <a:rPr lang="en-CA" dirty="0"/>
              <a:t>Z = Zero result from ALU</a:t>
            </a:r>
          </a:p>
          <a:p>
            <a:r>
              <a:rPr lang="en-CA" dirty="0"/>
              <a:t>C = ALU operation carry out</a:t>
            </a:r>
          </a:p>
          <a:p>
            <a:r>
              <a:rPr lang="en-CA" dirty="0"/>
              <a:t>V = ALU operation </a:t>
            </a:r>
            <a:r>
              <a:rPr lang="en-CA" dirty="0" err="1"/>
              <a:t>oVerflowed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8FDA0-ED10-C3EB-07A9-6E84FD47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93CC5-AEAE-65BC-7F10-D5C5BE51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2B2C-98EF-AC8F-BB23-A3C73603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8396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BFCE-86BB-7D01-2A15-600FD80B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Carry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85680-3CDE-A37D-1613-201A77034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Carry flag is normally set as a result of arithmetic operation:</a:t>
            </a:r>
          </a:p>
          <a:p>
            <a:pPr lvl="1"/>
            <a:r>
              <a:rPr lang="en-CA" dirty="0"/>
              <a:t>SUB</a:t>
            </a:r>
          </a:p>
          <a:p>
            <a:pPr lvl="1"/>
            <a:r>
              <a:rPr lang="en-CA" dirty="0"/>
              <a:t>ADD</a:t>
            </a:r>
          </a:p>
          <a:p>
            <a:pPr lvl="1"/>
            <a:endParaRPr lang="en-CA" dirty="0"/>
          </a:p>
          <a:p>
            <a:r>
              <a:rPr lang="en-CA" dirty="0"/>
              <a:t>Instructions can take the carry as an </a:t>
            </a:r>
            <a:r>
              <a:rPr lang="en-CA" b="1" dirty="0"/>
              <a:t>input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ADC (Add with Carry)</a:t>
            </a:r>
          </a:p>
          <a:p>
            <a:pPr lvl="1"/>
            <a:r>
              <a:rPr lang="en-CA" dirty="0"/>
              <a:t>SBC (Subtract With Carry)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BA8D6-56E1-3058-5042-10BBF873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E9CBB-5B65-42D0-9A15-ABB8A09F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28CFA-B51B-C0B4-FEA1-9DF8AF8B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0162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8EEE-F9BE-A6C6-D92A-77A38104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C567-EAA3-8F79-3F9C-101DF3AA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Carry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7B70-ABE3-B5C3-C115-C83332AB8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dirty="0"/>
              <a:t>In Arm specifically:</a:t>
            </a:r>
          </a:p>
          <a:p>
            <a:endParaRPr lang="en-CA" dirty="0"/>
          </a:p>
          <a:p>
            <a:pPr lvl="1"/>
            <a:r>
              <a:rPr lang="en-CA" dirty="0"/>
              <a:t>On addition, carry flag is </a:t>
            </a:r>
            <a:r>
              <a:rPr lang="en-CA" u="sng" dirty="0"/>
              <a:t>set</a:t>
            </a:r>
            <a:r>
              <a:rPr lang="en-CA" dirty="0"/>
              <a:t> if result &gt; 2</a:t>
            </a:r>
            <a:r>
              <a:rPr lang="en-CA" baseline="30000" dirty="0"/>
              <a:t>32</a:t>
            </a:r>
            <a:r>
              <a:rPr lang="en-CA" dirty="0"/>
              <a:t> (e.g., overflows unsigned 32-bit)</a:t>
            </a:r>
          </a:p>
          <a:p>
            <a:pPr lvl="1"/>
            <a:r>
              <a:rPr lang="en-CA" dirty="0"/>
              <a:t>On subtraction, carry flag is </a:t>
            </a:r>
            <a:r>
              <a:rPr lang="en-CA" u="sng" dirty="0"/>
              <a:t>cleared</a:t>
            </a:r>
            <a:r>
              <a:rPr lang="en-CA" dirty="0"/>
              <a:t> if a borrow occurs</a:t>
            </a:r>
          </a:p>
          <a:p>
            <a:pPr lvl="2"/>
            <a:r>
              <a:rPr lang="en-CA" i="1" dirty="0"/>
              <a:t>This is opposite some architectures, where carry flag is also a borrow flag (set to 1)</a:t>
            </a:r>
          </a:p>
          <a:p>
            <a:pPr lvl="2"/>
            <a:endParaRPr lang="en-CA" i="1" dirty="0"/>
          </a:p>
          <a:p>
            <a:r>
              <a:rPr lang="en-CA" dirty="0"/>
              <a:t>Carry flag also used for compare instructions</a:t>
            </a:r>
          </a:p>
          <a:p>
            <a:pPr lvl="1"/>
            <a:r>
              <a:rPr lang="en-CA" dirty="0"/>
              <a:t>CMP = SUB but without a destination (only sets flags)</a:t>
            </a:r>
          </a:p>
          <a:p>
            <a:pPr lvl="1"/>
            <a:r>
              <a:rPr lang="en-CA" dirty="0" err="1"/>
              <a:t>E.g</a:t>
            </a:r>
            <a:r>
              <a:rPr lang="en-CA" dirty="0"/>
              <a:t>:</a:t>
            </a:r>
          </a:p>
          <a:p>
            <a:pPr marL="914400" lvl="2" indent="0">
              <a:buNone/>
            </a:pPr>
            <a:r>
              <a:rPr lang="en-CA" dirty="0"/>
              <a:t>CMP R0, #42 =&gt; SUB R0, #42</a:t>
            </a:r>
          </a:p>
          <a:p>
            <a:pPr marL="914400" lvl="2" indent="0">
              <a:buNone/>
            </a:pPr>
            <a:endParaRPr lang="en-CA" dirty="0"/>
          </a:p>
          <a:p>
            <a:pPr marL="914400" lvl="2" indent="0">
              <a:buNone/>
            </a:pPr>
            <a:r>
              <a:rPr lang="en-CA" dirty="0"/>
              <a:t>if R0 == 42:</a:t>
            </a:r>
          </a:p>
          <a:p>
            <a:pPr marL="914400" lvl="2" indent="0">
              <a:buNone/>
            </a:pPr>
            <a:r>
              <a:rPr lang="en-CA" dirty="0"/>
              <a:t>	Zero flag set (can compare if equal)</a:t>
            </a:r>
          </a:p>
          <a:p>
            <a:pPr marL="914400" lvl="2" indent="0">
              <a:buNone/>
            </a:pPr>
            <a:r>
              <a:rPr lang="en-CA" dirty="0"/>
              <a:t>if R0 &lt; 42:</a:t>
            </a:r>
          </a:p>
          <a:p>
            <a:pPr marL="914400" lvl="2" indent="0">
              <a:buNone/>
            </a:pPr>
            <a:r>
              <a:rPr lang="en-CA" dirty="0"/>
              <a:t>	Carry flag clear (borrow occurred)</a:t>
            </a:r>
          </a:p>
          <a:p>
            <a:pPr marL="914400" lvl="2" indent="0">
              <a:buNone/>
            </a:pPr>
            <a:r>
              <a:rPr lang="en-CA" dirty="0"/>
              <a:t>If R0 &gt;= 42:</a:t>
            </a:r>
          </a:p>
          <a:p>
            <a:pPr marL="914400" lvl="2" indent="0">
              <a:buNone/>
            </a:pPr>
            <a:r>
              <a:rPr lang="en-CA" dirty="0"/>
              <a:t>	Carry flag set (no borrow)</a:t>
            </a:r>
          </a:p>
          <a:p>
            <a:pPr marL="914400" lvl="2" indent="0">
              <a:buNone/>
            </a:pPr>
            <a:r>
              <a:rPr lang="en-CA" dirty="0"/>
              <a:t>	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A341A-C5F9-A516-BAE7-1ADD8BDD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BBA1B-1423-F604-80F8-C084380A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7A18B-4145-C07A-C33B-1EC69231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8967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A72E-E2E6-E2A4-B6CB-F61428AE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Arm: Control Flow Reminder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3C0C-28F0-2A95-BD02-2CA7A907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A5F9A-90F1-6D1E-349E-0A49EC82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9027-3138-8225-5AFC-87F8D02D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10003C-1A26-1E0F-3AD7-D10DD9922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89" y="1363104"/>
            <a:ext cx="6567449" cy="499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42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312F-A1E5-2D54-C098-A8D2D9D7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Overflow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64797-D2DF-1016-2026-6B76768AC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Overflow flag can be thought of “signed carry”</a:t>
            </a:r>
          </a:p>
          <a:p>
            <a:pPr lvl="1"/>
            <a:r>
              <a:rPr lang="en-CA" dirty="0"/>
              <a:t>Remember – sign is using 2’s complement format, where upper bit indicates sign</a:t>
            </a:r>
          </a:p>
          <a:p>
            <a:r>
              <a:rPr lang="en-CA" dirty="0"/>
              <a:t>Set when result of signed operation has opposite sign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e.g., 0x7FFFFFFF = Largest 32-bit signed number possible</a:t>
            </a:r>
          </a:p>
          <a:p>
            <a:pPr marL="0" indent="0">
              <a:buNone/>
            </a:pPr>
            <a:r>
              <a:rPr lang="en-CA" dirty="0"/>
              <a:t>0x7FFFFFF + 0x7FFFFFF = 0xFFFFFFFE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Input have sign bit </a:t>
            </a:r>
            <a:r>
              <a:rPr lang="en-CA" u="sng" dirty="0"/>
              <a:t>clear</a:t>
            </a:r>
          </a:p>
          <a:p>
            <a:r>
              <a:rPr lang="en-CA" dirty="0"/>
              <a:t>Result does not set carry flag, but does set overflow flag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A0BF8-E71E-99F2-AA1C-43F03433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BCB9B-27E0-B21E-004A-37F7C0B3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AAD48-30E1-67DA-BAC8-107E0F33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1593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6619-EDD9-CBBD-E94C-979F7B2E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Comparisons to 50 years(!) ago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4ACD7-CB83-FC93-21D8-B391117A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8DB33-1079-B56D-0288-73B1C72E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394FC-DC85-E798-04A9-3F84B4D1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6E52A9-2860-E46B-762F-D5ACC38B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84" y="1602108"/>
            <a:ext cx="9175262" cy="479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92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6D1D6-3CC9-AA87-F2C0-E509B176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096B-D101-9FA0-CF35-20E55190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0C456-BAD7-2063-B05B-E87C4814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CDD81E-A04E-F2F7-504C-E809B8DBD7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801" y="195689"/>
            <a:ext cx="8006292" cy="600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94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8DAE-63D8-1CF6-42A4-2B45C9CC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7682-67B6-56AB-40E6-6406F3C9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91708" cy="4351338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6A1C9-54E4-FAE0-EFF5-72EB1425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F5E6D-922E-BB66-A5F9-F5BC05CE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3D354-FFFA-DCE5-BD71-E1B4A808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CDC3EB-D4B2-1EB8-6965-4A98555C8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015" y="1800175"/>
            <a:ext cx="4702816" cy="440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85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ED72-61C4-2A19-07B1-2950A6D8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84308-9746-7ABD-6C3B-38065932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A0386-04AD-F02D-3C92-F8F5BE5F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11090-43CE-0812-CBFE-859E0798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D7BF41-0836-6911-0501-7AA7AF97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2066"/>
            <a:ext cx="4502798" cy="38575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BBEFEB-D32A-850A-50D9-A3D26E5B1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286" y="680835"/>
            <a:ext cx="4108101" cy="29142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CB63C2-E986-D6B4-4A3B-EB8EC8464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286" y="3663297"/>
            <a:ext cx="4032329" cy="285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86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A279-8CC0-878B-F03F-90AFBFD8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Simple Increment with AM2901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43B0E9-CD2C-246F-C772-E665C300D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598" t="1340" r="598" b="51230"/>
          <a:stretch>
            <a:fillRect/>
          </a:stretch>
        </p:blipFill>
        <p:spPr>
          <a:xfrm>
            <a:off x="838200" y="2023686"/>
            <a:ext cx="9221518" cy="26264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D6BF6-4CA0-9C47-B6A8-36F2436C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DAD58-E610-CE0F-C310-97E2D630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71BF6-420E-0E19-7DBC-BD7214C6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2928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125F-ABE0-EB9A-7A88-F4844469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9EA79-583E-A247-03C6-ECEEA2006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memory access is “special” (such as load-store architectures) this may be a separate cycle</a:t>
            </a:r>
          </a:p>
          <a:p>
            <a:endParaRPr lang="en-CA" dirty="0"/>
          </a:p>
          <a:p>
            <a:r>
              <a:rPr lang="en-CA" dirty="0"/>
              <a:t>Perform any load/store to the memory system, </a:t>
            </a:r>
            <a:r>
              <a:rPr lang="en-CA" i="1" dirty="0"/>
              <a:t>not</a:t>
            </a:r>
            <a:r>
              <a:rPr lang="en-CA" i="1" u="sng" dirty="0"/>
              <a:t> just register access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4661-99D0-C8FA-50AE-990D08FAD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0A4-D2AC-B16B-1986-78058F16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A4D2-BC79-5C1F-D8F7-35B18808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123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11D94-9A70-26F3-C7FA-E999E019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Write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30278-A31B-8816-78AA-7191935C4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Output registers are updated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(This is often part of another stage)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B531-03EF-F553-766C-6DB84CD99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0D37F-D2DF-951A-325D-EA40BC2F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56B6A-3C5D-9DC6-9DAA-C9D6D8AA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8054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189B-F618-6F82-C8AE-72FCD927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Microprogram Instructions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82F45D5-C65B-B92C-23D9-F24577C56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844" y="1690687"/>
            <a:ext cx="8325425" cy="45147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49E2F-09F5-C262-B5DD-5C0E43B1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A6716-4CDB-7503-4998-0BB16960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8D0F9-3FC0-E97B-92E5-3660E525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9A4DB4-92D6-668C-A9A8-DFD4C133F4C0}"/>
              </a:ext>
            </a:extLst>
          </p:cNvPr>
          <p:cNvSpPr txBox="1">
            <a:spLocks/>
          </p:cNvSpPr>
          <p:nvPr/>
        </p:nvSpPr>
        <p:spPr>
          <a:xfrm>
            <a:off x="8995508" y="1825625"/>
            <a:ext cx="30714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Even our 50 year old CPU had the idea of </a:t>
            </a:r>
            <a:r>
              <a:rPr lang="en-CA" i="1" dirty="0"/>
              <a:t>microcode </a:t>
            </a:r>
            <a:r>
              <a:rPr lang="en-CA" dirty="0"/>
              <a:t>or</a:t>
            </a:r>
            <a:r>
              <a:rPr lang="en-CA" i="1" dirty="0"/>
              <a:t> microprogram</a:t>
            </a:r>
          </a:p>
          <a:p>
            <a:endParaRPr lang="en-CA" i="1" dirty="0"/>
          </a:p>
          <a:p>
            <a:r>
              <a:rPr lang="en-CA" dirty="0"/>
              <a:t>Instructions implemented from ALU operations</a:t>
            </a:r>
          </a:p>
        </p:txBody>
      </p:sp>
    </p:spTree>
    <p:extLst>
      <p:ext uri="{BB962C8B-B14F-4D97-AF65-F5344CB8AC3E}">
        <p14:creationId xmlns:p14="http://schemas.microsoft.com/office/powerpoint/2010/main" val="465468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0C2A-935B-D73B-2667-41DEC697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Superscalar Processors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517AB-6AEB-7FD8-EC8C-07FB0FD6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Before multi-core processors were popular, we had the idea of </a:t>
            </a:r>
            <a:r>
              <a:rPr lang="en-CA" u="sng" dirty="0"/>
              <a:t>superscalar</a:t>
            </a:r>
          </a:p>
          <a:p>
            <a:r>
              <a:rPr lang="en-CA" dirty="0"/>
              <a:t>Allows execution of simultaneous instructions – often duplicating some resources (ALU)</a:t>
            </a:r>
          </a:p>
          <a:p>
            <a:pPr marL="0" indent="0">
              <a:buNone/>
            </a:pPr>
            <a:r>
              <a:rPr lang="en-CA" dirty="0" err="1">
                <a:latin typeface="Courier"/>
              </a:rPr>
              <a:t>ldr</a:t>
            </a:r>
            <a:r>
              <a:rPr lang="en-CA" dirty="0">
                <a:latin typeface="Courier"/>
              </a:rPr>
              <a:t> r0, #35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add r2, r3, r4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add r0, r3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add r3, r5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CC475-14FF-386F-DA0B-93B80066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F64F-DBEE-FC44-14B1-A5F1AE00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46E52-F0FA-50FA-A998-AD95E6F7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801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BBA9-CED0-D4A9-1423-28616816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Superscalar: Different Execution Units (ALU)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5163A-EA75-BB59-0FE2-7A398E4F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B1756-005E-E567-07D8-9C10D1A57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5ED1-660C-6DDD-DA0D-E19C4949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  <p:pic>
        <p:nvPicPr>
          <p:cNvPr id="3074" name="Picture 2" descr="Superscalar Architecture - GeeksforGeeks">
            <a:extLst>
              <a:ext uri="{FF2B5EF4-FFF2-40B4-BE49-F238E27FC236}">
                <a16:creationId xmlns:a16="http://schemas.microsoft.com/office/drawing/2014/main" id="{7E485D91-8CAE-5857-352D-14C65E8248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848" y="1520825"/>
            <a:ext cx="55703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C90BA1-3683-ECAD-4896-9F01F6F25054}"/>
              </a:ext>
            </a:extLst>
          </p:cNvPr>
          <p:cNvSpPr txBox="1"/>
          <p:nvPr/>
        </p:nvSpPr>
        <p:spPr>
          <a:xfrm>
            <a:off x="990599" y="5623406"/>
            <a:ext cx="10774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https://www.geeksforgeeks.org/computer-organization-architecture/superscalar-architecture/</a:t>
            </a:r>
          </a:p>
        </p:txBody>
      </p:sp>
    </p:spTree>
    <p:extLst>
      <p:ext uri="{BB962C8B-B14F-4D97-AF65-F5344CB8AC3E}">
        <p14:creationId xmlns:p14="http://schemas.microsoft.com/office/powerpoint/2010/main" val="899412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3DF24-788F-F165-540F-180A812E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Superscalar: Multiple of Same Execution Unit (ALU)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55A2-57DD-F15A-F092-8AF38F2A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C4B26-0C72-481F-D12A-40C16272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1D6E7-DF1C-1CF9-AB7B-95429019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32</a:t>
            </a:fld>
            <a:endParaRPr lang="en-CA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D065C0-8143-82F1-DBB9-2EE6C7A406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458" y="2147492"/>
            <a:ext cx="9870342" cy="310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85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C591-29B1-87FC-B549-C5370886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Instruction &amp; ALU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00821-82A8-7A8D-2136-B2805C1E4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Instructions are executed in several stages, some of these may be “combined”: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Fetch instruction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Decode instruction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Read registers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Execute operation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Access memory (if needed)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Writeback</a:t>
            </a:r>
          </a:p>
          <a:p>
            <a:r>
              <a:rPr lang="en-CA" dirty="0"/>
              <a:t>Status register flags are an import part of the ALU usage</a:t>
            </a:r>
          </a:p>
          <a:p>
            <a:r>
              <a:rPr lang="en-CA" dirty="0"/>
              <a:t>Microcode-based instructions are a common feature (that may be “hidden” from you)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7A815-B7A3-0F11-0180-1659A046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11A88-2011-A691-BC15-57DD0A1C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8A60-071F-2161-5763-70ACCEC5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499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4365</TotalTime>
  <Words>1367</Words>
  <Application>Microsoft Office PowerPoint</Application>
  <PresentationFormat>Widescreen</PresentationFormat>
  <Paragraphs>275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Courier</vt:lpstr>
      <vt:lpstr>Courier New</vt:lpstr>
      <vt:lpstr>Office Theme</vt:lpstr>
      <vt:lpstr>Computer Architecture: Core and ALU</vt:lpstr>
      <vt:lpstr>Lectures</vt:lpstr>
      <vt:lpstr>Tie to ISA Lecture</vt:lpstr>
      <vt:lpstr>What’s hidden in here?</vt:lpstr>
      <vt:lpstr>Arm vs RISC-V</vt:lpstr>
      <vt:lpstr>Arm vs RISC-V</vt:lpstr>
      <vt:lpstr>PowerPoint Presentation</vt:lpstr>
      <vt:lpstr>Instruction Lifecycle</vt:lpstr>
      <vt:lpstr>E.g., ADD R1, R2, R3</vt:lpstr>
      <vt:lpstr>Fetch</vt:lpstr>
      <vt:lpstr>Decoding</vt:lpstr>
      <vt:lpstr>Decode</vt:lpstr>
      <vt:lpstr>Register File</vt:lpstr>
      <vt:lpstr>Read Registers</vt:lpstr>
      <vt:lpstr>Execute</vt:lpstr>
      <vt:lpstr>ALU</vt:lpstr>
      <vt:lpstr>Status Registers</vt:lpstr>
      <vt:lpstr>Carry Flag</vt:lpstr>
      <vt:lpstr>Carry Flag</vt:lpstr>
      <vt:lpstr>Arm: Control Flow Reminder</vt:lpstr>
      <vt:lpstr>Overflow Flag</vt:lpstr>
      <vt:lpstr>Comparisons to 50 years(!) ago</vt:lpstr>
      <vt:lpstr>PowerPoint Presentation</vt:lpstr>
      <vt:lpstr>PowerPoint Presentation</vt:lpstr>
      <vt:lpstr>PowerPoint Presentation</vt:lpstr>
      <vt:lpstr>e.g., Simple Increment with AM2901</vt:lpstr>
      <vt:lpstr>Memory Access</vt:lpstr>
      <vt:lpstr>Write Back</vt:lpstr>
      <vt:lpstr>Microprogram Instructions</vt:lpstr>
      <vt:lpstr>Superscalar Processors</vt:lpstr>
      <vt:lpstr>Superscalar: Different Execution Units (ALU)</vt:lpstr>
      <vt:lpstr>Superscalar: Multiple of Same Execution Unit (ALU)</vt:lpstr>
      <vt:lpstr>Instruction &amp; ALU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71</cp:revision>
  <dcterms:created xsi:type="dcterms:W3CDTF">2026-02-08T23:56:58Z</dcterms:created>
  <dcterms:modified xsi:type="dcterms:W3CDTF">2026-03-16T12:10:08Z</dcterms:modified>
</cp:coreProperties>
</file>