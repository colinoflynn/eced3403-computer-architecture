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10" r:id="rId2"/>
    <p:sldId id="311" r:id="rId3"/>
    <p:sldId id="273" r:id="rId4"/>
    <p:sldId id="262" r:id="rId5"/>
    <p:sldId id="263" r:id="rId6"/>
    <p:sldId id="264" r:id="rId7"/>
    <p:sldId id="307" r:id="rId8"/>
    <p:sldId id="268" r:id="rId9"/>
    <p:sldId id="265" r:id="rId10"/>
    <p:sldId id="266" r:id="rId11"/>
    <p:sldId id="308" r:id="rId12"/>
    <p:sldId id="270" r:id="rId13"/>
    <p:sldId id="257" r:id="rId14"/>
    <p:sldId id="267" r:id="rId15"/>
    <p:sldId id="274" r:id="rId16"/>
    <p:sldId id="278" r:id="rId17"/>
    <p:sldId id="275" r:id="rId18"/>
    <p:sldId id="276" r:id="rId19"/>
    <p:sldId id="280" r:id="rId20"/>
    <p:sldId id="281" r:id="rId21"/>
    <p:sldId id="283" r:id="rId22"/>
    <p:sldId id="284" r:id="rId23"/>
    <p:sldId id="282" r:id="rId24"/>
    <p:sldId id="277" r:id="rId25"/>
    <p:sldId id="279" r:id="rId26"/>
    <p:sldId id="269" r:id="rId27"/>
    <p:sldId id="285" r:id="rId28"/>
    <p:sldId id="286" r:id="rId29"/>
    <p:sldId id="288" r:id="rId30"/>
    <p:sldId id="287" r:id="rId31"/>
    <p:sldId id="289" r:id="rId32"/>
    <p:sldId id="291" r:id="rId33"/>
    <p:sldId id="304" r:id="rId34"/>
    <p:sldId id="305" r:id="rId35"/>
    <p:sldId id="306" r:id="rId36"/>
    <p:sldId id="271" r:id="rId37"/>
    <p:sldId id="312" r:id="rId38"/>
    <p:sldId id="313" r:id="rId39"/>
    <p:sldId id="30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0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C5568-2949-4184-A8B2-55859B4BD6B7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9C724-9016-4E19-9569-68938972E8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1310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8EAC-DB9E-CFA4-9789-EF3667C1C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DDA2E-376B-E6EB-702F-4180E44B4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5F1FB-DF37-2824-FB33-7CC096ED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D3B2F-C55B-4336-93CB-94EA71A8F98D}" type="datetime1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E556E-A497-868C-386D-FEE6A377D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89A2-6D2A-4969-9214-3C2EAE34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320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04E6-4E05-A8D2-DB15-A97463F9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14899-5C69-2B18-EC47-A7AF1E6C7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0D2C7-D239-13A8-D09E-7166A842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2699-742F-4174-88D0-C6F489F07B68}" type="datetime1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2308F-B422-386F-0FF4-ED1B7EDE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4DD08-DD83-C60F-3FE1-EFFA0E44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874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C43D-82C5-AE25-A7CE-F1937F80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73D87-27B4-97BF-47E3-4ECF67BB2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87EF-C960-FEE9-DC78-4CF20FA7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F2CB-18C1-441C-B38A-4F40218B2F17}" type="datetime1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74E0E-F2FF-3B8E-B0EA-4124AC3F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5A35F-CDA2-F029-F129-01DBBB64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108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4A05-5337-7474-23F6-4106E5BF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C38C-31A2-C1E6-AE71-CEAE1D077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1AD86-4DF3-09BD-06D7-E786DA7B9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E47E7-BD3C-F85B-1E4F-9E37ADD2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6C9B-BA52-436A-8135-5B66A884E6CD}" type="datetime1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7199D-F71B-E6A3-0A3A-87FF504C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3A563-4B0E-6A4C-32C3-415DBFFD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297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F73C-65E7-ED16-05E4-60FC9980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306D4-13A9-F680-5B77-A8B36AD8E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DBD2A-082B-722A-2494-7CD38B143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0D12E-BCAE-02BD-C441-9A26722AC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C3F31-458E-6561-AA6B-FD45ADEC4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83ABAE-7C18-B142-2C59-39451F5E5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2D51-182E-4AB9-AEE8-CA9442F98EA1}" type="datetime1">
              <a:rPr lang="en-CA" smtClean="0"/>
              <a:t>2026-03-31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18C3BE-2C04-3411-94A0-1AFADD67B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FCA223-17CE-572C-7758-8C12716E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33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B4DF-6017-2610-1D43-A3021630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C680A-609C-60F1-33C9-33EFC88A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A5B2C-4BBB-45BF-89FB-920BF9175985}" type="datetime1">
              <a:rPr lang="en-CA" smtClean="0"/>
              <a:t>2026-03-31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76949-EF00-B916-53D1-D83C4438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625D2-6843-28B0-D883-030AE3D2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138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17636-E981-E4F4-FB6E-08B1E9DE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1C32-69C4-4260-A851-1865BADE193E}" type="datetime1">
              <a:rPr lang="en-CA" smtClean="0"/>
              <a:t>2026-03-31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29783-2850-C97C-16D4-D89B7232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CB86E-FD03-69D2-71F2-FE8257E8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898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6681-3993-7103-5CA1-12B631333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AD69C-F5D0-A165-C522-A0BA87266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B5436-5C92-833F-E0F3-834227248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197F3-034B-2C43-FE26-330826B6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2C47-157F-4697-A312-AAD3ACDD463F}" type="datetime1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9673D-61D4-6179-82E5-DD9971CF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A249A-AEBD-3DAD-5446-DD7D5841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192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C6B2-A903-33C5-89BC-44CAD9AE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4C897E-B5AD-3980-0BD9-C729DCCE1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7EB13-E99D-E4B1-EECD-CFD338C60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3A370-D991-982D-6CA8-FD9159BEC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6E1A-933E-4101-893E-C007EA304B27}" type="datetime1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AFD1F-38CF-7A54-D6B5-73A57CDF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F40DB-1DF8-3875-A009-26A57061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142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008F-D926-9EB6-0350-E2333B42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99508-96CE-1A0A-796F-1893EF624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F4193-C99F-2F76-6961-6BFC0C91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54C63-DC08-4699-98E7-3B10A2947472}" type="datetime1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D40BF-9CE7-F753-D924-75CD5D7B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1ECC7-DE8A-26C5-4C9E-917F9564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687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61E28E-1C0D-3A03-C02E-93F62CF8C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BE201-C2E8-0404-E826-879F06E69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213B2-E196-C169-F159-4341E5A3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BD43-2D06-4C04-B68F-DA7D8A6EBC7C}" type="datetime1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49AD7-1538-5388-555A-DE1E7B3A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C4ABC-D9C2-0451-1267-CD7272BB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3806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F0D9E-3E38-3852-B23C-64604D23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D700A-B4DF-B2C6-6E8F-A8035902E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DF03F-AB6F-0384-022E-08C19110A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1711A-F163-4A91-BD05-85421670BF46}" type="datetime1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A6C98-EE15-1311-726A-467C5EC2B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61619-7DAF-2333-11C7-E52139288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BF0A6-A1D0-4715-A1A0-9C805E726E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95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seo-tech.github.io/emulsiV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ECED3403 Computer Architecture. Colin O'Flynn.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F21C4-063B-DB5E-DABC-4AF4ADCB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E3D8-9187-47CB-99BD-15F96FB1E2C1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dirty="0"/>
              <a:t>How does the machine store, access, and control data?</a:t>
            </a:r>
          </a:p>
          <a:p>
            <a:r>
              <a:rPr lang="en-CA" dirty="0"/>
              <a:t>How does the machine execute instructions?</a:t>
            </a:r>
          </a:p>
          <a:p>
            <a:r>
              <a:rPr lang="en-CA" b="1" dirty="0">
                <a:solidFill>
                  <a:srgbClr val="FF0000"/>
                </a:solidFill>
              </a:rPr>
              <a:t>How is execution made more efficient?</a:t>
            </a:r>
          </a:p>
          <a:p>
            <a:r>
              <a:rPr lang="en-CA" i="1" dirty="0">
                <a:solidFill>
                  <a:schemeClr val="bg1">
                    <a:lumMod val="65000"/>
                  </a:schemeClr>
                </a:solidFill>
              </a:rPr>
              <a:t>How do we measure execution?</a:t>
            </a:r>
          </a:p>
          <a:p>
            <a:endParaRPr lang="en-CA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EE417-467D-A6C6-E34C-BCBD8DD5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88E4C-995A-4101-B69F-A648D2360854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566C-D22D-148D-3134-DE04C16C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Pipeline Context</a:t>
            </a:r>
          </a:p>
        </p:txBody>
      </p:sp>
      <p:pic>
        <p:nvPicPr>
          <p:cNvPr id="1026" name="Picture 2" descr="Remember back in the 90's when computers were marketed by their megahertz?  - AR15.COM">
            <a:extLst>
              <a:ext uri="{FF2B5EF4-FFF2-40B4-BE49-F238E27FC236}">
                <a16:creationId xmlns:a16="http://schemas.microsoft.com/office/drawing/2014/main" id="{A1BC62C3-6838-8B82-C5E4-431FB5F22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941" y="1388057"/>
            <a:ext cx="6681452" cy="489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C34AE-59A3-ACF2-779F-9C7C0E8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74C08-B7B6-9593-6FA4-D6EC7F4A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</a:t>
            </a:fld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41B9D-1C13-B79B-1B1A-1DDB67A2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C7B3-AE93-4AC3-930F-8AC62DB82B62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6329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4EBF-179A-5BC9-AC07-CF79DA98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RISC-V Instruction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1970C-27F6-645A-8723-425256C53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54" y="1762405"/>
            <a:ext cx="11370025" cy="22709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59F9B0-9B59-EDEE-BF50-32B3ECB46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08" y="4015434"/>
            <a:ext cx="11072820" cy="289585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46F34D-1D7C-B3EC-6CFC-9B22B79B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2A111-A7A4-DB1F-F26E-CCC95DCF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4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F9EBB4-239C-8378-2BE1-4F8D4BED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F294C-32C5-4740-96A3-0B3F47FDF941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7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0BCF-AB4E-B274-A499-08419873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 Simple RISC-V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1214A-E6B2-D55F-B719-F28B159E5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99" y="2385347"/>
            <a:ext cx="5202382" cy="2873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AddAndMul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= a + b;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= c * a;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= c * b;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C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D9DEA-2D42-1EF9-177B-E096EDDA9BA2}"/>
              </a:ext>
            </a:extLst>
          </p:cNvPr>
          <p:cNvSpPr txBox="1"/>
          <p:nvPr/>
        </p:nvSpPr>
        <p:spPr>
          <a:xfrm>
            <a:off x="4963627" y="2429000"/>
            <a:ext cx="42394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AddAndMul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(int, int):</a:t>
            </a: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20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2071E-553E-195C-9D35-E6B8C362B3C0}"/>
              </a:ext>
            </a:extLst>
          </p:cNvPr>
          <p:cNvSpPr txBox="1"/>
          <p:nvPr/>
        </p:nvSpPr>
        <p:spPr>
          <a:xfrm>
            <a:off x="10257904" y="2693126"/>
            <a:ext cx="1706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0x00b507b3</a:t>
            </a:r>
          </a:p>
          <a:p>
            <a:r>
              <a:rPr lang="en-CA" sz="2000" dirty="0"/>
              <a:t>0x2a78533</a:t>
            </a:r>
          </a:p>
          <a:p>
            <a:r>
              <a:rPr lang="en-CA" sz="2000" dirty="0"/>
              <a:t>0x2a58533</a:t>
            </a:r>
          </a:p>
          <a:p>
            <a:r>
              <a:rPr lang="en-CA" sz="2000" dirty="0"/>
              <a:t>0x8082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700D7-FDB5-D3E3-9B9B-D8B68E259A56}"/>
              </a:ext>
            </a:extLst>
          </p:cNvPr>
          <p:cNvSpPr txBox="1"/>
          <p:nvPr/>
        </p:nvSpPr>
        <p:spPr>
          <a:xfrm>
            <a:off x="1077882" y="1923684"/>
            <a:ext cx="4134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dirty="0"/>
              <a:t>C (High Level)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228B9-292D-F4D2-BD3B-946357027020}"/>
              </a:ext>
            </a:extLst>
          </p:cNvPr>
          <p:cNvSpPr txBox="1"/>
          <p:nvPr/>
        </p:nvSpPr>
        <p:spPr>
          <a:xfrm>
            <a:off x="5396379" y="1929155"/>
            <a:ext cx="2942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dirty="0"/>
              <a:t>ASM (Lower Level)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E6652-A429-D8CC-0AEA-7AE40634C367}"/>
              </a:ext>
            </a:extLst>
          </p:cNvPr>
          <p:cNvSpPr txBox="1"/>
          <p:nvPr/>
        </p:nvSpPr>
        <p:spPr>
          <a:xfrm>
            <a:off x="9642435" y="1923682"/>
            <a:ext cx="2601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dirty="0"/>
              <a:t>Binary / Machine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3540F0B-06F0-927E-69E6-0D4CA719D6B9}"/>
              </a:ext>
            </a:extLst>
          </p:cNvPr>
          <p:cNvSpPr/>
          <p:nvPr/>
        </p:nvSpPr>
        <p:spPr>
          <a:xfrm>
            <a:off x="3566157" y="2823765"/>
            <a:ext cx="1645922" cy="11237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Compiler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8FC23E9-6174-17CF-C2EB-110C68EFBCE7}"/>
              </a:ext>
            </a:extLst>
          </p:cNvPr>
          <p:cNvSpPr/>
          <p:nvPr/>
        </p:nvSpPr>
        <p:spPr>
          <a:xfrm>
            <a:off x="8667427" y="2741740"/>
            <a:ext cx="1555876" cy="11237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Assembler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005465-B6D9-4436-5148-A95690AB5615}"/>
              </a:ext>
            </a:extLst>
          </p:cNvPr>
          <p:cNvSpPr txBox="1"/>
          <p:nvPr/>
        </p:nvSpPr>
        <p:spPr>
          <a:xfrm>
            <a:off x="2834212" y="5997495"/>
            <a:ext cx="806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in RISC-V </a:t>
            </a:r>
            <a:r>
              <a:rPr lang="en-CA" b="1" i="1" dirty="0">
                <a:latin typeface="Consolas" panose="020B0609020204030204" pitchFamily="49" charset="0"/>
              </a:rPr>
              <a:t>a0/a1</a:t>
            </a:r>
            <a:r>
              <a:rPr lang="en-CA" i="1" dirty="0"/>
              <a:t>/</a:t>
            </a:r>
            <a:r>
              <a:rPr lang="en-CA" i="1" dirty="0" err="1"/>
              <a:t>etc</a:t>
            </a:r>
            <a:r>
              <a:rPr lang="en-CA" i="1" dirty="0"/>
              <a:t> are general-purpose registers.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4BAC3-B868-C513-DBB9-91702581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AE2E3-4628-C90C-ED6A-D052F4ED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5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8CABECF-58F8-9A3C-3405-CBB0D4C44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549E-1881-4A38-A033-AD9512E95E27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297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47C8-BA67-3230-B46A-0F24240CD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Executing a Simple Program (Naïve)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127658DD-6672-4E3F-7647-086C1150C7FC}"/>
              </a:ext>
            </a:extLst>
          </p:cNvPr>
          <p:cNvSpPr/>
          <p:nvPr/>
        </p:nvSpPr>
        <p:spPr>
          <a:xfrm>
            <a:off x="929898" y="2531422"/>
            <a:ext cx="1929539" cy="221880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0x00b507b3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0x2a78533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0x2a58533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  <a:p>
            <a:pPr algn="ctr"/>
            <a:endParaRPr lang="en-CA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B331F-831A-27B3-7C06-A165CDAAFBD4}"/>
              </a:ext>
            </a:extLst>
          </p:cNvPr>
          <p:cNvSpPr txBox="1"/>
          <p:nvPr/>
        </p:nvSpPr>
        <p:spPr>
          <a:xfrm>
            <a:off x="1061634" y="4788977"/>
            <a:ext cx="176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Storage Media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B866AC-83C1-99DD-8360-D43BAE52F27D}"/>
              </a:ext>
            </a:extLst>
          </p:cNvPr>
          <p:cNvSpPr/>
          <p:nvPr/>
        </p:nvSpPr>
        <p:spPr>
          <a:xfrm>
            <a:off x="3785461" y="1956710"/>
            <a:ext cx="1538207" cy="8988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Decode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63A1CF-2E51-7984-D8FC-D35D4F648AE5}"/>
              </a:ext>
            </a:extLst>
          </p:cNvPr>
          <p:cNvCxnSpPr>
            <a:endCxn id="8" idx="1"/>
          </p:cNvCxnSpPr>
          <p:nvPr/>
        </p:nvCxnSpPr>
        <p:spPr>
          <a:xfrm flipV="1">
            <a:off x="2650210" y="2406137"/>
            <a:ext cx="1135251" cy="1022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34800A0-5C30-9900-8C11-BF62EF5D312D}"/>
              </a:ext>
            </a:extLst>
          </p:cNvPr>
          <p:cNvSpPr/>
          <p:nvPr/>
        </p:nvSpPr>
        <p:spPr>
          <a:xfrm>
            <a:off x="7257081" y="1922448"/>
            <a:ext cx="1538207" cy="8988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ALU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074A7F-664C-0C06-FA30-61F545A9905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323668" y="2406137"/>
            <a:ext cx="19334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3F28BBC-1581-4FCD-DEC8-D0AB5BFB28ED}"/>
              </a:ext>
            </a:extLst>
          </p:cNvPr>
          <p:cNvSpPr txBox="1"/>
          <p:nvPr/>
        </p:nvSpPr>
        <p:spPr>
          <a:xfrm>
            <a:off x="5359992" y="2036805"/>
            <a:ext cx="2197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add a5,a0,a1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47C329-9977-7A6E-DC1D-B758329E1237}"/>
              </a:ext>
            </a:extLst>
          </p:cNvPr>
          <p:cNvSpPr/>
          <p:nvPr/>
        </p:nvSpPr>
        <p:spPr>
          <a:xfrm>
            <a:off x="7257081" y="3140309"/>
            <a:ext cx="653513" cy="402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B6EB95-30E7-64D7-89F3-CBEBE720B1C9}"/>
              </a:ext>
            </a:extLst>
          </p:cNvPr>
          <p:cNvSpPr txBox="1"/>
          <p:nvPr/>
        </p:nvSpPr>
        <p:spPr>
          <a:xfrm rot="19088248">
            <a:off x="2086340" y="2758176"/>
            <a:ext cx="1793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CA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0x00b507b3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800C0D-A424-6FE9-47A8-CAA647624FFF}"/>
              </a:ext>
            </a:extLst>
          </p:cNvPr>
          <p:cNvSpPr/>
          <p:nvPr/>
        </p:nvSpPr>
        <p:spPr>
          <a:xfrm>
            <a:off x="6297345" y="3140309"/>
            <a:ext cx="653513" cy="402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8891AD-B7D6-2032-9842-42A52EC4F9B7}"/>
              </a:ext>
            </a:extLst>
          </p:cNvPr>
          <p:cNvSpPr/>
          <p:nvPr/>
        </p:nvSpPr>
        <p:spPr>
          <a:xfrm>
            <a:off x="6290374" y="3699540"/>
            <a:ext cx="653513" cy="402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29E8F6-53AD-4071-E627-5943A06A16AF}"/>
              </a:ext>
            </a:extLst>
          </p:cNvPr>
          <p:cNvSpPr/>
          <p:nvPr/>
        </p:nvSpPr>
        <p:spPr>
          <a:xfrm>
            <a:off x="7257080" y="3699540"/>
            <a:ext cx="653513" cy="402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8A2E0F-8C9F-A713-03C7-57256FE3F296}"/>
              </a:ext>
            </a:extLst>
          </p:cNvPr>
          <p:cNvSpPr/>
          <p:nvPr/>
        </p:nvSpPr>
        <p:spPr>
          <a:xfrm>
            <a:off x="8277385" y="3408669"/>
            <a:ext cx="653513" cy="402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D22F67-0AFE-3B36-BAFE-4CF6E77A7D60}"/>
              </a:ext>
            </a:extLst>
          </p:cNvPr>
          <p:cNvSpPr/>
          <p:nvPr/>
        </p:nvSpPr>
        <p:spPr>
          <a:xfrm>
            <a:off x="9297689" y="3408668"/>
            <a:ext cx="653513" cy="402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B75671-A002-1755-04AA-07DFA9571D7F}"/>
              </a:ext>
            </a:extLst>
          </p:cNvPr>
          <p:cNvSpPr/>
          <p:nvPr/>
        </p:nvSpPr>
        <p:spPr>
          <a:xfrm>
            <a:off x="68450" y="3097705"/>
            <a:ext cx="769750" cy="5431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PC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DBC146-0D3D-C798-9556-8D0D49B46DE0}"/>
              </a:ext>
            </a:extLst>
          </p:cNvPr>
          <p:cNvCxnSpPr>
            <a:stCxn id="30" idx="3"/>
          </p:cNvCxnSpPr>
          <p:nvPr/>
        </p:nvCxnSpPr>
        <p:spPr>
          <a:xfrm>
            <a:off x="838200" y="3369266"/>
            <a:ext cx="614766" cy="39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654DFC-62A4-6DD8-D88F-7A8D0C98835E}"/>
              </a:ext>
            </a:extLst>
          </p:cNvPr>
          <p:cNvCxnSpPr>
            <a:cxnSpLocks/>
            <a:stCxn id="23" idx="3"/>
            <a:endCxn id="19" idx="1"/>
          </p:cNvCxnSpPr>
          <p:nvPr/>
        </p:nvCxnSpPr>
        <p:spPr>
          <a:xfrm>
            <a:off x="6950858" y="3341510"/>
            <a:ext cx="306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154793-F107-3228-AA84-242CF9E79E3E}"/>
              </a:ext>
            </a:extLst>
          </p:cNvPr>
          <p:cNvCxnSpPr>
            <a:cxnSpLocks/>
          </p:cNvCxnSpPr>
          <p:nvPr/>
        </p:nvCxnSpPr>
        <p:spPr>
          <a:xfrm>
            <a:off x="6943887" y="3900740"/>
            <a:ext cx="306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CE03A46-788D-88F3-C706-CCA9DC0B3EE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930898" y="3602452"/>
            <a:ext cx="366791" cy="7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2541936-D773-DCD6-ED15-9F160BC8E6D5}"/>
              </a:ext>
            </a:extLst>
          </p:cNvPr>
          <p:cNvSpPr/>
          <p:nvPr/>
        </p:nvSpPr>
        <p:spPr>
          <a:xfrm>
            <a:off x="7974006" y="3480969"/>
            <a:ext cx="252624" cy="257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+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59503D0-DF49-18B5-88A5-307C0EF0AD6D}"/>
              </a:ext>
            </a:extLst>
          </p:cNvPr>
          <p:cNvCxnSpPr>
            <a:stCxn id="19" idx="3"/>
            <a:endCxn id="39" idx="0"/>
          </p:cNvCxnSpPr>
          <p:nvPr/>
        </p:nvCxnSpPr>
        <p:spPr>
          <a:xfrm>
            <a:off x="7910594" y="3341510"/>
            <a:ext cx="189724" cy="1394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9DA5D77-BC0B-7678-9577-09D8FADD3A70}"/>
              </a:ext>
            </a:extLst>
          </p:cNvPr>
          <p:cNvCxnSpPr>
            <a:stCxn id="25" idx="3"/>
            <a:endCxn id="39" idx="4"/>
          </p:cNvCxnSpPr>
          <p:nvPr/>
        </p:nvCxnSpPr>
        <p:spPr>
          <a:xfrm flipV="1">
            <a:off x="7910593" y="3738769"/>
            <a:ext cx="189725" cy="1619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FDB3EB7-DAA7-ED1D-C653-8DC66A52E5AA}"/>
              </a:ext>
            </a:extLst>
          </p:cNvPr>
          <p:cNvSpPr txBox="1"/>
          <p:nvPr/>
        </p:nvSpPr>
        <p:spPr>
          <a:xfrm>
            <a:off x="7241450" y="1510643"/>
            <a:ext cx="2197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a5 = a0 + a1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14EA44-F666-34E5-BA81-57BEC0DAD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513" y="4447878"/>
            <a:ext cx="482917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7C278-C488-1DFE-8F76-3B5DF1B3D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4D27B-DEEE-0A98-FC77-E35E56AD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6</a:t>
            </a:fld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C7930-D4D2-869F-BE2C-7B6A8ACB2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5204-BFF8-4799-B6DC-E33196F92558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608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6" grpId="0"/>
      <p:bldP spid="19" grpId="0" animBg="1"/>
      <p:bldP spid="21" grpId="0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9" grpId="0" animBg="1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2951-897C-D406-5E90-EE6F3393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interactive 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3D401-4EE2-8FA2-DAD7-576FE15F9AC0}"/>
              </a:ext>
            </a:extLst>
          </p:cNvPr>
          <p:cNvSpPr txBox="1"/>
          <p:nvPr/>
        </p:nvSpPr>
        <p:spPr>
          <a:xfrm>
            <a:off x="2890684" y="5807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2"/>
              </a:rPr>
              <a:t>https://eseo-tech.github.io/emulsiV/</a:t>
            </a:r>
            <a:r>
              <a:rPr lang="en-CA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E6F6E-1C44-BF2C-EB0B-CB61CCF04FD2}"/>
              </a:ext>
            </a:extLst>
          </p:cNvPr>
          <p:cNvSpPr txBox="1"/>
          <p:nvPr/>
        </p:nvSpPr>
        <p:spPr>
          <a:xfrm>
            <a:off x="8453284" y="5207466"/>
            <a:ext cx="30578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add x15, x10, x11</a:t>
            </a:r>
          </a:p>
          <a:p>
            <a:r>
              <a:rPr lang="en-CA" b="0" i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add x10, x15, x10</a:t>
            </a:r>
            <a:endParaRPr lang="en-CA" dirty="0">
              <a:solidFill>
                <a:srgbClr val="000000"/>
              </a:solidFill>
              <a:latin typeface="Roboto Mono" panose="020F0502020204030204" pitchFamily="49" charset="0"/>
            </a:endParaRPr>
          </a:p>
          <a:p>
            <a:r>
              <a:rPr lang="en-CA" b="0" i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add x10, x11, x10</a:t>
            </a:r>
            <a:endParaRPr lang="en-CA" b="0" i="0" dirty="0">
              <a:solidFill>
                <a:srgbClr val="000000"/>
              </a:solidFill>
              <a:effectLst/>
              <a:latin typeface="Roboto Mono" panose="020F0502020204030204" pitchFamily="49" charset="0"/>
            </a:endParaRPr>
          </a:p>
          <a:p>
            <a:r>
              <a:rPr lang="en-CA" b="0" i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jalr</a:t>
            </a:r>
            <a:r>
              <a:rPr lang="en-CA" b="0" i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x1, x0, 0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EB1022-E313-89B4-4A23-8A36B77C9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909" y="1206782"/>
            <a:ext cx="5722703" cy="448459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F0C0DD5-B4D9-EA8B-C32A-D744EBE60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89CE03-76AF-84FA-7159-8C067E61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7</a:t>
            </a:fld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F513F-F210-EE05-EDCB-3A18FF5F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6A6D-3BAD-465B-982A-86F87E0560D7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702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ABC5-8700-0A0E-FF87-12B424E8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About Logic Propagation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D64B-BABC-4549-347A-29FCAEC20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B545C-031D-F8E6-C53E-7FAA6ADF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BAFE7-B50D-79DD-25E0-139128DA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8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87FFDC-1A28-2959-F4E8-B7DDAF155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F82D-344F-4E4C-964C-F363F99E8E16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2810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8AC2-B344-65B0-F86B-BA4D29A9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Simple Pipeline Example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97812935-42EF-C6E5-0C7B-D3C1B802CD0D}"/>
              </a:ext>
            </a:extLst>
          </p:cNvPr>
          <p:cNvSpPr/>
          <p:nvPr/>
        </p:nvSpPr>
        <p:spPr>
          <a:xfrm>
            <a:off x="929898" y="2531422"/>
            <a:ext cx="1929539" cy="221880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0x00b507b3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0x2a78533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0x2a58533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  <a:p>
            <a:pPr algn="ctr"/>
            <a:endParaRPr lang="en-CA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10D50-BAC2-87AD-D067-9DBF4C65CED4}"/>
              </a:ext>
            </a:extLst>
          </p:cNvPr>
          <p:cNvSpPr txBox="1"/>
          <p:nvPr/>
        </p:nvSpPr>
        <p:spPr>
          <a:xfrm>
            <a:off x="1061634" y="4788977"/>
            <a:ext cx="176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Storage Media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B4B53-AA1D-0088-25D7-739824F443D9}"/>
              </a:ext>
            </a:extLst>
          </p:cNvPr>
          <p:cNvSpPr txBox="1"/>
          <p:nvPr/>
        </p:nvSpPr>
        <p:spPr>
          <a:xfrm>
            <a:off x="3029014" y="2228721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2566A-A55E-7218-C1BA-64BFF2E6375D}"/>
              </a:ext>
            </a:extLst>
          </p:cNvPr>
          <p:cNvSpPr txBox="1"/>
          <p:nvPr/>
        </p:nvSpPr>
        <p:spPr>
          <a:xfrm>
            <a:off x="3031014" y="2914824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389C1-B2E4-3C43-16FE-3CCC4EE1C461}"/>
              </a:ext>
            </a:extLst>
          </p:cNvPr>
          <p:cNvSpPr txBox="1"/>
          <p:nvPr/>
        </p:nvSpPr>
        <p:spPr>
          <a:xfrm>
            <a:off x="3029014" y="3543281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C5D38E-CAB3-B82B-C54D-25E212B21A8D}"/>
              </a:ext>
            </a:extLst>
          </p:cNvPr>
          <p:cNvSpPr/>
          <p:nvPr/>
        </p:nvSpPr>
        <p:spPr>
          <a:xfrm>
            <a:off x="4518724" y="2156212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0x00b507b3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E6094-6536-CFDB-70B2-1D3C54AE0A44}"/>
              </a:ext>
            </a:extLst>
          </p:cNvPr>
          <p:cNvSpPr/>
          <p:nvPr/>
        </p:nvSpPr>
        <p:spPr>
          <a:xfrm>
            <a:off x="6323180" y="2864826"/>
            <a:ext cx="156584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  a5,a0,a1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D8603-BF14-87F7-556C-C6E10F1F5B23}"/>
              </a:ext>
            </a:extLst>
          </p:cNvPr>
          <p:cNvSpPr/>
          <p:nvPr/>
        </p:nvSpPr>
        <p:spPr>
          <a:xfrm>
            <a:off x="8192406" y="3541747"/>
            <a:ext cx="16153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a5 = a0 + a1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6007BE-FBD2-2EFA-50A9-097D85A46925}"/>
              </a:ext>
            </a:extLst>
          </p:cNvPr>
          <p:cNvSpPr/>
          <p:nvPr/>
        </p:nvSpPr>
        <p:spPr>
          <a:xfrm>
            <a:off x="6330800" y="2156212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0x2a78533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A88B0-09D4-8389-2907-B15B6B0BAAAF}"/>
              </a:ext>
            </a:extLst>
          </p:cNvPr>
          <p:cNvSpPr/>
          <p:nvPr/>
        </p:nvSpPr>
        <p:spPr>
          <a:xfrm>
            <a:off x="8192406" y="2864826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a0,a5,a0</a:t>
            </a:r>
            <a:endParaRPr lang="en-CA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0ED530-4D4D-FF15-C88E-DCA632E11195}"/>
              </a:ext>
            </a:extLst>
          </p:cNvPr>
          <p:cNvSpPr/>
          <p:nvPr/>
        </p:nvSpPr>
        <p:spPr>
          <a:xfrm>
            <a:off x="8200026" y="2162805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0x2a58533</a:t>
            </a:r>
            <a:endParaRPr lang="en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995CA-C110-B25F-8AAF-24ADCBB6962D}"/>
              </a:ext>
            </a:extLst>
          </p:cNvPr>
          <p:cNvSpPr/>
          <p:nvPr/>
        </p:nvSpPr>
        <p:spPr>
          <a:xfrm>
            <a:off x="10111162" y="3577859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a0 = a5 × a0</a:t>
            </a:r>
            <a:endParaRPr lang="en-CA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870B20-8ED5-4D74-FB51-57729668468E}"/>
              </a:ext>
            </a:extLst>
          </p:cNvPr>
          <p:cNvSpPr/>
          <p:nvPr/>
        </p:nvSpPr>
        <p:spPr>
          <a:xfrm>
            <a:off x="10111162" y="2860090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a0,a1,a0</a:t>
            </a:r>
            <a:endParaRPr lang="en-CA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5FE54-61FE-8E64-BD48-BD45F2338517}"/>
              </a:ext>
            </a:extLst>
          </p:cNvPr>
          <p:cNvSpPr/>
          <p:nvPr/>
        </p:nvSpPr>
        <p:spPr>
          <a:xfrm>
            <a:off x="10111162" y="2162805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8688A7-1041-F6CF-B30F-74645ED857EA}"/>
              </a:ext>
            </a:extLst>
          </p:cNvPr>
          <p:cNvCxnSpPr>
            <a:cxnSpLocks/>
          </p:cNvCxnSpPr>
          <p:nvPr/>
        </p:nvCxnSpPr>
        <p:spPr>
          <a:xfrm>
            <a:off x="6019800" y="267784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045267-2B44-22C0-D9D1-69AB053176E2}"/>
              </a:ext>
            </a:extLst>
          </p:cNvPr>
          <p:cNvCxnSpPr>
            <a:cxnSpLocks/>
          </p:cNvCxnSpPr>
          <p:nvPr/>
        </p:nvCxnSpPr>
        <p:spPr>
          <a:xfrm>
            <a:off x="7889026" y="3369459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45F32F-59FF-EC2D-43C4-A69E2782E906}"/>
              </a:ext>
            </a:extLst>
          </p:cNvPr>
          <p:cNvCxnSpPr>
            <a:cxnSpLocks/>
          </p:cNvCxnSpPr>
          <p:nvPr/>
        </p:nvCxnSpPr>
        <p:spPr>
          <a:xfrm>
            <a:off x="7889026" y="267420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1FCCA9-F966-5CB2-0C89-203A022B7F04}"/>
              </a:ext>
            </a:extLst>
          </p:cNvPr>
          <p:cNvCxnSpPr>
            <a:cxnSpLocks/>
          </p:cNvCxnSpPr>
          <p:nvPr/>
        </p:nvCxnSpPr>
        <p:spPr>
          <a:xfrm>
            <a:off x="9807782" y="3379863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91215C-801D-D1C1-DD46-FC0DE7E8D2EB}"/>
              </a:ext>
            </a:extLst>
          </p:cNvPr>
          <p:cNvCxnSpPr>
            <a:cxnSpLocks/>
          </p:cNvCxnSpPr>
          <p:nvPr/>
        </p:nvCxnSpPr>
        <p:spPr>
          <a:xfrm>
            <a:off x="9823022" y="2682578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9858123-1D08-A43C-8A4E-DCA4D94A74A8}"/>
              </a:ext>
            </a:extLst>
          </p:cNvPr>
          <p:cNvSpPr txBox="1"/>
          <p:nvPr/>
        </p:nvSpPr>
        <p:spPr>
          <a:xfrm>
            <a:off x="2859437" y="1468120"/>
            <a:ext cx="8916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1                               2                             3                                 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E24A63-2145-2AB2-57B6-08977180261C}"/>
              </a:ext>
            </a:extLst>
          </p:cNvPr>
          <p:cNvSpPr txBox="1"/>
          <p:nvPr/>
        </p:nvSpPr>
        <p:spPr>
          <a:xfrm>
            <a:off x="6517426" y="402916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1D10E3-4AF0-0333-9769-AC3AB9493B1D}"/>
              </a:ext>
            </a:extLst>
          </p:cNvPr>
          <p:cNvCxnSpPr/>
          <p:nvPr/>
        </p:nvCxnSpPr>
        <p:spPr>
          <a:xfrm>
            <a:off x="4772748" y="4398499"/>
            <a:ext cx="662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1E9C20-CBBB-94DD-2A5F-BDA1AF00A5E1}"/>
              </a:ext>
            </a:extLst>
          </p:cNvPr>
          <p:cNvSpPr txBox="1"/>
          <p:nvPr/>
        </p:nvSpPr>
        <p:spPr>
          <a:xfrm>
            <a:off x="3008694" y="6078775"/>
            <a:ext cx="806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in RISC-V </a:t>
            </a:r>
            <a:r>
              <a:rPr lang="en-CA" b="1" i="1" dirty="0">
                <a:latin typeface="Consolas" panose="020B0609020204030204" pitchFamily="49" charset="0"/>
              </a:rPr>
              <a:t>a0/a1</a:t>
            </a:r>
            <a:r>
              <a:rPr lang="en-CA" i="1" dirty="0"/>
              <a:t>/</a:t>
            </a:r>
            <a:r>
              <a:rPr lang="en-CA" i="1" dirty="0" err="1"/>
              <a:t>etc</a:t>
            </a:r>
            <a:r>
              <a:rPr lang="en-CA" i="1" dirty="0"/>
              <a:t> are general-purpose registers.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EA172-045A-DF74-3415-3D37078A5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84A31-4E0B-0ECB-D124-B8FDAD0B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9</a:t>
            </a:fld>
            <a:endParaRPr lang="en-C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E52D5A-ACFC-B42B-0CD3-E8FDF7A1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B13E-8B68-4488-A7CA-D7D08186817C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830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2F81-B187-E279-CB77-B1F1B836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Human Pipelining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36EC0-C35A-94AA-E589-B835D8BB8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545"/>
            <a:ext cx="10515600" cy="207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You probably already “pipeline” lots of tasks, e.g.:</a:t>
            </a:r>
          </a:p>
          <a:p>
            <a:r>
              <a:rPr lang="en-CA" dirty="0"/>
              <a:t>Doing laundry</a:t>
            </a:r>
          </a:p>
          <a:p>
            <a:r>
              <a:rPr lang="en-CA" dirty="0"/>
              <a:t>Cooking / Baking</a:t>
            </a:r>
          </a:p>
          <a:p>
            <a:r>
              <a:rPr lang="en-CA" dirty="0"/>
              <a:t>Making instant noodles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C933E-D73A-AA48-5014-CB1B845AC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45" y="4267665"/>
            <a:ext cx="1350622" cy="15262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A574DD-D889-1DB6-539C-87331F6B6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87" y="4205753"/>
            <a:ext cx="1674151" cy="1795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021B65-7E2D-7784-896F-CD1B4F8F15D5}"/>
              </a:ext>
            </a:extLst>
          </p:cNvPr>
          <p:cNvSpPr txBox="1"/>
          <p:nvPr/>
        </p:nvSpPr>
        <p:spPr>
          <a:xfrm>
            <a:off x="588169" y="6001724"/>
            <a:ext cx="226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Fill and Turn On Kettle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7C979-E9C8-618F-26AB-B4A4572A92F6}"/>
              </a:ext>
            </a:extLst>
          </p:cNvPr>
          <p:cNvSpPr txBox="1"/>
          <p:nvPr/>
        </p:nvSpPr>
        <p:spPr>
          <a:xfrm>
            <a:off x="3386034" y="5863224"/>
            <a:ext cx="2344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Open Ramen &amp; Packets / Grab Utensils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A1E5E-73CB-0A5C-2B45-0AA6B2554D5A}"/>
              </a:ext>
            </a:extLst>
          </p:cNvPr>
          <p:cNvSpPr txBox="1"/>
          <p:nvPr/>
        </p:nvSpPr>
        <p:spPr>
          <a:xfrm>
            <a:off x="6562436" y="5994273"/>
            <a:ext cx="161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Pour Water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B7286-372D-FFA8-1E94-B1CBD7F79F54}"/>
              </a:ext>
            </a:extLst>
          </p:cNvPr>
          <p:cNvSpPr txBox="1"/>
          <p:nvPr/>
        </p:nvSpPr>
        <p:spPr>
          <a:xfrm>
            <a:off x="8778134" y="5863224"/>
            <a:ext cx="161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34A900-37DC-84E1-DBCE-4A0CAB2416D3}"/>
              </a:ext>
            </a:extLst>
          </p:cNvPr>
          <p:cNvSpPr txBox="1"/>
          <p:nvPr/>
        </p:nvSpPr>
        <p:spPr>
          <a:xfrm>
            <a:off x="10389418" y="5863224"/>
            <a:ext cx="161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Eat</a:t>
            </a:r>
          </a:p>
        </p:txBody>
      </p:sp>
      <p:pic>
        <p:nvPicPr>
          <p:cNvPr id="2058" name="Picture 10" descr="STOPWATCH,23:59:59 TIMING RANGE">
            <a:extLst>
              <a:ext uri="{FF2B5EF4-FFF2-40B4-BE49-F238E27FC236}">
                <a16:creationId xmlns:a16="http://schemas.microsoft.com/office/drawing/2014/main" id="{7825306E-7D99-D47B-2363-0A294FBB9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0" y="4272950"/>
            <a:ext cx="1376680" cy="137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E01481-7E47-A566-43D3-9024C208A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9464" y="4379747"/>
            <a:ext cx="2329870" cy="13255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E9A9D2-1A74-77BA-56F4-DCFAD12DB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7112" y="4205753"/>
            <a:ext cx="1674150" cy="171720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B627F-B77F-2522-21FB-CC9CB809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5970D-B30E-C5D7-0E76-C621C164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10</a:t>
            </a:fld>
            <a:endParaRPr lang="en-CA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2684492-2C93-0562-9410-2CF656E4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7455-0160-4798-B2FC-3098EE26B699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422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FD13-5F7E-CD71-363A-FFB69A03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 vs 3 vs 5 vs … stage pipeline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9FB587-C220-6B7E-6C65-1F5EAB9C6F4F}"/>
              </a:ext>
            </a:extLst>
          </p:cNvPr>
          <p:cNvCxnSpPr/>
          <p:nvPr/>
        </p:nvCxnSpPr>
        <p:spPr>
          <a:xfrm>
            <a:off x="5331417" y="1960536"/>
            <a:ext cx="0" cy="407217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3E570B-F015-5FEC-B6C5-32947B7C6C4B}"/>
              </a:ext>
            </a:extLst>
          </p:cNvPr>
          <p:cNvSpPr txBox="1"/>
          <p:nvPr/>
        </p:nvSpPr>
        <p:spPr>
          <a:xfrm>
            <a:off x="1666068" y="1627321"/>
            <a:ext cx="4083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Frontend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B591E-C831-3D2A-AEE2-795A0EE107CE}"/>
              </a:ext>
            </a:extLst>
          </p:cNvPr>
          <p:cNvSpPr txBox="1"/>
          <p:nvPr/>
        </p:nvSpPr>
        <p:spPr>
          <a:xfrm>
            <a:off x="7373317" y="1533225"/>
            <a:ext cx="4083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Backend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91208-A2BE-9302-3190-B8DDE01E2DEA}"/>
              </a:ext>
            </a:extLst>
          </p:cNvPr>
          <p:cNvSpPr txBox="1"/>
          <p:nvPr/>
        </p:nvSpPr>
        <p:spPr>
          <a:xfrm>
            <a:off x="1303149" y="3195530"/>
            <a:ext cx="3171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(1) Instruction Fetch &amp; Decode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10F28-9786-4FFA-E676-C47E989DB52A}"/>
              </a:ext>
            </a:extLst>
          </p:cNvPr>
          <p:cNvSpPr txBox="1"/>
          <p:nvPr/>
        </p:nvSpPr>
        <p:spPr>
          <a:xfrm>
            <a:off x="7251915" y="3195530"/>
            <a:ext cx="2829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(2) Execute &amp; Writeback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F5728-29B7-953E-929A-5641BE990302}"/>
              </a:ext>
            </a:extLst>
          </p:cNvPr>
          <p:cNvSpPr txBox="1"/>
          <p:nvPr/>
        </p:nvSpPr>
        <p:spPr>
          <a:xfrm>
            <a:off x="800746" y="3966840"/>
            <a:ext cx="422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(1) Instruction Fetch          (2)  Decode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D95A8-0850-AA00-5FB9-89A48E890B9F}"/>
              </a:ext>
            </a:extLst>
          </p:cNvPr>
          <p:cNvSpPr txBox="1"/>
          <p:nvPr/>
        </p:nvSpPr>
        <p:spPr>
          <a:xfrm>
            <a:off x="6790841" y="3908781"/>
            <a:ext cx="2829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(3) Execute &amp; Writeback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DF350-A65D-0BEF-8634-EA94B6053554}"/>
              </a:ext>
            </a:extLst>
          </p:cNvPr>
          <p:cNvSpPr txBox="1"/>
          <p:nvPr/>
        </p:nvSpPr>
        <p:spPr>
          <a:xfrm>
            <a:off x="800746" y="4635891"/>
            <a:ext cx="422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(1) Instruction Fetch          (2)  Decode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7D7479-5ADD-EEBA-F456-A64FE8B20892}"/>
              </a:ext>
            </a:extLst>
          </p:cNvPr>
          <p:cNvSpPr txBox="1"/>
          <p:nvPr/>
        </p:nvSpPr>
        <p:spPr>
          <a:xfrm>
            <a:off x="6790841" y="4577832"/>
            <a:ext cx="2829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(3) Execute  (4) Writeback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EE773D-6E71-A131-6E76-04BC5A87E71D}"/>
              </a:ext>
            </a:extLst>
          </p:cNvPr>
          <p:cNvSpPr txBox="1"/>
          <p:nvPr/>
        </p:nvSpPr>
        <p:spPr>
          <a:xfrm>
            <a:off x="800747" y="5275071"/>
            <a:ext cx="422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(1) Instruction Fetch          (2)  Decode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3CB46-AF08-27AD-A738-D36D55C65C28}"/>
              </a:ext>
            </a:extLst>
          </p:cNvPr>
          <p:cNvSpPr txBox="1"/>
          <p:nvPr/>
        </p:nvSpPr>
        <p:spPr>
          <a:xfrm>
            <a:off x="6790841" y="5275071"/>
            <a:ext cx="548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(3) Execute  (4) Memory (5) Register Writeback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827CFE-B3DD-8FA8-8CFF-9967C9E9318C}"/>
              </a:ext>
            </a:extLst>
          </p:cNvPr>
          <p:cNvSpPr txBox="1"/>
          <p:nvPr/>
        </p:nvSpPr>
        <p:spPr>
          <a:xfrm>
            <a:off x="566333" y="2164763"/>
            <a:ext cx="464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Plans the code the backend will execute. Goal is to keep the backend busy as much as possible.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0C8B61-8C71-A42F-58A2-E9D714F8CFC1}"/>
              </a:ext>
            </a:extLst>
          </p:cNvPr>
          <p:cNvSpPr txBox="1"/>
          <p:nvPr/>
        </p:nvSpPr>
        <p:spPr>
          <a:xfrm>
            <a:off x="5882898" y="2149184"/>
            <a:ext cx="5287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Actually executes the instructions, including writing anything to memory or registers.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C83DCAB-1C21-D75C-DA68-8B354510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66EB2A-8FB6-FA3D-D8BA-FD9465C7E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11</a:t>
            </a:fld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6CE82-05D2-A981-E348-196036CA6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C9D5-1941-4157-9C2D-C952E35F118C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869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4A6E-88AF-3535-449E-11F3876E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Substages within Stages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87665-E026-6678-6963-55EA73BE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D1BF4-DD18-E563-D504-3E65C47B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12</a:t>
            </a:fld>
            <a:endParaRPr lang="en-CA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C75F59A-45E6-1A71-FD1F-098C2D60B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84" y="2296331"/>
            <a:ext cx="4464495" cy="1573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50DBD5-5522-59C9-0606-E994BCA8FB6A}"/>
              </a:ext>
            </a:extLst>
          </p:cNvPr>
          <p:cNvCxnSpPr>
            <a:cxnSpLocks/>
          </p:cNvCxnSpPr>
          <p:nvPr/>
        </p:nvCxnSpPr>
        <p:spPr>
          <a:xfrm flipH="1">
            <a:off x="5585138" y="2979549"/>
            <a:ext cx="1199245" cy="519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6FDD311-E00E-31F9-5AE0-F9CC176060CD}"/>
              </a:ext>
            </a:extLst>
          </p:cNvPr>
          <p:cNvSpPr txBox="1"/>
          <p:nvPr/>
        </p:nvSpPr>
        <p:spPr>
          <a:xfrm>
            <a:off x="6936782" y="2592824"/>
            <a:ext cx="4818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Pentium 4 had 20 stage pipeline(2000). A later version (P4E, 2004) went up to 31. Things have calmed down since then.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28FC1E3-CE3C-0971-2E37-A797DD1F7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012" y="1609321"/>
            <a:ext cx="52387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8DBC8E-93AD-7633-5C48-D0DF2B3FA067}"/>
              </a:ext>
            </a:extLst>
          </p:cNvPr>
          <p:cNvCxnSpPr/>
          <p:nvPr/>
        </p:nvCxnSpPr>
        <p:spPr>
          <a:xfrm flipH="1" flipV="1">
            <a:off x="6466668" y="1875295"/>
            <a:ext cx="2258878" cy="38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E943ECA-2F7C-141F-0144-CD56A75DD4CF}"/>
              </a:ext>
            </a:extLst>
          </p:cNvPr>
          <p:cNvSpPr txBox="1"/>
          <p:nvPr/>
        </p:nvSpPr>
        <p:spPr>
          <a:xfrm>
            <a:off x="8841783" y="1724186"/>
            <a:ext cx="286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Intel Atom (2008)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7E7E1-5EAD-C8C6-CBC7-7460E968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3176-16A7-4BA0-ABD2-CBC8963029DE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41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3C56-4D12-B9D2-76A9-EF7F48F0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Pipeline Hazards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AC418-0AF0-341A-39A8-13F50BBC8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Control hazard</a:t>
            </a:r>
          </a:p>
          <a:p>
            <a:pPr lvl="1"/>
            <a:r>
              <a:rPr lang="en-CA" dirty="0"/>
              <a:t>Need result of a conditional (branch?) before conditional result is ready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Structural hazard</a:t>
            </a:r>
          </a:p>
          <a:p>
            <a:pPr lvl="1"/>
            <a:r>
              <a:rPr lang="en-CA" dirty="0"/>
              <a:t>Need the same resource (e.g., multiplier hardware) </a:t>
            </a:r>
          </a:p>
          <a:p>
            <a:pPr marL="457200" lvl="1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Data hazard</a:t>
            </a:r>
          </a:p>
          <a:p>
            <a:pPr lvl="1"/>
            <a:r>
              <a:rPr lang="en-CA" dirty="0"/>
              <a:t>Instruction to execute needs result of not-finished instruction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70D08-381D-534D-9DE0-7CE3817C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F38ED-0298-24BD-C8C5-CB04491C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13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B66F23-4ADC-D9A9-F71F-8E6ED1D5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039F-8E84-4B5F-91C6-B2C7BFBA8839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8789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566C-D22D-148D-3134-DE04C16C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120" cy="1325563"/>
          </a:xfrm>
        </p:spPr>
        <p:txBody>
          <a:bodyPr/>
          <a:lstStyle/>
          <a:p>
            <a:r>
              <a:rPr lang="en-CA" dirty="0"/>
              <a:t>What Hazards are Here?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F6C81-1026-A8AD-1C87-46B09154E305}"/>
              </a:ext>
            </a:extLst>
          </p:cNvPr>
          <p:cNvSpPr txBox="1"/>
          <p:nvPr/>
        </p:nvSpPr>
        <p:spPr>
          <a:xfrm>
            <a:off x="1952054" y="3163441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579B7-D4DD-F64C-14CF-8E8BCAEFF9ED}"/>
              </a:ext>
            </a:extLst>
          </p:cNvPr>
          <p:cNvSpPr txBox="1"/>
          <p:nvPr/>
        </p:nvSpPr>
        <p:spPr>
          <a:xfrm>
            <a:off x="1954054" y="3849544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FB87F-2425-1E74-FB04-1B8055CD751C}"/>
              </a:ext>
            </a:extLst>
          </p:cNvPr>
          <p:cNvSpPr txBox="1"/>
          <p:nvPr/>
        </p:nvSpPr>
        <p:spPr>
          <a:xfrm>
            <a:off x="1952054" y="4478001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F6389B-01F8-9782-3A6C-7D17CAD5B7C1}"/>
              </a:ext>
            </a:extLst>
          </p:cNvPr>
          <p:cNvSpPr/>
          <p:nvPr/>
        </p:nvSpPr>
        <p:spPr>
          <a:xfrm>
            <a:off x="3441764" y="3090932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0x00b507b3</a:t>
            </a:r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E6AC9B-E4DF-6F76-83AF-C12F3C3DB074}"/>
              </a:ext>
            </a:extLst>
          </p:cNvPr>
          <p:cNvSpPr/>
          <p:nvPr/>
        </p:nvSpPr>
        <p:spPr>
          <a:xfrm>
            <a:off x="5246220" y="3799546"/>
            <a:ext cx="156584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  a5,a0,a1</a:t>
            </a:r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8EEF6A-700E-CB31-9F5C-DABEA80AC75E}"/>
              </a:ext>
            </a:extLst>
          </p:cNvPr>
          <p:cNvSpPr/>
          <p:nvPr/>
        </p:nvSpPr>
        <p:spPr>
          <a:xfrm>
            <a:off x="7115446" y="4476467"/>
            <a:ext cx="16153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a5 = a0 + a1</a:t>
            </a:r>
            <a:endParaRPr lang="en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27F95-ECDD-904E-DB13-19F2C6E83CBD}"/>
              </a:ext>
            </a:extLst>
          </p:cNvPr>
          <p:cNvSpPr/>
          <p:nvPr/>
        </p:nvSpPr>
        <p:spPr>
          <a:xfrm>
            <a:off x="5253840" y="3090932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0x2a78533</a:t>
            </a:r>
            <a:endParaRPr lang="en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E8EE70-39D1-0167-0EBF-AE5027167971}"/>
              </a:ext>
            </a:extLst>
          </p:cNvPr>
          <p:cNvSpPr/>
          <p:nvPr/>
        </p:nvSpPr>
        <p:spPr>
          <a:xfrm>
            <a:off x="7115446" y="3799546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a0,a5,a0</a:t>
            </a:r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5F0AC2-4BE2-7976-39C7-EA5A0528D876}"/>
              </a:ext>
            </a:extLst>
          </p:cNvPr>
          <p:cNvSpPr/>
          <p:nvPr/>
        </p:nvSpPr>
        <p:spPr>
          <a:xfrm>
            <a:off x="7123066" y="3097525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0x2a58533</a:t>
            </a:r>
            <a:endParaRPr lang="en-CA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221BD6-AE19-E3EA-0F91-ABC76B73A02D}"/>
              </a:ext>
            </a:extLst>
          </p:cNvPr>
          <p:cNvSpPr/>
          <p:nvPr/>
        </p:nvSpPr>
        <p:spPr>
          <a:xfrm>
            <a:off x="9034202" y="4512579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a0 = a5 × a0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502E79-0030-F763-0672-9C6543DC7859}"/>
              </a:ext>
            </a:extLst>
          </p:cNvPr>
          <p:cNvSpPr/>
          <p:nvPr/>
        </p:nvSpPr>
        <p:spPr>
          <a:xfrm>
            <a:off x="9034202" y="3794810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a0,a1,a0</a:t>
            </a:r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B29752-0062-72CA-19CE-F9815085BEC7}"/>
              </a:ext>
            </a:extLst>
          </p:cNvPr>
          <p:cNvSpPr/>
          <p:nvPr/>
        </p:nvSpPr>
        <p:spPr>
          <a:xfrm>
            <a:off x="9034202" y="3097525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0527A0-5DA2-14BF-11ED-866A81AB2993}"/>
              </a:ext>
            </a:extLst>
          </p:cNvPr>
          <p:cNvCxnSpPr>
            <a:cxnSpLocks/>
          </p:cNvCxnSpPr>
          <p:nvPr/>
        </p:nvCxnSpPr>
        <p:spPr>
          <a:xfrm>
            <a:off x="4942840" y="361256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E51379-F0FD-B49A-DBB5-7615CFECF5D9}"/>
              </a:ext>
            </a:extLst>
          </p:cNvPr>
          <p:cNvCxnSpPr>
            <a:cxnSpLocks/>
          </p:cNvCxnSpPr>
          <p:nvPr/>
        </p:nvCxnSpPr>
        <p:spPr>
          <a:xfrm>
            <a:off x="6812066" y="4304179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D46748-D52B-1FA0-1ABC-3063B5F081CF}"/>
              </a:ext>
            </a:extLst>
          </p:cNvPr>
          <p:cNvCxnSpPr>
            <a:cxnSpLocks/>
          </p:cNvCxnSpPr>
          <p:nvPr/>
        </p:nvCxnSpPr>
        <p:spPr>
          <a:xfrm>
            <a:off x="6812066" y="360892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4F4EC2-68B6-9DD5-4F06-5AD4DE40E7E6}"/>
              </a:ext>
            </a:extLst>
          </p:cNvPr>
          <p:cNvCxnSpPr>
            <a:cxnSpLocks/>
          </p:cNvCxnSpPr>
          <p:nvPr/>
        </p:nvCxnSpPr>
        <p:spPr>
          <a:xfrm>
            <a:off x="8730822" y="4314583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E57927-97FC-1217-2476-AB713C07B8CD}"/>
              </a:ext>
            </a:extLst>
          </p:cNvPr>
          <p:cNvCxnSpPr>
            <a:cxnSpLocks/>
          </p:cNvCxnSpPr>
          <p:nvPr/>
        </p:nvCxnSpPr>
        <p:spPr>
          <a:xfrm>
            <a:off x="8746062" y="3617298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7DE761E-99CE-449B-28A4-68BCCC62C48E}"/>
              </a:ext>
            </a:extLst>
          </p:cNvPr>
          <p:cNvSpPr txBox="1"/>
          <p:nvPr/>
        </p:nvSpPr>
        <p:spPr>
          <a:xfrm>
            <a:off x="1782477" y="2402840"/>
            <a:ext cx="10175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   1                           2                              3                                 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BC922-F951-0BE7-6077-67ACCAB23AF7}"/>
              </a:ext>
            </a:extLst>
          </p:cNvPr>
          <p:cNvSpPr txBox="1"/>
          <p:nvPr/>
        </p:nvSpPr>
        <p:spPr>
          <a:xfrm>
            <a:off x="5440466" y="496388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6C5BD0-0832-2A54-193A-82362894F946}"/>
              </a:ext>
            </a:extLst>
          </p:cNvPr>
          <p:cNvCxnSpPr/>
          <p:nvPr/>
        </p:nvCxnSpPr>
        <p:spPr>
          <a:xfrm>
            <a:off x="3695788" y="5333219"/>
            <a:ext cx="662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1E254-DB67-A81F-E716-ABAAEEFEB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8823772-D759-2DE7-238B-E9F52548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14</a:t>
            </a:fld>
            <a:endParaRPr lang="en-CA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B19DD45F-4FAB-AC5B-3219-7DA9A460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1159-F65D-437D-8D3D-D675F4147BBC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4918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566C-D22D-148D-3134-DE04C16C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120" cy="1325563"/>
          </a:xfrm>
        </p:spPr>
        <p:txBody>
          <a:bodyPr/>
          <a:lstStyle/>
          <a:p>
            <a:r>
              <a:rPr lang="en-CA" dirty="0"/>
              <a:t>Remember – Logic can be SLOW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0C0C4-E6F4-3E3F-8034-257C8D0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1105A-8488-CF80-EAD0-4636D154F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15</a:t>
            </a:fld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2E5C7-4D8F-1D01-3BE0-96164324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4958-9ABB-4309-9461-C870D89C1DDA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3843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E9F9A-7499-0D11-1B21-2226EE3C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– NEORV32 Multiply Timing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2E0FD-5F98-BA0D-E055-E74A81CE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33" y="1690688"/>
            <a:ext cx="10859028" cy="28064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82C868-A63D-71DA-B6F4-5331BEE39579}"/>
              </a:ext>
            </a:extLst>
          </p:cNvPr>
          <p:cNvSpPr txBox="1"/>
          <p:nvPr/>
        </p:nvSpPr>
        <p:spPr>
          <a:xfrm>
            <a:off x="919480" y="47073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https://stnolting.github.io/neorv32/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3E9A7-03B7-9E26-D3A3-07F3B67E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887C8-7937-7125-A6F5-E755876A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16</a:t>
            </a:fld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D97E9-E276-1841-C495-4F38A18A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1E76-9F5E-4029-A0D0-C8C2409831B0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8978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234637-488E-0E2A-55F8-6B87AA3DFCC4}"/>
              </a:ext>
            </a:extLst>
          </p:cNvPr>
          <p:cNvSpPr/>
          <p:nvPr/>
        </p:nvSpPr>
        <p:spPr>
          <a:xfrm>
            <a:off x="7708322" y="4597891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a0 = a5 × a0</a:t>
            </a:r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2566C-D22D-148D-3134-DE04C16C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120" cy="1325563"/>
          </a:xfrm>
        </p:spPr>
        <p:txBody>
          <a:bodyPr/>
          <a:lstStyle/>
          <a:p>
            <a:r>
              <a:rPr lang="en-CA" dirty="0"/>
              <a:t>Example: 2-Cycle Multiply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F6C81-1026-A8AD-1C87-46B09154E305}"/>
              </a:ext>
            </a:extLst>
          </p:cNvPr>
          <p:cNvSpPr txBox="1"/>
          <p:nvPr/>
        </p:nvSpPr>
        <p:spPr>
          <a:xfrm>
            <a:off x="626174" y="3237741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579B7-D4DD-F64C-14CF-8E8BCAEFF9ED}"/>
              </a:ext>
            </a:extLst>
          </p:cNvPr>
          <p:cNvSpPr txBox="1"/>
          <p:nvPr/>
        </p:nvSpPr>
        <p:spPr>
          <a:xfrm>
            <a:off x="628174" y="3923844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FB87F-2425-1E74-FB04-1B8055CD751C}"/>
              </a:ext>
            </a:extLst>
          </p:cNvPr>
          <p:cNvSpPr txBox="1"/>
          <p:nvPr/>
        </p:nvSpPr>
        <p:spPr>
          <a:xfrm>
            <a:off x="626174" y="4552301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F6389B-01F8-9782-3A6C-7D17CAD5B7C1}"/>
              </a:ext>
            </a:extLst>
          </p:cNvPr>
          <p:cNvSpPr/>
          <p:nvPr/>
        </p:nvSpPr>
        <p:spPr>
          <a:xfrm>
            <a:off x="2115884" y="3165232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0x00b507b3</a:t>
            </a:r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E6AC9B-E4DF-6F76-83AF-C12F3C3DB074}"/>
              </a:ext>
            </a:extLst>
          </p:cNvPr>
          <p:cNvSpPr/>
          <p:nvPr/>
        </p:nvSpPr>
        <p:spPr>
          <a:xfrm>
            <a:off x="3920340" y="3873846"/>
            <a:ext cx="156584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  a5,a0,a1</a:t>
            </a:r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8EEF6A-700E-CB31-9F5C-DABEA80AC75E}"/>
              </a:ext>
            </a:extLst>
          </p:cNvPr>
          <p:cNvSpPr/>
          <p:nvPr/>
        </p:nvSpPr>
        <p:spPr>
          <a:xfrm>
            <a:off x="5789566" y="4550767"/>
            <a:ext cx="16153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a5 = a0 + a1</a:t>
            </a:r>
            <a:endParaRPr lang="en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27F95-ECDD-904E-DB13-19F2C6E83CBD}"/>
              </a:ext>
            </a:extLst>
          </p:cNvPr>
          <p:cNvSpPr/>
          <p:nvPr/>
        </p:nvSpPr>
        <p:spPr>
          <a:xfrm>
            <a:off x="3927960" y="3165232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0x2a78533</a:t>
            </a:r>
            <a:endParaRPr lang="en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E8EE70-39D1-0167-0EBF-AE5027167971}"/>
              </a:ext>
            </a:extLst>
          </p:cNvPr>
          <p:cNvSpPr/>
          <p:nvPr/>
        </p:nvSpPr>
        <p:spPr>
          <a:xfrm>
            <a:off x="5789566" y="3873846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a0,a5,a0</a:t>
            </a:r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5F0AC2-4BE2-7976-39C7-EA5A0528D876}"/>
              </a:ext>
            </a:extLst>
          </p:cNvPr>
          <p:cNvSpPr/>
          <p:nvPr/>
        </p:nvSpPr>
        <p:spPr>
          <a:xfrm>
            <a:off x="5797186" y="3171825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0x2a58533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502E79-0030-F763-0672-9C6543DC7859}"/>
              </a:ext>
            </a:extLst>
          </p:cNvPr>
          <p:cNvSpPr/>
          <p:nvPr/>
        </p:nvSpPr>
        <p:spPr>
          <a:xfrm>
            <a:off x="7708322" y="3869110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a0,a1,a0</a:t>
            </a:r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B29752-0062-72CA-19CE-F9815085BEC7}"/>
              </a:ext>
            </a:extLst>
          </p:cNvPr>
          <p:cNvSpPr/>
          <p:nvPr/>
        </p:nvSpPr>
        <p:spPr>
          <a:xfrm>
            <a:off x="7708322" y="3171825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0527A0-5DA2-14BF-11ED-866A81AB2993}"/>
              </a:ext>
            </a:extLst>
          </p:cNvPr>
          <p:cNvCxnSpPr>
            <a:cxnSpLocks/>
          </p:cNvCxnSpPr>
          <p:nvPr/>
        </p:nvCxnSpPr>
        <p:spPr>
          <a:xfrm>
            <a:off x="3616960" y="368686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E51379-F0FD-B49A-DBB5-7615CFECF5D9}"/>
              </a:ext>
            </a:extLst>
          </p:cNvPr>
          <p:cNvCxnSpPr>
            <a:cxnSpLocks/>
          </p:cNvCxnSpPr>
          <p:nvPr/>
        </p:nvCxnSpPr>
        <p:spPr>
          <a:xfrm>
            <a:off x="5486186" y="4378479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D46748-D52B-1FA0-1ABC-3063B5F081CF}"/>
              </a:ext>
            </a:extLst>
          </p:cNvPr>
          <p:cNvCxnSpPr>
            <a:cxnSpLocks/>
          </p:cNvCxnSpPr>
          <p:nvPr/>
        </p:nvCxnSpPr>
        <p:spPr>
          <a:xfrm>
            <a:off x="5486186" y="368322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4F4EC2-68B6-9DD5-4F06-5AD4DE40E7E6}"/>
              </a:ext>
            </a:extLst>
          </p:cNvPr>
          <p:cNvCxnSpPr>
            <a:cxnSpLocks/>
          </p:cNvCxnSpPr>
          <p:nvPr/>
        </p:nvCxnSpPr>
        <p:spPr>
          <a:xfrm>
            <a:off x="7404942" y="4388883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E57927-97FC-1217-2476-AB713C07B8CD}"/>
              </a:ext>
            </a:extLst>
          </p:cNvPr>
          <p:cNvCxnSpPr>
            <a:cxnSpLocks/>
          </p:cNvCxnSpPr>
          <p:nvPr/>
        </p:nvCxnSpPr>
        <p:spPr>
          <a:xfrm>
            <a:off x="7420182" y="3691598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7DE761E-99CE-449B-28A4-68BCCC62C48E}"/>
              </a:ext>
            </a:extLst>
          </p:cNvPr>
          <p:cNvSpPr txBox="1"/>
          <p:nvPr/>
        </p:nvSpPr>
        <p:spPr>
          <a:xfrm>
            <a:off x="456597" y="2477140"/>
            <a:ext cx="1132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1                            2                               3                                4                                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BC922-F951-0BE7-6077-67ACCAB23AF7}"/>
              </a:ext>
            </a:extLst>
          </p:cNvPr>
          <p:cNvSpPr txBox="1"/>
          <p:nvPr/>
        </p:nvSpPr>
        <p:spPr>
          <a:xfrm>
            <a:off x="4114586" y="503818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6C5BD0-0832-2A54-193A-82362894F946}"/>
              </a:ext>
            </a:extLst>
          </p:cNvPr>
          <p:cNvCxnSpPr/>
          <p:nvPr/>
        </p:nvCxnSpPr>
        <p:spPr>
          <a:xfrm>
            <a:off x="2369908" y="5407519"/>
            <a:ext cx="662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3C0D5-AB8E-30DC-539B-58E52F062010}"/>
              </a:ext>
            </a:extLst>
          </p:cNvPr>
          <p:cNvSpPr/>
          <p:nvPr/>
        </p:nvSpPr>
        <p:spPr>
          <a:xfrm>
            <a:off x="7708322" y="4597891"/>
            <a:ext cx="3857504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a0 = a5 × a0</a:t>
            </a:r>
            <a:endParaRPr lang="en-CA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AB97B8-4426-B631-8B40-63B8BB1EF39D}"/>
              </a:ext>
            </a:extLst>
          </p:cNvPr>
          <p:cNvCxnSpPr>
            <a:cxnSpLocks/>
          </p:cNvCxnSpPr>
          <p:nvPr/>
        </p:nvCxnSpPr>
        <p:spPr>
          <a:xfrm>
            <a:off x="9337090" y="4393129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6" name="Explosion: 14 Points 25">
            <a:extLst>
              <a:ext uri="{FF2B5EF4-FFF2-40B4-BE49-F238E27FC236}">
                <a16:creationId xmlns:a16="http://schemas.microsoft.com/office/drawing/2014/main" id="{AA483982-5AA1-9977-AEB1-8AC209D2B028}"/>
              </a:ext>
            </a:extLst>
          </p:cNvPr>
          <p:cNvSpPr/>
          <p:nvPr/>
        </p:nvSpPr>
        <p:spPr>
          <a:xfrm>
            <a:off x="9395590" y="4302613"/>
            <a:ext cx="793140" cy="543154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C5F391-A97D-4343-2D21-569B217D25ED}"/>
              </a:ext>
            </a:extLst>
          </p:cNvPr>
          <p:cNvCxnSpPr>
            <a:cxnSpLocks/>
          </p:cNvCxnSpPr>
          <p:nvPr/>
        </p:nvCxnSpPr>
        <p:spPr>
          <a:xfrm>
            <a:off x="9331318" y="3691598"/>
            <a:ext cx="303380" cy="186984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AB51F17-BD6F-6746-42E1-BB745CBE28F8}"/>
              </a:ext>
            </a:extLst>
          </p:cNvPr>
          <p:cNvSpPr/>
          <p:nvPr/>
        </p:nvSpPr>
        <p:spPr>
          <a:xfrm>
            <a:off x="9634698" y="3878582"/>
            <a:ext cx="1615376" cy="514350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</a:t>
            </a:r>
            <a:endParaRPr lang="en-CA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6C69AD-5DA8-71AA-6ED6-22C36C6C91C5}"/>
              </a:ext>
            </a:extLst>
          </p:cNvPr>
          <p:cNvSpPr txBox="1"/>
          <p:nvPr/>
        </p:nvSpPr>
        <p:spPr>
          <a:xfrm>
            <a:off x="1271968" y="5842055"/>
            <a:ext cx="10234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Here is BOTH a structural hazard &amp; a data hazard (if we had another multiplier)</a:t>
            </a:r>
          </a:p>
        </p:txBody>
      </p:sp>
      <p:sp>
        <p:nvSpPr>
          <p:cNvPr id="30" name="Explosion: 14 Points 29">
            <a:extLst>
              <a:ext uri="{FF2B5EF4-FFF2-40B4-BE49-F238E27FC236}">
                <a16:creationId xmlns:a16="http://schemas.microsoft.com/office/drawing/2014/main" id="{DB227F6A-8D89-8E25-FC9D-B3AB228C3B68}"/>
              </a:ext>
            </a:extLst>
          </p:cNvPr>
          <p:cNvSpPr/>
          <p:nvPr/>
        </p:nvSpPr>
        <p:spPr>
          <a:xfrm>
            <a:off x="571630" y="5801310"/>
            <a:ext cx="793140" cy="543154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F60C4B0-8372-C937-42EB-0E3A58A6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B9C06E3-E741-DBE8-6F53-A48B5EDE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17</a:t>
            </a:fld>
            <a:endParaRPr lang="en-CA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2943873-4A22-E27A-8AE9-7298E5FC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0C31-1C50-4EA7-9AF1-F5978706A23D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184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29" grpId="0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566C-D22D-148D-3134-DE04C16C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120" cy="1325563"/>
          </a:xfrm>
        </p:spPr>
        <p:txBody>
          <a:bodyPr/>
          <a:lstStyle/>
          <a:p>
            <a:r>
              <a:rPr lang="en-CA" dirty="0"/>
              <a:t>Example: 2-Cycle Multiply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F6C81-1026-A8AD-1C87-46B09154E305}"/>
              </a:ext>
            </a:extLst>
          </p:cNvPr>
          <p:cNvSpPr txBox="1"/>
          <p:nvPr/>
        </p:nvSpPr>
        <p:spPr>
          <a:xfrm>
            <a:off x="626174" y="3237741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579B7-D4DD-F64C-14CF-8E8BCAEFF9ED}"/>
              </a:ext>
            </a:extLst>
          </p:cNvPr>
          <p:cNvSpPr txBox="1"/>
          <p:nvPr/>
        </p:nvSpPr>
        <p:spPr>
          <a:xfrm>
            <a:off x="628174" y="3923844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FB87F-2425-1E74-FB04-1B8055CD751C}"/>
              </a:ext>
            </a:extLst>
          </p:cNvPr>
          <p:cNvSpPr txBox="1"/>
          <p:nvPr/>
        </p:nvSpPr>
        <p:spPr>
          <a:xfrm>
            <a:off x="626174" y="4552301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502E79-0030-F763-0672-9C6543DC7859}"/>
              </a:ext>
            </a:extLst>
          </p:cNvPr>
          <p:cNvSpPr/>
          <p:nvPr/>
        </p:nvSpPr>
        <p:spPr>
          <a:xfrm>
            <a:off x="2074602" y="3827619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a0,a1,a0</a:t>
            </a:r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B29752-0062-72CA-19CE-F9815085BEC7}"/>
              </a:ext>
            </a:extLst>
          </p:cNvPr>
          <p:cNvSpPr/>
          <p:nvPr/>
        </p:nvSpPr>
        <p:spPr>
          <a:xfrm>
            <a:off x="2074602" y="3130334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DE761E-99CE-449B-28A4-68BCCC62C48E}"/>
              </a:ext>
            </a:extLst>
          </p:cNvPr>
          <p:cNvSpPr txBox="1"/>
          <p:nvPr/>
        </p:nvSpPr>
        <p:spPr>
          <a:xfrm>
            <a:off x="468221" y="2481014"/>
            <a:ext cx="1132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4                                5                                 6                               7                               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BC922-F951-0BE7-6077-67ACCAB23AF7}"/>
              </a:ext>
            </a:extLst>
          </p:cNvPr>
          <p:cNvSpPr txBox="1"/>
          <p:nvPr/>
        </p:nvSpPr>
        <p:spPr>
          <a:xfrm>
            <a:off x="4114586" y="503818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6C5BD0-0832-2A54-193A-82362894F946}"/>
              </a:ext>
            </a:extLst>
          </p:cNvPr>
          <p:cNvCxnSpPr/>
          <p:nvPr/>
        </p:nvCxnSpPr>
        <p:spPr>
          <a:xfrm>
            <a:off x="2369908" y="5407519"/>
            <a:ext cx="662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3C0D5-AB8E-30DC-539B-58E52F062010}"/>
              </a:ext>
            </a:extLst>
          </p:cNvPr>
          <p:cNvSpPr/>
          <p:nvPr/>
        </p:nvSpPr>
        <p:spPr>
          <a:xfrm>
            <a:off x="2074602" y="4479792"/>
            <a:ext cx="3544128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a0 = a5 × a0</a:t>
            </a:r>
            <a:endParaRPr lang="en-CA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566CFA-6A78-A265-EFA9-C72737555352}"/>
              </a:ext>
            </a:extLst>
          </p:cNvPr>
          <p:cNvSpPr/>
          <p:nvPr/>
        </p:nvSpPr>
        <p:spPr>
          <a:xfrm>
            <a:off x="3992698" y="3130334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D81C1A-E7CB-9D85-17E1-979CCA143AC3}"/>
              </a:ext>
            </a:extLst>
          </p:cNvPr>
          <p:cNvSpPr/>
          <p:nvPr/>
        </p:nvSpPr>
        <p:spPr>
          <a:xfrm>
            <a:off x="4003354" y="3836108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a0,a1,a0</a:t>
            </a:r>
            <a:endParaRPr lang="en-C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0E3B10-D65A-F584-C798-8155D561ED61}"/>
              </a:ext>
            </a:extLst>
          </p:cNvPr>
          <p:cNvSpPr/>
          <p:nvPr/>
        </p:nvSpPr>
        <p:spPr>
          <a:xfrm>
            <a:off x="5909554" y="4479792"/>
            <a:ext cx="3544128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a0 = a1 × a0</a:t>
            </a:r>
            <a:endParaRPr lang="en-CA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072A7D-DF93-1784-9F63-7DADFB43AB30}"/>
              </a:ext>
            </a:extLst>
          </p:cNvPr>
          <p:cNvSpPr/>
          <p:nvPr/>
        </p:nvSpPr>
        <p:spPr>
          <a:xfrm>
            <a:off x="5910794" y="3130334"/>
            <a:ext cx="1615376" cy="514350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endParaRPr lang="en-CA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3C07EF-01C1-E25A-64F7-EDC056BFAE91}"/>
              </a:ext>
            </a:extLst>
          </p:cNvPr>
          <p:cNvSpPr/>
          <p:nvPr/>
        </p:nvSpPr>
        <p:spPr>
          <a:xfrm>
            <a:off x="5910794" y="3824808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</a:t>
            </a:r>
            <a:endParaRPr lang="en-CA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909E9E-3348-ED5B-EB03-156916B2D902}"/>
              </a:ext>
            </a:extLst>
          </p:cNvPr>
          <p:cNvSpPr/>
          <p:nvPr/>
        </p:nvSpPr>
        <p:spPr>
          <a:xfrm>
            <a:off x="7838306" y="3828217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</a:t>
            </a:r>
            <a:endParaRPr lang="en-CA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165501-BE31-4021-360A-D7C106D24F9B}"/>
              </a:ext>
            </a:extLst>
          </p:cNvPr>
          <p:cNvSpPr/>
          <p:nvPr/>
        </p:nvSpPr>
        <p:spPr>
          <a:xfrm>
            <a:off x="9765424" y="4506382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 = </a:t>
            </a:r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</a:t>
            </a:r>
            <a:endParaRPr lang="en-CA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8F8071-6859-DD30-1A6C-322DF186B152}"/>
              </a:ext>
            </a:extLst>
          </p:cNvPr>
          <p:cNvCxnSpPr>
            <a:cxnSpLocks/>
          </p:cNvCxnSpPr>
          <p:nvPr/>
        </p:nvCxnSpPr>
        <p:spPr>
          <a:xfrm>
            <a:off x="5606174" y="3644684"/>
            <a:ext cx="303380" cy="186984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169C02-1D9D-20E6-6DE6-99FD4E4D1889}"/>
              </a:ext>
            </a:extLst>
          </p:cNvPr>
          <p:cNvCxnSpPr>
            <a:cxnSpLocks/>
          </p:cNvCxnSpPr>
          <p:nvPr/>
        </p:nvCxnSpPr>
        <p:spPr>
          <a:xfrm>
            <a:off x="9462044" y="4337311"/>
            <a:ext cx="303380" cy="186984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F2C3027-6255-CD44-E15B-9FD07B60E8F3}"/>
              </a:ext>
            </a:extLst>
          </p:cNvPr>
          <p:cNvCxnSpPr>
            <a:cxnSpLocks/>
          </p:cNvCxnSpPr>
          <p:nvPr/>
        </p:nvCxnSpPr>
        <p:spPr>
          <a:xfrm>
            <a:off x="5627092" y="4315983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62FCA45-71C7-CF58-F305-9854418FBD8F}"/>
              </a:ext>
            </a:extLst>
          </p:cNvPr>
          <p:cNvSpPr/>
          <p:nvPr/>
        </p:nvSpPr>
        <p:spPr>
          <a:xfrm>
            <a:off x="7828890" y="3125353"/>
            <a:ext cx="1615376" cy="514350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endParaRPr lang="en-CA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FB5527-A011-B9A0-BF7A-709B91B889C0}"/>
              </a:ext>
            </a:extLst>
          </p:cNvPr>
          <p:cNvSpPr/>
          <p:nvPr/>
        </p:nvSpPr>
        <p:spPr>
          <a:xfrm>
            <a:off x="9765424" y="3812164"/>
            <a:ext cx="1615376" cy="514350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endParaRPr lang="en-CA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025637-3846-2C48-8E3A-060150CE1F8E}"/>
              </a:ext>
            </a:extLst>
          </p:cNvPr>
          <p:cNvSpPr txBox="1"/>
          <p:nvPr/>
        </p:nvSpPr>
        <p:spPr>
          <a:xfrm>
            <a:off x="2834640" y="5831254"/>
            <a:ext cx="8067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in RISC-V </a:t>
            </a:r>
            <a:r>
              <a:rPr lang="en-CA" b="1" i="1" dirty="0">
                <a:latin typeface="Consolas" panose="020B0609020204030204" pitchFamily="49" charset="0"/>
              </a:rPr>
              <a:t>a0/a1</a:t>
            </a:r>
            <a:r>
              <a:rPr lang="en-CA" i="1" dirty="0"/>
              <a:t>/</a:t>
            </a:r>
            <a:r>
              <a:rPr lang="en-CA" i="1" dirty="0" err="1"/>
              <a:t>etc</a:t>
            </a:r>
            <a:r>
              <a:rPr lang="en-CA" i="1" dirty="0"/>
              <a:t> are general-purpose registers. </a:t>
            </a:r>
            <a:r>
              <a:rPr lang="en-CA" b="1" i="1" dirty="0" err="1">
                <a:latin typeface="Consolas" panose="020B0609020204030204" pitchFamily="49" charset="0"/>
              </a:rPr>
              <a:t>ra</a:t>
            </a:r>
            <a:r>
              <a:rPr lang="en-CA" i="1" dirty="0"/>
              <a:t> is “Return Address” register (typically ‘</a:t>
            </a:r>
            <a:r>
              <a:rPr lang="en-CA" b="1" i="1" dirty="0"/>
              <a:t>Link Register</a:t>
            </a:r>
            <a:r>
              <a:rPr lang="en-CA" i="1" dirty="0"/>
              <a:t>’ in Arm).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B3573-709E-AEB9-52EE-DA8176BB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A7ECA-22EB-6E5F-C4AD-B2B54D6D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18</a:t>
            </a:fld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D5E2D17-5999-171E-FB0F-5E3DA1BF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54550-E8B2-4402-AE38-7C42D97916B1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860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43E1-5D1A-F49F-5F69-A50D8525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Pipeline Stalls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9F51D-5E1C-B31D-55DF-FBBCF04FF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FF0000"/>
                </a:solidFill>
              </a:rPr>
              <a:t>Stall:</a:t>
            </a:r>
          </a:p>
          <a:p>
            <a:r>
              <a:rPr lang="en-CA" dirty="0"/>
              <a:t>Pause the pipeline while waiting for availability of resource (e.g., the slow multiply).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CBCF6-3DE0-55FC-8BA4-86420A4E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6F77D-8A5E-5469-CC6B-AAE5CE0C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19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2F00BE-D0D0-B434-9CA8-840DF140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31FC-B97F-4849-8733-27FBDED35BAD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1092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ECDE-B3AB-CFA2-AD8C-B99F6F04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Branch Instruction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CD948-38AC-3DBA-5984-298CCAD6EF70}"/>
              </a:ext>
            </a:extLst>
          </p:cNvPr>
          <p:cNvSpPr txBox="1"/>
          <p:nvPr/>
        </p:nvSpPr>
        <p:spPr>
          <a:xfrm>
            <a:off x="396240" y="2435856"/>
            <a:ext cx="3276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a-b;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1FD7F-5967-DB78-B2DA-BAED10F1F636}"/>
              </a:ext>
            </a:extLst>
          </p:cNvPr>
          <p:cNvSpPr txBox="1"/>
          <p:nvPr/>
        </p:nvSpPr>
        <p:spPr>
          <a:xfrm>
            <a:off x="1077882" y="1923684"/>
            <a:ext cx="4134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dirty="0"/>
              <a:t>C (High Level)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52A04-F2B0-E2FC-E185-66FD16E34CA8}"/>
              </a:ext>
            </a:extLst>
          </p:cNvPr>
          <p:cNvSpPr txBox="1"/>
          <p:nvPr/>
        </p:nvSpPr>
        <p:spPr>
          <a:xfrm>
            <a:off x="5396379" y="1929155"/>
            <a:ext cx="2942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dirty="0"/>
              <a:t>ASM (Lower Level)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E8650-C447-4FD0-ADE9-47F030D8299C}"/>
              </a:ext>
            </a:extLst>
          </p:cNvPr>
          <p:cNvSpPr txBox="1"/>
          <p:nvPr/>
        </p:nvSpPr>
        <p:spPr>
          <a:xfrm>
            <a:off x="9642435" y="1923682"/>
            <a:ext cx="2441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dirty="0"/>
              <a:t>Binary / Machine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399ABA4-33C6-0FD3-F5CC-C04B761E5635}"/>
              </a:ext>
            </a:extLst>
          </p:cNvPr>
          <p:cNvSpPr/>
          <p:nvPr/>
        </p:nvSpPr>
        <p:spPr>
          <a:xfrm>
            <a:off x="3566157" y="2823765"/>
            <a:ext cx="1645922" cy="11237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Compiler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B42567F-8AE8-9294-B897-C2CFB485EB71}"/>
              </a:ext>
            </a:extLst>
          </p:cNvPr>
          <p:cNvSpPr/>
          <p:nvPr/>
        </p:nvSpPr>
        <p:spPr>
          <a:xfrm>
            <a:off x="8667427" y="2741740"/>
            <a:ext cx="1555876" cy="11237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Assembler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885E6-4A86-BE27-2ADA-08F7C320F005}"/>
              </a:ext>
            </a:extLst>
          </p:cNvPr>
          <p:cNvSpPr txBox="1"/>
          <p:nvPr/>
        </p:nvSpPr>
        <p:spPr>
          <a:xfrm>
            <a:off x="5471162" y="2427573"/>
            <a:ext cx="31962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comp(int, int):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bge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.L3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.L3: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3CB0C-6D78-8015-8A36-0D5AA1B772ED}"/>
              </a:ext>
            </a:extLst>
          </p:cNvPr>
          <p:cNvSpPr txBox="1"/>
          <p:nvPr/>
        </p:nvSpPr>
        <p:spPr>
          <a:xfrm>
            <a:off x="10308704" y="2635910"/>
            <a:ext cx="1706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0x00a5d463</a:t>
            </a:r>
          </a:p>
          <a:p>
            <a:r>
              <a:rPr lang="en-CA" sz="2000" dirty="0"/>
              <a:t>0x952e</a:t>
            </a:r>
          </a:p>
          <a:p>
            <a:r>
              <a:rPr lang="en-CA" sz="2000" dirty="0"/>
              <a:t>0x8082</a:t>
            </a:r>
          </a:p>
          <a:p>
            <a:r>
              <a:rPr lang="en-CA" sz="2000" dirty="0"/>
              <a:t>0x8d0d</a:t>
            </a:r>
          </a:p>
          <a:p>
            <a:r>
              <a:rPr lang="en-CA" sz="2000" dirty="0"/>
              <a:t>0x8082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52395-996F-9554-FFBB-BAD656D5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B5614-0B58-7253-6D7C-9E96A9AA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20</a:t>
            </a:fld>
            <a:endParaRPr lang="en-CA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347301B-3351-34C3-0757-E0E069A5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0391-78B1-4F92-82F0-9D82A0A416D7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941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8AC2-B344-65B0-F86B-BA4D29A9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Pipeline with Branch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97812935-42EF-C6E5-0C7B-D3C1B802CD0D}"/>
              </a:ext>
            </a:extLst>
          </p:cNvPr>
          <p:cNvSpPr/>
          <p:nvPr/>
        </p:nvSpPr>
        <p:spPr>
          <a:xfrm>
            <a:off x="929898" y="2531422"/>
            <a:ext cx="1929539" cy="221880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10D50-BAC2-87AD-D067-9DBF4C65CED4}"/>
              </a:ext>
            </a:extLst>
          </p:cNvPr>
          <p:cNvSpPr txBox="1"/>
          <p:nvPr/>
        </p:nvSpPr>
        <p:spPr>
          <a:xfrm>
            <a:off x="1061634" y="4788977"/>
            <a:ext cx="176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Storage Media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B4B53-AA1D-0088-25D7-739824F443D9}"/>
              </a:ext>
            </a:extLst>
          </p:cNvPr>
          <p:cNvSpPr txBox="1"/>
          <p:nvPr/>
        </p:nvSpPr>
        <p:spPr>
          <a:xfrm>
            <a:off x="3029014" y="2228721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2566A-A55E-7218-C1BA-64BFF2E6375D}"/>
              </a:ext>
            </a:extLst>
          </p:cNvPr>
          <p:cNvSpPr txBox="1"/>
          <p:nvPr/>
        </p:nvSpPr>
        <p:spPr>
          <a:xfrm>
            <a:off x="3031014" y="2914824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389C1-B2E4-3C43-16FE-3CCC4EE1C461}"/>
              </a:ext>
            </a:extLst>
          </p:cNvPr>
          <p:cNvSpPr txBox="1"/>
          <p:nvPr/>
        </p:nvSpPr>
        <p:spPr>
          <a:xfrm>
            <a:off x="3029014" y="3543281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C5D38E-CAB3-B82B-C54D-25E212B21A8D}"/>
              </a:ext>
            </a:extLst>
          </p:cNvPr>
          <p:cNvSpPr/>
          <p:nvPr/>
        </p:nvSpPr>
        <p:spPr>
          <a:xfrm>
            <a:off x="4518724" y="2156212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E6094-6536-CFDB-70B2-1D3C54AE0A44}"/>
              </a:ext>
            </a:extLst>
          </p:cNvPr>
          <p:cNvSpPr/>
          <p:nvPr/>
        </p:nvSpPr>
        <p:spPr>
          <a:xfrm>
            <a:off x="6323180" y="2864826"/>
            <a:ext cx="163061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bge</a:t>
            </a:r>
            <a:r>
              <a:rPr lang="en-C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a1,a0,16 &lt;.L3&gt;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D8603-BF14-87F7-556C-C6E10F1F5B23}"/>
              </a:ext>
            </a:extLst>
          </p:cNvPr>
          <p:cNvSpPr/>
          <p:nvPr/>
        </p:nvSpPr>
        <p:spPr>
          <a:xfrm>
            <a:off x="8200026" y="3541747"/>
            <a:ext cx="162299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 =.L3 if a1 ≥ a0</a:t>
            </a:r>
            <a:endParaRPr lang="en-CA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6007BE-FBD2-2EFA-50A9-097D85A46925}"/>
              </a:ext>
            </a:extLst>
          </p:cNvPr>
          <p:cNvSpPr/>
          <p:nvPr/>
        </p:nvSpPr>
        <p:spPr>
          <a:xfrm>
            <a:off x="6330800" y="2156212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A88B0-09D4-8389-2907-B15B6B0BAAAF}"/>
              </a:ext>
            </a:extLst>
          </p:cNvPr>
          <p:cNvSpPr/>
          <p:nvPr/>
        </p:nvSpPr>
        <p:spPr>
          <a:xfrm>
            <a:off x="8192406" y="2864826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/>
              <a:t>add    a0,a0,a1</a:t>
            </a:r>
            <a:endParaRPr lang="en-CA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0ED530-4D4D-FF15-C88E-DCA632E11195}"/>
              </a:ext>
            </a:extLst>
          </p:cNvPr>
          <p:cNvSpPr/>
          <p:nvPr/>
        </p:nvSpPr>
        <p:spPr>
          <a:xfrm>
            <a:off x="8200026" y="2162805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995CA-C110-B25F-8AAF-24ADCBB6962D}"/>
              </a:ext>
            </a:extLst>
          </p:cNvPr>
          <p:cNvSpPr/>
          <p:nvPr/>
        </p:nvSpPr>
        <p:spPr>
          <a:xfrm>
            <a:off x="10111162" y="3577859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a0 = a0 + a1</a:t>
            </a:r>
            <a:endParaRPr lang="en-CA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870B20-8ED5-4D74-FB51-57729668468E}"/>
              </a:ext>
            </a:extLst>
          </p:cNvPr>
          <p:cNvSpPr/>
          <p:nvPr/>
        </p:nvSpPr>
        <p:spPr>
          <a:xfrm>
            <a:off x="10111162" y="2860090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/>
              <a:t>ret</a:t>
            </a:r>
            <a:endParaRPr lang="en-CA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5FE54-61FE-8E64-BD48-BD45F2338517}"/>
              </a:ext>
            </a:extLst>
          </p:cNvPr>
          <p:cNvSpPr/>
          <p:nvPr/>
        </p:nvSpPr>
        <p:spPr>
          <a:xfrm>
            <a:off x="10111162" y="2162805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  <a:endParaRPr lang="en-CA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8688A7-1041-F6CF-B30F-74645ED857EA}"/>
              </a:ext>
            </a:extLst>
          </p:cNvPr>
          <p:cNvCxnSpPr>
            <a:cxnSpLocks/>
          </p:cNvCxnSpPr>
          <p:nvPr/>
        </p:nvCxnSpPr>
        <p:spPr>
          <a:xfrm>
            <a:off x="6019800" y="267784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045267-2B44-22C0-D9D1-69AB053176E2}"/>
              </a:ext>
            </a:extLst>
          </p:cNvPr>
          <p:cNvCxnSpPr>
            <a:cxnSpLocks/>
          </p:cNvCxnSpPr>
          <p:nvPr/>
        </p:nvCxnSpPr>
        <p:spPr>
          <a:xfrm>
            <a:off x="7889026" y="3369459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45F32F-59FF-EC2D-43C4-A69E2782E906}"/>
              </a:ext>
            </a:extLst>
          </p:cNvPr>
          <p:cNvCxnSpPr>
            <a:cxnSpLocks/>
          </p:cNvCxnSpPr>
          <p:nvPr/>
        </p:nvCxnSpPr>
        <p:spPr>
          <a:xfrm>
            <a:off x="7889026" y="267420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1FCCA9-F966-5CB2-0C89-203A022B7F04}"/>
              </a:ext>
            </a:extLst>
          </p:cNvPr>
          <p:cNvCxnSpPr>
            <a:cxnSpLocks/>
          </p:cNvCxnSpPr>
          <p:nvPr/>
        </p:nvCxnSpPr>
        <p:spPr>
          <a:xfrm>
            <a:off x="9807782" y="3379863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91215C-801D-D1C1-DD46-FC0DE7E8D2EB}"/>
              </a:ext>
            </a:extLst>
          </p:cNvPr>
          <p:cNvCxnSpPr>
            <a:cxnSpLocks/>
          </p:cNvCxnSpPr>
          <p:nvPr/>
        </p:nvCxnSpPr>
        <p:spPr>
          <a:xfrm>
            <a:off x="9823022" y="2682578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9858123-1D08-A43C-8A4E-DCA4D94A74A8}"/>
              </a:ext>
            </a:extLst>
          </p:cNvPr>
          <p:cNvSpPr txBox="1"/>
          <p:nvPr/>
        </p:nvSpPr>
        <p:spPr>
          <a:xfrm>
            <a:off x="2859437" y="1468120"/>
            <a:ext cx="8916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1                               2                                3                               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E24A63-2145-2AB2-57B6-08977180261C}"/>
              </a:ext>
            </a:extLst>
          </p:cNvPr>
          <p:cNvSpPr txBox="1"/>
          <p:nvPr/>
        </p:nvSpPr>
        <p:spPr>
          <a:xfrm>
            <a:off x="6517426" y="402916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1D10E3-4AF0-0333-9769-AC3AB9493B1D}"/>
              </a:ext>
            </a:extLst>
          </p:cNvPr>
          <p:cNvCxnSpPr/>
          <p:nvPr/>
        </p:nvCxnSpPr>
        <p:spPr>
          <a:xfrm>
            <a:off x="4772748" y="4398499"/>
            <a:ext cx="662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1E9C20-CBBB-94DD-2A5F-BDA1AF00A5E1}"/>
              </a:ext>
            </a:extLst>
          </p:cNvPr>
          <p:cNvSpPr txBox="1"/>
          <p:nvPr/>
        </p:nvSpPr>
        <p:spPr>
          <a:xfrm>
            <a:off x="3008694" y="6078775"/>
            <a:ext cx="806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in RISC-V </a:t>
            </a:r>
            <a:r>
              <a:rPr lang="en-CA" b="1" i="1" dirty="0">
                <a:latin typeface="Consolas" panose="020B0609020204030204" pitchFamily="49" charset="0"/>
              </a:rPr>
              <a:t>a0/a1</a:t>
            </a:r>
            <a:r>
              <a:rPr lang="en-CA" i="1" dirty="0"/>
              <a:t>/</a:t>
            </a:r>
            <a:r>
              <a:rPr lang="en-CA" i="1" dirty="0" err="1"/>
              <a:t>etc</a:t>
            </a:r>
            <a:r>
              <a:rPr lang="en-CA" i="1" dirty="0"/>
              <a:t> are general-purpose registers.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3D49C-A1E3-0F98-8ED2-8935CCE5B49F}"/>
              </a:ext>
            </a:extLst>
          </p:cNvPr>
          <p:cNvSpPr/>
          <p:nvPr/>
        </p:nvSpPr>
        <p:spPr>
          <a:xfrm>
            <a:off x="1341120" y="3537662"/>
            <a:ext cx="1399754" cy="2937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0822E-A0E7-245B-3A18-D67D8651F165}"/>
              </a:ext>
            </a:extLst>
          </p:cNvPr>
          <p:cNvSpPr/>
          <p:nvPr/>
        </p:nvSpPr>
        <p:spPr>
          <a:xfrm>
            <a:off x="1341120" y="383136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269A00-2AD8-5E3A-8E58-4D01BDB1A0F5}"/>
              </a:ext>
            </a:extLst>
          </p:cNvPr>
          <p:cNvSpPr/>
          <p:nvPr/>
        </p:nvSpPr>
        <p:spPr>
          <a:xfrm>
            <a:off x="1341120" y="4092209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9D5E9-A586-8D6C-363F-F642CC9FA253}"/>
              </a:ext>
            </a:extLst>
          </p:cNvPr>
          <p:cNvSpPr/>
          <p:nvPr/>
        </p:nvSpPr>
        <p:spPr>
          <a:xfrm>
            <a:off x="1341120" y="3276817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5CEDFB8-99FE-C022-2058-BD0F3966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2E80AD0-45F7-67C7-99E0-31888FE9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21</a:t>
            </a:fld>
            <a:endParaRPr lang="en-CA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4575140-32F1-B0EF-2FFB-BE317D41B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68216-7E02-4A8B-9E65-F70B552E92D8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" grpId="0" animBg="1"/>
      <p:bldP spid="3" grpId="1" animBg="1"/>
      <p:bldP spid="4" grpId="0" animBg="1"/>
      <p:bldP spid="4" grpId="1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8AC2-B344-65B0-F86B-BA4D29A9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Pipeline with Branch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97812935-42EF-C6E5-0C7B-D3C1B802CD0D}"/>
              </a:ext>
            </a:extLst>
          </p:cNvPr>
          <p:cNvSpPr/>
          <p:nvPr/>
        </p:nvSpPr>
        <p:spPr>
          <a:xfrm>
            <a:off x="227136" y="2526342"/>
            <a:ext cx="1929539" cy="221880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10D50-BAC2-87AD-D067-9DBF4C65CED4}"/>
              </a:ext>
            </a:extLst>
          </p:cNvPr>
          <p:cNvSpPr txBox="1"/>
          <p:nvPr/>
        </p:nvSpPr>
        <p:spPr>
          <a:xfrm>
            <a:off x="358872" y="4783897"/>
            <a:ext cx="176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Storage Media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B4B53-AA1D-0088-25D7-739824F443D9}"/>
              </a:ext>
            </a:extLst>
          </p:cNvPr>
          <p:cNvSpPr txBox="1"/>
          <p:nvPr/>
        </p:nvSpPr>
        <p:spPr>
          <a:xfrm>
            <a:off x="2422815" y="2229899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2566A-A55E-7218-C1BA-64BFF2E6375D}"/>
              </a:ext>
            </a:extLst>
          </p:cNvPr>
          <p:cNvSpPr txBox="1"/>
          <p:nvPr/>
        </p:nvSpPr>
        <p:spPr>
          <a:xfrm>
            <a:off x="2382409" y="2953776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389C1-B2E4-3C43-16FE-3CCC4EE1C461}"/>
              </a:ext>
            </a:extLst>
          </p:cNvPr>
          <p:cNvSpPr txBox="1"/>
          <p:nvPr/>
        </p:nvSpPr>
        <p:spPr>
          <a:xfrm>
            <a:off x="2388823" y="3579649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C5D38E-CAB3-B82B-C54D-25E212B21A8D}"/>
              </a:ext>
            </a:extLst>
          </p:cNvPr>
          <p:cNvSpPr/>
          <p:nvPr/>
        </p:nvSpPr>
        <p:spPr>
          <a:xfrm>
            <a:off x="3341799" y="2194114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E6094-6536-CFDB-70B2-1D3C54AE0A44}"/>
              </a:ext>
            </a:extLst>
          </p:cNvPr>
          <p:cNvSpPr/>
          <p:nvPr/>
        </p:nvSpPr>
        <p:spPr>
          <a:xfrm>
            <a:off x="5146255" y="2902728"/>
            <a:ext cx="163061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bge</a:t>
            </a:r>
            <a:r>
              <a:rPr lang="en-C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a1,a0,16 &lt;.L3&gt;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D8603-BF14-87F7-556C-C6E10F1F5B23}"/>
              </a:ext>
            </a:extLst>
          </p:cNvPr>
          <p:cNvSpPr/>
          <p:nvPr/>
        </p:nvSpPr>
        <p:spPr>
          <a:xfrm>
            <a:off x="7023101" y="3579649"/>
            <a:ext cx="162299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 =.L3 if a1 ≥ a0</a:t>
            </a:r>
            <a:endParaRPr lang="en-CA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6007BE-FBD2-2EFA-50A9-097D85A46925}"/>
              </a:ext>
            </a:extLst>
          </p:cNvPr>
          <p:cNvSpPr/>
          <p:nvPr/>
        </p:nvSpPr>
        <p:spPr>
          <a:xfrm>
            <a:off x="5153875" y="2194114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A88B0-09D4-8389-2907-B15B6B0BAAAF}"/>
              </a:ext>
            </a:extLst>
          </p:cNvPr>
          <p:cNvSpPr/>
          <p:nvPr/>
        </p:nvSpPr>
        <p:spPr>
          <a:xfrm>
            <a:off x="7015481" y="2902728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add    a0,a0,a1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0ED530-4D4D-FF15-C88E-DCA632E11195}"/>
              </a:ext>
            </a:extLst>
          </p:cNvPr>
          <p:cNvSpPr/>
          <p:nvPr/>
        </p:nvSpPr>
        <p:spPr>
          <a:xfrm>
            <a:off x="7023101" y="2200707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995CA-C110-B25F-8AAF-24ADCBB6962D}"/>
              </a:ext>
            </a:extLst>
          </p:cNvPr>
          <p:cNvSpPr/>
          <p:nvPr/>
        </p:nvSpPr>
        <p:spPr>
          <a:xfrm>
            <a:off x="8934237" y="3615761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/>
              <a:t>💀</a:t>
            </a:r>
            <a:endParaRPr lang="en-CA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870B20-8ED5-4D74-FB51-57729668468E}"/>
              </a:ext>
            </a:extLst>
          </p:cNvPr>
          <p:cNvSpPr/>
          <p:nvPr/>
        </p:nvSpPr>
        <p:spPr>
          <a:xfrm>
            <a:off x="8934237" y="2897992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💀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5FE54-61FE-8E64-BD48-BD45F2338517}"/>
              </a:ext>
            </a:extLst>
          </p:cNvPr>
          <p:cNvSpPr/>
          <p:nvPr/>
        </p:nvSpPr>
        <p:spPr>
          <a:xfrm>
            <a:off x="8934237" y="2200707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  <a:endParaRPr lang="en-CA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8688A7-1041-F6CF-B30F-74645ED857EA}"/>
              </a:ext>
            </a:extLst>
          </p:cNvPr>
          <p:cNvCxnSpPr>
            <a:cxnSpLocks/>
          </p:cNvCxnSpPr>
          <p:nvPr/>
        </p:nvCxnSpPr>
        <p:spPr>
          <a:xfrm>
            <a:off x="4842875" y="2715744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045267-2B44-22C0-D9D1-69AB053176E2}"/>
              </a:ext>
            </a:extLst>
          </p:cNvPr>
          <p:cNvCxnSpPr>
            <a:cxnSpLocks/>
          </p:cNvCxnSpPr>
          <p:nvPr/>
        </p:nvCxnSpPr>
        <p:spPr>
          <a:xfrm>
            <a:off x="6712101" y="3407361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45F32F-59FF-EC2D-43C4-A69E2782E906}"/>
              </a:ext>
            </a:extLst>
          </p:cNvPr>
          <p:cNvCxnSpPr>
            <a:cxnSpLocks/>
          </p:cNvCxnSpPr>
          <p:nvPr/>
        </p:nvCxnSpPr>
        <p:spPr>
          <a:xfrm>
            <a:off x="6712101" y="2712104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1FCCA9-F966-5CB2-0C89-203A022B7F04}"/>
              </a:ext>
            </a:extLst>
          </p:cNvPr>
          <p:cNvCxnSpPr>
            <a:cxnSpLocks/>
          </p:cNvCxnSpPr>
          <p:nvPr/>
        </p:nvCxnSpPr>
        <p:spPr>
          <a:xfrm>
            <a:off x="8630857" y="3417765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91215C-801D-D1C1-DD46-FC0DE7E8D2EB}"/>
              </a:ext>
            </a:extLst>
          </p:cNvPr>
          <p:cNvCxnSpPr>
            <a:cxnSpLocks/>
          </p:cNvCxnSpPr>
          <p:nvPr/>
        </p:nvCxnSpPr>
        <p:spPr>
          <a:xfrm>
            <a:off x="8646097" y="2720480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9858123-1D08-A43C-8A4E-DCA4D94A74A8}"/>
              </a:ext>
            </a:extLst>
          </p:cNvPr>
          <p:cNvSpPr txBox="1"/>
          <p:nvPr/>
        </p:nvSpPr>
        <p:spPr>
          <a:xfrm>
            <a:off x="1682512" y="1506022"/>
            <a:ext cx="1043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1                               2                               3                               4                            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E24A63-2145-2AB2-57B6-08977180261C}"/>
              </a:ext>
            </a:extLst>
          </p:cNvPr>
          <p:cNvSpPr txBox="1"/>
          <p:nvPr/>
        </p:nvSpPr>
        <p:spPr>
          <a:xfrm>
            <a:off x="5340501" y="406706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1D10E3-4AF0-0333-9769-AC3AB9493B1D}"/>
              </a:ext>
            </a:extLst>
          </p:cNvPr>
          <p:cNvCxnSpPr>
            <a:cxnSpLocks/>
          </p:cNvCxnSpPr>
          <p:nvPr/>
        </p:nvCxnSpPr>
        <p:spPr>
          <a:xfrm>
            <a:off x="3595823" y="4436401"/>
            <a:ext cx="83929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1E9C20-CBBB-94DD-2A5F-BDA1AF00A5E1}"/>
              </a:ext>
            </a:extLst>
          </p:cNvPr>
          <p:cNvSpPr txBox="1"/>
          <p:nvPr/>
        </p:nvSpPr>
        <p:spPr>
          <a:xfrm>
            <a:off x="3008694" y="6078775"/>
            <a:ext cx="806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in RISC-V </a:t>
            </a:r>
            <a:r>
              <a:rPr lang="en-CA" b="1" i="1" dirty="0">
                <a:latin typeface="Consolas" panose="020B0609020204030204" pitchFamily="49" charset="0"/>
              </a:rPr>
              <a:t>a0/a1</a:t>
            </a:r>
            <a:r>
              <a:rPr lang="en-CA" i="1" dirty="0"/>
              <a:t>/</a:t>
            </a:r>
            <a:r>
              <a:rPr lang="en-CA" i="1" dirty="0" err="1"/>
              <a:t>etc</a:t>
            </a:r>
            <a:r>
              <a:rPr lang="en-CA" i="1" dirty="0"/>
              <a:t> are general-purpose registers.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FD81F-1A01-9352-D4AF-62E8E90B902A}"/>
              </a:ext>
            </a:extLst>
          </p:cNvPr>
          <p:cNvSpPr/>
          <p:nvPr/>
        </p:nvSpPr>
        <p:spPr>
          <a:xfrm>
            <a:off x="638358" y="3532582"/>
            <a:ext cx="1399754" cy="2937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BA33F-8759-6ADA-B75C-42D32003C9D6}"/>
              </a:ext>
            </a:extLst>
          </p:cNvPr>
          <p:cNvSpPr/>
          <p:nvPr/>
        </p:nvSpPr>
        <p:spPr>
          <a:xfrm>
            <a:off x="638358" y="382628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1B598B-DFB2-1F54-E69F-97986D76B1D3}"/>
              </a:ext>
            </a:extLst>
          </p:cNvPr>
          <p:cNvSpPr/>
          <p:nvPr/>
        </p:nvSpPr>
        <p:spPr>
          <a:xfrm>
            <a:off x="638358" y="4087129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C736F-1403-BC57-76BE-C594FDE71F59}"/>
              </a:ext>
            </a:extLst>
          </p:cNvPr>
          <p:cNvSpPr/>
          <p:nvPr/>
        </p:nvSpPr>
        <p:spPr>
          <a:xfrm>
            <a:off x="638358" y="3271737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5AAC3B-8910-FBFD-7BDE-D8DE0CEEA4AC}"/>
              </a:ext>
            </a:extLst>
          </p:cNvPr>
          <p:cNvSpPr/>
          <p:nvPr/>
        </p:nvSpPr>
        <p:spPr>
          <a:xfrm>
            <a:off x="638358" y="435388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1BD849-94FA-7759-9216-452699B77600}"/>
              </a:ext>
            </a:extLst>
          </p:cNvPr>
          <p:cNvSpPr/>
          <p:nvPr/>
        </p:nvSpPr>
        <p:spPr>
          <a:xfrm>
            <a:off x="10763219" y="2206611"/>
            <a:ext cx="1352581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9B7396-1580-11FA-8DDE-253A06481BDF}"/>
              </a:ext>
            </a:extLst>
          </p:cNvPr>
          <p:cNvSpPr/>
          <p:nvPr/>
        </p:nvSpPr>
        <p:spPr>
          <a:xfrm>
            <a:off x="10745954" y="3620497"/>
            <a:ext cx="136984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D54C37-7294-C6D9-80AE-E463F6D5D777}"/>
              </a:ext>
            </a:extLst>
          </p:cNvPr>
          <p:cNvSpPr/>
          <p:nvPr/>
        </p:nvSpPr>
        <p:spPr>
          <a:xfrm>
            <a:off x="10745954" y="2902728"/>
            <a:ext cx="136984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sub a0,a0,a1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910405-D482-F640-EC4D-C0F33CD9C196}"/>
              </a:ext>
            </a:extLst>
          </p:cNvPr>
          <p:cNvCxnSpPr>
            <a:cxnSpLocks/>
          </p:cNvCxnSpPr>
          <p:nvPr/>
        </p:nvCxnSpPr>
        <p:spPr>
          <a:xfrm>
            <a:off x="10541993" y="2705819"/>
            <a:ext cx="203961" cy="201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463A59A5-AD23-6D66-B080-F8434DD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220C5F7-BA95-6979-BBB1-5992AF558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22</a:t>
            </a:fld>
            <a:endParaRPr lang="en-CA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28DD0550-F0D8-EDCE-B538-EDBF8806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5838-4E52-4F70-85A4-7C943A3A464B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964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" grpId="0" animBg="1"/>
      <p:bldP spid="3" grpId="1" animBg="1"/>
      <p:bldP spid="4" grpId="0" animBg="1"/>
      <p:bldP spid="4" grpId="1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EA09-FC6B-032B-DC60-401E655C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Pipeline Flush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99727-6B0A-43F0-9F6F-3E55A712B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FF0000"/>
                </a:solidFill>
              </a:rPr>
              <a:t>Flush:</a:t>
            </a:r>
          </a:p>
          <a:p>
            <a:r>
              <a:rPr lang="en-CA" dirty="0"/>
              <a:t>Control flow change means pipeline had the wrong instructions – need to throw away the current contents.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1C2A8-F34D-D0AC-E1A6-7CB3E8E11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30517-32DC-25C3-F3CD-57918E17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23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F55185-CFC3-6960-C930-4637F7C1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0154-028A-4428-A5FF-B82B29DE854C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127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31DF-D26A-48B4-8C19-23DEB0E6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99" y="323333"/>
            <a:ext cx="11970202" cy="1325563"/>
          </a:xfrm>
        </p:spPr>
        <p:txBody>
          <a:bodyPr/>
          <a:lstStyle/>
          <a:p>
            <a:r>
              <a:rPr lang="en-CA" dirty="0"/>
              <a:t>e.g. Typical Specifications – Instruction Latency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878DA-C4E0-46B6-C23E-53CDD45C93C5}"/>
              </a:ext>
            </a:extLst>
          </p:cNvPr>
          <p:cNvSpPr txBox="1"/>
          <p:nvPr/>
        </p:nvSpPr>
        <p:spPr>
          <a:xfrm>
            <a:off x="1915160" y="58300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https://stnolting.github.io/neorv32/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787312-F671-7623-C2BE-096832D8C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55" y="1727378"/>
            <a:ext cx="7264925" cy="406598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E60D2-C78B-AF42-CAA0-DF0F7330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DF3A4-6E5C-BF58-7457-13BE8E56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24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81A1A6-949E-F7D6-CB25-DBE81718F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01B9-A4ED-44AB-9483-9857453798C3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7406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157B-7224-335D-05DD-78838A4C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A Simple CPU Architecture</a:t>
            </a:r>
          </a:p>
        </p:txBody>
      </p:sp>
      <p:pic>
        <p:nvPicPr>
          <p:cNvPr id="4098" name="Picture 2" descr="neorv32 cpu">
            <a:extLst>
              <a:ext uri="{FF2B5EF4-FFF2-40B4-BE49-F238E27FC236}">
                <a16:creationId xmlns:a16="http://schemas.microsoft.com/office/drawing/2014/main" id="{96FF4DA0-60A8-13C4-E547-4F95F98992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03" y="1520825"/>
            <a:ext cx="10109097" cy="477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C49D9-D9D7-085C-190B-6E3E9D5E5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BFB78-5A9B-09D3-22FC-90A855CE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25</a:t>
            </a:fld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5F341-916F-1865-6553-D32C89D3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8D745-EDD2-4C54-B36D-4FDFBAA3301D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401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E50B-7EEE-FDF9-D1BA-53849E28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Branch / Pipeline 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FB075-1577-7AE4-0B0A-40017E0E4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455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Q: </a:t>
            </a:r>
            <a:r>
              <a:rPr lang="en-CA" i="1" dirty="0"/>
              <a:t>In previous example – why not just stall pipeline until result is known?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A: </a:t>
            </a:r>
            <a:r>
              <a:rPr lang="en-CA" i="1" dirty="0"/>
              <a:t>Don’t know about the branch until “later” in pipeline.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A: </a:t>
            </a:r>
            <a:r>
              <a:rPr lang="en-CA" i="1" dirty="0"/>
              <a:t>It’s more efficient to just assume branch isn’t taken &amp; keep pipeline up. If branch is random you are right 50% of the time, rather than stalling 100% of the time.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58C8C-5035-E8FA-14B1-9A4C83E8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5F893-CF5A-430A-68AE-283F8C11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26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54E873-6816-1602-6B51-665E5F67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795-10B6-46BA-A64F-AABE63E076C0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83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5279-07D4-3949-131B-41792A3C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Branch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A66E7-BCC6-7772-3824-97EC0B9AD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0658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What if we could </a:t>
            </a:r>
            <a:r>
              <a:rPr lang="en-CA" i="1" dirty="0"/>
              <a:t>predict</a:t>
            </a:r>
            <a:r>
              <a:rPr lang="en-CA" dirty="0"/>
              <a:t> which branches that will be taken? Could get better than 50%! Don’t need time travel even…</a:t>
            </a:r>
          </a:p>
        </p:txBody>
      </p:sp>
      <p:pic>
        <p:nvPicPr>
          <p:cNvPr id="15362" name="Picture 2" descr="Cedars | Tenet Review: Time Goes Backwards in Christopher Nolan's Latest  Epic">
            <a:extLst>
              <a:ext uri="{FF2B5EF4-FFF2-40B4-BE49-F238E27FC236}">
                <a16:creationId xmlns:a16="http://schemas.microsoft.com/office/drawing/2014/main" id="{0CE1F855-B04F-E7D1-582A-884455B10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185" y="2911968"/>
            <a:ext cx="2512695" cy="372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58792-AB6F-8E03-C54E-07A92DF7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E7381-2176-CB58-1FEA-39BB0BD0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27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9222C34-D6BF-3319-C58D-013E92BB6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F5C4A-D0E9-4FC9-A922-EF5D48BAA9C0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606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9E35-7954-FB24-E8B7-2027D7780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99085"/>
            <a:ext cx="5603240" cy="1325563"/>
          </a:xfrm>
        </p:spPr>
        <p:txBody>
          <a:bodyPr/>
          <a:lstStyle/>
          <a:p>
            <a:r>
              <a:rPr lang="en-CA" dirty="0"/>
              <a:t>Motivation for Branch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5CAD7-D955-F4B2-DFFD-FAEC353B9642}"/>
              </a:ext>
            </a:extLst>
          </p:cNvPr>
          <p:cNvSpPr txBox="1"/>
          <p:nvPr/>
        </p:nvSpPr>
        <p:spPr>
          <a:xfrm>
            <a:off x="167640" y="2820014"/>
            <a:ext cx="655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datalen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process_byte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(data[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BC3DF-FEAB-6E52-F114-63457E087321}"/>
              </a:ext>
            </a:extLst>
          </p:cNvPr>
          <p:cNvSpPr txBox="1"/>
          <p:nvPr/>
        </p:nvSpPr>
        <p:spPr>
          <a:xfrm>
            <a:off x="6096000" y="237986"/>
            <a:ext cx="458216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loop(char*, int):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ra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.L6: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blt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.L7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ra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ra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.L7: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lbu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process_byte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.L6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D2B36-4DF9-B330-53B4-D19A49AB045D}"/>
              </a:ext>
            </a:extLst>
          </p:cNvPr>
          <p:cNvSpPr/>
          <p:nvPr/>
        </p:nvSpPr>
        <p:spPr>
          <a:xfrm>
            <a:off x="6096000" y="2778760"/>
            <a:ext cx="3718560" cy="513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8F60E-702B-381C-EC62-B9246D3E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6E981-4A10-234D-D236-14FEFE1E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28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8F7C8B-21C9-330F-9EF4-AFF0BEAD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6F81-466F-4FDD-9408-F8FC08BC3729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314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38DA-46DF-FE5E-F878-2981481D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Motivation for Branch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3880A-290A-C318-1362-06151DC4C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In this loop example </a:t>
            </a:r>
            <a:r>
              <a:rPr lang="en-CA" dirty="0">
                <a:sym typeface="Wingdings" panose="05000000000000000000" pitchFamily="2" charset="2"/>
              </a:rPr>
              <a:t> branch </a:t>
            </a:r>
            <a:r>
              <a:rPr lang="en-CA" u="sng" dirty="0">
                <a:sym typeface="Wingdings" panose="05000000000000000000" pitchFamily="2" charset="2"/>
              </a:rPr>
              <a:t>will be taken </a:t>
            </a:r>
            <a:r>
              <a:rPr lang="en-CA" dirty="0">
                <a:sym typeface="Wingdings" panose="05000000000000000000" pitchFamily="2" charset="2"/>
              </a:rPr>
              <a:t>continuously until only the </a:t>
            </a:r>
            <a:r>
              <a:rPr lang="en-CA" i="1" dirty="0">
                <a:sym typeface="Wingdings" panose="05000000000000000000" pitchFamily="2" charset="2"/>
              </a:rPr>
              <a:t>final</a:t>
            </a:r>
            <a:r>
              <a:rPr lang="en-CA" dirty="0">
                <a:sym typeface="Wingdings" panose="05000000000000000000" pitchFamily="2" charset="2"/>
              </a:rPr>
              <a:t> iteration. Imagine if </a:t>
            </a:r>
            <a:r>
              <a:rPr lang="en-CA" dirty="0" err="1">
                <a:sym typeface="Wingdings" panose="05000000000000000000" pitchFamily="2" charset="2"/>
              </a:rPr>
              <a:t>datalen</a:t>
            </a:r>
            <a:r>
              <a:rPr lang="en-CA" dirty="0">
                <a:sym typeface="Wingdings" panose="05000000000000000000" pitchFamily="2" charset="2"/>
              </a:rPr>
              <a:t> = 512, branch not taken 0.195% of time!</a:t>
            </a:r>
          </a:p>
          <a:p>
            <a:pPr marL="0" indent="0">
              <a:buNone/>
            </a:pPr>
            <a:endParaRPr lang="en-CA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 dirty="0">
                <a:sym typeface="Wingdings" panose="05000000000000000000" pitchFamily="2" charset="2"/>
              </a:rPr>
              <a:t>The default pipeline behaviour of “assume branch not taken” will have a large (negative) impact on this code-path! </a:t>
            </a:r>
          </a:p>
          <a:p>
            <a:pPr marL="0" indent="0">
              <a:buNone/>
            </a:pPr>
            <a:endParaRPr lang="en-CA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 dirty="0">
                <a:sym typeface="Wingdings" panose="05000000000000000000" pitchFamily="2" charset="2"/>
              </a:rPr>
              <a:t>e.g., for NEORV32, adds +3 </a:t>
            </a:r>
            <a:r>
              <a:rPr lang="en-CA" i="1" dirty="0">
                <a:sym typeface="Wingdings" panose="05000000000000000000" pitchFamily="2" charset="2"/>
              </a:rPr>
              <a:t>additional</a:t>
            </a:r>
            <a:r>
              <a:rPr lang="en-CA" dirty="0">
                <a:sym typeface="Wingdings" panose="05000000000000000000" pitchFamily="2" charset="2"/>
              </a:rPr>
              <a:t> cycles to the loop iteration each time it’s wrong.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D4B230-2703-71EE-9E15-5F6F581DB896}"/>
              </a:ext>
            </a:extLst>
          </p:cNvPr>
          <p:cNvSpPr/>
          <p:nvPr/>
        </p:nvSpPr>
        <p:spPr>
          <a:xfrm>
            <a:off x="746760" y="4577079"/>
            <a:ext cx="10515600" cy="15602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56550-6943-196D-0DFD-72FAFAD0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8BC17-87E3-19C8-64A2-3E626FD7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29</a:t>
            </a:fld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55F4C1-23EE-999C-5AA0-EF7DBBF7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F7835-D36C-4B6F-A0EC-9341038B834F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5428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61DF-237A-17F5-BA23-098798AD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6000" cy="1325563"/>
          </a:xfrm>
        </p:spPr>
        <p:txBody>
          <a:bodyPr/>
          <a:lstStyle/>
          <a:p>
            <a:r>
              <a:rPr lang="en-CA" dirty="0"/>
              <a:t>Branch Prediction Example: Pentium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A1CDAE-E634-9AAB-07C1-C7E9BBABE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48758"/>
              </p:ext>
            </p:extLst>
          </p:nvPr>
        </p:nvGraphicFramePr>
        <p:xfrm>
          <a:off x="838200" y="2708434"/>
          <a:ext cx="10515600" cy="2362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0993820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436081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930917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38276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10393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History Bits</a:t>
                      </a:r>
                    </a:p>
                  </a:txBody>
                  <a:tcPr marL="38100" marR="381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Resulting Description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Prediction made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If branch taken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A" sz="1400" b="1">
                          <a:effectLst/>
                        </a:rPr>
                        <a:t>If branch not taken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93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11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Strongly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Branch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Remains in same state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Downgraded to weakly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613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10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Weakly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Branch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Upgraded to strongly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b="0">
                          <a:effectLst/>
                        </a:rPr>
                        <a:t>Downgraded to weakly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43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01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Weakly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Branch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Upgraded to weakly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b="0">
                          <a:effectLst/>
                        </a:rPr>
                        <a:t>Downgraded to strongly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28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00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Strongly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>
                          <a:effectLst/>
                        </a:rPr>
                        <a:t>Branch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b="0">
                          <a:effectLst/>
                        </a:rPr>
                        <a:t>Upgraded to weakly not taken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50" b="0" dirty="0">
                          <a:effectLst/>
                        </a:rPr>
                        <a:t>Remains in same state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2906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464B1B8-F55C-F784-6D4C-CA7815CF43F3}"/>
              </a:ext>
            </a:extLst>
          </p:cNvPr>
          <p:cNvSpPr txBox="1"/>
          <p:nvPr/>
        </p:nvSpPr>
        <p:spPr>
          <a:xfrm>
            <a:off x="2905760" y="52661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https://www.geeksforgeeks.org/branch-prediction-in-pentium/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BE38A-1E12-6242-18FA-4FEBAA57D693}"/>
              </a:ext>
            </a:extLst>
          </p:cNvPr>
          <p:cNvSpPr txBox="1"/>
          <p:nvPr/>
        </p:nvSpPr>
        <p:spPr>
          <a:xfrm>
            <a:off x="949960" y="1752600"/>
            <a:ext cx="1017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Branch prediction logic: holds some statement information about latest N seen branch instructions. This state indicates the likely output of the branch: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A00E5-DFD4-107B-AB95-42BAB720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8B6F5-5032-DF1E-2BF1-2A7E5D17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30</a:t>
            </a:fld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10C310D-F416-983A-015D-862FB41A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77EE4-97C2-45F1-A3C0-8D3F216A6A8E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31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AF7E-3290-42D2-425E-120332B3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CA" dirty="0"/>
              <a:t>Branch Prediction to Speculative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DF250-153A-E77D-65F7-01D23D1C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Systems may </a:t>
            </a:r>
            <a:r>
              <a:rPr lang="en-CA" i="1" dirty="0"/>
              <a:t>speculatively execute</a:t>
            </a:r>
            <a:r>
              <a:rPr lang="en-CA" dirty="0"/>
              <a:t> instructions once we have branch prediction.</a:t>
            </a:r>
          </a:p>
          <a:p>
            <a:r>
              <a:rPr lang="en-CA" dirty="0"/>
              <a:t>Based on predicted branch, load new data into pipeline, and start executing it if something is slow (e.g., waiting on memory).</a:t>
            </a:r>
          </a:p>
          <a:p>
            <a:r>
              <a:rPr lang="en-CA" dirty="0"/>
              <a:t>Need to “unwind” any executed instructions if branch wasn’t taken.</a:t>
            </a:r>
          </a:p>
          <a:p>
            <a:pPr lvl="1"/>
            <a:r>
              <a:rPr lang="en-CA" dirty="0"/>
              <a:t>e.g., can’t start writing to registers yet!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9773F-8645-9910-56A2-5E604F6F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03472-BB5D-D53B-A478-B98488FD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31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1C18B7-A12E-2C80-381C-E078150B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5FEDE-D002-4F23-B614-8661DCE23FB2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1416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9CD5-D066-749A-D9B2-7DE3BCD6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 of Order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DD70E-9202-1BCA-0ECD-1CF34216DC8E}"/>
              </a:ext>
            </a:extLst>
          </p:cNvPr>
          <p:cNvSpPr txBox="1"/>
          <p:nvPr/>
        </p:nvSpPr>
        <p:spPr>
          <a:xfrm>
            <a:off x="493222" y="281364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ooo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b,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c){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 = a * b +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 = a + b + c;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 * f;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793B3-3B04-FF82-5F2B-2BED20E20FB2}"/>
              </a:ext>
            </a:extLst>
          </p:cNvPr>
          <p:cNvSpPr txBox="1"/>
          <p:nvPr/>
        </p:nvSpPr>
        <p:spPr>
          <a:xfrm>
            <a:off x="5774574" y="253664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ooo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(int, int, int):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</a:p>
          <a:p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a2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F5A965E-A76B-0148-30F8-FE8430FDCC73}"/>
              </a:ext>
            </a:extLst>
          </p:cNvPr>
          <p:cNvSpPr/>
          <p:nvPr/>
        </p:nvSpPr>
        <p:spPr>
          <a:xfrm>
            <a:off x="4787669" y="2536642"/>
            <a:ext cx="594360" cy="2265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38E21C9-D556-E80E-7DE3-74C4A319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F02571-D7AE-F093-0F2F-58D84D12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32</a:t>
            </a:fld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F9B40-A24C-4B48-763E-2729AAA3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0C83-7E15-49D7-840F-169610DFED97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9588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9CD5-D066-749A-D9B2-7DE3BCD6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 of Order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DD70E-9202-1BCA-0ECD-1CF34216DC8E}"/>
              </a:ext>
            </a:extLst>
          </p:cNvPr>
          <p:cNvSpPr txBox="1"/>
          <p:nvPr/>
        </p:nvSpPr>
        <p:spPr>
          <a:xfrm>
            <a:off x="493222" y="281364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ooo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b,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c){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 = a * b +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 = a + b + c;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 * f;</a:t>
            </a: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793B3-3B04-FF82-5F2B-2BED20E20FB2}"/>
              </a:ext>
            </a:extLst>
          </p:cNvPr>
          <p:cNvSpPr txBox="1"/>
          <p:nvPr/>
        </p:nvSpPr>
        <p:spPr>
          <a:xfrm>
            <a:off x="5774574" y="253664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ooo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(int, int, int):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</a:p>
          <a:p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a2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F5A965E-A76B-0148-30F8-FE8430FDCC73}"/>
              </a:ext>
            </a:extLst>
          </p:cNvPr>
          <p:cNvSpPr/>
          <p:nvPr/>
        </p:nvSpPr>
        <p:spPr>
          <a:xfrm>
            <a:off x="4787669" y="2536642"/>
            <a:ext cx="594360" cy="2265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5745E-8D5E-C46F-0BBA-D42B63F8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ED003-4CF2-FAAC-F53B-355C284D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33</a:t>
            </a:fld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238484-A885-7398-2A00-FF20DE5B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2F21-C5BB-493D-867C-00C902891C55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5435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4DDD-D025-DDBD-2EBB-5AD6A8E3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 of Order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58744-551E-3277-99F5-8CE7DA793C02}"/>
              </a:ext>
            </a:extLst>
          </p:cNvPr>
          <p:cNvSpPr txBox="1"/>
          <p:nvPr/>
        </p:nvSpPr>
        <p:spPr>
          <a:xfrm>
            <a:off x="974552" y="2319709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C29AC-08DA-8733-5305-666C2165301D}"/>
              </a:ext>
            </a:extLst>
          </p:cNvPr>
          <p:cNvSpPr/>
          <p:nvPr/>
        </p:nvSpPr>
        <p:spPr>
          <a:xfrm>
            <a:off x="2273761" y="2259257"/>
            <a:ext cx="3556231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a5 = a0 * a1</a:t>
            </a:r>
            <a:endParaRPr lang="en-CA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98AB21-FBB9-737F-7CFB-CEAB9DFB868B}"/>
              </a:ext>
            </a:extLst>
          </p:cNvPr>
          <p:cNvCxnSpPr>
            <a:cxnSpLocks/>
          </p:cNvCxnSpPr>
          <p:nvPr/>
        </p:nvCxnSpPr>
        <p:spPr>
          <a:xfrm>
            <a:off x="1962762" y="2086969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028AB75-C909-8AEA-4B8E-D5EEFA42457C}"/>
              </a:ext>
            </a:extLst>
          </p:cNvPr>
          <p:cNvSpPr txBox="1"/>
          <p:nvPr/>
        </p:nvSpPr>
        <p:spPr>
          <a:xfrm>
            <a:off x="701610" y="1561441"/>
            <a:ext cx="1043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   1                                   2                                  3                                  4                               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AEBB28-63F8-3674-935D-EEC22B44C9B0}"/>
              </a:ext>
            </a:extLst>
          </p:cNvPr>
          <p:cNvSpPr txBox="1"/>
          <p:nvPr/>
        </p:nvSpPr>
        <p:spPr>
          <a:xfrm>
            <a:off x="4018439" y="27615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17674D-D413-703F-D500-6C1B7D0331C9}"/>
              </a:ext>
            </a:extLst>
          </p:cNvPr>
          <p:cNvCxnSpPr>
            <a:cxnSpLocks/>
          </p:cNvCxnSpPr>
          <p:nvPr/>
        </p:nvCxnSpPr>
        <p:spPr>
          <a:xfrm>
            <a:off x="2273761" y="3130882"/>
            <a:ext cx="83929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6F83B04-7DB5-C5E1-7DF2-5C9AF7A2923A}"/>
              </a:ext>
            </a:extLst>
          </p:cNvPr>
          <p:cNvSpPr/>
          <p:nvPr/>
        </p:nvSpPr>
        <p:spPr>
          <a:xfrm>
            <a:off x="6126485" y="2247200"/>
            <a:ext cx="1521223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a5 = a5 + 14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D4202A-681D-1944-C6FF-A1073DB93D2F}"/>
              </a:ext>
            </a:extLst>
          </p:cNvPr>
          <p:cNvSpPr/>
          <p:nvPr/>
        </p:nvSpPr>
        <p:spPr>
          <a:xfrm>
            <a:off x="7944201" y="2247200"/>
            <a:ext cx="1587726" cy="5143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a0 = a0 + a1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378F81-99C6-7980-D6EB-EC11F264AEF8}"/>
              </a:ext>
            </a:extLst>
          </p:cNvPr>
          <p:cNvSpPr txBox="1"/>
          <p:nvPr/>
        </p:nvSpPr>
        <p:spPr>
          <a:xfrm>
            <a:off x="1080654" y="372711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ooo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(int, int, int):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</a:p>
          <a:p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a2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D28A27-3B69-57D4-53DA-B9ADF6645E89}"/>
              </a:ext>
            </a:extLst>
          </p:cNvPr>
          <p:cNvSpPr/>
          <p:nvPr/>
        </p:nvSpPr>
        <p:spPr>
          <a:xfrm>
            <a:off x="9789329" y="2236042"/>
            <a:ext cx="158772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a0 = a0 + a2</a:t>
            </a: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80498C21-0295-5F9C-E21A-7F7275C8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8C8865B7-6282-E787-52CC-C7EC0563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34</a:t>
            </a:fld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25E9C-A1EC-5708-BEC8-494B24F3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C96B-D2B2-4F22-8903-BA4AE181E8C0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64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  <p:bldP spid="27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4DDD-D025-DDBD-2EBB-5AD6A8E3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 of Order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58744-551E-3277-99F5-8CE7DA793C02}"/>
              </a:ext>
            </a:extLst>
          </p:cNvPr>
          <p:cNvSpPr txBox="1"/>
          <p:nvPr/>
        </p:nvSpPr>
        <p:spPr>
          <a:xfrm>
            <a:off x="974552" y="2319709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C29AC-08DA-8733-5305-666C2165301D}"/>
              </a:ext>
            </a:extLst>
          </p:cNvPr>
          <p:cNvSpPr/>
          <p:nvPr/>
        </p:nvSpPr>
        <p:spPr>
          <a:xfrm>
            <a:off x="2273761" y="2259257"/>
            <a:ext cx="3556231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a5 = a0 * a1</a:t>
            </a:r>
            <a:endParaRPr lang="en-CA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98AB21-FBB9-737F-7CFB-CEAB9DFB868B}"/>
              </a:ext>
            </a:extLst>
          </p:cNvPr>
          <p:cNvCxnSpPr>
            <a:cxnSpLocks/>
          </p:cNvCxnSpPr>
          <p:nvPr/>
        </p:nvCxnSpPr>
        <p:spPr>
          <a:xfrm>
            <a:off x="1962762" y="2086969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028AB75-C909-8AEA-4B8E-D5EEFA42457C}"/>
              </a:ext>
            </a:extLst>
          </p:cNvPr>
          <p:cNvSpPr txBox="1"/>
          <p:nvPr/>
        </p:nvSpPr>
        <p:spPr>
          <a:xfrm>
            <a:off x="701610" y="1561441"/>
            <a:ext cx="1043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   1                                   2                                  3                                  4                               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AEBB28-63F8-3674-935D-EEC22B44C9B0}"/>
              </a:ext>
            </a:extLst>
          </p:cNvPr>
          <p:cNvSpPr txBox="1"/>
          <p:nvPr/>
        </p:nvSpPr>
        <p:spPr>
          <a:xfrm>
            <a:off x="2114452" y="349193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17674D-D413-703F-D500-6C1B7D0331C9}"/>
              </a:ext>
            </a:extLst>
          </p:cNvPr>
          <p:cNvCxnSpPr>
            <a:cxnSpLocks/>
          </p:cNvCxnSpPr>
          <p:nvPr/>
        </p:nvCxnSpPr>
        <p:spPr>
          <a:xfrm>
            <a:off x="2266142" y="3801442"/>
            <a:ext cx="83929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6F83B04-7DB5-C5E1-7DF2-5C9AF7A2923A}"/>
              </a:ext>
            </a:extLst>
          </p:cNvPr>
          <p:cNvSpPr/>
          <p:nvPr/>
        </p:nvSpPr>
        <p:spPr>
          <a:xfrm>
            <a:off x="6126485" y="2247200"/>
            <a:ext cx="1521223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a5 = a5 + 14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D4202A-681D-1944-C6FF-A1073DB93D2F}"/>
              </a:ext>
            </a:extLst>
          </p:cNvPr>
          <p:cNvSpPr/>
          <p:nvPr/>
        </p:nvSpPr>
        <p:spPr>
          <a:xfrm>
            <a:off x="7944201" y="2247200"/>
            <a:ext cx="1587726" cy="5143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a0 = a0 + a1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378F81-99C6-7980-D6EB-EC11F264AEF8}"/>
              </a:ext>
            </a:extLst>
          </p:cNvPr>
          <p:cNvSpPr txBox="1"/>
          <p:nvPr/>
        </p:nvSpPr>
        <p:spPr>
          <a:xfrm>
            <a:off x="1058487" y="392108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ooo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(int, int, int):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</a:p>
          <a:p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a2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a0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D28A27-3B69-57D4-53DA-B9ADF6645E89}"/>
              </a:ext>
            </a:extLst>
          </p:cNvPr>
          <p:cNvSpPr/>
          <p:nvPr/>
        </p:nvSpPr>
        <p:spPr>
          <a:xfrm>
            <a:off x="9789329" y="2236042"/>
            <a:ext cx="158772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a0 = a0 + a2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FBA46-9DC4-ACA4-173D-39372C19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67283-D961-03AD-E0FE-5048F429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35</a:t>
            </a:fld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91C14-D344-0A4F-3B85-EB1B9396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3ABF-49D0-4464-86EB-EDBAD38E5602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672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-0.30209 0.0907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04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59259E-6 L -0.15144 0.0016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  <p:bldP spid="27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ABA2-5831-7476-3676-FE812D2A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Interrupts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3BD6F-997C-5D65-0361-DABAF642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A26FA-792C-756C-402A-FEBEED68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36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71E15-9709-879D-7FDD-EE47159FEC4D}"/>
              </a:ext>
            </a:extLst>
          </p:cNvPr>
          <p:cNvSpPr txBox="1"/>
          <p:nvPr/>
        </p:nvSpPr>
        <p:spPr>
          <a:xfrm>
            <a:off x="1591719" y="2531885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552D9-2492-B97D-3100-E2EFB1966728}"/>
              </a:ext>
            </a:extLst>
          </p:cNvPr>
          <p:cNvSpPr txBox="1"/>
          <p:nvPr/>
        </p:nvSpPr>
        <p:spPr>
          <a:xfrm>
            <a:off x="1593719" y="3217988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BE9C6-F04F-5881-87B1-71084F50C331}"/>
              </a:ext>
            </a:extLst>
          </p:cNvPr>
          <p:cNvSpPr txBox="1"/>
          <p:nvPr/>
        </p:nvSpPr>
        <p:spPr>
          <a:xfrm>
            <a:off x="1591719" y="3846445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57A4A-1869-892F-1201-C284DFC06216}"/>
              </a:ext>
            </a:extLst>
          </p:cNvPr>
          <p:cNvSpPr/>
          <p:nvPr/>
        </p:nvSpPr>
        <p:spPr>
          <a:xfrm>
            <a:off x="3081429" y="2459376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0x00b507b3</a:t>
            </a:r>
            <a:endParaRPr lang="en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6492AE-8AF2-1F9B-EAD9-698021306604}"/>
              </a:ext>
            </a:extLst>
          </p:cNvPr>
          <p:cNvSpPr/>
          <p:nvPr/>
        </p:nvSpPr>
        <p:spPr>
          <a:xfrm>
            <a:off x="4885885" y="3167990"/>
            <a:ext cx="156584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  a5,a0,a1</a:t>
            </a:r>
            <a:endParaRPr lang="en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DEF27-C4C5-ECB7-A68D-B5642ED75396}"/>
              </a:ext>
            </a:extLst>
          </p:cNvPr>
          <p:cNvSpPr/>
          <p:nvPr/>
        </p:nvSpPr>
        <p:spPr>
          <a:xfrm>
            <a:off x="6755111" y="3844911"/>
            <a:ext cx="16153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a5 = a0 + a1</a:t>
            </a:r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60928D-86D1-03F5-0256-C97408AF23B1}"/>
              </a:ext>
            </a:extLst>
          </p:cNvPr>
          <p:cNvSpPr/>
          <p:nvPr/>
        </p:nvSpPr>
        <p:spPr>
          <a:xfrm>
            <a:off x="4893505" y="2459376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0x2a78533</a:t>
            </a:r>
            <a:endParaRPr lang="en-CA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A2431F-D53B-8169-C2C0-9C0B7D87FB0D}"/>
              </a:ext>
            </a:extLst>
          </p:cNvPr>
          <p:cNvSpPr/>
          <p:nvPr/>
        </p:nvSpPr>
        <p:spPr>
          <a:xfrm>
            <a:off x="6755111" y="3167990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a0,a5,a0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B2B0DC-CFF2-2731-9D89-44763E47EDF4}"/>
              </a:ext>
            </a:extLst>
          </p:cNvPr>
          <p:cNvSpPr/>
          <p:nvPr/>
        </p:nvSpPr>
        <p:spPr>
          <a:xfrm>
            <a:off x="6762731" y="2465969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0x2a58533</a:t>
            </a:r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76FE72-1E73-87DD-7E66-C8E8602BBC89}"/>
              </a:ext>
            </a:extLst>
          </p:cNvPr>
          <p:cNvSpPr/>
          <p:nvPr/>
        </p:nvSpPr>
        <p:spPr>
          <a:xfrm>
            <a:off x="8673867" y="3881023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a0 = a5 × a0</a:t>
            </a:r>
            <a:endParaRPr lang="en-CA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5CBB7-02F2-DDEB-39BA-08148E3A0DE5}"/>
              </a:ext>
            </a:extLst>
          </p:cNvPr>
          <p:cNvSpPr/>
          <p:nvPr/>
        </p:nvSpPr>
        <p:spPr>
          <a:xfrm>
            <a:off x="8673867" y="3163254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</a:t>
            </a:r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   a0,a1,a0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0DB7E6-AB8D-B615-3442-29D0317D98E6}"/>
              </a:ext>
            </a:extLst>
          </p:cNvPr>
          <p:cNvSpPr/>
          <p:nvPr/>
        </p:nvSpPr>
        <p:spPr>
          <a:xfrm>
            <a:off x="8673867" y="2465969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93ED2F-E5D5-8A4B-B04D-02CDB81030F4}"/>
              </a:ext>
            </a:extLst>
          </p:cNvPr>
          <p:cNvCxnSpPr>
            <a:cxnSpLocks/>
          </p:cNvCxnSpPr>
          <p:nvPr/>
        </p:nvCxnSpPr>
        <p:spPr>
          <a:xfrm>
            <a:off x="4582505" y="2981006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4C8904-4880-14B3-4C82-D99DA9A6D934}"/>
              </a:ext>
            </a:extLst>
          </p:cNvPr>
          <p:cNvCxnSpPr>
            <a:cxnSpLocks/>
          </p:cNvCxnSpPr>
          <p:nvPr/>
        </p:nvCxnSpPr>
        <p:spPr>
          <a:xfrm>
            <a:off x="6451731" y="3672623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A2DEF7-787D-21E9-2750-8E4222D87E26}"/>
              </a:ext>
            </a:extLst>
          </p:cNvPr>
          <p:cNvCxnSpPr>
            <a:cxnSpLocks/>
          </p:cNvCxnSpPr>
          <p:nvPr/>
        </p:nvCxnSpPr>
        <p:spPr>
          <a:xfrm>
            <a:off x="6451731" y="2977366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DF593C-62D0-2687-45E6-32B06937C1F8}"/>
              </a:ext>
            </a:extLst>
          </p:cNvPr>
          <p:cNvCxnSpPr>
            <a:cxnSpLocks/>
          </p:cNvCxnSpPr>
          <p:nvPr/>
        </p:nvCxnSpPr>
        <p:spPr>
          <a:xfrm>
            <a:off x="8370487" y="3683027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62D5B8-79FC-A7F1-8881-9058BDD97D9C}"/>
              </a:ext>
            </a:extLst>
          </p:cNvPr>
          <p:cNvCxnSpPr>
            <a:cxnSpLocks/>
          </p:cNvCxnSpPr>
          <p:nvPr/>
        </p:nvCxnSpPr>
        <p:spPr>
          <a:xfrm>
            <a:off x="8385727" y="2985742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579FD0E-4B48-BED1-E345-B3AAB164DCFF}"/>
              </a:ext>
            </a:extLst>
          </p:cNvPr>
          <p:cNvSpPr txBox="1"/>
          <p:nvPr/>
        </p:nvSpPr>
        <p:spPr>
          <a:xfrm>
            <a:off x="5080131" y="433233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69D008-037C-4A84-BA4D-F20DC643F54F}"/>
              </a:ext>
            </a:extLst>
          </p:cNvPr>
          <p:cNvCxnSpPr/>
          <p:nvPr/>
        </p:nvCxnSpPr>
        <p:spPr>
          <a:xfrm>
            <a:off x="3335453" y="4701663"/>
            <a:ext cx="662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977DC-DA40-B799-267E-7DB903BF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2373-2CF8-42D9-B4D0-F80A3684C0BD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39576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D886A-D4E8-D5D6-72D3-0AF0A225C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Cortex-M Pipeline Comparisons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04CDD-732D-2A3B-1ACC-40E9ED1C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8D0D4-1CAE-19BC-6B2F-47BDF7A5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367BF0A6-A1D0-4715-A1A0-9C805E726EC2}" type="slidenum">
              <a:rPr lang="en-CA" smtClean="0"/>
              <a:t>37</a:t>
            </a:fld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C80621-8AB7-39F3-7D0E-6AE689F5C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76" y="1388449"/>
            <a:ext cx="9497750" cy="32484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1048F9-3869-74FB-CD9A-C5FA0706B2BB}"/>
              </a:ext>
            </a:extLst>
          </p:cNvPr>
          <p:cNvSpPr txBox="1"/>
          <p:nvPr/>
        </p:nvSpPr>
        <p:spPr>
          <a:xfrm>
            <a:off x="3048000" y="4769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https://en.wikipedia.org/wiki/ARM_Cortex-M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EE608E9-798E-FDF4-042E-EDAABA3B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B63D-058F-415E-8820-691A1AA52BB3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7393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46C1-59FE-0B5D-4AC0-8319FD52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6-Stage Pipeline?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77CF77-427D-771F-02D5-68950138C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739" y="1292543"/>
            <a:ext cx="8652134" cy="506380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10B85-491A-5B47-1E99-20E0E1B3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90434-6C5F-BA50-3A47-5349F921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38</a:t>
            </a:fld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53499D8-162A-7E5C-6D6C-A8B4A88F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F719-BC3D-44D7-B543-701D9D3A916A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6372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0425-2027-6301-33EB-27D1097F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Pipeline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3E348-6F07-3627-36D7-E40F0312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3759" cy="4351338"/>
          </a:xfrm>
        </p:spPr>
        <p:txBody>
          <a:bodyPr/>
          <a:lstStyle/>
          <a:p>
            <a:r>
              <a:rPr lang="en-CA" dirty="0">
                <a:solidFill>
                  <a:schemeClr val="accent1"/>
                </a:solidFill>
              </a:rPr>
              <a:t>Pipelining</a:t>
            </a:r>
            <a:r>
              <a:rPr lang="en-CA" dirty="0"/>
              <a:t> is a </a:t>
            </a:r>
            <a:r>
              <a:rPr lang="en-CA" i="1" dirty="0"/>
              <a:t>natural</a:t>
            </a:r>
            <a:r>
              <a:rPr lang="en-CA" dirty="0"/>
              <a:t> way to improve throughput.</a:t>
            </a:r>
          </a:p>
          <a:p>
            <a:r>
              <a:rPr lang="en-CA" dirty="0"/>
              <a:t>Pipelines are typically 2~5 stages in most microcontrollers you’ll use.</a:t>
            </a:r>
          </a:p>
          <a:p>
            <a:pPr lvl="1"/>
            <a:r>
              <a:rPr lang="en-CA" dirty="0"/>
              <a:t>Stages split between Frontend &amp; Backend</a:t>
            </a:r>
          </a:p>
          <a:p>
            <a:pPr lvl="1"/>
            <a:r>
              <a:rPr lang="en-CA" dirty="0"/>
              <a:t>Frontend: </a:t>
            </a:r>
            <a:r>
              <a:rPr lang="en-CA" dirty="0">
                <a:solidFill>
                  <a:schemeClr val="accent1"/>
                </a:solidFill>
              </a:rPr>
              <a:t>Fetch</a:t>
            </a:r>
            <a:r>
              <a:rPr lang="en-CA" dirty="0"/>
              <a:t>, </a:t>
            </a:r>
            <a:r>
              <a:rPr lang="en-CA" dirty="0">
                <a:solidFill>
                  <a:schemeClr val="accent1"/>
                </a:solidFill>
              </a:rPr>
              <a:t>Decode</a:t>
            </a:r>
          </a:p>
          <a:p>
            <a:pPr lvl="1"/>
            <a:r>
              <a:rPr lang="en-CA" dirty="0"/>
              <a:t>Backend: </a:t>
            </a:r>
            <a:r>
              <a:rPr lang="en-CA" dirty="0">
                <a:solidFill>
                  <a:schemeClr val="accent1"/>
                </a:solidFill>
              </a:rPr>
              <a:t>Execute</a:t>
            </a:r>
            <a:r>
              <a:rPr lang="en-CA" dirty="0"/>
              <a:t>, </a:t>
            </a:r>
            <a:r>
              <a:rPr lang="en-CA" dirty="0">
                <a:solidFill>
                  <a:schemeClr val="accent1"/>
                </a:solidFill>
              </a:rPr>
              <a:t>Memory Access</a:t>
            </a:r>
            <a:r>
              <a:rPr lang="en-CA" dirty="0"/>
              <a:t>, </a:t>
            </a:r>
            <a:r>
              <a:rPr lang="en-CA" dirty="0">
                <a:solidFill>
                  <a:schemeClr val="accent1"/>
                </a:solidFill>
              </a:rPr>
              <a:t>Writeback</a:t>
            </a:r>
            <a:r>
              <a:rPr lang="en-CA" dirty="0"/>
              <a:t> (Commit)</a:t>
            </a:r>
          </a:p>
          <a:p>
            <a:r>
              <a:rPr lang="en-CA" dirty="0"/>
              <a:t>Pipeline </a:t>
            </a:r>
            <a:r>
              <a:rPr lang="en-CA" dirty="0">
                <a:solidFill>
                  <a:schemeClr val="accent1"/>
                </a:solidFill>
              </a:rPr>
              <a:t>hazards</a:t>
            </a:r>
            <a:r>
              <a:rPr lang="en-CA" dirty="0"/>
              <a:t> cause a pipeline to </a:t>
            </a:r>
            <a:r>
              <a:rPr lang="en-CA" dirty="0">
                <a:solidFill>
                  <a:schemeClr val="accent1"/>
                </a:solidFill>
              </a:rPr>
              <a:t>stall</a:t>
            </a:r>
            <a:r>
              <a:rPr lang="en-CA" dirty="0"/>
              <a:t> or require a </a:t>
            </a:r>
            <a:r>
              <a:rPr lang="en-CA" dirty="0">
                <a:solidFill>
                  <a:schemeClr val="accent1"/>
                </a:solidFill>
              </a:rPr>
              <a:t>flush</a:t>
            </a:r>
            <a:r>
              <a:rPr lang="en-CA" dirty="0"/>
              <a:t>.</a:t>
            </a:r>
          </a:p>
          <a:p>
            <a:r>
              <a:rPr lang="en-CA" dirty="0"/>
              <a:t>Pipelines </a:t>
            </a:r>
            <a:r>
              <a:rPr lang="en-CA" i="1" dirty="0"/>
              <a:t>may</a:t>
            </a:r>
            <a:r>
              <a:rPr lang="en-CA" dirty="0"/>
              <a:t> feature </a:t>
            </a:r>
            <a:r>
              <a:rPr lang="en-CA" dirty="0">
                <a:solidFill>
                  <a:schemeClr val="accent1"/>
                </a:solidFill>
              </a:rPr>
              <a:t>branch prediction</a:t>
            </a:r>
            <a:r>
              <a:rPr lang="en-CA" dirty="0"/>
              <a:t>, </a:t>
            </a:r>
            <a:r>
              <a:rPr lang="en-CA" dirty="0">
                <a:solidFill>
                  <a:schemeClr val="accent1"/>
                </a:solidFill>
              </a:rPr>
              <a:t>out of order execution</a:t>
            </a:r>
            <a:r>
              <a:rPr lang="en-CA" dirty="0"/>
              <a:t>, and </a:t>
            </a:r>
            <a:r>
              <a:rPr lang="en-CA" dirty="0">
                <a:solidFill>
                  <a:schemeClr val="accent1"/>
                </a:solidFill>
              </a:rPr>
              <a:t>speculative execution </a:t>
            </a:r>
            <a:r>
              <a:rPr lang="en-CA" dirty="0"/>
              <a:t>features to improve throughput.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D5A83-79A9-E8EA-191E-5FFEE369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650AA-10A0-42AF-719C-BF1A01B8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39</a:t>
            </a:fld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0B23A1-B3A2-AEE7-D7D8-7C7A07F4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E6D4A-D564-46EB-B5D1-E2E367DD90A4}" type="datetime1">
              <a:rPr lang="en-CA" smtClean="0"/>
              <a:t>2026-03-31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91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1221</TotalTime>
  <Words>2391</Words>
  <Application>Microsoft Office PowerPoint</Application>
  <PresentationFormat>Widescreen</PresentationFormat>
  <Paragraphs>530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Consolas</vt:lpstr>
      <vt:lpstr>Roboto Mono</vt:lpstr>
      <vt:lpstr>Times New Roman</vt:lpstr>
      <vt:lpstr>Wingdings</vt:lpstr>
      <vt:lpstr>Office Theme</vt:lpstr>
      <vt:lpstr>Computer Architecture: Pipelines</vt:lpstr>
      <vt:lpstr>Lectures</vt:lpstr>
      <vt:lpstr>Pipeline Context</vt:lpstr>
      <vt:lpstr>RISC-V Instruction Set</vt:lpstr>
      <vt:lpstr>A Simple RISC-V Program</vt:lpstr>
      <vt:lpstr>Executing a Simple Program (Naïve)</vt:lpstr>
      <vt:lpstr>e.g., interactive simulation</vt:lpstr>
      <vt:lpstr>About Logic Propagation Time</vt:lpstr>
      <vt:lpstr>Simple Pipeline Example</vt:lpstr>
      <vt:lpstr>Human Pipelining Examples</vt:lpstr>
      <vt:lpstr>2 vs 3 vs 5 vs … stage pipeline</vt:lpstr>
      <vt:lpstr>Substages within Stages</vt:lpstr>
      <vt:lpstr>Pipeline Hazards</vt:lpstr>
      <vt:lpstr>What Hazards are Here?</vt:lpstr>
      <vt:lpstr>Remember – Logic can be SLOW</vt:lpstr>
      <vt:lpstr>Example – NEORV32 Multiply Timing</vt:lpstr>
      <vt:lpstr>Example: 2-Cycle Multiply</vt:lpstr>
      <vt:lpstr>Example: 2-Cycle Multiply</vt:lpstr>
      <vt:lpstr>Pipeline Stalls</vt:lpstr>
      <vt:lpstr>Example: Branch Instruction</vt:lpstr>
      <vt:lpstr>Pipeline with Branch</vt:lpstr>
      <vt:lpstr>Pipeline with Branch</vt:lpstr>
      <vt:lpstr>Pipeline Flush</vt:lpstr>
      <vt:lpstr>e.g. Typical Specifications – Instruction Latency</vt:lpstr>
      <vt:lpstr>Example: A Simple CPU Architecture</vt:lpstr>
      <vt:lpstr>Branch / Pipeline Stall</vt:lpstr>
      <vt:lpstr>Branch Prediction</vt:lpstr>
      <vt:lpstr>Motivation for Branch Prediction</vt:lpstr>
      <vt:lpstr>Motivation for Branch Prediction</vt:lpstr>
      <vt:lpstr>Branch Prediction Example: Pentium</vt:lpstr>
      <vt:lpstr>Branch Prediction to Speculative Execution</vt:lpstr>
      <vt:lpstr>Out of Order Execution</vt:lpstr>
      <vt:lpstr>Out of Order Execution</vt:lpstr>
      <vt:lpstr>Out of Order Execution</vt:lpstr>
      <vt:lpstr>Out of Order Execution</vt:lpstr>
      <vt:lpstr>Interrupts</vt:lpstr>
      <vt:lpstr>Cortex-M Pipeline Comparisons</vt:lpstr>
      <vt:lpstr>6-Stage Pipeline?</vt:lpstr>
      <vt:lpstr>Pipeline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Fundamentals of Pipeline Processors</dc:title>
  <dc:creator>Colin O'Flynn</dc:creator>
  <cp:lastModifiedBy>Colin O'Flynn</cp:lastModifiedBy>
  <cp:revision>20</cp:revision>
  <dcterms:created xsi:type="dcterms:W3CDTF">2023-06-25T11:28:15Z</dcterms:created>
  <dcterms:modified xsi:type="dcterms:W3CDTF">2026-04-01T00:41:13Z</dcterms:modified>
</cp:coreProperties>
</file>