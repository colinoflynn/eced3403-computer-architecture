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9" r:id="rId4"/>
    <p:sldId id="260" r:id="rId5"/>
    <p:sldId id="261" r:id="rId6"/>
    <p:sldId id="264" r:id="rId7"/>
    <p:sldId id="274" r:id="rId8"/>
    <p:sldId id="262" r:id="rId9"/>
    <p:sldId id="275" r:id="rId10"/>
    <p:sldId id="263" r:id="rId11"/>
    <p:sldId id="269" r:id="rId12"/>
    <p:sldId id="300" r:id="rId13"/>
    <p:sldId id="301" r:id="rId14"/>
    <p:sldId id="302" r:id="rId15"/>
    <p:sldId id="265" r:id="rId16"/>
    <p:sldId id="266" r:id="rId17"/>
    <p:sldId id="303" r:id="rId18"/>
    <p:sldId id="304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71" r:id="rId28"/>
    <p:sldId id="286" r:id="rId29"/>
    <p:sldId id="288" r:id="rId30"/>
    <p:sldId id="289" r:id="rId31"/>
    <p:sldId id="294" r:id="rId32"/>
    <p:sldId id="290" r:id="rId33"/>
    <p:sldId id="291" r:id="rId34"/>
    <p:sldId id="292" r:id="rId35"/>
    <p:sldId id="293" r:id="rId36"/>
    <p:sldId id="295" r:id="rId37"/>
    <p:sldId id="296" r:id="rId38"/>
    <p:sldId id="298" r:id="rId39"/>
    <p:sldId id="299" r:id="rId40"/>
    <p:sldId id="273" r:id="rId41"/>
    <p:sldId id="276" r:id="rId42"/>
    <p:sldId id="287" r:id="rId43"/>
    <p:sldId id="27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1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742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20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embc.org/viewer/?benchmark_seq=1348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eembc/coremark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OcllVgW9yIy8QLc2_68LVZ1Cn8YiFNr?usp=sharin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lab.research.google.com/drive/1sOcllVgW9yIy8QLc2_68LVZ1Cn8YiFNr?usp=sharing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Performance &amp; Power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134" cy="4351338"/>
          </a:xfrm>
          <a:noFill/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store, access, and control data?</a:t>
            </a:r>
          </a:p>
          <a:p>
            <a:r>
              <a:rPr lang="en-CA" dirty="0"/>
              <a:t>How does the machine execute instructions?</a:t>
            </a:r>
          </a:p>
          <a:p>
            <a:r>
              <a:rPr lang="en-CA" dirty="0"/>
              <a:t>How is execution made more efficient?</a:t>
            </a:r>
          </a:p>
          <a:p>
            <a:r>
              <a:rPr lang="en-CA" b="1" i="1" dirty="0">
                <a:solidFill>
                  <a:srgbClr val="FF0000"/>
                </a:solidFill>
              </a:rPr>
              <a:t>How do we measure execution? What is our limit of performance?</a:t>
            </a:r>
          </a:p>
          <a:p>
            <a:endParaRPr lang="en-CA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8BE1-7B1E-2A08-2485-4381955E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measure performance?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2DD8-6BCF-3625-FB15-64A5FD84E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Clock speed?</a:t>
            </a:r>
          </a:p>
          <a:p>
            <a:endParaRPr lang="en-CA" dirty="0"/>
          </a:p>
          <a:p>
            <a:r>
              <a:rPr lang="en-CA" dirty="0"/>
              <a:t>Instructions Per Second?</a:t>
            </a:r>
          </a:p>
          <a:p>
            <a:endParaRPr lang="en-CA" dirty="0"/>
          </a:p>
          <a:p>
            <a:r>
              <a:rPr lang="en-CA" dirty="0"/>
              <a:t>Instructions Per Cycle?</a:t>
            </a:r>
          </a:p>
          <a:p>
            <a:endParaRPr lang="en-CA" dirty="0"/>
          </a:p>
          <a:p>
            <a:r>
              <a:rPr lang="en-CA" dirty="0"/>
              <a:t>Power Used?</a:t>
            </a:r>
          </a:p>
          <a:p>
            <a:endParaRPr lang="en-CA" dirty="0"/>
          </a:p>
          <a:p>
            <a:r>
              <a:rPr lang="en-CA" dirty="0"/>
              <a:t>Something Else?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E1266-FA76-530A-9A49-2A5C7F1A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3E2E6-5D66-695A-AF11-4F143C07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2CD5C-D056-B4EB-27A7-57FD13C3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85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2446-0259-35F8-0C31-511FF593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Clock Speed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2943-1C38-1132-189C-8EDF5933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735F0-D14A-DA9A-A34F-9F2DB3AB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04C65-0FCE-7670-02F2-4A87901F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7" name="Picture 2" descr="Remember back in the 90's when computers were marketed by their megahertz?  - AR15.COM">
            <a:extLst>
              <a:ext uri="{FF2B5EF4-FFF2-40B4-BE49-F238E27FC236}">
                <a16:creationId xmlns:a16="http://schemas.microsoft.com/office/drawing/2014/main" id="{EE6A8242-C3C8-BB6F-03FD-FD84BF64E0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9" y="1396143"/>
            <a:ext cx="5431635" cy="397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oduction version of Pentium G3258 overclocked to 6.7GHz | KitGuru">
            <a:extLst>
              <a:ext uri="{FF2B5EF4-FFF2-40B4-BE49-F238E27FC236}">
                <a16:creationId xmlns:a16="http://schemas.microsoft.com/office/drawing/2014/main" id="{64FD1081-707F-D5F5-959B-A6A560BA7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800225"/>
            <a:ext cx="48768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98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C63E-2553-612A-A66C-378D242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Instructions Per Second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B3DD-6D49-8321-89D2-2AE0C1844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12820" cy="4351338"/>
          </a:xfrm>
        </p:spPr>
        <p:txBody>
          <a:bodyPr/>
          <a:lstStyle/>
          <a:p>
            <a:r>
              <a:rPr lang="en-CA" dirty="0"/>
              <a:t>Rather than pure Hz – measure how many instructions happen in that time.</a:t>
            </a:r>
          </a:p>
          <a:p>
            <a:endParaRPr lang="en-CA" dirty="0"/>
          </a:p>
          <a:p>
            <a:r>
              <a:rPr lang="en-CA" dirty="0"/>
              <a:t>Slightly better, but no idea </a:t>
            </a:r>
            <a:r>
              <a:rPr lang="en-CA" i="1" dirty="0"/>
              <a:t>what</a:t>
            </a:r>
            <a:r>
              <a:rPr lang="en-CA" dirty="0"/>
              <a:t> those instructions do.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E4D1-08F0-4317-C3C9-823493E9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43D9-77D3-AE5E-921C-B72660A1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40D2C-53E0-EECA-B2BC-0AE460EC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60F822F7-1DDF-E2F2-7ADF-A5A790118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520" y="1995365"/>
            <a:ext cx="5922963" cy="418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83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DF30-8EC6-4D84-051A-39711115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Considerations around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9F7EA-CEC7-5893-1726-D0D977AF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said memory latency can be a </a:t>
            </a:r>
            <a:r>
              <a:rPr lang="en-CA" u="sng" dirty="0"/>
              <a:t>driving factor </a:t>
            </a:r>
            <a:r>
              <a:rPr lang="en-CA" dirty="0"/>
              <a:t>in performance</a:t>
            </a:r>
          </a:p>
          <a:p>
            <a:endParaRPr lang="en-CA" dirty="0"/>
          </a:p>
          <a:p>
            <a:r>
              <a:rPr lang="en-CA" dirty="0"/>
              <a:t>Consider different workloads: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Sorting a large dataset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Calculating a 3D render path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Calculating the digits of Pi</a:t>
            </a:r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83063-3237-FFEC-D6D9-8963D6F6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3C50C-56B1-4495-2B72-6E529B7D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37C50-6EFE-6600-616E-8199B5DD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89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B2D9-48E8-FCA4-7D16-14C86C51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we </a:t>
            </a:r>
            <a:r>
              <a:rPr lang="en-CA" u="sng" dirty="0"/>
              <a:t>trying</a:t>
            </a:r>
            <a:r>
              <a:rPr lang="en-CA" dirty="0"/>
              <a:t> to benchmark anyway?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504AD-8626-C4EB-439D-847B960A4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Evaluating performance as a </a:t>
            </a:r>
            <a:r>
              <a:rPr lang="en-CA" u="sng" dirty="0"/>
              <a:t>user:</a:t>
            </a:r>
          </a:p>
          <a:p>
            <a:endParaRPr lang="en-CA" u="sng" dirty="0"/>
          </a:p>
          <a:p>
            <a:pPr lvl="1"/>
            <a:r>
              <a:rPr lang="en-CA" dirty="0"/>
              <a:t>We care about benchmark or results ($ / performance)</a:t>
            </a:r>
          </a:p>
          <a:p>
            <a:endParaRPr lang="en-CA" dirty="0"/>
          </a:p>
          <a:p>
            <a:r>
              <a:rPr lang="en-CA" dirty="0"/>
              <a:t>Evaluating performance as a </a:t>
            </a:r>
            <a:r>
              <a:rPr lang="en-CA" u="sng" dirty="0"/>
              <a:t>developer / engineer:</a:t>
            </a:r>
          </a:p>
          <a:p>
            <a:endParaRPr lang="en-CA" u="sng" dirty="0"/>
          </a:p>
          <a:p>
            <a:pPr lvl="1"/>
            <a:r>
              <a:rPr lang="en-CA" dirty="0"/>
              <a:t>We care about </a:t>
            </a:r>
            <a:r>
              <a:rPr lang="en-CA" u="sng" dirty="0"/>
              <a:t>our</a:t>
            </a:r>
            <a:r>
              <a:rPr lang="en-CA" dirty="0"/>
              <a:t> program (instrumenting, etc.)</a:t>
            </a:r>
          </a:p>
          <a:p>
            <a:pPr lvl="1"/>
            <a:r>
              <a:rPr lang="en-CA" dirty="0"/>
              <a:t>This is normally called </a:t>
            </a:r>
            <a:r>
              <a:rPr lang="en-CA" i="1" dirty="0"/>
              <a:t>profiling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F544-A6B7-1692-25A9-EEDDB90B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6A84-970A-263E-A94C-04D71396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D4E74-7E1A-689C-2187-CD80488E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261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1E5E-D21A-9CDC-F808-B3238522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Workload-Based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A3B5-5021-DE7C-DA96-D9BC1EB5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Most useful benchmarks have some </a:t>
            </a:r>
            <a:r>
              <a:rPr lang="en-CA" u="sng" dirty="0"/>
              <a:t>somewhat relatable</a:t>
            </a:r>
            <a:r>
              <a:rPr lang="en-CA" dirty="0"/>
              <a:t> workload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50461-3F5A-0EF8-96F6-13791157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AF601-EBFF-092F-F1F1-B2CF36EE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3DE36-AC2E-0871-F7BE-81E49C8C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93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F476-F573-9E03-9ADE-89500CA5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Common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A6548-5687-862D-DC79-FD56E7DAB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Dhrystone:</a:t>
            </a:r>
          </a:p>
          <a:p>
            <a:pPr lvl="1"/>
            <a:r>
              <a:rPr lang="en-CA" dirty="0"/>
              <a:t>Old integer benchmark, not a realistic workload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Whetstone:</a:t>
            </a:r>
          </a:p>
          <a:p>
            <a:pPr lvl="1"/>
            <a:r>
              <a:rPr lang="en-CA" dirty="0"/>
              <a:t>Float-point focused, tries to improve on Dhrystone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EEMBC CoreMark</a:t>
            </a:r>
          </a:p>
          <a:p>
            <a:pPr lvl="1"/>
            <a:r>
              <a:rPr lang="en-CA" dirty="0"/>
              <a:t>Embedded focused – tries to compare various operations you might do on embedded systems (and most common/useful for us)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SPEC CPU</a:t>
            </a:r>
          </a:p>
          <a:p>
            <a:pPr lvl="1"/>
            <a:r>
              <a:rPr lang="en-CA" dirty="0"/>
              <a:t>Desktop/Server CPU evaluation – various more real-life workloads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 err="1"/>
              <a:t>PassMark</a:t>
            </a:r>
            <a:r>
              <a:rPr lang="en-CA" dirty="0"/>
              <a:t> CPU Mark</a:t>
            </a:r>
          </a:p>
          <a:p>
            <a:pPr lvl="1"/>
            <a:r>
              <a:rPr lang="en-CA" dirty="0"/>
              <a:t>Commercial benchmark tool – widely used in reviews, evaluations, </a:t>
            </a:r>
            <a:r>
              <a:rPr lang="en-CA" dirty="0" err="1"/>
              <a:t>etc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5B50D-CC87-4D50-23C3-64737F95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416A2-7CF0-A83E-C0DB-8674B05E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D5CDD-EA16-334B-DB23-12A0B463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64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4F37-2272-68D2-9BD8-F97D9B81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Embedded Performance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6560-9693-87AC-34FE-FA5873F4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 you select a microcontroller?</a:t>
            </a:r>
          </a:p>
          <a:p>
            <a:endParaRPr lang="en-CA" dirty="0"/>
          </a:p>
          <a:p>
            <a:r>
              <a:rPr lang="en-CA" dirty="0"/>
              <a:t>Base it on peripherals you need (communication </a:t>
            </a:r>
            <a:r>
              <a:rPr lang="en-CA" dirty="0" err="1"/>
              <a:t>etc</a:t>
            </a:r>
            <a:r>
              <a:rPr lang="en-CA" dirty="0"/>
              <a:t>), but then what about the code you are running?</a:t>
            </a:r>
          </a:p>
          <a:p>
            <a:pPr lvl="1"/>
            <a:r>
              <a:rPr lang="en-CA" dirty="0"/>
              <a:t>Machine Learning?</a:t>
            </a:r>
          </a:p>
          <a:p>
            <a:pPr lvl="1"/>
            <a:r>
              <a:rPr lang="en-CA" dirty="0"/>
              <a:t>Machine Vision?</a:t>
            </a:r>
          </a:p>
          <a:p>
            <a:pPr lvl="1"/>
            <a:r>
              <a:rPr lang="en-CA" dirty="0"/>
              <a:t>Complex math?</a:t>
            </a:r>
          </a:p>
          <a:p>
            <a:pPr lvl="1"/>
            <a:r>
              <a:rPr lang="en-CA" dirty="0"/>
              <a:t>How much compute is needed?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D1E8-1D78-915E-75BD-6F28F534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8BCC6-7D91-A25D-566B-B4D0BA62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A4924-6D58-FC04-8968-9DACB119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0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A82A-68B7-8048-718A-A351813C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5F7D-941F-E3D4-309A-4C4EB929D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6364"/>
          </a:xfrm>
        </p:spPr>
        <p:txBody>
          <a:bodyPr/>
          <a:lstStyle/>
          <a:p>
            <a:r>
              <a:rPr lang="en-CA" dirty="0"/>
              <a:t>Standard embedded benchmark, various “kernels” you can use: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2666-0CFB-4B7D-C35E-58FB0169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60B3D-8A45-4F09-4BE8-418E084A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BCC52-246C-4250-5324-20260565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1FB22-BF59-9CE1-F560-8A9371126316}"/>
              </a:ext>
            </a:extLst>
          </p:cNvPr>
          <p:cNvSpPr txBox="1"/>
          <p:nvPr/>
        </p:nvSpPr>
        <p:spPr>
          <a:xfrm>
            <a:off x="2672741" y="5668119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https://www.eembc.org/products/kernels.php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4A9060-672A-A0EE-A91C-B2EDE578E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66" y="2293807"/>
            <a:ext cx="8106829" cy="331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FAE7-CA6D-10B2-01B8-CE802399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CoreMark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3EAF4-8790-7FFC-20C8-F3E6C9CB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9580"/>
          </a:xfrm>
        </p:spPr>
        <p:txBody>
          <a:bodyPr/>
          <a:lstStyle/>
          <a:p>
            <a:r>
              <a:rPr lang="en-CA" dirty="0"/>
              <a:t>E.g., : </a:t>
            </a:r>
            <a:r>
              <a:rPr lang="en-CA" dirty="0">
                <a:hlinkClick r:id="rId2"/>
              </a:rPr>
              <a:t>https://www.eembc.org/viewer/?benchmark_seq=13489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12E02-AFB4-DD28-0F31-67006289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FA7D-6899-9648-009E-5729E233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D26A-0B65-9E92-C08C-618D3F05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F6631-C63E-AC97-D8F3-0F0BA43F2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1" y="2640142"/>
            <a:ext cx="5761659" cy="32856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6BF614-43AB-8E90-3626-47369221B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40142"/>
            <a:ext cx="5591955" cy="120031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E024A6-A03A-54C0-5FA1-B26786E3BF77}"/>
              </a:ext>
            </a:extLst>
          </p:cNvPr>
          <p:cNvCxnSpPr>
            <a:cxnSpLocks/>
          </p:cNvCxnSpPr>
          <p:nvPr/>
        </p:nvCxnSpPr>
        <p:spPr>
          <a:xfrm flipV="1">
            <a:off x="5968652" y="3594970"/>
            <a:ext cx="5248406" cy="210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3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FB96-3E50-2A9B-2F57-D60D4A5B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Running CoreMark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072C-0A6F-B6DB-D86C-D2325DE50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4877"/>
            <a:ext cx="10515600" cy="822086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https://github.com/eembc/coremark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EB936-BBAA-1D7F-105E-3333D1CD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9511-3E7D-D45E-41A4-8CD916F84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7E0-89F6-6750-365A-098433D8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71B739-1081-F052-EFEF-42FFE1DD4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64" y="1414068"/>
            <a:ext cx="9939403" cy="39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24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B765-7F4C-9E7C-F56C-B773E363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Measuring Cycles on Embedded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3940-1E07-91AE-A0B3-76A90828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9137" cy="4351338"/>
          </a:xfrm>
        </p:spPr>
        <p:txBody>
          <a:bodyPr/>
          <a:lstStyle/>
          <a:p>
            <a:r>
              <a:rPr lang="en-CA" dirty="0"/>
              <a:t>The API at the right uses the Cycle Counter</a:t>
            </a:r>
          </a:p>
          <a:p>
            <a:endParaRPr lang="en-CA" dirty="0"/>
          </a:p>
          <a:p>
            <a:r>
              <a:rPr lang="en-CA" dirty="0"/>
              <a:t>This is very handy when comparing execution time on embedded systems – most Arm targets support this!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5EBD-AA75-97F6-E6D2-49E0A1BB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0D5F1-474C-2AED-3D0C-434E6C18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6445-2BF8-7396-703D-317CA32F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6B54CC-9CBB-29A4-BA00-22B550D62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259" y="1825625"/>
            <a:ext cx="4114801" cy="417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4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09E3-6F4D-D870-74E3-80CB19D8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Power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3540-941F-A0F1-BAF9-82D9EB8A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 far – we’ve considered mostly selecting a processor based on e.g., price, availability, etc.</a:t>
            </a:r>
          </a:p>
          <a:p>
            <a:endParaRPr lang="en-CA" dirty="0"/>
          </a:p>
          <a:p>
            <a:r>
              <a:rPr lang="en-CA" dirty="0"/>
              <a:t>In real life, what is our limiting factor?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>
                <a:sym typeface="Wingdings" panose="05000000000000000000" pitchFamily="2" charset="2"/>
              </a:rPr>
              <a:t> </a:t>
            </a:r>
            <a:r>
              <a:rPr lang="en-CA" b="1" dirty="0"/>
              <a:t>POWER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7742A-A76B-CF5C-AD99-2E25704E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A697-61AF-DA24-4963-4F8841FFD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1E590-25AD-7C42-AAAA-3972DB60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10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905B6-7679-8003-4538-260D9BAB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Power Usage vs. 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F910-E957-AAF1-6EAA-3D11410A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C5B6B-4607-1831-6E79-30203930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AB063-C184-57A2-317A-0DBA0E9F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pic>
        <p:nvPicPr>
          <p:cNvPr id="7" name="Picture 2" descr="Plot output">
            <a:extLst>
              <a:ext uri="{FF2B5EF4-FFF2-40B4-BE49-F238E27FC236}">
                <a16:creationId xmlns:a16="http://schemas.microsoft.com/office/drawing/2014/main" id="{D09D77FE-71A2-3494-57F2-9A0C57456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1690688"/>
            <a:ext cx="6622287" cy="413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48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E1B3-FBFA-DAC0-1F00-41433593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Power Consumption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37D5-35A9-55CC-E102-49449D474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Switching all those transistors that make up our microcontroller mean switching some </a:t>
            </a:r>
            <a:r>
              <a:rPr lang="en-CA" i="1" dirty="0"/>
              <a:t>capacitance</a:t>
            </a:r>
            <a:r>
              <a:rPr lang="en-CA" dirty="0"/>
              <a:t> from a logic-0 to a logic-1</a:t>
            </a:r>
          </a:p>
          <a:p>
            <a:endParaRPr lang="en-CA" dirty="0"/>
          </a:p>
          <a:p>
            <a:r>
              <a:rPr lang="en-CA" dirty="0"/>
              <a:t>General formula for power usage with this is: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P</a:t>
            </a:r>
            <a:r>
              <a:rPr lang="en-CA" b="1" baseline="-25000" dirty="0"/>
              <a:t>dynamic</a:t>
            </a:r>
            <a:r>
              <a:rPr lang="en-CA" b="1" dirty="0"/>
              <a:t> = C × V</a:t>
            </a:r>
            <a:r>
              <a:rPr lang="en-CA" b="1" baseline="30000" dirty="0"/>
              <a:t>2 </a:t>
            </a:r>
            <a:r>
              <a:rPr lang="en-CA" b="1" dirty="0"/>
              <a:t>× f</a:t>
            </a:r>
          </a:p>
          <a:p>
            <a:pPr marL="0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C = capacitance</a:t>
            </a:r>
          </a:p>
          <a:p>
            <a:pPr marL="457200" lvl="1" indent="0">
              <a:buNone/>
            </a:pPr>
            <a:r>
              <a:rPr lang="en-CA" dirty="0"/>
              <a:t>V = Voltage</a:t>
            </a:r>
          </a:p>
          <a:p>
            <a:pPr marL="457200" lvl="1" indent="0">
              <a:buNone/>
            </a:pPr>
            <a:r>
              <a:rPr lang="en-CA" dirty="0"/>
              <a:t>f = Frequency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784C6-88AC-2B24-405C-01075D35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64BE9-0D46-4BB8-11A2-3ECE1EAD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ECED3403 Computer Architecture. Colin O'Flynn.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4288-5C56-ECED-9F35-231F432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65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97D1-6329-B3C8-1C48-96DE27B6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Factors Impacting Power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79A6-496B-3FB3-61B2-C44CF8D1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Capacitance defined by </a:t>
            </a:r>
            <a:r>
              <a:rPr lang="en-CA" i="1" dirty="0"/>
              <a:t>node size</a:t>
            </a:r>
            <a:endParaRPr lang="en-CA" dirty="0"/>
          </a:p>
          <a:p>
            <a:pPr lvl="1"/>
            <a:r>
              <a:rPr lang="en-CA" dirty="0"/>
              <a:t>Newer (smaller) processes have less capacitance as have smaller dies</a:t>
            </a:r>
          </a:p>
          <a:p>
            <a:pPr lvl="1"/>
            <a:endParaRPr lang="en-CA" dirty="0"/>
          </a:p>
          <a:p>
            <a:r>
              <a:rPr lang="en-CA" dirty="0"/>
              <a:t>Voltage has a major (square) impact</a:t>
            </a:r>
          </a:p>
          <a:p>
            <a:pPr lvl="1"/>
            <a:r>
              <a:rPr lang="en-CA" dirty="0"/>
              <a:t>Newer (smaller) often run at lower voltages (5V </a:t>
            </a:r>
            <a:r>
              <a:rPr lang="en-CA" dirty="0">
                <a:sym typeface="Wingdings" panose="05000000000000000000" pitchFamily="2" charset="2"/>
              </a:rPr>
              <a:t> 3.3V  1.8V  1V)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Many microcontrollers have a lower core voltage and a higher I/O voltage</a:t>
            </a: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Frequency </a:t>
            </a:r>
            <a:r>
              <a:rPr lang="en-CA" i="1" dirty="0">
                <a:sym typeface="Wingdings" panose="05000000000000000000" pitchFamily="2" charset="2"/>
              </a:rPr>
              <a:t>should</a:t>
            </a:r>
            <a:r>
              <a:rPr lang="en-CA" dirty="0">
                <a:sym typeface="Wingdings" panose="05000000000000000000" pitchFamily="2" charset="2"/>
              </a:rPr>
              <a:t> have a linear impact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This is one thing you can easily control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7EB51-A650-928E-9A63-06E4CBB5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9282B-CF35-3FA3-8143-88846C21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73DF9-6242-C57C-4C01-5ADDC950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40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00DE-F56F-917A-73AA-8C90E208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Power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BA53-69B6-B752-2B13-0A6E0120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Power (W) = Instantaneous Consumption</a:t>
            </a:r>
          </a:p>
          <a:p>
            <a:r>
              <a:rPr lang="en-CA" dirty="0"/>
              <a:t>Energy (J) = Total consumer over time</a:t>
            </a:r>
          </a:p>
          <a:p>
            <a:endParaRPr lang="en-CA" dirty="0"/>
          </a:p>
          <a:p>
            <a:r>
              <a:rPr lang="en-CA" dirty="0"/>
              <a:t>Often have some combination of limits of </a:t>
            </a:r>
            <a:r>
              <a:rPr lang="en-CA" u="sng" dirty="0"/>
              <a:t>instantaneous power</a:t>
            </a:r>
            <a:r>
              <a:rPr lang="en-CA" dirty="0"/>
              <a:t> and </a:t>
            </a:r>
            <a:r>
              <a:rPr lang="en-CA" u="sng" dirty="0"/>
              <a:t>energy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1275-E48B-9E4C-C506-D59B51D4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359B4-4E33-E331-AE6F-DDD9BCFA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9DAC0-F5A1-FBE5-F665-41871D8F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355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AD1E-A87A-7CF2-B80A-CFD44100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CR2032 Coin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77C0-0764-38E4-EC61-31B808B8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7081"/>
            <a:ext cx="10515600" cy="28698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https://data.energizer.com/pdfs/cr2032.pdf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A61F-E418-F256-7A89-5CE96661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C715-19EE-B30C-4D48-BA43ED1B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4CC8-0B72-9E16-35B9-50F4361A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pic>
        <p:nvPicPr>
          <p:cNvPr id="3074" name="Picture 2" descr="CR2032 Lithium 3v Coin Battery | Wholesale Garage Doors">
            <a:extLst>
              <a:ext uri="{FF2B5EF4-FFF2-40B4-BE49-F238E27FC236}">
                <a16:creationId xmlns:a16="http://schemas.microsoft.com/office/drawing/2014/main" id="{FF7E8011-E7C9-2685-6DB5-0CE26F6F8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2" t="13384" r="28419" b="24982"/>
          <a:stretch>
            <a:fillRect/>
          </a:stretch>
        </p:blipFill>
        <p:spPr bwMode="auto">
          <a:xfrm>
            <a:off x="9220200" y="368617"/>
            <a:ext cx="2628900" cy="264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62D14B-E900-602C-9D54-71207412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029" y="1453108"/>
            <a:ext cx="6377371" cy="412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1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491B-ACEA-72D3-59E0-E4868F9A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Battery Power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A00B-7619-B923-ED80-3142670F9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2356"/>
            <a:ext cx="10515600" cy="2064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235 </a:t>
            </a:r>
            <a:r>
              <a:rPr lang="en-CA" dirty="0" err="1"/>
              <a:t>mAh</a:t>
            </a:r>
            <a:r>
              <a:rPr lang="en-CA" dirty="0"/>
              <a:t> meaning:</a:t>
            </a:r>
          </a:p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1 mA for 235 hours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100 </a:t>
            </a:r>
            <a:r>
              <a:rPr lang="en-CA" b="1" dirty="0" err="1">
                <a:solidFill>
                  <a:srgbClr val="FF0000"/>
                </a:solidFill>
              </a:rPr>
              <a:t>uA</a:t>
            </a:r>
            <a:r>
              <a:rPr lang="en-CA" b="1" dirty="0">
                <a:solidFill>
                  <a:srgbClr val="FF0000"/>
                </a:solidFill>
              </a:rPr>
              <a:t> for 2350 hours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10 mA for 23.5 hours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5B476-A806-CCA7-4729-99B8AF75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6A1D-E2EB-58AB-F0D9-93051954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82E8C-7D11-A65C-8BAD-B2FE850D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95295-C64C-03BC-A356-1DD27425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2" y="2003681"/>
            <a:ext cx="7362896" cy="1325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88C08E-F728-3DAE-C744-8273B9F05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060" y="1432821"/>
            <a:ext cx="4617720" cy="25018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747FD7-9D6E-1A57-4B49-7D799E5DA2DE}"/>
              </a:ext>
            </a:extLst>
          </p:cNvPr>
          <p:cNvSpPr/>
          <p:nvPr/>
        </p:nvSpPr>
        <p:spPr>
          <a:xfrm>
            <a:off x="676405" y="2401915"/>
            <a:ext cx="6037545" cy="3725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118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EF7B-DCFB-2FE1-1C14-64AD30607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…</a:t>
            </a:r>
            <a:r>
              <a:rPr lang="en-CA" dirty="0" err="1"/>
              <a:t>kinda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C4AA1-B9D1-2A6B-CD8A-16A5BB02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655A4-5F25-F415-00FC-908DE715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0915-B708-12A2-0078-959766DD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26C4A-0338-1888-497B-1DEF395F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2" y="1797941"/>
            <a:ext cx="7362896" cy="13255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57ADD2-AF67-2C29-7D2A-4B816097DB36}"/>
              </a:ext>
            </a:extLst>
          </p:cNvPr>
          <p:cNvSpPr/>
          <p:nvPr/>
        </p:nvSpPr>
        <p:spPr>
          <a:xfrm>
            <a:off x="1301767" y="2483864"/>
            <a:ext cx="6037545" cy="3725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AD6F83-FF42-008D-A7B2-5F77FD0AD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008" y="3046991"/>
            <a:ext cx="5226331" cy="35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47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FDFE-D087-546D-9FA9-AF15E581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Consideration: Internal Resistance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95497-E2E2-70D4-2186-7488EFE2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6CF7-D4B5-CDD6-8D10-48C51AC4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DBE18-2382-36EC-5BB5-197D123F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489BC-1467-D183-30F3-FC40B9C60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928" y="2323148"/>
            <a:ext cx="7078063" cy="3210373"/>
          </a:xfrm>
          <a:prstGeom prst="rect">
            <a:avLst/>
          </a:prstGeom>
        </p:spPr>
      </p:pic>
      <p:sp>
        <p:nvSpPr>
          <p:cNvPr id="10" name="AutoShape 2" descr="Emf and Internal Resistance">
            <a:extLst>
              <a:ext uri="{FF2B5EF4-FFF2-40B4-BE49-F238E27FC236}">
                <a16:creationId xmlns:a16="http://schemas.microsoft.com/office/drawing/2014/main" id="{26A21ADD-6E84-71BA-FDFF-DEC148E5A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F5FCA-79B2-DCFC-73D9-42905CD1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9" y="2323148"/>
            <a:ext cx="461074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78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AFB3-FADA-B350-22EE-4B7F48DB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CR2032 @ 125mAh drawn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79E7-12B9-C27E-828A-0BFC9422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Open circuit (OC) voltage ~2.8V</a:t>
            </a:r>
          </a:p>
          <a:p>
            <a:r>
              <a:rPr lang="en-CA" dirty="0"/>
              <a:t>Internal Resistance (IR) ~18 ohms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If drawing 50 mA from battery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V = I R = (0.05)(18) = 0.9V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/>
              <a:t>Vload</a:t>
            </a:r>
            <a:r>
              <a:rPr lang="en-CA" dirty="0"/>
              <a:t> = 2.8 – 0.9 = </a:t>
            </a:r>
            <a:r>
              <a:rPr lang="en-CA" b="1" dirty="0">
                <a:solidFill>
                  <a:srgbClr val="FF0000"/>
                </a:solidFill>
              </a:rPr>
              <a:t>1.9V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140A0-C8F8-9820-880C-808099CC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89E3F-983A-8106-4CC1-25C942D6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101F-6FB0-C361-89D0-04673A3E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D651B-ABA8-EFDD-1BCD-B925333F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469" y="2500897"/>
            <a:ext cx="461074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8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30A6-C26A-405C-CEF3-C281F9EF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Pulse Usage: Capacitor Banks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8EC56-A41B-1589-7C3B-43A3CF2F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05450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Common to have a capacitor in parallel with battery to have pulse current capability</a:t>
            </a:r>
          </a:p>
          <a:p>
            <a:r>
              <a:rPr lang="en-CA" dirty="0"/>
              <a:t>This capacitor has a low energy stored however. E.g.:</a:t>
            </a:r>
          </a:p>
          <a:p>
            <a:r>
              <a:rPr lang="en-CA" dirty="0"/>
              <a:t>Assuming 10uF capacitor @ 2.8V</a:t>
            </a:r>
          </a:p>
          <a:p>
            <a:pPr marL="0" indent="0">
              <a:buNone/>
            </a:pPr>
            <a:r>
              <a:rPr lang="en-CA" b="1" dirty="0"/>
              <a:t>	E = ½ × C × V</a:t>
            </a:r>
            <a:r>
              <a:rPr lang="en-CA" b="1" baseline="30000" dirty="0"/>
              <a:t>2</a:t>
            </a:r>
          </a:p>
          <a:p>
            <a:pPr marL="0" indent="0">
              <a:buNone/>
            </a:pPr>
            <a:r>
              <a:rPr lang="en-CA" b="1" baseline="30000" dirty="0"/>
              <a:t>	</a:t>
            </a:r>
            <a:r>
              <a:rPr lang="en-CA" b="1" dirty="0"/>
              <a:t>    = 0.5 × 10E-6 × 2.8</a:t>
            </a:r>
            <a:r>
              <a:rPr lang="en-CA" b="1" baseline="30000" dirty="0"/>
              <a:t>2</a:t>
            </a:r>
          </a:p>
          <a:p>
            <a:pPr marL="0" indent="0">
              <a:buNone/>
            </a:pPr>
            <a:r>
              <a:rPr lang="en-CA" b="1" baseline="30000" dirty="0"/>
              <a:t>	      </a:t>
            </a:r>
            <a:r>
              <a:rPr lang="en-CA" b="1" dirty="0"/>
              <a:t>= 39.2 </a:t>
            </a:r>
            <a:r>
              <a:rPr lang="en-CA" b="1" dirty="0" err="1"/>
              <a:t>uJ</a:t>
            </a:r>
            <a:endParaRPr lang="en-CA" b="1" baseline="30000" dirty="0"/>
          </a:p>
          <a:p>
            <a:pPr marL="0" indent="0">
              <a:buNone/>
            </a:pPr>
            <a:endParaRPr lang="en-CA" b="1" baseline="30000" dirty="0"/>
          </a:p>
          <a:p>
            <a:pPr marL="0" indent="0">
              <a:buNone/>
            </a:pPr>
            <a:r>
              <a:rPr lang="en-CA" b="1" i="1" baseline="30000" dirty="0" err="1"/>
              <a:t>mAh</a:t>
            </a:r>
            <a:r>
              <a:rPr lang="en-CA" b="1" i="1" baseline="30000" dirty="0"/>
              <a:t> = Joules / (V × 3.6)</a:t>
            </a:r>
          </a:p>
          <a:p>
            <a:pPr marL="0" indent="0">
              <a:buNone/>
            </a:pPr>
            <a:r>
              <a:rPr lang="en-CA" b="1" baseline="30000" dirty="0"/>
              <a:t>	      </a:t>
            </a:r>
            <a:r>
              <a:rPr lang="en-CA" b="1" dirty="0"/>
              <a:t>= 0.00000778 </a:t>
            </a:r>
            <a:r>
              <a:rPr lang="en-CA" b="1" dirty="0" err="1"/>
              <a:t>mAh</a:t>
            </a:r>
            <a:endParaRPr lang="en-CA" b="1" dirty="0"/>
          </a:p>
          <a:p>
            <a:pPr marL="0" indent="0">
              <a:buNone/>
            </a:pPr>
            <a:r>
              <a:rPr lang="en-CA" b="1" dirty="0"/>
              <a:t>	    = 0.028008 </a:t>
            </a:r>
            <a:r>
              <a:rPr lang="en-CA" b="1" dirty="0" err="1"/>
              <a:t>mAs</a:t>
            </a:r>
            <a:endParaRPr lang="en-CA" b="1" dirty="0"/>
          </a:p>
          <a:p>
            <a:pPr marL="0" indent="0">
              <a:buNone/>
            </a:pPr>
            <a:endParaRPr lang="en-CA" b="1" baseline="30000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55C4-1337-AD79-9ACE-3AAF2D36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E0C29-EA8B-A864-3449-9AE42DC7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68E5-01A1-3E30-33C7-81A5C2FE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018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75F6-321C-FA31-0245-43DEE8A7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4392-A27F-789D-CD07-820731FC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Pulse Usage: Explains common sensor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3B03-8517-E1A1-CA22-2764211C0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50699" cy="41054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b="1" baseline="30000" dirty="0"/>
          </a:p>
          <a:p>
            <a:pPr marL="0" indent="0">
              <a:buNone/>
            </a:pPr>
            <a:r>
              <a:rPr lang="en-CA" dirty="0"/>
              <a:t>When designing devices powered from small coin cells (think sensors), you often need to use high-energy / sleep cycles.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Not only for total power saving, but to deal with limited total current.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96A8F-6259-BBDE-5F14-AB4B3D88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44747-BF41-D6B3-B6B2-D3D9D83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CD9AB-5E4F-56BC-8754-1E7E22A7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pic>
        <p:nvPicPr>
          <p:cNvPr id="5122" name="Picture 2" descr="Beacon Coin Cell Battery Orientation – BeaconZone Blog">
            <a:extLst>
              <a:ext uri="{FF2B5EF4-FFF2-40B4-BE49-F238E27FC236}">
                <a16:creationId xmlns:a16="http://schemas.microsoft.com/office/drawing/2014/main" id="{67802C9D-CD85-33A3-3AFD-43C82C93C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385" y="2781300"/>
            <a:ext cx="3267984" cy="200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93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0F36-EE7E-EB81-942C-23C94591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Typical Low-Power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5A167-45AE-0FBF-8576-910177F8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45"/>
            <a:ext cx="10515600" cy="4351338"/>
          </a:xfrm>
        </p:spPr>
        <p:txBody>
          <a:bodyPr/>
          <a:lstStyle/>
          <a:p>
            <a:r>
              <a:rPr lang="en-CA" dirty="0"/>
              <a:t>Most microcontrollers have some combination of:</a:t>
            </a:r>
          </a:p>
          <a:p>
            <a:endParaRPr lang="en-CA" dirty="0"/>
          </a:p>
          <a:p>
            <a:r>
              <a:rPr lang="en-CA" dirty="0"/>
              <a:t>Active (normal) mode</a:t>
            </a:r>
          </a:p>
          <a:p>
            <a:r>
              <a:rPr lang="en-CA" dirty="0"/>
              <a:t>Ability to turn on/off peripherals</a:t>
            </a:r>
          </a:p>
          <a:p>
            <a:r>
              <a:rPr lang="en-CA" dirty="0"/>
              <a:t>A low-power mode that keeps everything alive (“sleep” normally)</a:t>
            </a:r>
          </a:p>
          <a:p>
            <a:pPr lvl="1"/>
            <a:r>
              <a:rPr lang="en-CA" dirty="0"/>
              <a:t>SRAM power is ON</a:t>
            </a:r>
          </a:p>
          <a:p>
            <a:r>
              <a:rPr lang="en-CA" dirty="0"/>
              <a:t>A super-low power mode that kills most things (“stop” normally)</a:t>
            </a:r>
          </a:p>
          <a:p>
            <a:pPr lvl="1"/>
            <a:r>
              <a:rPr lang="en-CA" dirty="0"/>
              <a:t>May even turn off SRAM </a:t>
            </a:r>
            <a:r>
              <a:rPr lang="en-CA" dirty="0">
                <a:sym typeface="Wingdings" panose="05000000000000000000" pitchFamily="2" charset="2"/>
              </a:rPr>
              <a:t> RAM invalid</a:t>
            </a:r>
            <a:endParaRPr lang="en-CA" dirty="0"/>
          </a:p>
          <a:p>
            <a:r>
              <a:rPr lang="en-CA" dirty="0"/>
              <a:t>Often a mode that leaves a “Real Time Clock” (RTC) Active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AA02F-1D82-1FB4-BB06-84245F4D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C6846-A0B5-07CF-D3D0-48A40E97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0642-4597-D570-7595-00BF7A21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840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BDEA-F22B-17C2-AFE1-7FB2A177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STM32F3 Clock Gating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06C5-6A91-026E-3A49-CFA29D9FB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CA" dirty="0"/>
              <a:t>Most microcontrollers allow you to turn on/off clocks to peripherals</a:t>
            </a:r>
          </a:p>
          <a:p>
            <a:endParaRPr lang="en-CA" dirty="0"/>
          </a:p>
          <a:p>
            <a:r>
              <a:rPr lang="en-CA" dirty="0"/>
              <a:t>Many devices have them </a:t>
            </a:r>
            <a:r>
              <a:rPr lang="en-CA" u="sng" dirty="0"/>
              <a:t>off</a:t>
            </a:r>
            <a:r>
              <a:rPr lang="en-CA" dirty="0"/>
              <a:t> by default</a:t>
            </a:r>
          </a:p>
          <a:p>
            <a:endParaRPr lang="en-CA" dirty="0"/>
          </a:p>
          <a:p>
            <a:r>
              <a:rPr lang="en-CA" dirty="0"/>
              <a:t>This is a common problem if you have a device not working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0B1CB-4EC5-02D1-FB1F-D847B8F3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F0B8-4E08-679E-1671-D83203CB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13398-106C-6012-AF44-EB117643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36C31-2DE1-A374-A35A-A140C6060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76" y="1450817"/>
            <a:ext cx="4453248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80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6693-4E17-AAD0-721D-8FE46626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STM32F3 Low-Power Modes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CD1E2B-EE5B-45AB-F779-51533A9CC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506" y="1825625"/>
            <a:ext cx="6572988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143A-306B-7FA9-FA2C-01974C1B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9AE2-36A6-51FC-A5AC-4EF3BCF8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61E6-DEE0-B173-2494-D7ADA5FB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4247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F752-73D0-570E-69BF-F9B11152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Always </a:t>
            </a:r>
            <a:r>
              <a:rPr lang="en-CA" u="sng" dirty="0"/>
              <a:t>check specifics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4FD986-4B3A-2FF2-2A23-BFE7435B1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2625"/>
            <a:ext cx="10515600" cy="23541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74890-F098-9D1E-B061-A9B75F3A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BB587-6EAE-6F22-7EE6-DD74041B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682C3-7741-0A48-54F6-46687757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F24E8-2B41-AFB3-8C43-5E00042A9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91847"/>
            <a:ext cx="9608820" cy="19794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229857-B5F4-3EEB-6FA7-488E9C9472B3}"/>
              </a:ext>
            </a:extLst>
          </p:cNvPr>
          <p:cNvSpPr/>
          <p:nvPr/>
        </p:nvSpPr>
        <p:spPr>
          <a:xfrm>
            <a:off x="3237978" y="3428999"/>
            <a:ext cx="4089748" cy="316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A440B-0FA6-6A91-20CC-27A217629DB5}"/>
              </a:ext>
            </a:extLst>
          </p:cNvPr>
          <p:cNvSpPr/>
          <p:nvPr/>
        </p:nvSpPr>
        <p:spPr>
          <a:xfrm>
            <a:off x="3407079" y="5342351"/>
            <a:ext cx="3338187" cy="3382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1826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436C-FF5E-7249-6199-EA409FC9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10EE-7B42-D25D-6616-4EC7915C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A244F-1026-E149-0D0F-B0A51A16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  <p:pic>
        <p:nvPicPr>
          <p:cNvPr id="7170" name="Picture 2" descr="Plot output">
            <a:extLst>
              <a:ext uri="{FF2B5EF4-FFF2-40B4-BE49-F238E27FC236}">
                <a16:creationId xmlns:a16="http://schemas.microsoft.com/office/drawing/2014/main" id="{4AE92359-6EBD-5EAB-4DF5-EB426AA7B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55587"/>
            <a:ext cx="9761220" cy="610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609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569C-0B13-5293-B65A-FE9DB892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STM32F303: Run Mode vs. Freq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C7D23A-D7DC-E543-C4F3-5BD35B1F8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264" y="1825625"/>
            <a:ext cx="9187472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54F1-49A8-D57A-6685-0EFE50F6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3E6EE-CE62-30A4-C2ED-AF0C2A90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CE20-4A4F-FBE1-85B6-6D363CD0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269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1934-6E97-961B-6D4D-4DD0CE02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BAC6-8F3D-D589-BCBB-0B28BDD5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STM32F303: Sleep Mode vs. Freq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4731-B230-CD6F-5045-4F7BD575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1CBB-F628-9B57-CB13-A8B2CBA6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2494-8C73-16E1-12C6-F5FDCAEF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AF8730-7823-25F6-9017-538A68F58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02151"/>
            <a:ext cx="9022080" cy="478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85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F64E-F394-CCF4-A6C3-7CC8C07F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Stop &amp; Standby 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44552C-D33D-A744-8757-ACBC64541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2808"/>
            <a:ext cx="10515600" cy="40169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48ADB-B0C4-BE0C-D881-84D4D7D0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FFB58-21F5-7C04-C79F-EC7F9EB9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B9BAC-B6F0-5651-1539-4868C206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2974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48A5-9E60-5B97-F608-52FF710E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CR2032 Battery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3061-4EB9-1991-3DA0-89BC5AA14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395"/>
          </a:xfrm>
        </p:spPr>
        <p:txBody>
          <a:bodyPr/>
          <a:lstStyle/>
          <a:p>
            <a:r>
              <a:rPr lang="en-CA" dirty="0"/>
              <a:t>Our 235 </a:t>
            </a:r>
            <a:r>
              <a:rPr lang="en-CA" dirty="0" err="1"/>
              <a:t>mAh</a:t>
            </a:r>
            <a:r>
              <a:rPr lang="en-CA" dirty="0"/>
              <a:t> battery would last: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62A2E-B933-C55F-0A3E-6DFED6D5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FCE5A-50B6-79B1-A81E-E8746F40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14618-198C-A897-58A3-83501EC6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DBAA0C-AC31-B832-20B7-FE22C19CF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787750"/>
              </p:ext>
            </p:extLst>
          </p:nvPr>
        </p:nvGraphicFramePr>
        <p:xfrm>
          <a:off x="1443276" y="2756321"/>
          <a:ext cx="950447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760">
                  <a:extLst>
                    <a:ext uri="{9D8B030D-6E8A-4147-A177-3AD203B41FA5}">
                      <a16:colId xmlns:a16="http://schemas.microsoft.com/office/drawing/2014/main" val="3816470317"/>
                    </a:ext>
                  </a:extLst>
                </a:gridCol>
                <a:gridCol w="3567665">
                  <a:extLst>
                    <a:ext uri="{9D8B030D-6E8A-4147-A177-3AD203B41FA5}">
                      <a16:colId xmlns:a16="http://schemas.microsoft.com/office/drawing/2014/main" val="1655878110"/>
                    </a:ext>
                  </a:extLst>
                </a:gridCol>
                <a:gridCol w="1978929">
                  <a:extLst>
                    <a:ext uri="{9D8B030D-6E8A-4147-A177-3AD203B41FA5}">
                      <a16:colId xmlns:a16="http://schemas.microsoft.com/office/drawing/2014/main" val="487532447"/>
                    </a:ext>
                  </a:extLst>
                </a:gridCol>
                <a:gridCol w="2376118">
                  <a:extLst>
                    <a:ext uri="{9D8B030D-6E8A-4147-A177-3AD203B41FA5}">
                      <a16:colId xmlns:a16="http://schemas.microsoft.com/office/drawing/2014/main" val="1054267868"/>
                    </a:ext>
                  </a:extLst>
                </a:gridCol>
              </a:tblGrid>
              <a:tr h="313892">
                <a:tc>
                  <a:txBody>
                    <a:bodyPr/>
                    <a:lstStyle/>
                    <a:p>
                      <a:r>
                        <a:rPr lang="en-CA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Current (</a:t>
                      </a:r>
                      <a:r>
                        <a:rPr lang="en-CA" dirty="0" err="1"/>
                        <a:t>Typ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CR2032 Life (</a:t>
                      </a:r>
                      <a:r>
                        <a:rPr lang="en-CA" i="1" dirty="0"/>
                        <a:t>Ideal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6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72 MHz, Peripherals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28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8.4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6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 MHz, Peripherals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1.3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181 hours / 7.5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06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72 MHz, Peripherals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7.0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34 hours / 1.4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1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0.125 MHz, Peripherals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0.8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294 hours / 12.2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51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Regulators in run, oscillators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21 </a:t>
                      </a:r>
                      <a:r>
                        <a:rPr lang="en-CA" dirty="0" err="1"/>
                        <a:t>uA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1.3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1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IWDG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1.4 </a:t>
                      </a:r>
                      <a:r>
                        <a:rPr lang="en-CA" dirty="0" err="1"/>
                        <a:t>uA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9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535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F7FA2-4707-B35F-B86E-84A0FF60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5938D-89E6-6720-C62A-7E4AF57E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0FCB8-0C55-539F-4FEF-37CF997F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  <p:pic>
        <p:nvPicPr>
          <p:cNvPr id="8194" name="Picture 2" descr="Plot output">
            <a:extLst>
              <a:ext uri="{FF2B5EF4-FFF2-40B4-BE49-F238E27FC236}">
                <a16:creationId xmlns:a16="http://schemas.microsoft.com/office/drawing/2014/main" id="{623EBD3D-0E70-82A4-062C-DDDB224D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" y="201929"/>
            <a:ext cx="9311640" cy="581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27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CF99-EF7C-DA73-89D1-8D00A238A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Optimizing for Lowest Total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C363-71A1-C34F-3125-3A98C3DDE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Most applications require occasional (at least) wakeup to </a:t>
            </a:r>
            <a:r>
              <a:rPr lang="en-CA" i="1" dirty="0"/>
              <a:t>do something</a:t>
            </a:r>
            <a:endParaRPr lang="en-CA" dirty="0"/>
          </a:p>
          <a:p>
            <a:r>
              <a:rPr lang="en-CA" dirty="0"/>
              <a:t>We could “run fast” == higher power, but more done/second</a:t>
            </a:r>
          </a:p>
          <a:p>
            <a:r>
              <a:rPr lang="en-CA" dirty="0"/>
              <a:t>We could “run slow” == low power, but less done/second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NEVER MAKE ASSUMPTIONS. CHECK FOR DATASHEET DETAILS.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A6483-89F2-BF43-64DB-922246B9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A534-84F3-8391-3465-3C6E2467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842F2-4962-F3F3-867E-F340610A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597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26CD-471D-2E26-E39F-F5CCAFEC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17B0-0184-7605-1E6B-BB142656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Optimizing for Lowest Total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5764-E898-7F2A-8F06-FF1663874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961356"/>
            <a:ext cx="3893820" cy="4012724"/>
          </a:xfrm>
        </p:spPr>
        <p:txBody>
          <a:bodyPr>
            <a:normAutofit fontScale="92500"/>
          </a:bodyPr>
          <a:lstStyle/>
          <a:p>
            <a:r>
              <a:rPr lang="en-CA" dirty="0"/>
              <a:t>Also need to consider:</a:t>
            </a:r>
          </a:p>
          <a:p>
            <a:pPr lvl="1"/>
            <a:r>
              <a:rPr lang="en-CA" dirty="0"/>
              <a:t>Time to enter stop mode</a:t>
            </a:r>
          </a:p>
          <a:p>
            <a:pPr lvl="1"/>
            <a:r>
              <a:rPr lang="en-CA" dirty="0"/>
              <a:t>Time to wakeup from stop mode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Graph at right accounts for this &amp; adds power of running for 5000 cycles </a:t>
            </a:r>
            <a:r>
              <a:rPr lang="en-CA" i="1" dirty="0"/>
              <a:t>at different frequencies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F1866-D452-7981-F776-C9EA1D16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C739-C608-B145-7F42-B14333DC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AB212-203C-63B9-0057-1EDEBDD7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AEB82C4-DA3B-4497-B08D-FC74D3292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484" y="1556946"/>
            <a:ext cx="6128412" cy="379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85BC2E-6DB8-CB57-CDAE-E3ECC7025236}"/>
              </a:ext>
            </a:extLst>
          </p:cNvPr>
          <p:cNvSpPr txBox="1"/>
          <p:nvPr/>
        </p:nvSpPr>
        <p:spPr>
          <a:xfrm>
            <a:off x="5052164" y="53503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https://colab.research.google.com/drive/1sOcllVgW9yIy8QLc2_68LVZ1Cn8YiFNr?usp=sharing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8678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0DF7-1B36-683A-4D9A-8FBED8BC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D7DB-D177-25B1-E470-274E53C3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Optimizing for Lowest Total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BCB6-7EE5-EEC8-B6CA-2FBBCDF1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961356"/>
            <a:ext cx="4320748" cy="4012724"/>
          </a:xfrm>
        </p:spPr>
        <p:txBody>
          <a:bodyPr>
            <a:normAutofit/>
          </a:bodyPr>
          <a:lstStyle/>
          <a:p>
            <a:r>
              <a:rPr lang="en-CA" dirty="0"/>
              <a:t>Graph at right now shows how effect of wakeup/sleep time should be accounted for!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61EF-207A-1577-1295-12BAAA42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1D3A1-B27C-ACAA-D8AC-A217D58D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E4754-4CEA-ED52-BB48-346082BD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EB92A-6BC7-C85B-BCAF-31D02A105130}"/>
              </a:ext>
            </a:extLst>
          </p:cNvPr>
          <p:cNvSpPr txBox="1"/>
          <p:nvPr/>
        </p:nvSpPr>
        <p:spPr>
          <a:xfrm>
            <a:off x="5052164" y="53503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https://colab.research.google.com/drive/1sOcllVgW9yIy8QLc2_68LVZ1Cn8YiFNr?usp=sharing</a:t>
            </a:r>
            <a:r>
              <a:rPr lang="en-CA" dirty="0"/>
              <a:t>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0A1B10F-F73B-1A07-0ED9-420DA0D08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164" y="1539935"/>
            <a:ext cx="6096000" cy="377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629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5475-8BAF-A9F3-F8AE-DCDC7575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Targeting Low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7BB4-E59B-D026-EF88-843691E78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61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Very easy to have a small mistake where low-power doesn’t work. For example from STM32F3 datasheet: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2726F-3B80-A569-83FD-152FAD9D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338E4-BEFB-96F1-4C29-C6411EAB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46C6-F29B-2ABA-6AE7-3888A4EA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40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CC98CB-EBEC-499A-29C4-DAB1EEA3F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651760"/>
            <a:ext cx="9090660" cy="314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13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154B1-7B14-0534-B7A9-AE759000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Common Low-Power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0EF2-756A-A04B-4A1A-3D9BE220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4260" cy="4351338"/>
          </a:xfrm>
        </p:spPr>
        <p:txBody>
          <a:bodyPr/>
          <a:lstStyle/>
          <a:p>
            <a:r>
              <a:rPr lang="en-CA" dirty="0"/>
              <a:t>Ignore effect of pull-up resistors (10K-ohm resistor @ 3.3V = 330uA!)</a:t>
            </a:r>
          </a:p>
          <a:p>
            <a:r>
              <a:rPr lang="en-CA" dirty="0"/>
              <a:t>Floating inputs</a:t>
            </a:r>
          </a:p>
          <a:p>
            <a:r>
              <a:rPr lang="en-CA" dirty="0"/>
              <a:t>Not shutting down un-needed peripherals (see per-peripheral contribution from datasheet)</a:t>
            </a:r>
          </a:p>
          <a:p>
            <a:r>
              <a:rPr lang="en-CA" dirty="0"/>
              <a:t>Remember datasheet values are often </a:t>
            </a:r>
            <a:r>
              <a:rPr lang="en-CA" u="sng" dirty="0"/>
              <a:t>typical</a:t>
            </a:r>
            <a:r>
              <a:rPr lang="en-CA" i="1" dirty="0"/>
              <a:t>, not guaranteed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7FC0-7057-6046-AF30-D8F43B20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B556-059E-049D-A255-4017DCDF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3DF7E-BC85-6532-2967-1959988F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8937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A0D3-1863-33D3-B088-E4E1D9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Debugging Sleep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9F0E-EB9E-3A98-FA99-94A2AD15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 warned debugging sleep problems is </a:t>
            </a:r>
            <a:r>
              <a:rPr lang="en-CA" u="sng" dirty="0"/>
              <a:t>very annoying</a:t>
            </a:r>
            <a:endParaRPr lang="en-CA" dirty="0"/>
          </a:p>
          <a:p>
            <a:pPr lvl="1"/>
            <a:r>
              <a:rPr lang="en-CA" dirty="0"/>
              <a:t>Debugger cannot stay attached during debug (clocks are turned off)</a:t>
            </a:r>
          </a:p>
          <a:p>
            <a:pPr lvl="1"/>
            <a:r>
              <a:rPr lang="en-CA" dirty="0"/>
              <a:t>Need to instrument board carefully to measure low-power</a:t>
            </a:r>
          </a:p>
          <a:p>
            <a:pPr lvl="1"/>
            <a:r>
              <a:rPr lang="en-CA" dirty="0"/>
              <a:t>Have to think about long-term testing &amp; how to accelerate it (if possible)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DD20-029F-915B-619D-7B5F8C54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C0E3-DBCA-489B-4053-4176A58C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6445B-D093-63EF-2915-30E3B6D9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7337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97A4-FB39-F871-C87A-CD545F0C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Performance &amp; Power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25859-BA28-D246-35E8-C787F9C82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Analyzing performance is not as simple as you might first think!</a:t>
            </a:r>
          </a:p>
          <a:p>
            <a:r>
              <a:rPr lang="en-CA" dirty="0"/>
              <a:t>On embedded systems </a:t>
            </a:r>
            <a:r>
              <a:rPr lang="en-CA" u="sng" dirty="0"/>
              <a:t>power</a:t>
            </a:r>
            <a:r>
              <a:rPr lang="en-CA" dirty="0"/>
              <a:t> is often a bigger driver than performance</a:t>
            </a:r>
          </a:p>
          <a:p>
            <a:r>
              <a:rPr lang="en-CA" dirty="0"/>
              <a:t>We reviewed how to roughly estimate power usage</a:t>
            </a:r>
          </a:p>
          <a:p>
            <a:r>
              <a:rPr lang="en-CA" dirty="0"/>
              <a:t>We demonstrated how to simulate power usage on STM32F3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8DF9-374D-D196-C323-90A7B826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85D9-A30E-4CCC-4016-F057C214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92FC7-1779-8E7A-6BB6-49F8D062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31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1760</Words>
  <Application>Microsoft Office PowerPoint</Application>
  <PresentationFormat>Widescreen</PresentationFormat>
  <Paragraphs>373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Wingdings</vt:lpstr>
      <vt:lpstr>Office Theme</vt:lpstr>
      <vt:lpstr>Computer Architecture: Performance &amp; Power</vt:lpstr>
      <vt:lpstr>Lectures</vt:lpstr>
      <vt:lpstr>How to measure performance?</vt:lpstr>
      <vt:lpstr>Clock Speed</vt:lpstr>
      <vt:lpstr>Instructions Per Second</vt:lpstr>
      <vt:lpstr>Considerations around Performance</vt:lpstr>
      <vt:lpstr>What are we trying to benchmark anyway?</vt:lpstr>
      <vt:lpstr>Workload-Based </vt:lpstr>
      <vt:lpstr>Common Benchmarks</vt:lpstr>
      <vt:lpstr>Embedded Performance Measurements</vt:lpstr>
      <vt:lpstr>CoreMark</vt:lpstr>
      <vt:lpstr>CoreMark Results</vt:lpstr>
      <vt:lpstr>Running CoreMark</vt:lpstr>
      <vt:lpstr>Measuring Cycles on Embedded Targets</vt:lpstr>
      <vt:lpstr>Power Usage</vt:lpstr>
      <vt:lpstr>Power Usage vs. Performance</vt:lpstr>
      <vt:lpstr>Dynamic Power Consumption</vt:lpstr>
      <vt:lpstr>Factors Impacting Power Usage</vt:lpstr>
      <vt:lpstr>Power Targets</vt:lpstr>
      <vt:lpstr>e.g., CR2032 Coin Cell</vt:lpstr>
      <vt:lpstr>Simple Battery Power Measurement</vt:lpstr>
      <vt:lpstr>…kinda</vt:lpstr>
      <vt:lpstr>Other Consideration: Internal Resistance</vt:lpstr>
      <vt:lpstr>e.g., CR2032 @ 125mAh drawn </vt:lpstr>
      <vt:lpstr>Pulse Usage: Capacitor Banks</vt:lpstr>
      <vt:lpstr>Pulse Usage: Explains common sensor cycles</vt:lpstr>
      <vt:lpstr>Typical Low-Power Modes</vt:lpstr>
      <vt:lpstr>e.g., STM32F3 Clock Gating</vt:lpstr>
      <vt:lpstr>e.g., STM32F3 Low-Power Modes</vt:lpstr>
      <vt:lpstr>Always check specifics</vt:lpstr>
      <vt:lpstr>PowerPoint Presentation</vt:lpstr>
      <vt:lpstr>STM32F303: Run Mode vs. Freq</vt:lpstr>
      <vt:lpstr>STM32F303: Sleep Mode vs. Freq</vt:lpstr>
      <vt:lpstr>Stop &amp; Standby Comparison</vt:lpstr>
      <vt:lpstr>CR2032 Battery Callback</vt:lpstr>
      <vt:lpstr>PowerPoint Presentation</vt:lpstr>
      <vt:lpstr>Optimizing for Lowest Total Power</vt:lpstr>
      <vt:lpstr>Optimizing for Lowest Total Power</vt:lpstr>
      <vt:lpstr>Optimizing for Lowest Total Power</vt:lpstr>
      <vt:lpstr>Targeting Low Power</vt:lpstr>
      <vt:lpstr>Common Low-Power Mistakes</vt:lpstr>
      <vt:lpstr>Debugging Sleep Problems</vt:lpstr>
      <vt:lpstr>Performance &amp; Power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80</cp:revision>
  <dcterms:created xsi:type="dcterms:W3CDTF">2026-02-08T23:56:58Z</dcterms:created>
  <dcterms:modified xsi:type="dcterms:W3CDTF">2026-03-30T13:41:32Z</dcterms:modified>
</cp:coreProperties>
</file>