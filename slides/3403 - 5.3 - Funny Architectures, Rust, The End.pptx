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62" r:id="rId4"/>
    <p:sldId id="263" r:id="rId5"/>
    <p:sldId id="264" r:id="rId6"/>
    <p:sldId id="286" r:id="rId7"/>
    <p:sldId id="285" r:id="rId8"/>
    <p:sldId id="284" r:id="rId9"/>
    <p:sldId id="287" r:id="rId10"/>
    <p:sldId id="266" r:id="rId11"/>
    <p:sldId id="288" r:id="rId12"/>
    <p:sldId id="289" r:id="rId13"/>
    <p:sldId id="290" r:id="rId14"/>
    <p:sldId id="291" r:id="rId15"/>
    <p:sldId id="258" r:id="rId16"/>
    <p:sldId id="259" r:id="rId17"/>
    <p:sldId id="260" r:id="rId18"/>
    <p:sldId id="26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11" r:id="rId33"/>
    <p:sldId id="312" r:id="rId34"/>
    <p:sldId id="313" r:id="rId35"/>
    <p:sldId id="314" r:id="rId36"/>
    <p:sldId id="315" r:id="rId37"/>
    <p:sldId id="307" r:id="rId38"/>
    <p:sldId id="308" r:id="rId39"/>
    <p:sldId id="306" r:id="rId40"/>
    <p:sldId id="310" r:id="rId41"/>
    <p:sldId id="271" r:id="rId42"/>
    <p:sldId id="272" r:id="rId43"/>
    <p:sldId id="316" r:id="rId44"/>
    <p:sldId id="317" r:id="rId45"/>
    <p:sldId id="318" r:id="rId46"/>
    <p:sldId id="319" r:id="rId47"/>
    <p:sldId id="305" r:id="rId48"/>
    <p:sldId id="273" r:id="rId49"/>
    <p:sldId id="309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10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2026-04-01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153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F150-5201-EBD1-8FB5-8E18F45D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54CF0-FCF2-282D-8F30-371473A02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F0D81-91E9-E66B-8912-57FD31D45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4DFEA-DF57-0904-8684-D25F42FD6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40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AC09-1C06-9914-924C-ED58DCC1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154A3-04F0-9261-26EF-D20D028C0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07F7F-0E5C-FF75-FFA7-3DF819F17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9760E-7ED6-F1AF-ADC6-15C3D6D57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3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39CE-8A1F-B0C6-5348-E9F677F23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36E26-8F03-D5E9-F5FF-D0DA754AF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FB69C-53DA-2A02-8AFE-DCAE91A66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6500A-AB43-F53F-380E-A5D93158A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80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17970-FF92-CF35-4158-FA359507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B90A7-7F79-5655-3D37-F8D2A3665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7F2D3-4E05-59AA-FA3D-FB01EE8C6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24266-71A5-847B-CF0E-3198C46F8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7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4269A-DE80-4C84-9526-AFF602336309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61E2-AA84-4411-8FE7-B6CD50D85084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FE51A-9050-4F0D-A9BB-737D435CE9FE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19FA3-03B6-4087-886A-A303F217AC6F}" type="datetime1">
              <a:rPr lang="en-US" smtClean="0"/>
              <a:t>4/1/2026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A2DFF-0347-4AE8-B5C5-3C006D765CA6}" type="datetime1">
              <a:rPr lang="en-US" smtClean="0"/>
              <a:t>4/1/2026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2B3FC-B12D-4A97-95EA-9AA100C7E631}" type="datetime1">
              <a:rPr lang="en-US" smtClean="0"/>
              <a:t>4/1/2026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392C1-BC19-4B70-91C7-12D019A3CD20}" type="datetime1">
              <a:rPr lang="en-US" smtClean="0"/>
              <a:t>4/1/2026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657B2-3DDB-482E-85D6-EB2F9612E284}" type="datetime1">
              <a:rPr lang="en-US" smtClean="0"/>
              <a:t>4/1/2026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0EB46-3A80-4CCF-8BCD-6358DD72FC1C}" type="datetime1">
              <a:rPr lang="en-US" smtClean="0"/>
              <a:t>4/1/2026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C08E8-8EB5-447E-B1C1-CB3E4956C24A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1584-BB84-49CD-9C0B-10252CE758DE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225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CD64E-6793-4EED-8494-E929D947C7B3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nalog.com/en/lp/001/sharc-processor-architectural-overview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20040701093906/http:/www.transmeta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foojay.io/today/java-bytecode-simplified-journey-to-the-wonderland-part-1/#:~:text=For%20example%2C%20if%20we%20want,%2D%200:%20iconst_3%201:%20ireturn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github.com/sunsided/stm32f3disco-rust/blob/main/src/main.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dirty="0"/>
              <a:t>Weird Machines, Rust, </a:t>
            </a:r>
            <a:r>
              <a:rPr lang="en-CA" i="1" dirty="0"/>
              <a:t>The 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9408-5529-4F7B-888C-8E100DD9E8F5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6134" cy="4351338"/>
          </a:xfrm>
          <a:noFill/>
        </p:spPr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store, access, and control data?</a:t>
            </a:r>
          </a:p>
          <a:p>
            <a:r>
              <a:rPr lang="en-CA" dirty="0"/>
              <a:t>How does the machine execute instructions efficiently?</a:t>
            </a:r>
          </a:p>
          <a:p>
            <a:r>
              <a:rPr lang="en-CA" b="1" dirty="0"/>
              <a:t>What other machines &amp; compilers are out there?</a:t>
            </a:r>
          </a:p>
          <a:p>
            <a:endParaRPr lang="en-CA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5122E-5A58-4DE1-B2DD-FFF8172F3837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F316-D87A-C3EE-597C-E045BC1C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Very long instruction word (VLIW)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187D6-EA87-B2FD-83FA-22E8B5E38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Instruction words contain everything to do at once</a:t>
            </a:r>
          </a:p>
          <a:p>
            <a:pPr lvl="1"/>
            <a:r>
              <a:rPr lang="en-CA" dirty="0"/>
              <a:t>Unlike with superscalar where CPU decides what it can do, or re-orders pipeline</a:t>
            </a:r>
          </a:p>
          <a:p>
            <a:pPr lvl="1"/>
            <a:endParaRPr lang="en-CA" dirty="0"/>
          </a:p>
          <a:p>
            <a:r>
              <a:rPr lang="en-CA" dirty="0"/>
              <a:t>Motivation: the scheduling logic is complicated, why do this in hardware? Make the compiler figure it out!</a:t>
            </a:r>
          </a:p>
          <a:p>
            <a:endParaRPr lang="en-CA" dirty="0"/>
          </a:p>
          <a:p>
            <a:r>
              <a:rPr lang="en-CA" dirty="0"/>
              <a:t>E.g., the following is one (48-bit) instruction: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da-DK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f12 = f0 * f4, f8 = f8 + f12, f0 = dm(i0, m3), f4 = pm(i8, m9);</a:t>
            </a:r>
            <a:endParaRPr lang="en-CA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31437-109F-BF51-41FF-291B8185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2368F-8FF7-471D-B108-E13DE6740303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0E0E-7A88-9E03-7996-3797C10B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10E05-9D20-50E9-1C61-F267756E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33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E305-2AEF-99AC-3A5C-AE46EE53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Super Harvard Architecture Single-Chip Computer (SHARC)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8203A-B246-CF31-6E9E-ACEFF2E6B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10827"/>
            <a:ext cx="10515600" cy="966135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hlinkClick r:id="rId2"/>
              </a:rPr>
              <a:t>https://www.analog.com/en/lp/001/sharc-processor-architectural-overview.html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8C859-AEEA-B230-73B1-295DA8608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DADAF-0DD1-4966-B20F-4634E7368877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68801-D3A7-F17E-3890-389EE6BD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BF32B-F29E-503F-B260-ED0F96E6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F49AA4-262E-128D-072C-2C99FAE79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714543"/>
            <a:ext cx="8023860" cy="347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9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F84D7-46FB-DB80-0683-288D48BA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SHARC Features &amp; Oddities (designed ~1994)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B064-644B-A513-C667-8D48AD208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Two register banks (context switching)</a:t>
            </a:r>
          </a:p>
          <a:p>
            <a:r>
              <a:rPr lang="en-CA" dirty="0"/>
              <a:t>Word based addressing (</a:t>
            </a:r>
            <a:r>
              <a:rPr lang="en-CA" u="sng" dirty="0"/>
              <a:t>not</a:t>
            </a:r>
            <a:r>
              <a:rPr lang="en-CA" dirty="0"/>
              <a:t> byte-based)</a:t>
            </a:r>
          </a:p>
          <a:p>
            <a:r>
              <a:rPr lang="en-CA" dirty="0"/>
              <a:t>Instructions can be conditionally executed</a:t>
            </a:r>
          </a:p>
          <a:p>
            <a:r>
              <a:rPr lang="en-CA" dirty="0"/>
              <a:t>Built-in loop support (more on that)</a:t>
            </a:r>
          </a:p>
          <a:p>
            <a:r>
              <a:rPr lang="en-CA" dirty="0"/>
              <a:t>After a branch instruction the </a:t>
            </a:r>
            <a:r>
              <a:rPr lang="en-CA" u="sng" dirty="0"/>
              <a:t>next two instructions can be </a:t>
            </a:r>
            <a:r>
              <a:rPr lang="en-CA" dirty="0"/>
              <a:t>executed (“delay slots)”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3F495-DE4C-655A-8D9E-2213010F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BFAFC-4CA4-47B9-B1E6-3EF503005713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2A721-6EF1-836F-A628-A4F4CA36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90EBE-5230-274E-2A64-3495260A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648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0CE8-8F1E-450F-6543-4F91AFBB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Delay Slots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4CD6-C224-3886-42F5-B429CAFD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8559"/>
          </a:xfrm>
        </p:spPr>
        <p:txBody>
          <a:bodyPr>
            <a:normAutofit/>
          </a:bodyPr>
          <a:lstStyle/>
          <a:p>
            <a:r>
              <a:rPr lang="en-CA" dirty="0"/>
              <a:t>Remember the pipeline problem – why flush away those cycles?</a:t>
            </a:r>
          </a:p>
          <a:p>
            <a:r>
              <a:rPr lang="en-CA" dirty="0"/>
              <a:t>Instead we </a:t>
            </a:r>
            <a:r>
              <a:rPr lang="en-CA" u="sng" dirty="0"/>
              <a:t>execute the instructions anyway</a:t>
            </a:r>
            <a:endParaRPr lang="en-CA" dirty="0"/>
          </a:p>
          <a:p>
            <a:r>
              <a:rPr lang="en-CA" dirty="0"/>
              <a:t>Requires us to think about what instructions we want to execute: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A55F7-F6FB-79BD-A464-D85D4E54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36167-5DCA-416F-89E2-EFA0F492F1E1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D8E16-44F1-DF90-0220-BED12C56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B6DBF-469E-2EB2-A60F-D0D29802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A583C-3655-6519-97CC-8E14411816FA}"/>
              </a:ext>
            </a:extLst>
          </p:cNvPr>
          <p:cNvSpPr txBox="1"/>
          <p:nvPr/>
        </p:nvSpPr>
        <p:spPr>
          <a:xfrm>
            <a:off x="2209800" y="3798618"/>
            <a:ext cx="34182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loop_start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add r0, #1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r2, [r0, #8000]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str r2, [r0, #8000]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r0, #5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loop_start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48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45F6D-16AD-526F-9B35-50CF44BD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1C51-11CC-F9A7-EBEB-060BEAE05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Remember: Pipeline with Branch FLUSH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EB42F1A4-CDB4-ECC8-BE45-FA823E9E8966}"/>
              </a:ext>
            </a:extLst>
          </p:cNvPr>
          <p:cNvSpPr/>
          <p:nvPr/>
        </p:nvSpPr>
        <p:spPr>
          <a:xfrm>
            <a:off x="227136" y="2526342"/>
            <a:ext cx="1929539" cy="221880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B8A63-2BDC-915E-C665-E5DAEC010096}"/>
              </a:ext>
            </a:extLst>
          </p:cNvPr>
          <p:cNvSpPr txBox="1"/>
          <p:nvPr/>
        </p:nvSpPr>
        <p:spPr>
          <a:xfrm>
            <a:off x="358872" y="4783897"/>
            <a:ext cx="176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 Media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55C3D-7B43-6A6A-E5D6-79AD13D18A36}"/>
              </a:ext>
            </a:extLst>
          </p:cNvPr>
          <p:cNvSpPr txBox="1"/>
          <p:nvPr/>
        </p:nvSpPr>
        <p:spPr>
          <a:xfrm>
            <a:off x="2422815" y="2229899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E3C8A-C48F-6316-59B8-5DDDE978734B}"/>
              </a:ext>
            </a:extLst>
          </p:cNvPr>
          <p:cNvSpPr txBox="1"/>
          <p:nvPr/>
        </p:nvSpPr>
        <p:spPr>
          <a:xfrm>
            <a:off x="2382409" y="2953776"/>
            <a:ext cx="1213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CDE8F-4580-896D-DCF4-969DA02B5E64}"/>
              </a:ext>
            </a:extLst>
          </p:cNvPr>
          <p:cNvSpPr txBox="1"/>
          <p:nvPr/>
        </p:nvSpPr>
        <p:spPr>
          <a:xfrm>
            <a:off x="2388823" y="3579649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FFF7-D4D5-6517-D3BC-6F07F4916A8F}"/>
              </a:ext>
            </a:extLst>
          </p:cNvPr>
          <p:cNvSpPr/>
          <p:nvPr/>
        </p:nvSpPr>
        <p:spPr>
          <a:xfrm>
            <a:off x="3341799" y="2194114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AB25F2-4142-D01B-C074-4273A29C7B44}"/>
              </a:ext>
            </a:extLst>
          </p:cNvPr>
          <p:cNvSpPr/>
          <p:nvPr/>
        </p:nvSpPr>
        <p:spPr>
          <a:xfrm>
            <a:off x="5146255" y="2902728"/>
            <a:ext cx="163061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bge</a:t>
            </a:r>
            <a:r>
              <a:rPr lang="en-C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a1,a0,16 &lt;.L3&gt;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26D677-3781-4612-C7F8-910576A08849}"/>
              </a:ext>
            </a:extLst>
          </p:cNvPr>
          <p:cNvSpPr/>
          <p:nvPr/>
        </p:nvSpPr>
        <p:spPr>
          <a:xfrm>
            <a:off x="7023101" y="3579649"/>
            <a:ext cx="162299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 =.L3 if a1 ≥ a0</a:t>
            </a:r>
            <a:endParaRPr lang="en-CA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665A39-5DDE-3A6E-03F7-DB2D6D885577}"/>
              </a:ext>
            </a:extLst>
          </p:cNvPr>
          <p:cNvSpPr/>
          <p:nvPr/>
        </p:nvSpPr>
        <p:spPr>
          <a:xfrm>
            <a:off x="5153875" y="2194114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29361D-9C58-A04B-558B-E8B9FF15585A}"/>
              </a:ext>
            </a:extLst>
          </p:cNvPr>
          <p:cNvSpPr/>
          <p:nvPr/>
        </p:nvSpPr>
        <p:spPr>
          <a:xfrm>
            <a:off x="7015481" y="2902728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add    a0,a0,a1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1669DB-7EDC-E07D-A9B5-B2EB8A6CF62E}"/>
              </a:ext>
            </a:extLst>
          </p:cNvPr>
          <p:cNvSpPr/>
          <p:nvPr/>
        </p:nvSpPr>
        <p:spPr>
          <a:xfrm>
            <a:off x="7023101" y="2200707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0x953e</a:t>
            </a:r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DF1EF9-E2C7-0407-1A25-C5B837F3F92A}"/>
              </a:ext>
            </a:extLst>
          </p:cNvPr>
          <p:cNvSpPr/>
          <p:nvPr/>
        </p:nvSpPr>
        <p:spPr>
          <a:xfrm>
            <a:off x="8934237" y="3615761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💀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3ABDD6-04C1-E127-5951-9067810DC5F4}"/>
              </a:ext>
            </a:extLst>
          </p:cNvPr>
          <p:cNvSpPr/>
          <p:nvPr/>
        </p:nvSpPr>
        <p:spPr>
          <a:xfrm>
            <a:off x="8934237" y="2897992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💀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6373C8-4DBF-1B93-7C66-CB3E13BCD7C0}"/>
              </a:ext>
            </a:extLst>
          </p:cNvPr>
          <p:cNvSpPr/>
          <p:nvPr/>
        </p:nvSpPr>
        <p:spPr>
          <a:xfrm>
            <a:off x="8934237" y="2200707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  <a:endParaRPr lang="en-CA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D059F9-BDAC-F425-57ED-6108ACD02214}"/>
              </a:ext>
            </a:extLst>
          </p:cNvPr>
          <p:cNvCxnSpPr>
            <a:cxnSpLocks/>
          </p:cNvCxnSpPr>
          <p:nvPr/>
        </p:nvCxnSpPr>
        <p:spPr>
          <a:xfrm>
            <a:off x="4842875" y="271574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799DB8-F3CF-96C9-8F48-04D6D6539D2C}"/>
              </a:ext>
            </a:extLst>
          </p:cNvPr>
          <p:cNvCxnSpPr>
            <a:cxnSpLocks/>
          </p:cNvCxnSpPr>
          <p:nvPr/>
        </p:nvCxnSpPr>
        <p:spPr>
          <a:xfrm>
            <a:off x="6712101" y="3407361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D5C2AA-B7A6-5C28-1BBE-CE23B4759535}"/>
              </a:ext>
            </a:extLst>
          </p:cNvPr>
          <p:cNvCxnSpPr>
            <a:cxnSpLocks/>
          </p:cNvCxnSpPr>
          <p:nvPr/>
        </p:nvCxnSpPr>
        <p:spPr>
          <a:xfrm>
            <a:off x="6712101" y="271210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73A07C-9530-84B5-FAD2-844AE80715C9}"/>
              </a:ext>
            </a:extLst>
          </p:cNvPr>
          <p:cNvCxnSpPr>
            <a:cxnSpLocks/>
          </p:cNvCxnSpPr>
          <p:nvPr/>
        </p:nvCxnSpPr>
        <p:spPr>
          <a:xfrm>
            <a:off x="8630857" y="3417765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EE503C-C371-6537-B7D6-AE4707C23CBB}"/>
              </a:ext>
            </a:extLst>
          </p:cNvPr>
          <p:cNvCxnSpPr>
            <a:cxnSpLocks/>
          </p:cNvCxnSpPr>
          <p:nvPr/>
        </p:nvCxnSpPr>
        <p:spPr>
          <a:xfrm>
            <a:off x="8646097" y="2720480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9F36F67-755A-5148-CCB0-21FF12A71A93}"/>
              </a:ext>
            </a:extLst>
          </p:cNvPr>
          <p:cNvSpPr txBox="1"/>
          <p:nvPr/>
        </p:nvSpPr>
        <p:spPr>
          <a:xfrm>
            <a:off x="1682512" y="1506022"/>
            <a:ext cx="1043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1                               2                               3                               4                            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06F9B9-54EA-FEE8-CB71-9393087CCCF6}"/>
              </a:ext>
            </a:extLst>
          </p:cNvPr>
          <p:cNvSpPr txBox="1"/>
          <p:nvPr/>
        </p:nvSpPr>
        <p:spPr>
          <a:xfrm>
            <a:off x="5340501" y="406706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C91525D-8F1D-1699-0CEF-9C8A325A1399}"/>
              </a:ext>
            </a:extLst>
          </p:cNvPr>
          <p:cNvCxnSpPr>
            <a:cxnSpLocks/>
          </p:cNvCxnSpPr>
          <p:nvPr/>
        </p:nvCxnSpPr>
        <p:spPr>
          <a:xfrm>
            <a:off x="3595823" y="4436401"/>
            <a:ext cx="83929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F710C05-26BA-FB5E-BCE9-A6881EF8BCCA}"/>
              </a:ext>
            </a:extLst>
          </p:cNvPr>
          <p:cNvSpPr txBox="1"/>
          <p:nvPr/>
        </p:nvSpPr>
        <p:spPr>
          <a:xfrm>
            <a:off x="2989581" y="5870129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72F73E-F833-8E07-2B84-239DF5FBD4D0}"/>
              </a:ext>
            </a:extLst>
          </p:cNvPr>
          <p:cNvSpPr/>
          <p:nvPr/>
        </p:nvSpPr>
        <p:spPr>
          <a:xfrm>
            <a:off x="638358" y="3532582"/>
            <a:ext cx="1399754" cy="2937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2D1C41-22A3-4F35-D95C-9229345F6A18}"/>
              </a:ext>
            </a:extLst>
          </p:cNvPr>
          <p:cNvSpPr/>
          <p:nvPr/>
        </p:nvSpPr>
        <p:spPr>
          <a:xfrm>
            <a:off x="638358" y="38262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1C482-9410-E842-BA02-8823C2626AC2}"/>
              </a:ext>
            </a:extLst>
          </p:cNvPr>
          <p:cNvSpPr/>
          <p:nvPr/>
        </p:nvSpPr>
        <p:spPr>
          <a:xfrm>
            <a:off x="638358" y="4087129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D5999-F7BC-BF77-9C0D-323B16BBFDB0}"/>
              </a:ext>
            </a:extLst>
          </p:cNvPr>
          <p:cNvSpPr/>
          <p:nvPr/>
        </p:nvSpPr>
        <p:spPr>
          <a:xfrm>
            <a:off x="638358" y="3271737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908607-93A1-F36D-01D9-B4871B2BA14B}"/>
              </a:ext>
            </a:extLst>
          </p:cNvPr>
          <p:cNvSpPr/>
          <p:nvPr/>
        </p:nvSpPr>
        <p:spPr>
          <a:xfrm>
            <a:off x="638358" y="43538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F27477-C9B1-6665-1F37-9631DA83916F}"/>
              </a:ext>
            </a:extLst>
          </p:cNvPr>
          <p:cNvSpPr/>
          <p:nvPr/>
        </p:nvSpPr>
        <p:spPr>
          <a:xfrm>
            <a:off x="10763219" y="2206611"/>
            <a:ext cx="1352581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0B76A3-A1B3-68DB-8934-D7F2A8BC7CE6}"/>
              </a:ext>
            </a:extLst>
          </p:cNvPr>
          <p:cNvSpPr/>
          <p:nvPr/>
        </p:nvSpPr>
        <p:spPr>
          <a:xfrm>
            <a:off x="10745954" y="3620497"/>
            <a:ext cx="136984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6AE5B-A1F2-0FF2-EBB5-0D7EB353DEB5}"/>
              </a:ext>
            </a:extLst>
          </p:cNvPr>
          <p:cNvSpPr/>
          <p:nvPr/>
        </p:nvSpPr>
        <p:spPr>
          <a:xfrm>
            <a:off x="10745954" y="2902728"/>
            <a:ext cx="136984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sub a0,a0,a1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03A136-A48A-5D62-96C5-742D693DBF10}"/>
              </a:ext>
            </a:extLst>
          </p:cNvPr>
          <p:cNvCxnSpPr>
            <a:cxnSpLocks/>
          </p:cNvCxnSpPr>
          <p:nvPr/>
        </p:nvCxnSpPr>
        <p:spPr>
          <a:xfrm>
            <a:off x="10541993" y="2705819"/>
            <a:ext cx="203961" cy="20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D15D2615-EB02-58C8-99D4-7A1B55A31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ECED3403 Computer Architecture. Colin O'Flynn.</a:t>
            </a:r>
            <a:endParaRPr lang="en-CA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BCE645C6-C8FE-145C-27A0-CC933AED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7</a:t>
            </a:fld>
            <a:endParaRPr lang="en-CA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7FAC9F51-66B0-3C55-AC7F-6FCB5761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311B-8DBD-47F9-A4A9-817FDBCDC3B9}" type="datetime1">
              <a:rPr lang="en-US" smtClean="0"/>
              <a:t>4/1/2026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13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" grpId="0" animBg="1"/>
      <p:bldP spid="3" grpId="1" animBg="1"/>
      <p:bldP spid="4" grpId="0" animBg="1"/>
      <p:bldP spid="4" grpId="1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E8AC2-B344-65B0-F86B-BA4D29A9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Delay Slots: Just Execute Them!!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97812935-42EF-C6E5-0C7B-D3C1B802CD0D}"/>
              </a:ext>
            </a:extLst>
          </p:cNvPr>
          <p:cNvSpPr/>
          <p:nvPr/>
        </p:nvSpPr>
        <p:spPr>
          <a:xfrm>
            <a:off x="227136" y="2526342"/>
            <a:ext cx="1929539" cy="2218809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</a:p>
          <a:p>
            <a:pPr lvl="1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10D50-BAC2-87AD-D067-9DBF4C65CED4}"/>
              </a:ext>
            </a:extLst>
          </p:cNvPr>
          <p:cNvSpPr txBox="1"/>
          <p:nvPr/>
        </p:nvSpPr>
        <p:spPr>
          <a:xfrm>
            <a:off x="358872" y="4783897"/>
            <a:ext cx="176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Storage Media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B4B53-AA1D-0088-25D7-739824F443D9}"/>
              </a:ext>
            </a:extLst>
          </p:cNvPr>
          <p:cNvSpPr txBox="1"/>
          <p:nvPr/>
        </p:nvSpPr>
        <p:spPr>
          <a:xfrm>
            <a:off x="2422815" y="2229899"/>
            <a:ext cx="89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Fetch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2566A-A55E-7218-C1BA-64BFF2E6375D}"/>
              </a:ext>
            </a:extLst>
          </p:cNvPr>
          <p:cNvSpPr txBox="1"/>
          <p:nvPr/>
        </p:nvSpPr>
        <p:spPr>
          <a:xfrm>
            <a:off x="2382408" y="2953776"/>
            <a:ext cx="119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389C1-B2E4-3C43-16FE-3CCC4EE1C461}"/>
              </a:ext>
            </a:extLst>
          </p:cNvPr>
          <p:cNvSpPr txBox="1"/>
          <p:nvPr/>
        </p:nvSpPr>
        <p:spPr>
          <a:xfrm>
            <a:off x="2388823" y="3579649"/>
            <a:ext cx="129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Execute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C5D38E-CAB3-B82B-C54D-25E212B21A8D}"/>
              </a:ext>
            </a:extLst>
          </p:cNvPr>
          <p:cNvSpPr/>
          <p:nvPr/>
        </p:nvSpPr>
        <p:spPr>
          <a:xfrm>
            <a:off x="3341799" y="2194114"/>
            <a:ext cx="150107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0x00a5d463</a:t>
            </a:r>
            <a:endParaRPr lang="en-CA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E6094-6536-CFDB-70B2-1D3C54AE0A44}"/>
              </a:ext>
            </a:extLst>
          </p:cNvPr>
          <p:cNvSpPr/>
          <p:nvPr/>
        </p:nvSpPr>
        <p:spPr>
          <a:xfrm>
            <a:off x="5146255" y="2902728"/>
            <a:ext cx="163061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bge</a:t>
            </a:r>
            <a:r>
              <a:rPr lang="en-CA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a1,a0,16 &lt;.L3&gt;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D8603-BF14-87F7-556C-C6E10F1F5B23}"/>
              </a:ext>
            </a:extLst>
          </p:cNvPr>
          <p:cNvSpPr/>
          <p:nvPr/>
        </p:nvSpPr>
        <p:spPr>
          <a:xfrm>
            <a:off x="7023101" y="3579649"/>
            <a:ext cx="1622996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PC =.L3 if a1 ≥ a0</a:t>
            </a:r>
            <a:endParaRPr lang="en-CA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6007BE-FBD2-2EFA-50A9-097D85A46925}"/>
              </a:ext>
            </a:extLst>
          </p:cNvPr>
          <p:cNvSpPr/>
          <p:nvPr/>
        </p:nvSpPr>
        <p:spPr>
          <a:xfrm>
            <a:off x="5153875" y="2194114"/>
            <a:ext cx="155822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0x952e</a:t>
            </a:r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BA88B0-09D4-8389-2907-B15B6B0BAAAF}"/>
              </a:ext>
            </a:extLst>
          </p:cNvPr>
          <p:cNvSpPr/>
          <p:nvPr/>
        </p:nvSpPr>
        <p:spPr>
          <a:xfrm>
            <a:off x="7015481" y="2902728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add    a0,a0,a1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ED530-4D4D-FF15-C88E-DCA632E11195}"/>
              </a:ext>
            </a:extLst>
          </p:cNvPr>
          <p:cNvSpPr/>
          <p:nvPr/>
        </p:nvSpPr>
        <p:spPr>
          <a:xfrm>
            <a:off x="7023101" y="2200707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0x953e</a:t>
            </a:r>
            <a:endParaRPr lang="en-CA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995CA-C110-B25F-8AAF-24ADCBB6962D}"/>
              </a:ext>
            </a:extLst>
          </p:cNvPr>
          <p:cNvSpPr/>
          <p:nvPr/>
        </p:nvSpPr>
        <p:spPr>
          <a:xfrm>
            <a:off x="8934237" y="3615761"/>
            <a:ext cx="1615376" cy="514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a0 += a1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870B20-8ED5-4D74-FB51-57729668468E}"/>
              </a:ext>
            </a:extLst>
          </p:cNvPr>
          <p:cNvSpPr/>
          <p:nvPr/>
        </p:nvSpPr>
        <p:spPr>
          <a:xfrm>
            <a:off x="8934237" y="2897992"/>
            <a:ext cx="1615376" cy="5143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add    a0,a0,a5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5FE54-61FE-8E64-BD48-BD45F2338517}"/>
              </a:ext>
            </a:extLst>
          </p:cNvPr>
          <p:cNvSpPr/>
          <p:nvPr/>
        </p:nvSpPr>
        <p:spPr>
          <a:xfrm>
            <a:off x="8934237" y="2200707"/>
            <a:ext cx="161537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0x8d0d</a:t>
            </a:r>
            <a:endParaRPr lang="en-CA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8688A7-1041-F6CF-B30F-74645ED857EA}"/>
              </a:ext>
            </a:extLst>
          </p:cNvPr>
          <p:cNvCxnSpPr>
            <a:cxnSpLocks/>
          </p:cNvCxnSpPr>
          <p:nvPr/>
        </p:nvCxnSpPr>
        <p:spPr>
          <a:xfrm>
            <a:off x="4842875" y="271574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045267-2B44-22C0-D9D1-69AB053176E2}"/>
              </a:ext>
            </a:extLst>
          </p:cNvPr>
          <p:cNvCxnSpPr>
            <a:cxnSpLocks/>
          </p:cNvCxnSpPr>
          <p:nvPr/>
        </p:nvCxnSpPr>
        <p:spPr>
          <a:xfrm>
            <a:off x="6712101" y="3407361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45F32F-59FF-EC2D-43C4-A69E2782E906}"/>
              </a:ext>
            </a:extLst>
          </p:cNvPr>
          <p:cNvCxnSpPr>
            <a:cxnSpLocks/>
          </p:cNvCxnSpPr>
          <p:nvPr/>
        </p:nvCxnSpPr>
        <p:spPr>
          <a:xfrm>
            <a:off x="6712101" y="2712104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1FCCA9-F966-5CB2-0C89-203A022B7F04}"/>
              </a:ext>
            </a:extLst>
          </p:cNvPr>
          <p:cNvCxnSpPr>
            <a:cxnSpLocks/>
          </p:cNvCxnSpPr>
          <p:nvPr/>
        </p:nvCxnSpPr>
        <p:spPr>
          <a:xfrm>
            <a:off x="8630857" y="3417765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91215C-801D-D1C1-DD46-FC0DE7E8D2EB}"/>
              </a:ext>
            </a:extLst>
          </p:cNvPr>
          <p:cNvCxnSpPr>
            <a:cxnSpLocks/>
          </p:cNvCxnSpPr>
          <p:nvPr/>
        </p:nvCxnSpPr>
        <p:spPr>
          <a:xfrm>
            <a:off x="8646097" y="2720480"/>
            <a:ext cx="303380" cy="1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9858123-1D08-A43C-8A4E-DCA4D94A74A8}"/>
              </a:ext>
            </a:extLst>
          </p:cNvPr>
          <p:cNvSpPr txBox="1"/>
          <p:nvPr/>
        </p:nvSpPr>
        <p:spPr>
          <a:xfrm>
            <a:off x="1682512" y="1506022"/>
            <a:ext cx="10433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Clock Cycle:                 1                               2                               3                               4                            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E24A63-2145-2AB2-57B6-08977180261C}"/>
              </a:ext>
            </a:extLst>
          </p:cNvPr>
          <p:cNvSpPr txBox="1"/>
          <p:nvPr/>
        </p:nvSpPr>
        <p:spPr>
          <a:xfrm>
            <a:off x="5340501" y="4067069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Time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1D10E3-4AF0-0333-9769-AC3AB9493B1D}"/>
              </a:ext>
            </a:extLst>
          </p:cNvPr>
          <p:cNvCxnSpPr>
            <a:cxnSpLocks/>
          </p:cNvCxnSpPr>
          <p:nvPr/>
        </p:nvCxnSpPr>
        <p:spPr>
          <a:xfrm>
            <a:off x="3595823" y="4436401"/>
            <a:ext cx="83929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1E9C20-CBBB-94DD-2A5F-BDA1AF00A5E1}"/>
              </a:ext>
            </a:extLst>
          </p:cNvPr>
          <p:cNvSpPr txBox="1"/>
          <p:nvPr/>
        </p:nvSpPr>
        <p:spPr>
          <a:xfrm>
            <a:off x="2989581" y="5870129"/>
            <a:ext cx="806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i="1" dirty="0"/>
              <a:t>NOTE: in RISC-V </a:t>
            </a:r>
            <a:r>
              <a:rPr lang="en-CA" b="1" i="1" dirty="0">
                <a:latin typeface="Consolas" panose="020B0609020204030204" pitchFamily="49" charset="0"/>
              </a:rPr>
              <a:t>a0/a1</a:t>
            </a:r>
            <a:r>
              <a:rPr lang="en-CA" i="1" dirty="0"/>
              <a:t>/</a:t>
            </a:r>
            <a:r>
              <a:rPr lang="en-CA" i="1" dirty="0" err="1"/>
              <a:t>etc</a:t>
            </a:r>
            <a:r>
              <a:rPr lang="en-CA" i="1" dirty="0"/>
              <a:t> are general-purpose registers.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FD81F-1A01-9352-D4AF-62E8E90B902A}"/>
              </a:ext>
            </a:extLst>
          </p:cNvPr>
          <p:cNvSpPr/>
          <p:nvPr/>
        </p:nvSpPr>
        <p:spPr>
          <a:xfrm>
            <a:off x="638358" y="3532582"/>
            <a:ext cx="1399754" cy="2937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3BA33F-8759-6ADA-B75C-42D32003C9D6}"/>
              </a:ext>
            </a:extLst>
          </p:cNvPr>
          <p:cNvSpPr/>
          <p:nvPr/>
        </p:nvSpPr>
        <p:spPr>
          <a:xfrm>
            <a:off x="638358" y="38262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B598B-DFB2-1F54-E69F-97986D76B1D3}"/>
              </a:ext>
            </a:extLst>
          </p:cNvPr>
          <p:cNvSpPr/>
          <p:nvPr/>
        </p:nvSpPr>
        <p:spPr>
          <a:xfrm>
            <a:off x="638358" y="4087129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C736F-1403-BC57-76BE-C594FDE71F59}"/>
              </a:ext>
            </a:extLst>
          </p:cNvPr>
          <p:cNvSpPr/>
          <p:nvPr/>
        </p:nvSpPr>
        <p:spPr>
          <a:xfrm>
            <a:off x="638358" y="3271737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5AAC3B-8910-FBFD-7BDE-D8DE0CEEA4AC}"/>
              </a:ext>
            </a:extLst>
          </p:cNvPr>
          <p:cNvSpPr/>
          <p:nvPr/>
        </p:nvSpPr>
        <p:spPr>
          <a:xfrm>
            <a:off x="638358" y="4353886"/>
            <a:ext cx="1399754" cy="2608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1BD849-94FA-7759-9216-452699B77600}"/>
              </a:ext>
            </a:extLst>
          </p:cNvPr>
          <p:cNvSpPr/>
          <p:nvPr/>
        </p:nvSpPr>
        <p:spPr>
          <a:xfrm>
            <a:off x="10763219" y="2206611"/>
            <a:ext cx="1352581" cy="514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0x8082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9B7396-1580-11FA-8DDE-253A06481BDF}"/>
              </a:ext>
            </a:extLst>
          </p:cNvPr>
          <p:cNvSpPr/>
          <p:nvPr/>
        </p:nvSpPr>
        <p:spPr>
          <a:xfrm>
            <a:off x="10745954" y="3620497"/>
            <a:ext cx="1369846" cy="514350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a0 += a5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D54C37-7294-C6D9-80AE-E463F6D5D777}"/>
              </a:ext>
            </a:extLst>
          </p:cNvPr>
          <p:cNvSpPr/>
          <p:nvPr/>
        </p:nvSpPr>
        <p:spPr>
          <a:xfrm>
            <a:off x="10745954" y="2902728"/>
            <a:ext cx="1369846" cy="5143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sub a0,a0,a1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910405-D482-F640-EC4D-C0F33CD9C196}"/>
              </a:ext>
            </a:extLst>
          </p:cNvPr>
          <p:cNvCxnSpPr>
            <a:cxnSpLocks/>
          </p:cNvCxnSpPr>
          <p:nvPr/>
        </p:nvCxnSpPr>
        <p:spPr>
          <a:xfrm>
            <a:off x="10541993" y="2705819"/>
            <a:ext cx="203961" cy="20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463A59A5-AD23-6D66-B080-F8434DD9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ECED3403 Computer Architecture. Colin O'Flynn.</a:t>
            </a:r>
            <a:endParaRPr lang="en-CA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220C5F7-BA95-6979-BBB1-5992AF558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BF0A6-A1D0-4715-A1A0-9C805E726EC2}" type="slidenum">
              <a:rPr lang="en-CA" smtClean="0"/>
              <a:t>8</a:t>
            </a:fld>
            <a:endParaRPr lang="en-CA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28DD0550-F0D8-EDCE-B538-EDBF8806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D8E9-4266-4A65-A903-D1BE1AA55562}" type="datetime1">
              <a:rPr lang="en-US" smtClean="0"/>
              <a:t>4/1/2026</a:t>
            </a:fld>
            <a:endParaRPr lang="en-CA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9FFBE6D-ACF3-5D30-12B4-3C9513718925}"/>
              </a:ext>
            </a:extLst>
          </p:cNvPr>
          <p:cNvCxnSpPr>
            <a:cxnSpLocks/>
          </p:cNvCxnSpPr>
          <p:nvPr/>
        </p:nvCxnSpPr>
        <p:spPr>
          <a:xfrm>
            <a:off x="10549613" y="3413710"/>
            <a:ext cx="211581" cy="222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64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" grpId="0" animBg="1"/>
      <p:bldP spid="3" grpId="1" animBg="1"/>
      <p:bldP spid="4" grpId="0" animBg="1"/>
      <p:bldP spid="4" grpId="1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E151E-0185-E357-D18D-B97208D2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0270-7106-5EF4-9BFF-C0DC0A6E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Delay Slots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5912F-A60F-C877-14D1-9B9C86B0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C2D9C-DD43-407B-AE3E-7AD0734E81D1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5DC48-282B-A0E6-BCDA-DD61C457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70CD2-62C4-663A-3B38-788F762A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2D3DD-860B-40D7-69E3-C6330402392F}"/>
              </a:ext>
            </a:extLst>
          </p:cNvPr>
          <p:cNvSpPr txBox="1"/>
          <p:nvPr/>
        </p:nvSpPr>
        <p:spPr>
          <a:xfrm>
            <a:off x="1092044" y="2687875"/>
            <a:ext cx="34182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loop_start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add r0, #1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r2, [r0, #8000]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str r2, [r0, #8000]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r0, #5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loop_start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86C42-96BB-510F-CDE3-E60604148069}"/>
              </a:ext>
            </a:extLst>
          </p:cNvPr>
          <p:cNvSpPr txBox="1"/>
          <p:nvPr/>
        </p:nvSpPr>
        <p:spPr>
          <a:xfrm>
            <a:off x="6563953" y="2687875"/>
            <a:ext cx="34182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loop_start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add r0, #1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r0, #5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loop_start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r2, [r0, #8000]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str r2, [r0, #8000]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58FB8D-0C2D-A3CE-389A-9AAF4BC0761D}"/>
              </a:ext>
            </a:extLst>
          </p:cNvPr>
          <p:cNvCxnSpPr/>
          <p:nvPr/>
        </p:nvCxnSpPr>
        <p:spPr>
          <a:xfrm>
            <a:off x="4038600" y="3429000"/>
            <a:ext cx="2827815" cy="542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D5E0E9-748C-88B6-50CF-8675589D85BE}"/>
              </a:ext>
            </a:extLst>
          </p:cNvPr>
          <p:cNvCxnSpPr/>
          <p:nvPr/>
        </p:nvCxnSpPr>
        <p:spPr>
          <a:xfrm>
            <a:off x="4038600" y="3700375"/>
            <a:ext cx="2827815" cy="542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06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C712A-236A-B577-2DFD-92B7C3D3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Fibonacci Example with SHARC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87E9B-BAE5-3FF9-D30E-349B8271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9C12-61E2-4A5B-B6E8-625482AD14AD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B9366-2176-DDCA-C7E0-F84BEA00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8A224-4811-0A77-B351-D44E2CF8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9F9FEF-1AE8-85E0-AA1F-4075509297C2}"/>
              </a:ext>
            </a:extLst>
          </p:cNvPr>
          <p:cNvSpPr txBox="1"/>
          <p:nvPr/>
        </p:nvSpPr>
        <p:spPr>
          <a:xfrm>
            <a:off x="838200" y="5478443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https://zephray.me/post/sharc_tutorial_2/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ABD9E-F9E6-E7AB-EB85-7A19149351D4}"/>
              </a:ext>
            </a:extLst>
          </p:cNvPr>
          <p:cNvSpPr txBox="1"/>
          <p:nvPr/>
        </p:nvSpPr>
        <p:spPr>
          <a:xfrm>
            <a:off x="838200" y="2095610"/>
            <a:ext cx="540412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1" dirty="0">
                <a:solidFill>
                  <a:srgbClr val="8F5902"/>
                </a:solidFill>
                <a:effectLst/>
                <a:latin typeface="Courier New" panose="02070309020205020404" pitchFamily="49" charset="0"/>
              </a:rPr>
              <a:t>// Calculate the Fibonacci number </a:t>
            </a:r>
            <a:r>
              <a:rPr lang="en-US" b="0" i="1" dirty="0" err="1">
                <a:solidFill>
                  <a:srgbClr val="8F5902"/>
                </a:solidFill>
                <a:effectLst/>
                <a:latin typeface="Courier New" panose="02070309020205020404" pitchFamily="49" charset="0"/>
              </a:rPr>
              <a:t>Fn</a:t>
            </a:r>
            <a:r>
              <a:rPr lang="en-US" b="0" i="1" dirty="0">
                <a:solidFill>
                  <a:srgbClr val="8F5902"/>
                </a:solidFill>
                <a:effectLst/>
                <a:latin typeface="Courier New" panose="02070309020205020404" pitchFamily="49" charset="0"/>
              </a:rPr>
              <a:t>, n need to be at least 2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204A87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fibonacci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204A87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204A87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CF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CF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204A87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204A87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CF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++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E5C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204A87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i="0" dirty="0">
                <a:solidFill>
                  <a:srgbClr val="F8F8F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6F5EFA-8536-F461-DF27-7FED7A90F4D7}"/>
              </a:ext>
            </a:extLst>
          </p:cNvPr>
          <p:cNvSpPr txBox="1"/>
          <p:nvPr/>
        </p:nvSpPr>
        <p:spPr>
          <a:xfrm>
            <a:off x="7434409" y="2372609"/>
            <a:ext cx="40152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r2 = 1; // loop counter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r8 = 0;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r12 =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loop_start: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r0 = r8 + r12;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r8 = r12;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r12 = r0;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r2 = r2 + 1;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comp(r2, r4);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if lt jump loop_start;</a:t>
            </a:r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3FAFC-55C8-E0F2-46A5-70405E69A052}"/>
              </a:ext>
            </a:extLst>
          </p:cNvPr>
          <p:cNvSpPr txBox="1"/>
          <p:nvPr/>
        </p:nvSpPr>
        <p:spPr>
          <a:xfrm>
            <a:off x="6933264" y="5374174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8 cycles per iteration (6 instructions + 2 stalls)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5112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1C54-1B76-171B-65D3-64B80992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Adding Delay Slots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15C4E-25C8-0414-DBC6-ADAA6701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B7BD-4F6F-4614-A56D-D4924B198BA6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54AC6-23BF-0A99-8A68-317186B8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597C0-5005-6B8A-D4B1-5E936949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A7C8C-D11A-5B25-0386-89A29C607A3D}"/>
              </a:ext>
            </a:extLst>
          </p:cNvPr>
          <p:cNvSpPr txBox="1"/>
          <p:nvPr/>
        </p:nvSpPr>
        <p:spPr>
          <a:xfrm>
            <a:off x="2801168" y="222152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r2 = 1; // loop counter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r8 = 0;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r12 =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loop_start: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r0 = r8 + r12;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r2 = r2 + 1;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comp(r2, r4);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if lt jump loop_start (db);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r8 = r12;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    r12 = r0;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9A230-A8F9-F9A3-A64C-41B489F881F9}"/>
              </a:ext>
            </a:extLst>
          </p:cNvPr>
          <p:cNvSpPr txBox="1"/>
          <p:nvPr/>
        </p:nvSpPr>
        <p:spPr>
          <a:xfrm>
            <a:off x="2843709" y="5456180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6cycles per iteration (no stalls)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00294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DA0FA-FDE0-7C40-1C28-6CF25BDF7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Loop Counter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A9AA5-1E39-182B-FA79-A1D4EB3D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AA87-05E6-4495-B45C-E8F6822E0765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27AAE-7D48-B4BC-89D8-A70BB86C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9096F-9A90-C5BC-415E-F78FCE26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4F6A2-1A0F-960F-0FEF-E68E4629BB16}"/>
              </a:ext>
            </a:extLst>
          </p:cNvPr>
          <p:cNvSpPr txBox="1"/>
          <p:nvPr/>
        </p:nvSpPr>
        <p:spPr>
          <a:xfrm>
            <a:off x="3048000" y="258624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r8 = 0;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r12 =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r4 = r4 - 1;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lcntr = r4, do loop_end until lce;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r0 = r8 + r12;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r8 = r12;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loop_end: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r12 = r0;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F564C-6612-67C5-9304-A7EB89EA1263}"/>
              </a:ext>
            </a:extLst>
          </p:cNvPr>
          <p:cNvSpPr txBox="1"/>
          <p:nvPr/>
        </p:nvSpPr>
        <p:spPr>
          <a:xfrm>
            <a:off x="2815660" y="5071459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3 cycles per iteration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5904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68AE-803C-D920-F2A6-063B1A3E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9A3CD-93CE-C951-7DED-88279589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VLIW Multi-Issue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760D9-86F3-82E2-5034-045767E0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7E07B-2B1B-42A8-9D90-98D31186018D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3F548-E2F7-CD50-39AD-F0D543B4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57FC5-3158-DAC5-A571-524FB8EE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9BAA7-95A2-28C2-71CE-244588E5655B}"/>
              </a:ext>
            </a:extLst>
          </p:cNvPr>
          <p:cNvSpPr txBox="1"/>
          <p:nvPr/>
        </p:nvSpPr>
        <p:spPr>
          <a:xfrm>
            <a:off x="2815660" y="5071459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1 cycles per iteration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B039E-B901-C871-7C22-2D28130A4BD6}"/>
              </a:ext>
            </a:extLst>
          </p:cNvPr>
          <p:cNvSpPr txBox="1"/>
          <p:nvPr/>
        </p:nvSpPr>
        <p:spPr>
          <a:xfrm>
            <a:off x="3048468" y="2606247"/>
            <a:ext cx="60950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r8 = 0;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r0 =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r4 = r4 - 1;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lcntr = r4, do loop_end until lce;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loop_end: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r0 = r8 + r0, r8 = r0;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8383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4C53-8991-3D02-C740-13A0E6BEA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SHARC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7CAF8-8A7B-9D94-20DA-445EDD9FD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Was used extensively in RADAR and other processing applications</a:t>
            </a:r>
          </a:p>
          <a:p>
            <a:r>
              <a:rPr lang="en-CA" dirty="0"/>
              <a:t>There have been many Digital Signal Processing (DSP) specific architectures in history as that is a more unique challenge</a:t>
            </a:r>
          </a:p>
          <a:p>
            <a:r>
              <a:rPr lang="en-CA" dirty="0"/>
              <a:t>Nowadays you might think of </a:t>
            </a:r>
            <a:r>
              <a:rPr lang="en-CA" u="sng" dirty="0"/>
              <a:t>GPU</a:t>
            </a:r>
            <a:r>
              <a:rPr lang="en-CA" dirty="0"/>
              <a:t> architectures as being similar</a:t>
            </a:r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SHARC is perhaps a “weird” machine but </a:t>
            </a:r>
            <a:r>
              <a:rPr lang="en-CA" u="sng" dirty="0"/>
              <a:t>not</a:t>
            </a:r>
            <a:r>
              <a:rPr lang="en-CA" dirty="0"/>
              <a:t> a failure. Next…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619B-EFEC-FD68-6A0D-64759491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0BEC1-FAD5-4251-9DF1-27ACA3B36C0E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34588-FDFE-6FC1-A103-D3CC0E0E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0A84D-CA2C-85EB-C8C4-2C4A6761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0163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FE2E-8AA9-14EA-FB77-67513E20A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Intel Itanium (“</a:t>
            </a:r>
            <a:r>
              <a:rPr lang="en-CA" dirty="0" err="1"/>
              <a:t>Itanic</a:t>
            </a:r>
            <a:r>
              <a:rPr lang="en-CA" dirty="0"/>
              <a:t>”) (2001 – 2020)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A9EF1-5694-79A0-5AB2-8867A3D27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37658"/>
            <a:ext cx="5127842" cy="4618884"/>
          </a:xfrm>
        </p:spPr>
        <p:txBody>
          <a:bodyPr/>
          <a:lstStyle/>
          <a:p>
            <a:r>
              <a:rPr lang="en-CA" dirty="0"/>
              <a:t>IA-64: One of the original 64-bit architectures</a:t>
            </a:r>
          </a:p>
          <a:p>
            <a:r>
              <a:rPr lang="en-CA" dirty="0"/>
              <a:t>VLIW </a:t>
            </a:r>
            <a:r>
              <a:rPr lang="en-CA" dirty="0">
                <a:sym typeface="Wingdings" panose="05000000000000000000" pitchFamily="2" charset="2"/>
              </a:rPr>
              <a:t></a:t>
            </a:r>
            <a:r>
              <a:rPr lang="en-CA" dirty="0"/>
              <a:t> Explicitly parallel instruction computing (EPIC)</a:t>
            </a:r>
          </a:p>
          <a:p>
            <a:r>
              <a:rPr lang="en-CA" dirty="0"/>
              <a:t>The </a:t>
            </a:r>
            <a:r>
              <a:rPr lang="en-CA" u="sng" dirty="0"/>
              <a:t>compiler</a:t>
            </a:r>
            <a:r>
              <a:rPr lang="en-CA" dirty="0"/>
              <a:t> decides what happens in parallel</a:t>
            </a:r>
          </a:p>
          <a:p>
            <a:pPr lvl="1"/>
            <a:r>
              <a:rPr lang="en-CA" dirty="0"/>
              <a:t>In “</a:t>
            </a:r>
            <a:r>
              <a:rPr lang="en-CA" dirty="0" err="1"/>
              <a:t>SuperScalar</a:t>
            </a:r>
            <a:r>
              <a:rPr lang="en-CA" dirty="0"/>
              <a:t>” the CPU decides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5BFED-9D83-B8D2-1E4F-3461AED5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293C-368D-4C6A-B16D-B6589271D839}" type="datetime1">
              <a:rPr lang="en-US" smtClean="0"/>
              <a:t>4/1/2026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4CF3-E609-66D2-B42E-DA9C5FC6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D407A-7B37-DE65-7525-FBF9E8AB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0E006210-06F0-1179-7DCF-D26572708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82" y="1270350"/>
            <a:ext cx="6283378" cy="470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DB45CA-C525-E8EC-1FD9-53B2017747EB}"/>
              </a:ext>
            </a:extLst>
          </p:cNvPr>
          <p:cNvSpPr txBox="1"/>
          <p:nvPr/>
        </p:nvSpPr>
        <p:spPr>
          <a:xfrm>
            <a:off x="5105400" y="6046158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/>
              <a:t>By Fred the Oyster, CC BY-SA 4.0, https://commons.wikimedia.org/w/index.php?curid=35228767</a:t>
            </a:r>
          </a:p>
        </p:txBody>
      </p:sp>
    </p:spTree>
    <p:extLst>
      <p:ext uri="{BB962C8B-B14F-4D97-AF65-F5344CB8AC3E}">
        <p14:creationId xmlns:p14="http://schemas.microsoft.com/office/powerpoint/2010/main" val="2681798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B6D27-5D6F-532D-0087-7889680E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Itanium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26843-3D6E-E96E-ED1B-A1A58E22A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8068" cy="3035935"/>
          </a:xfrm>
        </p:spPr>
        <p:txBody>
          <a:bodyPr/>
          <a:lstStyle/>
          <a:p>
            <a:r>
              <a:rPr lang="en-CA" dirty="0"/>
              <a:t>Legacy SW was </a:t>
            </a:r>
            <a:r>
              <a:rPr lang="en-CA" u="sng" dirty="0"/>
              <a:t>not</a:t>
            </a:r>
            <a:r>
              <a:rPr lang="en-CA" dirty="0"/>
              <a:t> compatible</a:t>
            </a:r>
          </a:p>
          <a:p>
            <a:r>
              <a:rPr lang="en-CA" dirty="0"/>
              <a:t>Compiler parallelism wasn’t as great as thought</a:t>
            </a:r>
          </a:p>
          <a:p>
            <a:r>
              <a:rPr lang="en-CA" dirty="0"/>
              <a:t>x86-64 shortly arrived – which </a:t>
            </a:r>
            <a:r>
              <a:rPr lang="en-CA" i="1" dirty="0"/>
              <a:t>was</a:t>
            </a:r>
            <a:r>
              <a:rPr lang="en-CA" dirty="0"/>
              <a:t> compatible</a:t>
            </a:r>
          </a:p>
          <a:p>
            <a:pPr lvl="1"/>
            <a:r>
              <a:rPr lang="en-CA" dirty="0"/>
              <a:t>And these cores kept getting better</a:t>
            </a:r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5BDE0-149E-6568-756F-1CECC16D5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5522E-9AA7-4B19-8001-B31FCBFB5F8C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3B03E-92C6-FCB7-94A4-DAAD9417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568FA-F0E3-6725-D620-802905AB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  <p:pic>
        <p:nvPicPr>
          <p:cNvPr id="2050" name="Picture 2" descr="Itanium - Wikipedia">
            <a:extLst>
              <a:ext uri="{FF2B5EF4-FFF2-40B4-BE49-F238E27FC236}">
                <a16:creationId xmlns:a16="http://schemas.microsoft.com/office/drawing/2014/main" id="{B586311B-24FD-C22F-A1AE-A684B941B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885" y="1690688"/>
            <a:ext cx="4338914" cy="253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054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36EF6-A727-D6AD-DE94-291406DB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C97B-C94E-4EFF-9FBD-CA2252B14751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3DBE-E3C8-0BE8-68F1-2E9D8144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53A88-5C57-7BFD-39D9-8624719A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598496-FD87-96AF-661E-7955FA8F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703357"/>
            <a:ext cx="8610600" cy="37233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0470CB-6C08-8056-7806-307BFDCB5A9D}"/>
              </a:ext>
            </a:extLst>
          </p:cNvPr>
          <p:cNvSpPr txBox="1"/>
          <p:nvPr/>
        </p:nvSpPr>
        <p:spPr>
          <a:xfrm>
            <a:off x="2209800" y="4606348"/>
            <a:ext cx="893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https://www.theregister.com/2004/08/30/opteron_itanium_sales_q2/</a:t>
            </a:r>
          </a:p>
        </p:txBody>
      </p:sp>
    </p:spTree>
    <p:extLst>
      <p:ext uri="{BB962C8B-B14F-4D97-AF65-F5344CB8AC3E}">
        <p14:creationId xmlns:p14="http://schemas.microsoft.com/office/powerpoint/2010/main" val="210184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03DD-DCC2-3E15-8DF3-5FFBD04B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Intel i860 (1980 – mid 1990s)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FE428-EC81-0CCE-99A4-28709C7AE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80760" cy="4351338"/>
          </a:xfrm>
        </p:spPr>
        <p:txBody>
          <a:bodyPr/>
          <a:lstStyle/>
          <a:p>
            <a:r>
              <a:rPr lang="en-CA" dirty="0"/>
              <a:t>First million transistor chip</a:t>
            </a:r>
          </a:p>
          <a:p>
            <a:r>
              <a:rPr lang="en-CA" dirty="0"/>
              <a:t>Allowed execution of core (ALU) + floating point instructions simultaneously</a:t>
            </a:r>
          </a:p>
          <a:p>
            <a:r>
              <a:rPr lang="en-CA" dirty="0"/>
              <a:t>VLIW support required for parallel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36FC0-2336-6719-94B0-220D0EA8B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DE234-22D0-47B9-9C8F-7BBC7951BBD2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42BEA-2E23-2CE3-CCCD-BC0779ED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B6E7B-AEC5-A3A1-B062-019870A0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1178498A-BDF6-EB32-C456-A2AAF0D93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320" y="1196340"/>
            <a:ext cx="4465320" cy="446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39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F8D4-6715-9088-4396-2AAC8CF0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Compiler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E6170-8AE0-DEF1-4B8E-9DDD62710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High performance </a:t>
            </a:r>
            <a:r>
              <a:rPr lang="en-CA" u="sng" dirty="0"/>
              <a:t>should</a:t>
            </a:r>
            <a:r>
              <a:rPr lang="en-CA" dirty="0"/>
              <a:t> be possible (measured with “</a:t>
            </a:r>
            <a:r>
              <a:rPr lang="en-US" dirty="0"/>
              <a:t>Million Floating-point Operations Per Second” = MFLOPS)</a:t>
            </a:r>
          </a:p>
          <a:p>
            <a:endParaRPr lang="en-US" dirty="0"/>
          </a:p>
          <a:p>
            <a:r>
              <a:rPr lang="en-US" dirty="0"/>
              <a:t>Expected up to 80 MFLOPS</a:t>
            </a:r>
          </a:p>
          <a:p>
            <a:r>
              <a:rPr lang="en-US" dirty="0"/>
              <a:t>..most real programs in assembly (high effort) got ~40 MFLOPS</a:t>
            </a:r>
          </a:p>
          <a:p>
            <a:r>
              <a:rPr lang="en-US" dirty="0"/>
              <a:t>..compilers even worse ~10 MFLOPS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441E-1479-52A2-1084-23D84EC4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C0EB0-78A7-4519-91A7-C54F532C75E6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42F20-B729-7905-F174-98E6024A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99405-2F37-37CF-88CF-1E36609A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343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705B-5423-C6DB-8B02-3265240D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Compatibility is King!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D81B-F3E7-0149-F13B-58F195C56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both of these cases – the </a:t>
            </a:r>
            <a:r>
              <a:rPr lang="en-CA" i="1" dirty="0"/>
              <a:t>more popular existing systems won</a:t>
            </a:r>
            <a:endParaRPr lang="en-CA" dirty="0"/>
          </a:p>
          <a:p>
            <a:r>
              <a:rPr lang="en-CA" dirty="0"/>
              <a:t>x86 instruction set was so widely used, compilers for x86 much more efficient than the "bespoke" compilers</a:t>
            </a:r>
          </a:p>
          <a:p>
            <a:endParaRPr lang="en-CA" dirty="0"/>
          </a:p>
          <a:p>
            <a:r>
              <a:rPr lang="en-CA" dirty="0"/>
              <a:t>So….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98BF8-298B-781C-FE33-B3B9B9E7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040-B833-45A8-9208-5FC8FDF8CA2A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76E03-3BBE-708C-01C9-285086A8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D824B-A8D1-CACC-8FCC-68192F51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9777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ABB0-3A8F-F465-AE7D-2844E1B5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Transmeta's</a:t>
            </a:r>
            <a:r>
              <a:rPr lang="en-CA" dirty="0"/>
              <a:t> Crusoe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FAB3-5238-606C-D137-E149A93DA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4983"/>
          </a:xfrm>
        </p:spPr>
        <p:txBody>
          <a:bodyPr/>
          <a:lstStyle/>
          <a:p>
            <a:r>
              <a:rPr lang="en-CA" dirty="0"/>
              <a:t>Let's build an x86 conversion layer… into our chip!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3E383-EDD2-4874-A05A-D4035DF9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09046-4F2A-46EC-BD59-B5AB723D60F2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057E4-ED04-EBB9-61A7-677AA58B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2591B-3BE3-6B8E-7A3F-24E822CA4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8E8F4-0082-83E9-6F8E-7FF628F94EAC}"/>
              </a:ext>
            </a:extLst>
          </p:cNvPr>
          <p:cNvSpPr txBox="1"/>
          <p:nvPr/>
        </p:nvSpPr>
        <p:spPr>
          <a:xfrm>
            <a:off x="798045" y="5710019"/>
            <a:ext cx="103882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https://web.archive.org/web/20040701093906/http://www.transmeta.com/</a:t>
            </a:r>
            <a:r>
              <a:rPr lang="en-CA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D34AEE-4A96-430A-2222-AE881944A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357" y="2259773"/>
            <a:ext cx="4362274" cy="3394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BF7E37-E85D-9E3E-AC11-C6A549137E36}"/>
              </a:ext>
            </a:extLst>
          </p:cNvPr>
          <p:cNvSpPr txBox="1"/>
          <p:nvPr/>
        </p:nvSpPr>
        <p:spPr>
          <a:xfrm>
            <a:off x="6216294" y="2490879"/>
            <a:ext cx="50138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Targeted low-power applications at a time when mobile wasn't very common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Many interesting developments that </a:t>
            </a:r>
            <a:r>
              <a:rPr lang="en-CA" u="sng" dirty="0"/>
              <a:t>did</a:t>
            </a:r>
            <a:r>
              <a:rPr lang="en-CA" dirty="0"/>
              <a:t> get used in the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But what were they doing?</a:t>
            </a:r>
          </a:p>
        </p:txBody>
      </p:sp>
    </p:spTree>
    <p:extLst>
      <p:ext uri="{BB962C8B-B14F-4D97-AF65-F5344CB8AC3E}">
        <p14:creationId xmlns:p14="http://schemas.microsoft.com/office/powerpoint/2010/main" val="3099918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C0C6-ED2A-F53F-9032-93BE5480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Transmeta's</a:t>
            </a:r>
            <a:r>
              <a:rPr lang="en-CA" dirty="0"/>
              <a:t> Crusoe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DB8E-CA21-2FBA-465C-6267CCB4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319DF-BA49-43F5-BCD8-7C90EDF44DEC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FA2D8-05BB-53E9-4501-A69EBB11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DE7D-4351-0BC0-11C1-C71E8971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pic>
        <p:nvPicPr>
          <p:cNvPr id="1026" name="Picture 2" descr="Crusoe core diagram (from Transmeta)">
            <a:extLst>
              <a:ext uri="{FF2B5EF4-FFF2-40B4-BE49-F238E27FC236}">
                <a16:creationId xmlns:a16="http://schemas.microsoft.com/office/drawing/2014/main" id="{7E722564-9BE8-7974-2932-1F0840926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370" y="1862708"/>
            <a:ext cx="6217828" cy="393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yer diagram (from Transmeta)">
            <a:extLst>
              <a:ext uri="{FF2B5EF4-FFF2-40B4-BE49-F238E27FC236}">
                <a16:creationId xmlns:a16="http://schemas.microsoft.com/office/drawing/2014/main" id="{80BDBD8B-9625-22E1-D263-ECDC306AE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r="16791"/>
          <a:stretch>
            <a:fillRect/>
          </a:stretch>
        </p:blipFill>
        <p:spPr bwMode="auto">
          <a:xfrm>
            <a:off x="180690" y="2387295"/>
            <a:ext cx="4907234" cy="273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60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F943-8604-EA63-2B66-5B142EFFA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Transmeta</a:t>
            </a:r>
            <a:r>
              <a:rPr lang="en-CA" dirty="0"/>
              <a:t> </a:t>
            </a:r>
            <a:r>
              <a:rPr lang="en-CA" dirty="0" err="1"/>
              <a:t>LongRun</a:t>
            </a:r>
            <a:r>
              <a:rPr lang="en-CA" dirty="0"/>
              <a:t>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DEA12-CC10-EC46-0348-6843CDAA9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Adjusted CPU clock frequency &amp; voltage dynamically for workload</a:t>
            </a:r>
          </a:p>
          <a:p>
            <a:pPr lvl="1"/>
            <a:r>
              <a:rPr lang="en-US" dirty="0"/>
              <a:t>Dynamic Voltage and Frequency Scaling (DVFS)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technology is used </a:t>
            </a:r>
            <a:r>
              <a:rPr lang="en-US" u="sng" dirty="0"/>
              <a:t>extensively</a:t>
            </a:r>
            <a:r>
              <a:rPr lang="en-US" dirty="0"/>
              <a:t> in current processors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DEABD-C2AF-A564-3769-9D48AE5F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869E2-ABB1-4D47-ADC8-0A78E9C1EEE2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AD60F-0D1E-B02C-1FFE-6DFD2CDDB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D9C5A-382E-2ED3-816A-B510A017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3220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D556-949D-7B25-4B3C-B3415D96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 &amp; The Java Virtual Machine (JVM)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FD189-A15A-5D68-0D52-6C7C73502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471"/>
            <a:ext cx="10515600" cy="1437743"/>
          </a:xfrm>
        </p:spPr>
        <p:txBody>
          <a:bodyPr/>
          <a:lstStyle/>
          <a:p>
            <a:r>
              <a:rPr lang="en-CA" dirty="0"/>
              <a:t>Compile for a </a:t>
            </a:r>
            <a:r>
              <a:rPr lang="en-CA" u="sng" dirty="0"/>
              <a:t>virtual machine</a:t>
            </a:r>
          </a:p>
          <a:p>
            <a:r>
              <a:rPr lang="en-CA" dirty="0"/>
              <a:t>Compiled code ("bytecode") is portable now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431CD-18A1-2319-45E6-3A4E8117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3D3B-8168-425D-BFC8-D66F9F3C44F7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2286-4A07-D45F-9D63-DD5B3735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8F1B5-9FB6-C341-4BC6-FD77BEDF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  <p:sp>
        <p:nvSpPr>
          <p:cNvPr id="7" name="Flowchart: Multidocument 6">
            <a:extLst>
              <a:ext uri="{FF2B5EF4-FFF2-40B4-BE49-F238E27FC236}">
                <a16:creationId xmlns:a16="http://schemas.microsoft.com/office/drawing/2014/main" id="{668749EC-D6DE-5DD4-2D5D-9D1FFF097E1E}"/>
              </a:ext>
            </a:extLst>
          </p:cNvPr>
          <p:cNvSpPr/>
          <p:nvPr/>
        </p:nvSpPr>
        <p:spPr>
          <a:xfrm>
            <a:off x="919875" y="3652125"/>
            <a:ext cx="1379814" cy="1582404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.java</a:t>
            </a:r>
          </a:p>
          <a:p>
            <a:pPr algn="ctr"/>
            <a:r>
              <a:rPr lang="en-CA" dirty="0"/>
              <a:t>Source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7F95D-FBD1-0DD0-E299-61AEEB366AC5}"/>
              </a:ext>
            </a:extLst>
          </p:cNvPr>
          <p:cNvSpPr/>
          <p:nvPr/>
        </p:nvSpPr>
        <p:spPr>
          <a:xfrm>
            <a:off x="3173478" y="3652125"/>
            <a:ext cx="1633965" cy="13743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javac</a:t>
            </a:r>
            <a:endParaRPr lang="en-CA" dirty="0"/>
          </a:p>
          <a:p>
            <a:pPr algn="ctr"/>
            <a:r>
              <a:rPr lang="en-CA" dirty="0"/>
              <a:t>Compiler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9C5E5-DE24-B3EC-9B1B-22B522051ED0}"/>
              </a:ext>
            </a:extLst>
          </p:cNvPr>
          <p:cNvSpPr/>
          <p:nvPr/>
        </p:nvSpPr>
        <p:spPr>
          <a:xfrm>
            <a:off x="5559862" y="3652125"/>
            <a:ext cx="1379814" cy="13743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Java object / Bytecode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288387-BAFD-FA75-5B13-1E27FEEEBBB9}"/>
              </a:ext>
            </a:extLst>
          </p:cNvPr>
          <p:cNvSpPr/>
          <p:nvPr/>
        </p:nvSpPr>
        <p:spPr>
          <a:xfrm>
            <a:off x="8751362" y="3937541"/>
            <a:ext cx="2113067" cy="84612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Java Virtual Machine (JVM)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C4B742-8ED0-413B-A6D1-09BB1A1D1B7A}"/>
              </a:ext>
            </a:extLst>
          </p:cNvPr>
          <p:cNvSpPr/>
          <p:nvPr/>
        </p:nvSpPr>
        <p:spPr>
          <a:xfrm>
            <a:off x="8751363" y="4912885"/>
            <a:ext cx="2113067" cy="72823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Host Computer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A9FAAD-1367-91A6-5BEC-E1C1F14BC4B4}"/>
              </a:ext>
            </a:extLst>
          </p:cNvPr>
          <p:cNvSpPr txBox="1"/>
          <p:nvPr/>
        </p:nvSpPr>
        <p:spPr>
          <a:xfrm>
            <a:off x="3173478" y="5218041"/>
            <a:ext cx="342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Development Environment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9A2427-0BE9-28E2-B1CE-BB938DF33488}"/>
              </a:ext>
            </a:extLst>
          </p:cNvPr>
          <p:cNvSpPr txBox="1"/>
          <p:nvPr/>
        </p:nvSpPr>
        <p:spPr>
          <a:xfrm>
            <a:off x="9261493" y="1922737"/>
            <a:ext cx="144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End User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CB9A08-E8FF-355B-5FA3-FA6B1E34729F}"/>
              </a:ext>
            </a:extLst>
          </p:cNvPr>
          <p:cNvCxnSpPr>
            <a:cxnSpLocks/>
          </p:cNvCxnSpPr>
          <p:nvPr/>
        </p:nvCxnSpPr>
        <p:spPr>
          <a:xfrm flipV="1">
            <a:off x="7025001" y="3429000"/>
            <a:ext cx="1648110" cy="822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0E3306A-C0D5-5C55-4FCD-E499070611FF}"/>
              </a:ext>
            </a:extLst>
          </p:cNvPr>
          <p:cNvSpPr/>
          <p:nvPr/>
        </p:nvSpPr>
        <p:spPr>
          <a:xfrm>
            <a:off x="8751362" y="3091214"/>
            <a:ext cx="2125162" cy="7519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Java object / Bytecode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200182C-B6C0-2412-0CB5-4C14901DE27B}"/>
              </a:ext>
            </a:extLst>
          </p:cNvPr>
          <p:cNvSpPr/>
          <p:nvPr/>
        </p:nvSpPr>
        <p:spPr>
          <a:xfrm>
            <a:off x="4807443" y="4057308"/>
            <a:ext cx="752419" cy="5037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4B6286E-A62C-155E-C326-61EA4F3525B0}"/>
              </a:ext>
            </a:extLst>
          </p:cNvPr>
          <p:cNvSpPr/>
          <p:nvPr/>
        </p:nvSpPr>
        <p:spPr>
          <a:xfrm>
            <a:off x="2299689" y="4057307"/>
            <a:ext cx="873789" cy="5037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380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753A-4876-6C30-1817-A749B54A7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Java Bytecode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89270-C526-FC9D-50CB-408410A69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9744"/>
            <a:ext cx="10515600" cy="767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600" dirty="0">
                <a:hlinkClick r:id="rId2"/>
              </a:rPr>
              <a:t>https://foojay.io/today/java-bytecode-simplified-journey-to-the-wonderland-part-1/#:~:text=For%20example%2C%20if%20we%20want,%2D%200:%20iconst_3%201:%20ireturn</a:t>
            </a:r>
            <a:r>
              <a:rPr lang="en-CA" sz="16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FF4A8-8433-05EB-1C52-6BB900C0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876C-7229-4218-9ABE-71C9BC0BC15A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42D6F-554D-6639-EE51-648CAECC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5804C-73BD-0926-77D5-149660E6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EEDDB-E2B9-766E-B3CE-C67BC1870827}"/>
              </a:ext>
            </a:extLst>
          </p:cNvPr>
          <p:cNvSpPr txBox="1"/>
          <p:nvPr/>
        </p:nvSpPr>
        <p:spPr>
          <a:xfrm>
            <a:off x="1007254" y="2505670"/>
            <a:ext cx="24050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0" i="0" dirty="0">
                <a:effectLst/>
                <a:latin typeface="inherit"/>
              </a:rPr>
              <a:t>int add</a:t>
            </a:r>
            <a:r>
              <a:rPr lang="en-US" b="1" i="0" dirty="0">
                <a:effectLst/>
                <a:latin typeface="inherit"/>
              </a:rPr>
              <a:t>(</a:t>
            </a:r>
            <a:r>
              <a:rPr lang="en-US" b="0" i="0" dirty="0">
                <a:effectLst/>
                <a:latin typeface="inherit"/>
              </a:rPr>
              <a:t>int a, int b</a:t>
            </a:r>
            <a:r>
              <a:rPr lang="en-US" b="1" i="0" dirty="0">
                <a:effectLst/>
                <a:latin typeface="inherit"/>
              </a:rPr>
              <a:t>)</a:t>
            </a:r>
            <a:r>
              <a:rPr lang="en-US" b="0" i="0" dirty="0">
                <a:effectLst/>
                <a:latin typeface="inherit"/>
              </a:rPr>
              <a:t> </a:t>
            </a:r>
            <a:r>
              <a:rPr lang="en-US" b="1" i="0" dirty="0">
                <a:effectLst/>
                <a:latin typeface="inherit"/>
              </a:rPr>
              <a:t>{</a:t>
            </a:r>
            <a:endParaRPr lang="en-US" b="0" i="0" dirty="0">
              <a:effectLst/>
              <a:latin typeface="inherit"/>
            </a:endParaRPr>
          </a:p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    return</a:t>
            </a:r>
            <a:r>
              <a:rPr lang="en-US" b="0" i="0" dirty="0">
                <a:effectLst/>
                <a:latin typeface="inherit"/>
              </a:rPr>
              <a:t> a + b;</a:t>
            </a:r>
            <a:endParaRPr lang="en-US" b="0" i="0" dirty="0">
              <a:effectLst/>
              <a:latin typeface="Source Code Pro" panose="020F0502020204030204" pitchFamily="49" charset="0"/>
            </a:endParaRPr>
          </a:p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}</a:t>
            </a:r>
            <a:endParaRPr lang="en-US" b="0" i="0" dirty="0">
              <a:effectLst/>
              <a:latin typeface="Source Code Pro" panose="020F0502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68AD8-A364-ECDA-8621-F0C376CA3FDD}"/>
              </a:ext>
            </a:extLst>
          </p:cNvPr>
          <p:cNvSpPr txBox="1"/>
          <p:nvPr/>
        </p:nvSpPr>
        <p:spPr>
          <a:xfrm>
            <a:off x="5104944" y="2090172"/>
            <a:ext cx="6096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public int add(int, int);</a:t>
            </a:r>
            <a:endParaRPr lang="en-US" b="1" i="0" dirty="0">
              <a:effectLst/>
              <a:latin typeface="Source Code Pro" panose="020B0509030403020204" pitchFamily="49" charset="0"/>
            </a:endParaRPr>
          </a:p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Code:</a:t>
            </a:r>
            <a:endParaRPr lang="en-US" b="1" i="0" dirty="0">
              <a:effectLst/>
              <a:latin typeface="Source Code Pro" panose="020B0509030403020204" pitchFamily="49" charset="0"/>
            </a:endParaRPr>
          </a:p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0: iload_1</a:t>
            </a:r>
            <a:endParaRPr lang="en-US" b="1" i="0" dirty="0">
              <a:effectLst/>
              <a:latin typeface="Source Code Pro" panose="020B0509030403020204" pitchFamily="49" charset="0"/>
            </a:endParaRPr>
          </a:p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1: iload_2</a:t>
            </a:r>
            <a:endParaRPr lang="en-US" b="1" i="0" dirty="0">
              <a:effectLst/>
              <a:latin typeface="Source Code Pro" panose="020B0509030403020204" pitchFamily="49" charset="0"/>
            </a:endParaRPr>
          </a:p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2: </a:t>
            </a:r>
            <a:r>
              <a:rPr lang="en-US" b="1" i="0" dirty="0" err="1">
                <a:effectLst/>
                <a:latin typeface="inherit"/>
              </a:rPr>
              <a:t>iadd</a:t>
            </a:r>
            <a:endParaRPr lang="en-US" b="1" i="0" dirty="0">
              <a:effectLst/>
              <a:latin typeface="Source Code Pro" panose="020B0509030403020204" pitchFamily="49" charset="0"/>
            </a:endParaRPr>
          </a:p>
          <a:p>
            <a:pPr algn="l" fontAlgn="base">
              <a:buNone/>
            </a:pPr>
            <a:r>
              <a:rPr lang="en-US" b="1" i="0" dirty="0">
                <a:effectLst/>
                <a:latin typeface="inherit"/>
              </a:rPr>
              <a:t>3: </a:t>
            </a:r>
            <a:r>
              <a:rPr lang="en-US" b="1" i="0" dirty="0" err="1">
                <a:effectLst/>
                <a:latin typeface="inherit"/>
              </a:rPr>
              <a:t>ireturn</a:t>
            </a:r>
            <a:endParaRPr lang="en-US" b="1" i="0" dirty="0">
              <a:effectLst/>
              <a:latin typeface="Source Code Pro" panose="020B0509030403020204" pitchFamily="49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7ABE4DF-8B27-590F-90E2-3CB4613B7D75}"/>
              </a:ext>
            </a:extLst>
          </p:cNvPr>
          <p:cNvSpPr/>
          <p:nvPr/>
        </p:nvSpPr>
        <p:spPr>
          <a:xfrm>
            <a:off x="3412345" y="2639166"/>
            <a:ext cx="1346960" cy="5256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1062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56B0A-2BD2-68B3-AC6D-CB98C0D0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 – But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22510-CE6D-BF8A-EC8F-7ED56DF59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Java </a:t>
            </a:r>
            <a:r>
              <a:rPr lang="en-CA" u="sng" dirty="0"/>
              <a:t>was</a:t>
            </a:r>
            <a:r>
              <a:rPr lang="en-CA" dirty="0"/>
              <a:t> a very popular language for larger embedded systems (more "app-like", smart things, DVD players,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  <a:p>
            <a:pPr marL="0" indent="0">
              <a:buNone/>
            </a:pPr>
            <a:endParaRPr lang="en-CA" dirty="0"/>
          </a:p>
          <a:p>
            <a:pPr lvl="1"/>
            <a:r>
              <a:rPr lang="en-CA" dirty="0"/>
              <a:t>Consider the ecosystem – lots of different processor architectures, Java meant you had portability across them (and for anything that comes later)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There have even been </a:t>
            </a:r>
            <a:r>
              <a:rPr lang="en-CA" u="sng" dirty="0"/>
              <a:t>Java processors</a:t>
            </a:r>
            <a:r>
              <a:rPr lang="en-CA" dirty="0"/>
              <a:t> that implement the JVM in hardware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As </a:t>
            </a:r>
            <a:r>
              <a:rPr lang="en-CA" dirty="0" err="1"/>
              <a:t>defacto</a:t>
            </a:r>
            <a:r>
              <a:rPr lang="en-CA" dirty="0"/>
              <a:t> standards (Arm, RISC-V) appeared in embedded, Java has become less popular.</a:t>
            </a:r>
          </a:p>
          <a:p>
            <a:pPr lvl="1"/>
            <a:endParaRPr lang="en-CA" dirty="0"/>
          </a:p>
          <a:p>
            <a:r>
              <a:rPr lang="en-CA" dirty="0"/>
              <a:t>Java </a:t>
            </a:r>
            <a:r>
              <a:rPr lang="en-CA" u="sng" dirty="0"/>
              <a:t>is</a:t>
            </a:r>
            <a:r>
              <a:rPr lang="en-CA" dirty="0"/>
              <a:t> still popular in many spaces, included Android app development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B7A08-5A31-9E2F-BD1E-4C0EE8C0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DD401-0471-4DAB-BCE0-E330E9EA936C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7F096-6CBD-4710-18DC-78537919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CC1DA-E8C4-AF1C-8C9B-AA1D7A86D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247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2CFC-FEC2-A099-C1C0-76E3A82C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Intel </a:t>
            </a:r>
            <a:r>
              <a:rPr lang="en-CA" dirty="0" err="1"/>
              <a:t>iAPX</a:t>
            </a:r>
            <a:r>
              <a:rPr lang="en-CA" dirty="0"/>
              <a:t> 432 – Intel's First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7CD7-6689-BA33-0102-13D90330C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2320" y="1825625"/>
            <a:ext cx="5544803" cy="4263749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We looked at this earlier – it had </a:t>
            </a:r>
            <a:r>
              <a:rPr lang="en-CA" i="1" dirty="0"/>
              <a:t>object oriented</a:t>
            </a:r>
            <a:r>
              <a:rPr lang="en-CA" dirty="0"/>
              <a:t> hardware implementation that fundamentally made code "safe"</a:t>
            </a:r>
          </a:p>
          <a:p>
            <a:endParaRPr lang="en-CA" dirty="0"/>
          </a:p>
          <a:p>
            <a:r>
              <a:rPr lang="en-CA" dirty="0"/>
              <a:t>Performance was simply too low – at a time when performance was #1 consideration</a:t>
            </a:r>
          </a:p>
          <a:p>
            <a:endParaRPr lang="en-CA" dirty="0"/>
          </a:p>
          <a:p>
            <a:r>
              <a:rPr lang="en-CA" dirty="0"/>
              <a:t>Initially only worked / supported with Ada compilers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5F507-2739-886A-7C55-5BEFB36B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25448-DBB9-4991-B724-327466872565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43D15-619A-E2FE-56F8-E5931E26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FC25-76A4-2CCA-9D99-8F152200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1F015225-0F7B-F49F-5071-2ED047325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77" y="1825625"/>
            <a:ext cx="5544804" cy="4158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483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083A-CFC9-F50E-23EE-CDFB0EF0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Ada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613BA-A22C-BA00-0AA0-219665B1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Created for embedded &amp; real-time systems</a:t>
            </a:r>
          </a:p>
          <a:p>
            <a:r>
              <a:rPr lang="en-CA" dirty="0"/>
              <a:t>Designed to “fundamentally solve” many of the problems that plagued (</a:t>
            </a:r>
            <a:r>
              <a:rPr lang="en-CA" i="1" dirty="0"/>
              <a:t>and still plague</a:t>
            </a:r>
            <a:r>
              <a:rPr lang="en-CA" dirty="0"/>
              <a:t>) embedded systems:</a:t>
            </a:r>
          </a:p>
          <a:p>
            <a:pPr lvl="1"/>
            <a:r>
              <a:rPr lang="en-CA" dirty="0"/>
              <a:t>Memory leaks</a:t>
            </a:r>
          </a:p>
          <a:p>
            <a:pPr lvl="1"/>
            <a:r>
              <a:rPr lang="en-CA" dirty="0"/>
              <a:t>Pointer issues</a:t>
            </a:r>
          </a:p>
          <a:p>
            <a:pPr lvl="1"/>
            <a:r>
              <a:rPr lang="en-CA" dirty="0"/>
              <a:t>Crashes due to overwriting buffers</a:t>
            </a:r>
          </a:p>
          <a:p>
            <a:r>
              <a:rPr lang="en-CA" dirty="0"/>
              <a:t>Uses </a:t>
            </a:r>
            <a:r>
              <a:rPr lang="en-CA" u="sng" dirty="0"/>
              <a:t>strongly typed</a:t>
            </a:r>
            <a:r>
              <a:rPr lang="en-CA" dirty="0"/>
              <a:t> language features</a:t>
            </a:r>
          </a:p>
          <a:p>
            <a:r>
              <a:rPr lang="en-CA" dirty="0"/>
              <a:t>Pushed by US Military / Government as “The Future of Computer Programming”</a:t>
            </a:r>
          </a:p>
          <a:p>
            <a:pPr lvl="1"/>
            <a:r>
              <a:rPr lang="en-CA" dirty="0"/>
              <a:t>Mandated for use in new software for US Military in 1991</a:t>
            </a:r>
            <a:r>
              <a:rPr lang="en-CA" i="1" dirty="0"/>
              <a:t> (mostly removed by 1997)</a:t>
            </a:r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9E3C1-B9D4-F15A-7CB8-9C622996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E0B7-8FEC-4C2A-AFD0-149EE30F5B1F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B13C6-8C47-867E-7EDA-39D6D63A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6CD6F-7206-8B71-E194-8F86E556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994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A1A88-6C3F-5C9B-3A7D-BC2FC3E2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Ada Hello World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269BB4-9CB5-2C10-2BF2-700EAAE7D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870" y="2402570"/>
            <a:ext cx="7440063" cy="27150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40ABD-1A19-B062-0FA4-A8C9908F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44DD9-011D-49A5-8474-142DE03ACB65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A2D5-087D-41D6-5D54-38AD6F4C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87CD3-1C06-ACE3-F9EA-53E27883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47622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C36C-8C87-6BAF-B800-2763B0B1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0591A-91EF-7CD8-B296-AE39BEFAC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Ada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88DF2-619A-F6DA-1036-FF18AFA2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24F4-A526-4907-ABF5-5B5870BE5F1C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8EAD1-6BD4-23D9-87DD-4A62BE74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25239-F5FC-730F-92C5-23151F1D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E0FD32-18C5-F8C7-3522-3E934616E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D7E889-5AFC-DF91-CC06-93D2717E6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185"/>
            <a:ext cx="10955279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54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C832-F4E1-E1AA-60B9-E5EA61A3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Ada in 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58825-88EB-35EB-5E07-387B1ED14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goal of making a safer embedded language has long been a noble pursuit</a:t>
            </a:r>
          </a:p>
          <a:p>
            <a:endParaRPr lang="en-CA" dirty="0"/>
          </a:p>
          <a:p>
            <a:r>
              <a:rPr lang="en-CA" dirty="0"/>
              <a:t>To wrap this up – let’s introduce something </a:t>
            </a:r>
            <a:r>
              <a:rPr lang="en-CA" u="sng" dirty="0"/>
              <a:t>useful</a:t>
            </a:r>
            <a:r>
              <a:rPr lang="en-CA" dirty="0"/>
              <a:t> for you to know.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9CC6F-BD06-3B3E-25CD-F13C7D3F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D6CD-16E3-47A0-A7D0-895D23B56FD7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097B3-BB19-B866-B363-C5C71ABD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93F9E-51E8-6366-B2EE-D61F36C0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5261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Management Problem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11643360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need to store data on the heap — memory that outlives a single function call. The hard question is: who decides when to free it?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268224" y="2170176"/>
            <a:ext cx="3779520" cy="445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7" name="Shape 5"/>
          <p:cNvSpPr/>
          <p:nvPr/>
        </p:nvSpPr>
        <p:spPr>
          <a:xfrm>
            <a:off x="268224" y="2170176"/>
            <a:ext cx="3779520" cy="512064"/>
          </a:xfrm>
          <a:prstGeom prst="rect">
            <a:avLst/>
          </a:prstGeom>
          <a:solidFill>
            <a:srgbClr val="7A2A0C"/>
          </a:solidFill>
          <a:ln w="12700">
            <a:solidFill>
              <a:srgbClr val="7A2A0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Text 6"/>
          <p:cNvSpPr/>
          <p:nvPr/>
        </p:nvSpPr>
        <p:spPr>
          <a:xfrm>
            <a:off x="390144" y="2170176"/>
            <a:ext cx="353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 (C / C++)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0144" y="2779776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7A2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533" dirty="0"/>
          </a:p>
        </p:txBody>
      </p:sp>
      <p:sp>
        <p:nvSpPr>
          <p:cNvPr id="10" name="Text 8"/>
          <p:cNvSpPr/>
          <p:nvPr/>
        </p:nvSpPr>
        <p:spPr>
          <a:xfrm>
            <a:off x="390144" y="3145536"/>
            <a:ext cx="353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overhead at all</a:t>
            </a:r>
            <a:endParaRPr lang="en-US" sz="1533" dirty="0"/>
          </a:p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predictable timing</a:t>
            </a:r>
            <a:endParaRPr lang="en-US" sz="1533" dirty="0"/>
          </a:p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hardware with 2KB RAM</a:t>
            </a:r>
            <a:endParaRPr lang="en-US" sz="1533" dirty="0"/>
          </a:p>
        </p:txBody>
      </p:sp>
      <p:sp>
        <p:nvSpPr>
          <p:cNvPr id="11" name="Shape 9"/>
          <p:cNvSpPr/>
          <p:nvPr/>
        </p:nvSpPr>
        <p:spPr>
          <a:xfrm>
            <a:off x="390144" y="4669536"/>
            <a:ext cx="353568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10"/>
          <p:cNvSpPr/>
          <p:nvPr/>
        </p:nvSpPr>
        <p:spPr>
          <a:xfrm>
            <a:off x="390144" y="4767072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</a:t>
            </a:r>
            <a:endParaRPr lang="en-US" sz="1533" dirty="0"/>
          </a:p>
        </p:txBody>
      </p:sp>
      <p:sp>
        <p:nvSpPr>
          <p:cNvPr id="13" name="Text 11"/>
          <p:cNvSpPr/>
          <p:nvPr/>
        </p:nvSpPr>
        <p:spPr>
          <a:xfrm>
            <a:off x="390144" y="5132832"/>
            <a:ext cx="35356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Error-prone: leaks, double-free, use-after-free</a:t>
            </a:r>
            <a:endParaRPr lang="en-US" sz="1533" dirty="0"/>
          </a:p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responsible for every allocation</a:t>
            </a:r>
            <a:endParaRPr lang="en-US" sz="1533" dirty="0"/>
          </a:p>
        </p:txBody>
      </p:sp>
      <p:sp>
        <p:nvSpPr>
          <p:cNvPr id="14" name="Shape 12"/>
          <p:cNvSpPr/>
          <p:nvPr/>
        </p:nvSpPr>
        <p:spPr>
          <a:xfrm>
            <a:off x="4230624" y="2170176"/>
            <a:ext cx="3779520" cy="445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5" name="Shape 13"/>
          <p:cNvSpPr/>
          <p:nvPr/>
        </p:nvSpPr>
        <p:spPr>
          <a:xfrm>
            <a:off x="4230624" y="2170176"/>
            <a:ext cx="3779520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Text 14"/>
          <p:cNvSpPr/>
          <p:nvPr/>
        </p:nvSpPr>
        <p:spPr>
          <a:xfrm>
            <a:off x="4352544" y="2170176"/>
            <a:ext cx="353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Collector  (Java, Python, Go, C#)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52544" y="2779776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533" dirty="0"/>
          </a:p>
        </p:txBody>
      </p:sp>
      <p:sp>
        <p:nvSpPr>
          <p:cNvPr id="18" name="Text 16"/>
          <p:cNvSpPr/>
          <p:nvPr/>
        </p:nvSpPr>
        <p:spPr>
          <a:xfrm>
            <a:off x="4352544" y="3145536"/>
            <a:ext cx="353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developer never calls free()</a:t>
            </a:r>
            <a:endParaRPr lang="en-US" sz="1533" dirty="0"/>
          </a:p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most memory errors at runtime</a:t>
            </a:r>
            <a:endParaRPr lang="en-US" sz="1533" dirty="0"/>
          </a:p>
        </p:txBody>
      </p:sp>
      <p:sp>
        <p:nvSpPr>
          <p:cNvPr id="19" name="Shape 17"/>
          <p:cNvSpPr/>
          <p:nvPr/>
        </p:nvSpPr>
        <p:spPr>
          <a:xfrm>
            <a:off x="4352544" y="4669536"/>
            <a:ext cx="353568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Text 18"/>
          <p:cNvSpPr/>
          <p:nvPr/>
        </p:nvSpPr>
        <p:spPr>
          <a:xfrm>
            <a:off x="4352544" y="4767072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4352544" y="5132832"/>
            <a:ext cx="35356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pauses, overhead, non-determinism</a:t>
            </a:r>
            <a:endParaRPr lang="en-US" sz="1533" dirty="0"/>
          </a:p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memory footprint; needs OS support</a:t>
            </a:r>
            <a:endParaRPr lang="en-US" sz="1533" dirty="0"/>
          </a:p>
        </p:txBody>
      </p:sp>
      <p:sp>
        <p:nvSpPr>
          <p:cNvPr id="22" name="Shape 20"/>
          <p:cNvSpPr/>
          <p:nvPr/>
        </p:nvSpPr>
        <p:spPr>
          <a:xfrm>
            <a:off x="8193024" y="2170176"/>
            <a:ext cx="3779520" cy="445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23" name="Shape 21"/>
          <p:cNvSpPr/>
          <p:nvPr/>
        </p:nvSpPr>
        <p:spPr>
          <a:xfrm>
            <a:off x="8193024" y="2170176"/>
            <a:ext cx="3779520" cy="5120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2"/>
          <p:cNvSpPr/>
          <p:nvPr/>
        </p:nvSpPr>
        <p:spPr>
          <a:xfrm>
            <a:off x="8314944" y="2170176"/>
            <a:ext cx="353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 (Rust)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14944" y="2779776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533" dirty="0"/>
          </a:p>
        </p:txBody>
      </p:sp>
      <p:sp>
        <p:nvSpPr>
          <p:cNvPr id="26" name="Text 24"/>
          <p:cNvSpPr/>
          <p:nvPr/>
        </p:nvSpPr>
        <p:spPr>
          <a:xfrm>
            <a:off x="8314944" y="3145536"/>
            <a:ext cx="353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freed when owner goes out of scope</a:t>
            </a:r>
            <a:endParaRPr lang="en-US" sz="1533" dirty="0"/>
          </a:p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runtime cost; compile-time guarantees</a:t>
            </a:r>
            <a:endParaRPr lang="en-US" sz="1533" dirty="0"/>
          </a:p>
        </p:txBody>
      </p:sp>
      <p:sp>
        <p:nvSpPr>
          <p:cNvPr id="27" name="Shape 25"/>
          <p:cNvSpPr/>
          <p:nvPr/>
        </p:nvSpPr>
        <p:spPr>
          <a:xfrm>
            <a:off x="8314944" y="4669536"/>
            <a:ext cx="353568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Text 26"/>
          <p:cNvSpPr/>
          <p:nvPr/>
        </p:nvSpPr>
        <p:spPr>
          <a:xfrm>
            <a:off x="8314944" y="4767072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8314944" y="5132832"/>
            <a:ext cx="353568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initial learning curve</a:t>
            </a:r>
            <a:endParaRPr lang="en-US" sz="1533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GC Works: Mark &amp; Sweep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116433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GC algorithm. It runs in two phases — and your program must completely stop while this happens.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268224" y="2097024"/>
            <a:ext cx="5730240" cy="4535424"/>
          </a:xfrm>
          <a:prstGeom prst="rect">
            <a:avLst/>
          </a:prstGeom>
          <a:solidFill>
            <a:srgbClr val="EDEAE4"/>
          </a:solidFill>
          <a:ln w="254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" name="Text 5"/>
          <p:cNvSpPr/>
          <p:nvPr/>
        </p:nvSpPr>
        <p:spPr>
          <a:xfrm>
            <a:off x="390144" y="2157984"/>
            <a:ext cx="1219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633984" y="2609088"/>
            <a:ext cx="1341120" cy="548640"/>
          </a:xfrm>
          <a:prstGeom prst="rect">
            <a:avLst/>
          </a:prstGeom>
          <a:solidFill>
            <a:srgbClr val="1A1512"/>
          </a:solidFill>
          <a:ln w="12700">
            <a:solidFill>
              <a:srgbClr val="1A151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7"/>
          <p:cNvSpPr/>
          <p:nvPr/>
        </p:nvSpPr>
        <p:spPr>
          <a:xfrm>
            <a:off x="633984" y="2609088"/>
            <a:ext cx="134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573024" y="3621024"/>
            <a:ext cx="731520" cy="73152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9"/>
          <p:cNvSpPr/>
          <p:nvPr/>
        </p:nvSpPr>
        <p:spPr>
          <a:xfrm>
            <a:off x="573024" y="36210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57984" y="3377184"/>
            <a:ext cx="658368" cy="658368"/>
          </a:xfrm>
          <a:prstGeom prst="ellipse">
            <a:avLst/>
          </a:prstGeom>
          <a:solidFill>
            <a:srgbClr val="1B5E20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Text 11"/>
          <p:cNvSpPr/>
          <p:nvPr/>
        </p:nvSpPr>
        <p:spPr>
          <a:xfrm>
            <a:off x="2157984" y="3377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04544" y="4962144"/>
            <a:ext cx="682752" cy="682752"/>
          </a:xfrm>
          <a:prstGeom prst="ellipse">
            <a:avLst/>
          </a:prstGeom>
          <a:solidFill>
            <a:srgbClr val="1B5E20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3"/>
          <p:cNvSpPr/>
          <p:nvPr/>
        </p:nvSpPr>
        <p:spPr>
          <a:xfrm>
            <a:off x="1304544" y="4962144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67584" y="4718304"/>
            <a:ext cx="609600" cy="609600"/>
          </a:xfrm>
          <a:prstGeom prst="ellipse">
            <a:avLst/>
          </a:prstGeom>
          <a:solidFill>
            <a:srgbClr val="1B5E20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7" name="Text 15"/>
          <p:cNvSpPr/>
          <p:nvPr/>
        </p:nvSpPr>
        <p:spPr>
          <a:xfrm>
            <a:off x="2767584" y="471830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2944" y="2852928"/>
            <a:ext cx="658368" cy="658368"/>
          </a:xfrm>
          <a:prstGeom prst="ellipse">
            <a:avLst/>
          </a:prstGeom>
          <a:solidFill>
            <a:srgbClr val="BDBDB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Text 17"/>
          <p:cNvSpPr/>
          <p:nvPr/>
        </p:nvSpPr>
        <p:spPr>
          <a:xfrm>
            <a:off x="3742944" y="2852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57344" y="3986784"/>
            <a:ext cx="731520" cy="731520"/>
          </a:xfrm>
          <a:prstGeom prst="ellipse">
            <a:avLst/>
          </a:prstGeom>
          <a:solidFill>
            <a:srgbClr val="BDBDB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9"/>
          <p:cNvSpPr/>
          <p:nvPr/>
        </p:nvSpPr>
        <p:spPr>
          <a:xfrm>
            <a:off x="4657344" y="39867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77184" y="5510784"/>
            <a:ext cx="585216" cy="585216"/>
          </a:xfrm>
          <a:prstGeom prst="ellipse">
            <a:avLst/>
          </a:prstGeom>
          <a:solidFill>
            <a:srgbClr val="BDBDB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21"/>
          <p:cNvSpPr/>
          <p:nvPr/>
        </p:nvSpPr>
        <p:spPr>
          <a:xfrm>
            <a:off x="3377184" y="55107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18304" y="5608320"/>
            <a:ext cx="682752" cy="682752"/>
          </a:xfrm>
          <a:prstGeom prst="ellipse">
            <a:avLst/>
          </a:prstGeom>
          <a:solidFill>
            <a:srgbClr val="BDBDBD"/>
          </a:solidFill>
          <a:ln w="254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5" name="Text 23"/>
          <p:cNvSpPr/>
          <p:nvPr/>
        </p:nvSpPr>
        <p:spPr>
          <a:xfrm>
            <a:off x="4718304" y="5608320"/>
            <a:ext cx="682752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78880" y="209702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MARK</a:t>
            </a:r>
            <a:endParaRPr lang="en-US" sz="2267" dirty="0"/>
          </a:p>
        </p:txBody>
      </p:sp>
      <p:sp>
        <p:nvSpPr>
          <p:cNvPr id="27" name="Text 25"/>
          <p:cNvSpPr/>
          <p:nvPr/>
        </p:nvSpPr>
        <p:spPr>
          <a:xfrm>
            <a:off x="6278880" y="2657856"/>
            <a:ext cx="566928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"root" objects (stack variables, static fields), the GC traverses every reachable reference and marks each visited object as live.</a:t>
            </a:r>
            <a:endParaRPr lang="en-US" sz="1733" dirty="0"/>
          </a:p>
        </p:txBody>
      </p:sp>
      <p:sp>
        <p:nvSpPr>
          <p:cNvPr id="28" name="Shape 26"/>
          <p:cNvSpPr/>
          <p:nvPr/>
        </p:nvSpPr>
        <p:spPr>
          <a:xfrm>
            <a:off x="6278880" y="3998976"/>
            <a:ext cx="341376" cy="341376"/>
          </a:xfrm>
          <a:prstGeom prst="ellipse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9" name="Text 27"/>
          <p:cNvSpPr/>
          <p:nvPr/>
        </p:nvSpPr>
        <p:spPr>
          <a:xfrm>
            <a:off x="6742176" y="3974592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— marked LIVE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78880" y="4450080"/>
            <a:ext cx="341376" cy="341376"/>
          </a:xfrm>
          <a:prstGeom prst="ellipse">
            <a:avLst/>
          </a:prstGeom>
          <a:solidFill>
            <a:srgbClr val="BDBDBD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1" name="Text 29"/>
          <p:cNvSpPr/>
          <p:nvPr/>
        </p:nvSpPr>
        <p:spPr>
          <a:xfrm>
            <a:off x="6742176" y="4425696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— queued for collection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78880" y="4974336"/>
            <a:ext cx="566928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3" name="Text 31"/>
          <p:cNvSpPr/>
          <p:nvPr/>
        </p:nvSpPr>
        <p:spPr>
          <a:xfrm>
            <a:off x="6278880" y="5059680"/>
            <a:ext cx="5669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SWEEP</a:t>
            </a:r>
            <a:endParaRPr lang="en-US" sz="2267" dirty="0"/>
          </a:p>
        </p:txBody>
      </p:sp>
      <p:sp>
        <p:nvSpPr>
          <p:cNvPr id="34" name="Text 32"/>
          <p:cNvSpPr/>
          <p:nvPr/>
        </p:nvSpPr>
        <p:spPr>
          <a:xfrm>
            <a:off x="6278880" y="5608320"/>
            <a:ext cx="5669280" cy="999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unmarked objects are freed. The heap reclaims that space. During BOTH phases: your entire program is paused.</a:t>
            </a:r>
            <a:endParaRPr lang="en-US" sz="173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Stop-The-World Pause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1164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safely traverse the heap, the GC must freeze ALL application threads. No thread may modify object references while the GC is scanning.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304800" y="2097024"/>
            <a:ext cx="11850624" cy="2097024"/>
          </a:xfrm>
          <a:prstGeom prst="rect">
            <a:avLst/>
          </a:prstGeom>
          <a:solidFill>
            <a:srgbClr val="EEEBE5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" name="Text 5"/>
          <p:cNvSpPr/>
          <p:nvPr/>
        </p:nvSpPr>
        <p:spPr>
          <a:xfrm>
            <a:off x="365760" y="2243328"/>
            <a:ext cx="134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67" dirty="0"/>
          </a:p>
          <a:p>
            <a:r>
              <a:rPr lang="en-US" sz="12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1767840" y="2243328"/>
            <a:ext cx="1628187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7"/>
          <p:cNvSpPr/>
          <p:nvPr/>
        </p:nvSpPr>
        <p:spPr>
          <a:xfrm>
            <a:off x="1767840" y="2243328"/>
            <a:ext cx="162818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running</a:t>
            </a:r>
            <a:endParaRPr lang="en-US" sz="1067" dirty="0"/>
          </a:p>
        </p:txBody>
      </p:sp>
      <p:sp>
        <p:nvSpPr>
          <p:cNvPr id="10" name="Shape 8"/>
          <p:cNvSpPr/>
          <p:nvPr/>
        </p:nvSpPr>
        <p:spPr>
          <a:xfrm>
            <a:off x="3420411" y="2243328"/>
            <a:ext cx="919941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9"/>
          <p:cNvSpPr/>
          <p:nvPr/>
        </p:nvSpPr>
        <p:spPr>
          <a:xfrm>
            <a:off x="3420411" y="2243328"/>
            <a:ext cx="9199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067" dirty="0"/>
          </a:p>
        </p:txBody>
      </p:sp>
      <p:sp>
        <p:nvSpPr>
          <p:cNvPr id="12" name="Shape 10"/>
          <p:cNvSpPr/>
          <p:nvPr/>
        </p:nvSpPr>
        <p:spPr>
          <a:xfrm>
            <a:off x="4364737" y="2243328"/>
            <a:ext cx="1156023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Text 11"/>
          <p:cNvSpPr/>
          <p:nvPr/>
        </p:nvSpPr>
        <p:spPr>
          <a:xfrm>
            <a:off x="4364737" y="2243328"/>
            <a:ext cx="115602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running</a:t>
            </a:r>
            <a:endParaRPr lang="en-US" sz="1067" dirty="0"/>
          </a:p>
        </p:txBody>
      </p:sp>
      <p:sp>
        <p:nvSpPr>
          <p:cNvPr id="14" name="Shape 12"/>
          <p:cNvSpPr/>
          <p:nvPr/>
        </p:nvSpPr>
        <p:spPr>
          <a:xfrm>
            <a:off x="5545143" y="2243328"/>
            <a:ext cx="1746227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3"/>
          <p:cNvSpPr/>
          <p:nvPr/>
        </p:nvSpPr>
        <p:spPr>
          <a:xfrm>
            <a:off x="5545143" y="2243328"/>
            <a:ext cx="17462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067" dirty="0"/>
          </a:p>
        </p:txBody>
      </p:sp>
      <p:sp>
        <p:nvSpPr>
          <p:cNvPr id="16" name="Shape 14"/>
          <p:cNvSpPr/>
          <p:nvPr/>
        </p:nvSpPr>
        <p:spPr>
          <a:xfrm>
            <a:off x="7315755" y="2243328"/>
            <a:ext cx="1037983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7" name="Text 15"/>
          <p:cNvSpPr/>
          <p:nvPr/>
        </p:nvSpPr>
        <p:spPr>
          <a:xfrm>
            <a:off x="7315755" y="2243328"/>
            <a:ext cx="103798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running</a:t>
            </a:r>
            <a:endParaRPr lang="en-US" sz="1067" dirty="0"/>
          </a:p>
        </p:txBody>
      </p:sp>
      <p:sp>
        <p:nvSpPr>
          <p:cNvPr id="18" name="Shape 16"/>
          <p:cNvSpPr/>
          <p:nvPr/>
        </p:nvSpPr>
        <p:spPr>
          <a:xfrm>
            <a:off x="8378122" y="2243328"/>
            <a:ext cx="683860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Text 17"/>
          <p:cNvSpPr/>
          <p:nvPr/>
        </p:nvSpPr>
        <p:spPr>
          <a:xfrm>
            <a:off x="8378122" y="2243328"/>
            <a:ext cx="6838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067" dirty="0"/>
          </a:p>
        </p:txBody>
      </p:sp>
      <p:sp>
        <p:nvSpPr>
          <p:cNvPr id="20" name="Shape 18"/>
          <p:cNvSpPr/>
          <p:nvPr/>
        </p:nvSpPr>
        <p:spPr>
          <a:xfrm>
            <a:off x="9086365" y="2243328"/>
            <a:ext cx="1746227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9"/>
          <p:cNvSpPr/>
          <p:nvPr/>
        </p:nvSpPr>
        <p:spPr>
          <a:xfrm>
            <a:off x="9086365" y="2243328"/>
            <a:ext cx="17462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running</a:t>
            </a:r>
            <a:endParaRPr lang="en-US" sz="1067" dirty="0"/>
          </a:p>
        </p:txBody>
      </p:sp>
      <p:sp>
        <p:nvSpPr>
          <p:cNvPr id="22" name="Shape 20"/>
          <p:cNvSpPr/>
          <p:nvPr/>
        </p:nvSpPr>
        <p:spPr>
          <a:xfrm>
            <a:off x="10856977" y="2243328"/>
            <a:ext cx="683860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21"/>
          <p:cNvSpPr/>
          <p:nvPr/>
        </p:nvSpPr>
        <p:spPr>
          <a:xfrm>
            <a:off x="10856977" y="2243328"/>
            <a:ext cx="6838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11565221" y="2243328"/>
            <a:ext cx="565820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5" name="Text 23"/>
          <p:cNvSpPr/>
          <p:nvPr/>
        </p:nvSpPr>
        <p:spPr>
          <a:xfrm>
            <a:off x="365760" y="2828544"/>
            <a:ext cx="134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67" dirty="0"/>
          </a:p>
          <a:p>
            <a:r>
              <a:rPr lang="en-US" sz="12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267" dirty="0"/>
          </a:p>
        </p:txBody>
      </p:sp>
      <p:sp>
        <p:nvSpPr>
          <p:cNvPr id="26" name="Shape 24"/>
          <p:cNvSpPr/>
          <p:nvPr/>
        </p:nvSpPr>
        <p:spPr>
          <a:xfrm>
            <a:off x="1767840" y="2828544"/>
            <a:ext cx="1628187" cy="5120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7" name="Shape 25"/>
          <p:cNvSpPr/>
          <p:nvPr/>
        </p:nvSpPr>
        <p:spPr>
          <a:xfrm>
            <a:off x="3420411" y="2828544"/>
            <a:ext cx="919941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Shape 26"/>
          <p:cNvSpPr/>
          <p:nvPr/>
        </p:nvSpPr>
        <p:spPr>
          <a:xfrm>
            <a:off x="4364737" y="2828544"/>
            <a:ext cx="1156023" cy="5120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9" name="Shape 27"/>
          <p:cNvSpPr/>
          <p:nvPr/>
        </p:nvSpPr>
        <p:spPr>
          <a:xfrm>
            <a:off x="5545143" y="2828544"/>
            <a:ext cx="1746227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0" name="Shape 28"/>
          <p:cNvSpPr/>
          <p:nvPr/>
        </p:nvSpPr>
        <p:spPr>
          <a:xfrm>
            <a:off x="7315755" y="2828544"/>
            <a:ext cx="1037983" cy="5120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1" name="Shape 29"/>
          <p:cNvSpPr/>
          <p:nvPr/>
        </p:nvSpPr>
        <p:spPr>
          <a:xfrm>
            <a:off x="8378122" y="2828544"/>
            <a:ext cx="683860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2" name="Shape 30"/>
          <p:cNvSpPr/>
          <p:nvPr/>
        </p:nvSpPr>
        <p:spPr>
          <a:xfrm>
            <a:off x="9086365" y="2828544"/>
            <a:ext cx="1746227" cy="5120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3" name="Shape 31"/>
          <p:cNvSpPr/>
          <p:nvPr/>
        </p:nvSpPr>
        <p:spPr>
          <a:xfrm>
            <a:off x="10856977" y="2828544"/>
            <a:ext cx="683860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4" name="Shape 32"/>
          <p:cNvSpPr/>
          <p:nvPr/>
        </p:nvSpPr>
        <p:spPr>
          <a:xfrm>
            <a:off x="11565221" y="2828544"/>
            <a:ext cx="565820" cy="5120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5" name="Text 33"/>
          <p:cNvSpPr/>
          <p:nvPr/>
        </p:nvSpPr>
        <p:spPr>
          <a:xfrm>
            <a:off x="365760" y="3438144"/>
            <a:ext cx="1341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1267" dirty="0"/>
          </a:p>
          <a:p>
            <a:r>
              <a:rPr lang="en-US" sz="12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267" dirty="0"/>
          </a:p>
        </p:txBody>
      </p:sp>
      <p:sp>
        <p:nvSpPr>
          <p:cNvPr id="36" name="Shape 34"/>
          <p:cNvSpPr/>
          <p:nvPr/>
        </p:nvSpPr>
        <p:spPr>
          <a:xfrm>
            <a:off x="3420411" y="3438144"/>
            <a:ext cx="919941" cy="512064"/>
          </a:xfrm>
          <a:prstGeom prst="rect">
            <a:avLst/>
          </a:prstGeom>
          <a:solidFill>
            <a:srgbClr val="F57F17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7" name="Text 35"/>
          <p:cNvSpPr/>
          <p:nvPr/>
        </p:nvSpPr>
        <p:spPr>
          <a:xfrm>
            <a:off x="3420411" y="3438144"/>
            <a:ext cx="91994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1067" dirty="0"/>
          </a:p>
        </p:txBody>
      </p:sp>
      <p:sp>
        <p:nvSpPr>
          <p:cNvPr id="38" name="Shape 36"/>
          <p:cNvSpPr/>
          <p:nvPr/>
        </p:nvSpPr>
        <p:spPr>
          <a:xfrm>
            <a:off x="5545143" y="3438144"/>
            <a:ext cx="1746227" cy="512064"/>
          </a:xfrm>
          <a:prstGeom prst="rect">
            <a:avLst/>
          </a:prstGeom>
          <a:solidFill>
            <a:srgbClr val="F57F17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9" name="Text 37"/>
          <p:cNvSpPr/>
          <p:nvPr/>
        </p:nvSpPr>
        <p:spPr>
          <a:xfrm>
            <a:off x="5545143" y="3438144"/>
            <a:ext cx="17462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1067" dirty="0"/>
          </a:p>
        </p:txBody>
      </p:sp>
      <p:sp>
        <p:nvSpPr>
          <p:cNvPr id="40" name="Shape 38"/>
          <p:cNvSpPr/>
          <p:nvPr/>
        </p:nvSpPr>
        <p:spPr>
          <a:xfrm>
            <a:off x="8378122" y="3438144"/>
            <a:ext cx="683860" cy="512064"/>
          </a:xfrm>
          <a:prstGeom prst="rect">
            <a:avLst/>
          </a:prstGeom>
          <a:solidFill>
            <a:srgbClr val="F57F17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1" name="Text 39"/>
          <p:cNvSpPr/>
          <p:nvPr/>
        </p:nvSpPr>
        <p:spPr>
          <a:xfrm>
            <a:off x="8378122" y="3438144"/>
            <a:ext cx="6838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1067" dirty="0"/>
          </a:p>
        </p:txBody>
      </p:sp>
      <p:sp>
        <p:nvSpPr>
          <p:cNvPr id="42" name="Shape 40"/>
          <p:cNvSpPr/>
          <p:nvPr/>
        </p:nvSpPr>
        <p:spPr>
          <a:xfrm>
            <a:off x="10856977" y="3438144"/>
            <a:ext cx="683860" cy="512064"/>
          </a:xfrm>
          <a:prstGeom prst="rect">
            <a:avLst/>
          </a:prstGeom>
          <a:solidFill>
            <a:srgbClr val="F57F17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3" name="Text 41"/>
          <p:cNvSpPr/>
          <p:nvPr/>
        </p:nvSpPr>
        <p:spPr>
          <a:xfrm>
            <a:off x="10856977" y="3438144"/>
            <a:ext cx="6838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</a:t>
            </a:r>
            <a:endParaRPr lang="en-US" sz="1067" dirty="0"/>
          </a:p>
        </p:txBody>
      </p:sp>
      <p:sp>
        <p:nvSpPr>
          <p:cNvPr id="44" name="Shape 42"/>
          <p:cNvSpPr/>
          <p:nvPr/>
        </p:nvSpPr>
        <p:spPr>
          <a:xfrm>
            <a:off x="6430449" y="4194048"/>
            <a:ext cx="0" cy="463296"/>
          </a:xfrm>
          <a:prstGeom prst="line">
            <a:avLst/>
          </a:prstGeom>
          <a:noFill/>
          <a:ln w="254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5" name="Shape 43"/>
          <p:cNvSpPr/>
          <p:nvPr/>
        </p:nvSpPr>
        <p:spPr>
          <a:xfrm>
            <a:off x="5301303" y="4657344"/>
            <a:ext cx="2258291" cy="48768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6" name="Text 44"/>
          <p:cNvSpPr/>
          <p:nvPr/>
        </p:nvSpPr>
        <p:spPr>
          <a:xfrm>
            <a:off x="5301303" y="4657344"/>
            <a:ext cx="225829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GC pause: 50–500ms typical</a:t>
            </a:r>
            <a:endParaRPr lang="en-US" sz="1467" dirty="0"/>
          </a:p>
        </p:txBody>
      </p:sp>
      <p:sp>
        <p:nvSpPr>
          <p:cNvPr id="47" name="Shape 45"/>
          <p:cNvSpPr/>
          <p:nvPr/>
        </p:nvSpPr>
        <p:spPr>
          <a:xfrm>
            <a:off x="304800" y="5547360"/>
            <a:ext cx="914400" cy="31699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8" name="Text 46"/>
          <p:cNvSpPr/>
          <p:nvPr/>
        </p:nvSpPr>
        <p:spPr>
          <a:xfrm>
            <a:off x="1341120" y="5547360"/>
            <a:ext cx="26822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running</a:t>
            </a:r>
            <a:endParaRPr lang="en-US" sz="1467" dirty="0"/>
          </a:p>
        </p:txBody>
      </p:sp>
      <p:sp>
        <p:nvSpPr>
          <p:cNvPr id="49" name="Shape 47"/>
          <p:cNvSpPr/>
          <p:nvPr/>
        </p:nvSpPr>
        <p:spPr>
          <a:xfrm>
            <a:off x="4145280" y="5547360"/>
            <a:ext cx="914400" cy="3169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0" name="Text 48"/>
          <p:cNvSpPr/>
          <p:nvPr/>
        </p:nvSpPr>
        <p:spPr>
          <a:xfrm>
            <a:off x="5181600" y="5547360"/>
            <a:ext cx="26822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paused (STW)</a:t>
            </a:r>
            <a:endParaRPr lang="en-US" sz="1467" dirty="0"/>
          </a:p>
        </p:txBody>
      </p:sp>
      <p:sp>
        <p:nvSpPr>
          <p:cNvPr id="51" name="Shape 49"/>
          <p:cNvSpPr/>
          <p:nvPr/>
        </p:nvSpPr>
        <p:spPr>
          <a:xfrm>
            <a:off x="7985760" y="5547360"/>
            <a:ext cx="914400" cy="31699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2" name="Text 50"/>
          <p:cNvSpPr/>
          <p:nvPr/>
        </p:nvSpPr>
        <p:spPr>
          <a:xfrm>
            <a:off x="9022080" y="5547360"/>
            <a:ext cx="26822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thread active</a:t>
            </a:r>
            <a:endParaRPr lang="en-US" sz="1467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Overhead &amp; Fragmentation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1164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GC-managed runtimes need significantly more memory than your program's actual data — a luxury embedded systems cannot afford.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304800" y="1804416"/>
            <a:ext cx="7924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memory usage (same program, data = 1.0×)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4800" y="2194560"/>
            <a:ext cx="1463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33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Rust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1828800" y="2255520"/>
            <a:ext cx="1048512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Text 7"/>
          <p:cNvSpPr/>
          <p:nvPr/>
        </p:nvSpPr>
        <p:spPr>
          <a:xfrm>
            <a:off x="2999232" y="21945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304800" y="3145536"/>
            <a:ext cx="1463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33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1828800" y="3206496"/>
            <a:ext cx="104851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Shape 10"/>
          <p:cNvSpPr/>
          <p:nvPr/>
        </p:nvSpPr>
        <p:spPr>
          <a:xfrm>
            <a:off x="2877312" y="3206496"/>
            <a:ext cx="1153363" cy="54864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Text 11"/>
          <p:cNvSpPr/>
          <p:nvPr/>
        </p:nvSpPr>
        <p:spPr>
          <a:xfrm>
            <a:off x="4152595" y="3145536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304800" y="4096512"/>
            <a:ext cx="1463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33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1828800" y="4157472"/>
            <a:ext cx="1048512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Shape 14"/>
          <p:cNvSpPr/>
          <p:nvPr/>
        </p:nvSpPr>
        <p:spPr>
          <a:xfrm>
            <a:off x="2877313" y="4157472"/>
            <a:ext cx="1887321" cy="548640"/>
          </a:xfrm>
          <a:prstGeom prst="rect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7" name="Text 15"/>
          <p:cNvSpPr/>
          <p:nvPr/>
        </p:nvSpPr>
        <p:spPr>
          <a:xfrm>
            <a:off x="4886553" y="4096512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304800" y="5047488"/>
            <a:ext cx="14630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33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1828800" y="5108448"/>
            <a:ext cx="1048512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Shape 18"/>
          <p:cNvSpPr/>
          <p:nvPr/>
        </p:nvSpPr>
        <p:spPr>
          <a:xfrm>
            <a:off x="2877312" y="5108448"/>
            <a:ext cx="4194048" cy="548640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Text 19"/>
          <p:cNvSpPr/>
          <p:nvPr/>
        </p:nvSpPr>
        <p:spPr>
          <a:xfrm>
            <a:off x="7193280" y="5047488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733" dirty="0"/>
          </a:p>
        </p:txBody>
      </p:sp>
      <p:sp>
        <p:nvSpPr>
          <p:cNvPr id="22" name="Shape 20"/>
          <p:cNvSpPr/>
          <p:nvPr/>
        </p:nvSpPr>
        <p:spPr>
          <a:xfrm>
            <a:off x="1828800" y="6059424"/>
            <a:ext cx="548640" cy="243840"/>
          </a:xfrm>
          <a:prstGeom prst="rect">
            <a:avLst/>
          </a:prstGeom>
          <a:solidFill>
            <a:srgbClr val="1A1512"/>
          </a:solidFill>
          <a:ln w="12700">
            <a:solidFill>
              <a:srgbClr val="1A151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21"/>
          <p:cNvSpPr/>
          <p:nvPr/>
        </p:nvSpPr>
        <p:spPr>
          <a:xfrm>
            <a:off x="2499360" y="6059424"/>
            <a:ext cx="4632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program 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6388608"/>
            <a:ext cx="548640" cy="24384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5" name="Text 23"/>
          <p:cNvSpPr/>
          <p:nvPr/>
        </p:nvSpPr>
        <p:spPr>
          <a:xfrm>
            <a:off x="2499360" y="6388608"/>
            <a:ext cx="46329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overhead (metadata, headroom &amp; fragmentation)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2170176"/>
            <a:ext cx="445008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27" name="Shape 25"/>
          <p:cNvSpPr/>
          <p:nvPr/>
        </p:nvSpPr>
        <p:spPr>
          <a:xfrm>
            <a:off x="7498080" y="2170176"/>
            <a:ext cx="85344" cy="134112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Text 26"/>
          <p:cNvSpPr/>
          <p:nvPr/>
        </p:nvSpPr>
        <p:spPr>
          <a:xfrm>
            <a:off x="7717536" y="2255520"/>
            <a:ext cx="408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Headroom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7717536" y="2682240"/>
            <a:ext cx="40843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needs 2–3× live data to operate efficiently. At 70%+ heap utilization, performance degrades sharply as GC runs constantly.</a:t>
            </a:r>
            <a:endParaRPr lang="en-US" sz="1533" dirty="0"/>
          </a:p>
        </p:txBody>
      </p:sp>
      <p:sp>
        <p:nvSpPr>
          <p:cNvPr id="30" name="Shape 28"/>
          <p:cNvSpPr/>
          <p:nvPr/>
        </p:nvSpPr>
        <p:spPr>
          <a:xfrm>
            <a:off x="7498080" y="3633216"/>
            <a:ext cx="445008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31" name="Shape 29"/>
          <p:cNvSpPr/>
          <p:nvPr/>
        </p:nvSpPr>
        <p:spPr>
          <a:xfrm>
            <a:off x="7498080" y="3633216"/>
            <a:ext cx="85344" cy="134112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2" name="Text 30"/>
          <p:cNvSpPr/>
          <p:nvPr/>
        </p:nvSpPr>
        <p:spPr>
          <a:xfrm>
            <a:off x="7717536" y="3718560"/>
            <a:ext cx="408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7717536" y="4145280"/>
            <a:ext cx="40843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many alloc/free cycles, free memory becomes scattered in small chunks. The GC must occasionally "compact" the heap — another STW pause.</a:t>
            </a:r>
            <a:endParaRPr lang="en-US" sz="1533" dirty="0"/>
          </a:p>
        </p:txBody>
      </p:sp>
      <p:sp>
        <p:nvSpPr>
          <p:cNvPr id="34" name="Shape 32"/>
          <p:cNvSpPr/>
          <p:nvPr/>
        </p:nvSpPr>
        <p:spPr>
          <a:xfrm>
            <a:off x="7498080" y="5096256"/>
            <a:ext cx="445008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35" name="Shape 33"/>
          <p:cNvSpPr/>
          <p:nvPr/>
        </p:nvSpPr>
        <p:spPr>
          <a:xfrm>
            <a:off x="7498080" y="5096256"/>
            <a:ext cx="85344" cy="134112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6" name="Text 34"/>
          <p:cNvSpPr/>
          <p:nvPr/>
        </p:nvSpPr>
        <p:spPr>
          <a:xfrm>
            <a:off x="7717536" y="5181600"/>
            <a:ext cx="408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Overhead</a:t>
            </a:r>
            <a:endParaRPr lang="en-US" sz="1733" dirty="0"/>
          </a:p>
        </p:txBody>
      </p:sp>
      <p:sp>
        <p:nvSpPr>
          <p:cNvPr id="37" name="Text 35"/>
          <p:cNvSpPr/>
          <p:nvPr/>
        </p:nvSpPr>
        <p:spPr>
          <a:xfrm>
            <a:off x="7717536" y="5608320"/>
            <a:ext cx="408432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heap object carries a header (type tag, GC flags, lock word). A single boolean may cost 16–32 bytes including header and alignment.</a:t>
            </a:r>
            <a:endParaRPr lang="en-US" sz="153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Non-Determinism: The Real-Time Killer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1164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GC, you cannot predict when collection will run or how long it will take. For real-time systems, this unpredictability is catastrophic.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304800" y="2097024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/ C — Deterministic response times: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304800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Shape 6"/>
          <p:cNvSpPr/>
          <p:nvPr/>
        </p:nvSpPr>
        <p:spPr>
          <a:xfrm>
            <a:off x="1328928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Shape 7"/>
          <p:cNvSpPr/>
          <p:nvPr/>
        </p:nvSpPr>
        <p:spPr>
          <a:xfrm>
            <a:off x="2353056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0" name="Shape 8"/>
          <p:cNvSpPr/>
          <p:nvPr/>
        </p:nvSpPr>
        <p:spPr>
          <a:xfrm>
            <a:off x="3377184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Shape 9"/>
          <p:cNvSpPr/>
          <p:nvPr/>
        </p:nvSpPr>
        <p:spPr>
          <a:xfrm>
            <a:off x="4401312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Shape 10"/>
          <p:cNvSpPr/>
          <p:nvPr/>
        </p:nvSpPr>
        <p:spPr>
          <a:xfrm>
            <a:off x="5425440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Shape 11"/>
          <p:cNvSpPr/>
          <p:nvPr/>
        </p:nvSpPr>
        <p:spPr>
          <a:xfrm>
            <a:off x="6449568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4" name="Shape 12"/>
          <p:cNvSpPr/>
          <p:nvPr/>
        </p:nvSpPr>
        <p:spPr>
          <a:xfrm>
            <a:off x="7473696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Shape 13"/>
          <p:cNvSpPr/>
          <p:nvPr/>
        </p:nvSpPr>
        <p:spPr>
          <a:xfrm>
            <a:off x="8497824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Shape 14"/>
          <p:cNvSpPr/>
          <p:nvPr/>
        </p:nvSpPr>
        <p:spPr>
          <a:xfrm>
            <a:off x="9521952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7" name="Shape 15"/>
          <p:cNvSpPr/>
          <p:nvPr/>
        </p:nvSpPr>
        <p:spPr>
          <a:xfrm>
            <a:off x="10546080" y="2523744"/>
            <a:ext cx="999744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8" name="Text 16"/>
          <p:cNvSpPr/>
          <p:nvPr/>
        </p:nvSpPr>
        <p:spPr>
          <a:xfrm>
            <a:off x="304800" y="3072384"/>
            <a:ext cx="11582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response: ~8ms  (consistent, predictable)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304800" y="3596640"/>
            <a:ext cx="8534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Language — Non-deterministic response times: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304800" y="4023360"/>
            <a:ext cx="804672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Shape 19"/>
          <p:cNvSpPr/>
          <p:nvPr/>
        </p:nvSpPr>
        <p:spPr>
          <a:xfrm>
            <a:off x="1133856" y="4023360"/>
            <a:ext cx="804672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Shape 20"/>
          <p:cNvSpPr/>
          <p:nvPr/>
        </p:nvSpPr>
        <p:spPr>
          <a:xfrm>
            <a:off x="1962912" y="4023360"/>
            <a:ext cx="1499616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21"/>
          <p:cNvSpPr/>
          <p:nvPr/>
        </p:nvSpPr>
        <p:spPr>
          <a:xfrm>
            <a:off x="1962912" y="402336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 Pause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3486912" y="4023360"/>
            <a:ext cx="804672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5" name="Shape 23"/>
          <p:cNvSpPr/>
          <p:nvPr/>
        </p:nvSpPr>
        <p:spPr>
          <a:xfrm>
            <a:off x="4315968" y="4023360"/>
            <a:ext cx="804672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6" name="Shape 24"/>
          <p:cNvSpPr/>
          <p:nvPr/>
        </p:nvSpPr>
        <p:spPr>
          <a:xfrm>
            <a:off x="5145024" y="4023360"/>
            <a:ext cx="804672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7" name="Shape 25"/>
          <p:cNvSpPr/>
          <p:nvPr/>
        </p:nvSpPr>
        <p:spPr>
          <a:xfrm>
            <a:off x="5974080" y="4023360"/>
            <a:ext cx="524256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Shape 26"/>
          <p:cNvSpPr/>
          <p:nvPr/>
        </p:nvSpPr>
        <p:spPr>
          <a:xfrm>
            <a:off x="6522720" y="4023360"/>
            <a:ext cx="853440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9" name="Text 27"/>
          <p:cNvSpPr/>
          <p:nvPr/>
        </p:nvSpPr>
        <p:spPr>
          <a:xfrm>
            <a:off x="6522720" y="4023360"/>
            <a:ext cx="85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 Pause</a:t>
            </a:r>
            <a:endParaRPr lang="en-US" sz="1067" dirty="0"/>
          </a:p>
        </p:txBody>
      </p:sp>
      <p:sp>
        <p:nvSpPr>
          <p:cNvPr id="30" name="Shape 28"/>
          <p:cNvSpPr/>
          <p:nvPr/>
        </p:nvSpPr>
        <p:spPr>
          <a:xfrm>
            <a:off x="7400544" y="4023360"/>
            <a:ext cx="804672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1" name="Shape 29"/>
          <p:cNvSpPr/>
          <p:nvPr/>
        </p:nvSpPr>
        <p:spPr>
          <a:xfrm>
            <a:off x="8229600" y="4023360"/>
            <a:ext cx="2474976" cy="512064"/>
          </a:xfrm>
          <a:prstGeom prst="rect">
            <a:avLst/>
          </a:prstGeom>
          <a:solidFill>
            <a:srgbClr val="C62828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2" name="Text 30"/>
          <p:cNvSpPr/>
          <p:nvPr/>
        </p:nvSpPr>
        <p:spPr>
          <a:xfrm>
            <a:off x="8229600" y="4023360"/>
            <a:ext cx="2474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 Pause</a:t>
            </a:r>
            <a:endParaRPr lang="en-US" sz="1067" dirty="0"/>
          </a:p>
        </p:txBody>
      </p:sp>
      <p:sp>
        <p:nvSpPr>
          <p:cNvPr id="33" name="Shape 31"/>
          <p:cNvSpPr/>
          <p:nvPr/>
        </p:nvSpPr>
        <p:spPr>
          <a:xfrm>
            <a:off x="10728960" y="4023360"/>
            <a:ext cx="219456" cy="512064"/>
          </a:xfrm>
          <a:prstGeom prst="rect">
            <a:avLst/>
          </a:prstGeom>
          <a:solidFill>
            <a:srgbClr val="388E3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4" name="Text 32"/>
          <p:cNvSpPr/>
          <p:nvPr/>
        </p:nvSpPr>
        <p:spPr>
          <a:xfrm>
            <a:off x="304800" y="4572000"/>
            <a:ext cx="11582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~8ms.  But GC pauses hit without warning: minor ~10ms, major 100–500ms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304800" y="5084064"/>
            <a:ext cx="11643360" cy="1438656"/>
          </a:xfrm>
          <a:prstGeom prst="rect">
            <a:avLst/>
          </a:prstGeom>
          <a:solidFill>
            <a:srgbClr val="1E0D06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6" name="Text 34"/>
          <p:cNvSpPr/>
          <p:nvPr/>
        </p:nvSpPr>
        <p:spPr>
          <a:xfrm>
            <a:off x="548640" y="5145024"/>
            <a:ext cx="111556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F6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must guarantee response within a hard deadline. A GC pause that fires at the wrong moment misses that deadline entirely — causing audio glitches, sensor sampling gaps, or control system failures.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+mj-lt"/>
                <a:ea typeface="Calibri" pitchFamily="34" charset="-122"/>
                <a:cs typeface="Calibri" pitchFamily="34" charset="-120"/>
              </a:rPr>
              <a:t>Rust's Ownership Model (GC-free)</a:t>
            </a:r>
            <a:endParaRPr lang="en-US" sz="3733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6364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Rust's ownership system is enforced at compile time — no runtime checks, no GC, zero overhead.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8224" y="2157984"/>
            <a:ext cx="585216" cy="585216"/>
          </a:xfrm>
          <a:prstGeom prst="ellipse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" name="Text 5"/>
          <p:cNvSpPr/>
          <p:nvPr/>
        </p:nvSpPr>
        <p:spPr>
          <a:xfrm>
            <a:off x="268224" y="21579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33" dirty="0"/>
          </a:p>
        </p:txBody>
      </p:sp>
      <p:sp>
        <p:nvSpPr>
          <p:cNvPr id="8" name="Text 6"/>
          <p:cNvSpPr/>
          <p:nvPr/>
        </p:nvSpPr>
        <p:spPr>
          <a:xfrm>
            <a:off x="1036320" y="213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has one owner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6320" y="2706624"/>
            <a:ext cx="5486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owner goes out of scope, the value is automatically freed — no malloc/free pairs, no memory leaks by design.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268224" y="3681984"/>
            <a:ext cx="585216" cy="585216"/>
          </a:xfrm>
          <a:prstGeom prst="ellipse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9"/>
          <p:cNvSpPr/>
          <p:nvPr/>
        </p:nvSpPr>
        <p:spPr>
          <a:xfrm>
            <a:off x="268224" y="36819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103632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borrow references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36320" y="4230624"/>
            <a:ext cx="5486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read-only borrows are allowed, OR one exclusive mutable borrow — but never both at once. Data races become impossible.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268224" y="5205984"/>
            <a:ext cx="585216" cy="585216"/>
          </a:xfrm>
          <a:prstGeom prst="ellipse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3"/>
          <p:cNvSpPr/>
          <p:nvPr/>
        </p:nvSpPr>
        <p:spPr>
          <a:xfrm>
            <a:off x="268224" y="52059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1036320" y="518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enforces everything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36320" y="5754624"/>
            <a:ext cx="5486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borrows, use-after-free, and data races are caught at compile time, not discovered on hardware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6766560" y="1219200"/>
            <a:ext cx="5181600" cy="5425440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Shape 17"/>
          <p:cNvSpPr/>
          <p:nvPr/>
        </p:nvSpPr>
        <p:spPr>
          <a:xfrm>
            <a:off x="6766560" y="1219200"/>
            <a:ext cx="518160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Shape 18"/>
          <p:cNvSpPr/>
          <p:nvPr/>
        </p:nvSpPr>
        <p:spPr>
          <a:xfrm>
            <a:off x="6888480" y="1286256"/>
            <a:ext cx="121920" cy="12192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Shape 19"/>
          <p:cNvSpPr/>
          <p:nvPr/>
        </p:nvSpPr>
        <p:spPr>
          <a:xfrm>
            <a:off x="7107936" y="1286256"/>
            <a:ext cx="121920" cy="121920"/>
          </a:xfrm>
          <a:prstGeom prst="ellipse">
            <a:avLst/>
          </a:prstGeom>
          <a:solidFill>
            <a:srgbClr val="F0AD4E"/>
          </a:solidFill>
          <a:ln w="12700">
            <a:solidFill>
              <a:srgbClr val="F0AD4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Shape 20"/>
          <p:cNvSpPr/>
          <p:nvPr/>
        </p:nvSpPr>
        <p:spPr>
          <a:xfrm>
            <a:off x="7327392" y="1286256"/>
            <a:ext cx="121920" cy="12192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21"/>
          <p:cNvSpPr/>
          <p:nvPr/>
        </p:nvSpPr>
        <p:spPr>
          <a:xfrm>
            <a:off x="6912864" y="1524000"/>
            <a:ext cx="4888992" cy="502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Ownership moves on assignment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v = vec![1, 2, 3];  // v owns the Vec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w = v;               // ownership moves to w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println!("{:?}", v); // ❌ compile error!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Borrowing: share without moving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 = String::from("hello");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len = compute_len(&amp;s); // borrow s (read-only)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println!("{} len={}", s, len); // s still valid ✓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Mutable borrow: exclusive access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mut x = 5;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 = &amp;mut x;  // exclusive mutable borrow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*r += 1;         // only r can access x here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println!("{}", x); // borrow ended, x accessible ✓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+mj-lt"/>
                <a:ea typeface="Calibri" pitchFamily="34" charset="-122"/>
                <a:cs typeface="Calibri" pitchFamily="34" charset="-120"/>
              </a:rPr>
              <a:t>Rust vs C: A Quick Comparison</a:t>
            </a:r>
            <a:endParaRPr lang="en-US" sz="3733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" name="Shape 3"/>
          <p:cNvSpPr/>
          <p:nvPr/>
        </p:nvSpPr>
        <p:spPr>
          <a:xfrm>
            <a:off x="268224" y="1219200"/>
            <a:ext cx="3474720" cy="621792"/>
          </a:xfrm>
          <a:prstGeom prst="rect">
            <a:avLst/>
          </a:prstGeom>
          <a:solidFill>
            <a:srgbClr val="1A1512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6" name="Text 4"/>
          <p:cNvSpPr/>
          <p:nvPr/>
        </p:nvSpPr>
        <p:spPr>
          <a:xfrm>
            <a:off x="390144" y="1219200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3742944" y="1219200"/>
            <a:ext cx="3718560" cy="621792"/>
          </a:xfrm>
          <a:prstGeom prst="rect">
            <a:avLst/>
          </a:prstGeom>
          <a:solidFill>
            <a:srgbClr val="1A1512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Text 6"/>
          <p:cNvSpPr/>
          <p:nvPr/>
        </p:nvSpPr>
        <p:spPr>
          <a:xfrm>
            <a:off x="3864864" y="1219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7461504" y="1219200"/>
            <a:ext cx="3718560" cy="621792"/>
          </a:xfrm>
          <a:prstGeom prst="rect">
            <a:avLst/>
          </a:prstGeom>
          <a:solidFill>
            <a:srgbClr val="CE4A23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0" name="Text 8"/>
          <p:cNvSpPr/>
          <p:nvPr/>
        </p:nvSpPr>
        <p:spPr>
          <a:xfrm>
            <a:off x="7583424" y="1219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268224" y="1840992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 10"/>
          <p:cNvSpPr/>
          <p:nvPr/>
        </p:nvSpPr>
        <p:spPr>
          <a:xfrm>
            <a:off x="390144" y="1840992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Safety</a:t>
            </a:r>
            <a:endParaRPr lang="en-US" sz="1667" dirty="0"/>
          </a:p>
        </p:txBody>
      </p:sp>
      <p:sp>
        <p:nvSpPr>
          <p:cNvPr id="13" name="Shape 11"/>
          <p:cNvSpPr/>
          <p:nvPr/>
        </p:nvSpPr>
        <p:spPr>
          <a:xfrm>
            <a:off x="3742944" y="1840992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4" name="Text 12"/>
          <p:cNvSpPr/>
          <p:nvPr/>
        </p:nvSpPr>
        <p:spPr>
          <a:xfrm>
            <a:off x="3864864" y="18409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(error-prone)</a:t>
            </a:r>
            <a:endParaRPr lang="en-US" sz="1667" dirty="0"/>
          </a:p>
        </p:txBody>
      </p:sp>
      <p:sp>
        <p:nvSpPr>
          <p:cNvPr id="15" name="Shape 13"/>
          <p:cNvSpPr/>
          <p:nvPr/>
        </p:nvSpPr>
        <p:spPr>
          <a:xfrm>
            <a:off x="7461504" y="1840992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Text 14"/>
          <p:cNvSpPr/>
          <p:nvPr/>
        </p:nvSpPr>
        <p:spPr>
          <a:xfrm>
            <a:off x="7583424" y="18409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enforced</a:t>
            </a:r>
            <a:endParaRPr lang="en-US" sz="1667" dirty="0"/>
          </a:p>
        </p:txBody>
      </p:sp>
      <p:sp>
        <p:nvSpPr>
          <p:cNvPr id="17" name="Shape 15"/>
          <p:cNvSpPr/>
          <p:nvPr/>
        </p:nvSpPr>
        <p:spPr>
          <a:xfrm>
            <a:off x="268224" y="2462784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8" name="Text 16"/>
          <p:cNvSpPr/>
          <p:nvPr/>
        </p:nvSpPr>
        <p:spPr>
          <a:xfrm>
            <a:off x="390144" y="2462784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Collector</a:t>
            </a:r>
            <a:endParaRPr lang="en-US" sz="1667" dirty="0"/>
          </a:p>
        </p:txBody>
      </p:sp>
      <p:sp>
        <p:nvSpPr>
          <p:cNvPr id="19" name="Shape 17"/>
          <p:cNvSpPr/>
          <p:nvPr/>
        </p:nvSpPr>
        <p:spPr>
          <a:xfrm>
            <a:off x="3742944" y="2462784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Text 18"/>
          <p:cNvSpPr/>
          <p:nvPr/>
        </p:nvSpPr>
        <p:spPr>
          <a:xfrm>
            <a:off x="3864864" y="24627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667" dirty="0"/>
          </a:p>
        </p:txBody>
      </p:sp>
      <p:sp>
        <p:nvSpPr>
          <p:cNvPr id="21" name="Shape 19"/>
          <p:cNvSpPr/>
          <p:nvPr/>
        </p:nvSpPr>
        <p:spPr>
          <a:xfrm>
            <a:off x="7461504" y="2462784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Text 20"/>
          <p:cNvSpPr/>
          <p:nvPr/>
        </p:nvSpPr>
        <p:spPr>
          <a:xfrm>
            <a:off x="7583424" y="24627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667" dirty="0"/>
          </a:p>
        </p:txBody>
      </p:sp>
      <p:sp>
        <p:nvSpPr>
          <p:cNvPr id="23" name="Shape 21"/>
          <p:cNvSpPr/>
          <p:nvPr/>
        </p:nvSpPr>
        <p:spPr>
          <a:xfrm>
            <a:off x="268224" y="3084576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2"/>
          <p:cNvSpPr/>
          <p:nvPr/>
        </p:nvSpPr>
        <p:spPr>
          <a:xfrm>
            <a:off x="390144" y="3084576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Races</a:t>
            </a:r>
            <a:endParaRPr lang="en-US" sz="1667" dirty="0"/>
          </a:p>
        </p:txBody>
      </p:sp>
      <p:sp>
        <p:nvSpPr>
          <p:cNvPr id="25" name="Shape 23"/>
          <p:cNvSpPr/>
          <p:nvPr/>
        </p:nvSpPr>
        <p:spPr>
          <a:xfrm>
            <a:off x="3742944" y="3084576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6" name="Text 24"/>
          <p:cNvSpPr/>
          <p:nvPr/>
        </p:nvSpPr>
        <p:spPr>
          <a:xfrm>
            <a:off x="3864864" y="308457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at runtime</a:t>
            </a:r>
            <a:endParaRPr lang="en-US" sz="1667" dirty="0"/>
          </a:p>
        </p:txBody>
      </p:sp>
      <p:sp>
        <p:nvSpPr>
          <p:cNvPr id="27" name="Shape 25"/>
          <p:cNvSpPr/>
          <p:nvPr/>
        </p:nvSpPr>
        <p:spPr>
          <a:xfrm>
            <a:off x="7461504" y="3084576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Text 26"/>
          <p:cNvSpPr/>
          <p:nvPr/>
        </p:nvSpPr>
        <p:spPr>
          <a:xfrm>
            <a:off x="7583424" y="308457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(compile-time)</a:t>
            </a:r>
            <a:endParaRPr lang="en-US" sz="1667" dirty="0"/>
          </a:p>
        </p:txBody>
      </p:sp>
      <p:sp>
        <p:nvSpPr>
          <p:cNvPr id="29" name="Shape 27"/>
          <p:cNvSpPr/>
          <p:nvPr/>
        </p:nvSpPr>
        <p:spPr>
          <a:xfrm>
            <a:off x="268224" y="3706368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0" name="Text 28"/>
          <p:cNvSpPr/>
          <p:nvPr/>
        </p:nvSpPr>
        <p:spPr>
          <a:xfrm>
            <a:off x="390144" y="3706368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Cost</a:t>
            </a:r>
            <a:endParaRPr lang="en-US" sz="1667" dirty="0"/>
          </a:p>
        </p:txBody>
      </p:sp>
      <p:sp>
        <p:nvSpPr>
          <p:cNvPr id="31" name="Shape 29"/>
          <p:cNvSpPr/>
          <p:nvPr/>
        </p:nvSpPr>
        <p:spPr>
          <a:xfrm>
            <a:off x="3742944" y="3706368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2" name="Text 30"/>
          <p:cNvSpPr/>
          <p:nvPr/>
        </p:nvSpPr>
        <p:spPr>
          <a:xfrm>
            <a:off x="3864864" y="37063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67" dirty="0"/>
          </a:p>
        </p:txBody>
      </p:sp>
      <p:sp>
        <p:nvSpPr>
          <p:cNvPr id="33" name="Shape 31"/>
          <p:cNvSpPr/>
          <p:nvPr/>
        </p:nvSpPr>
        <p:spPr>
          <a:xfrm>
            <a:off x="7461504" y="3706368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4" name="Text 32"/>
          <p:cNvSpPr/>
          <p:nvPr/>
        </p:nvSpPr>
        <p:spPr>
          <a:xfrm>
            <a:off x="7583424" y="37063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(monomorphized)</a:t>
            </a:r>
            <a:endParaRPr lang="en-US" sz="1667" dirty="0"/>
          </a:p>
        </p:txBody>
      </p:sp>
      <p:sp>
        <p:nvSpPr>
          <p:cNvPr id="35" name="Shape 33"/>
          <p:cNvSpPr/>
          <p:nvPr/>
        </p:nvSpPr>
        <p:spPr>
          <a:xfrm>
            <a:off x="268224" y="4328160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6" name="Text 34"/>
          <p:cNvSpPr/>
          <p:nvPr/>
        </p:nvSpPr>
        <p:spPr>
          <a:xfrm>
            <a:off x="390144" y="4328160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</a:t>
            </a:r>
            <a:endParaRPr lang="en-US" sz="1667" dirty="0"/>
          </a:p>
        </p:txBody>
      </p:sp>
      <p:sp>
        <p:nvSpPr>
          <p:cNvPr id="37" name="Shape 35"/>
          <p:cNvSpPr/>
          <p:nvPr/>
        </p:nvSpPr>
        <p:spPr>
          <a:xfrm>
            <a:off x="3742944" y="4328160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8" name="Text 36"/>
          <p:cNvSpPr/>
          <p:nvPr/>
        </p:nvSpPr>
        <p:spPr>
          <a:xfrm>
            <a:off x="3864864" y="4328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(ad hoc)</a:t>
            </a:r>
            <a:endParaRPr lang="en-US" sz="1667" dirty="0"/>
          </a:p>
        </p:txBody>
      </p:sp>
      <p:sp>
        <p:nvSpPr>
          <p:cNvPr id="39" name="Shape 37"/>
          <p:cNvSpPr/>
          <p:nvPr/>
        </p:nvSpPr>
        <p:spPr>
          <a:xfrm>
            <a:off x="7461504" y="4328160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0" name="Text 38"/>
          <p:cNvSpPr/>
          <p:nvPr/>
        </p:nvSpPr>
        <p:spPr>
          <a:xfrm>
            <a:off x="7583424" y="4328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(built-in)</a:t>
            </a:r>
            <a:endParaRPr lang="en-US" sz="1667" dirty="0"/>
          </a:p>
        </p:txBody>
      </p:sp>
      <p:sp>
        <p:nvSpPr>
          <p:cNvPr id="41" name="Shape 39"/>
          <p:cNvSpPr/>
          <p:nvPr/>
        </p:nvSpPr>
        <p:spPr>
          <a:xfrm>
            <a:off x="268224" y="4949952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2" name="Text 40"/>
          <p:cNvSpPr/>
          <p:nvPr/>
        </p:nvSpPr>
        <p:spPr>
          <a:xfrm>
            <a:off x="390144" y="4949952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67" dirty="0"/>
          </a:p>
        </p:txBody>
      </p:sp>
      <p:sp>
        <p:nvSpPr>
          <p:cNvPr id="43" name="Shape 41"/>
          <p:cNvSpPr/>
          <p:nvPr/>
        </p:nvSpPr>
        <p:spPr>
          <a:xfrm>
            <a:off x="3742944" y="4949952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4" name="Text 42"/>
          <p:cNvSpPr/>
          <p:nvPr/>
        </p:nvSpPr>
        <p:spPr>
          <a:xfrm>
            <a:off x="3864864" y="49499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codes / errno</a:t>
            </a:r>
            <a:endParaRPr lang="en-US" sz="1667" dirty="0"/>
          </a:p>
        </p:txBody>
      </p:sp>
      <p:sp>
        <p:nvSpPr>
          <p:cNvPr id="45" name="Shape 43"/>
          <p:cNvSpPr/>
          <p:nvPr/>
        </p:nvSpPr>
        <p:spPr>
          <a:xfrm>
            <a:off x="7461504" y="4949952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6" name="Text 44"/>
          <p:cNvSpPr/>
          <p:nvPr/>
        </p:nvSpPr>
        <p:spPr>
          <a:xfrm>
            <a:off x="7583424" y="49499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Result&lt;T,E&gt; types</a:t>
            </a:r>
            <a:endParaRPr lang="en-US" sz="1667" dirty="0"/>
          </a:p>
        </p:txBody>
      </p:sp>
      <p:sp>
        <p:nvSpPr>
          <p:cNvPr id="47" name="Shape 45"/>
          <p:cNvSpPr/>
          <p:nvPr/>
        </p:nvSpPr>
        <p:spPr>
          <a:xfrm>
            <a:off x="268224" y="5571744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8" name="Text 46"/>
          <p:cNvSpPr/>
          <p:nvPr/>
        </p:nvSpPr>
        <p:spPr>
          <a:xfrm>
            <a:off x="390144" y="5571744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Pointers</a:t>
            </a:r>
            <a:endParaRPr lang="en-US" sz="1667" dirty="0"/>
          </a:p>
        </p:txBody>
      </p:sp>
      <p:sp>
        <p:nvSpPr>
          <p:cNvPr id="49" name="Shape 47"/>
          <p:cNvSpPr/>
          <p:nvPr/>
        </p:nvSpPr>
        <p:spPr>
          <a:xfrm>
            <a:off x="3742944" y="5571744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0" name="Text 48"/>
          <p:cNvSpPr/>
          <p:nvPr/>
        </p:nvSpPr>
        <p:spPr>
          <a:xfrm>
            <a:off x="3864864" y="55717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(segfault risk)</a:t>
            </a:r>
            <a:endParaRPr lang="en-US" sz="1667" dirty="0"/>
          </a:p>
        </p:txBody>
      </p:sp>
      <p:sp>
        <p:nvSpPr>
          <p:cNvPr id="51" name="Shape 49"/>
          <p:cNvSpPr/>
          <p:nvPr/>
        </p:nvSpPr>
        <p:spPr>
          <a:xfrm>
            <a:off x="7461504" y="5571744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2" name="Text 50"/>
          <p:cNvSpPr/>
          <p:nvPr/>
        </p:nvSpPr>
        <p:spPr>
          <a:xfrm>
            <a:off x="7583424" y="55717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exist (Option&lt;T&gt;)</a:t>
            </a:r>
            <a:endParaRPr lang="en-US" sz="1667" dirty="0"/>
          </a:p>
        </p:txBody>
      </p:sp>
      <p:sp>
        <p:nvSpPr>
          <p:cNvPr id="53" name="Shape 51"/>
          <p:cNvSpPr/>
          <p:nvPr/>
        </p:nvSpPr>
        <p:spPr>
          <a:xfrm>
            <a:off x="268224" y="6193536"/>
            <a:ext cx="3474720" cy="621792"/>
          </a:xfrm>
          <a:prstGeom prst="rect">
            <a:avLst/>
          </a:prstGeom>
          <a:solidFill>
            <a:srgbClr val="ECE7E1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4" name="Text 52"/>
          <p:cNvSpPr/>
          <p:nvPr/>
        </p:nvSpPr>
        <p:spPr>
          <a:xfrm>
            <a:off x="390144" y="6193536"/>
            <a:ext cx="3230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Support</a:t>
            </a:r>
            <a:endParaRPr lang="en-US" sz="1667" dirty="0"/>
          </a:p>
        </p:txBody>
      </p:sp>
      <p:sp>
        <p:nvSpPr>
          <p:cNvPr id="55" name="Shape 53"/>
          <p:cNvSpPr/>
          <p:nvPr/>
        </p:nvSpPr>
        <p:spPr>
          <a:xfrm>
            <a:off x="3742944" y="6193536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6" name="Text 54"/>
          <p:cNvSpPr/>
          <p:nvPr/>
        </p:nvSpPr>
        <p:spPr>
          <a:xfrm>
            <a:off x="3864864" y="6193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ecosystem</a:t>
            </a:r>
            <a:endParaRPr lang="en-US" sz="1667" dirty="0"/>
          </a:p>
        </p:txBody>
      </p:sp>
      <p:sp>
        <p:nvSpPr>
          <p:cNvPr id="57" name="Shape 55"/>
          <p:cNvSpPr/>
          <p:nvPr/>
        </p:nvSpPr>
        <p:spPr>
          <a:xfrm>
            <a:off x="7461504" y="6193536"/>
            <a:ext cx="3718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8" name="Text 56"/>
          <p:cNvSpPr/>
          <p:nvPr/>
        </p:nvSpPr>
        <p:spPr>
          <a:xfrm>
            <a:off x="7583424" y="61935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fast, practical now</a:t>
            </a:r>
            <a:endParaRPr lang="en-US" sz="1667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D048-5402-F2DE-FA47-9DBC8E83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Installing Rust (WSL or Native)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666F97E0-9FBF-3785-C97E-2F29E49F2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606" y="1585730"/>
            <a:ext cx="7168846" cy="47706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CE252-572A-DAA2-9857-9B7B94FD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E5D0-0E06-43DA-8793-9FE3D17B0CDD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6F037-4252-6FC7-B087-960ADF6BE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A05E-8CE9-A6FE-833D-33507B03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8055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Environment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" name="Shape 3"/>
          <p:cNvSpPr/>
          <p:nvPr/>
        </p:nvSpPr>
        <p:spPr>
          <a:xfrm>
            <a:off x="268224" y="1560576"/>
            <a:ext cx="548640" cy="548640"/>
          </a:xfrm>
          <a:prstGeom prst="ellipse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6" name="Text 4"/>
          <p:cNvSpPr/>
          <p:nvPr/>
        </p:nvSpPr>
        <p:spPr>
          <a:xfrm>
            <a:off x="268224" y="1560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1936" y="1551299"/>
            <a:ext cx="34137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Rust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0" y="1219200"/>
            <a:ext cx="7376160" cy="1706880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Shape 7"/>
          <p:cNvSpPr/>
          <p:nvPr/>
        </p:nvSpPr>
        <p:spPr>
          <a:xfrm>
            <a:off x="4572000" y="1219200"/>
            <a:ext cx="737616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0" name="Shape 8"/>
          <p:cNvSpPr/>
          <p:nvPr/>
        </p:nvSpPr>
        <p:spPr>
          <a:xfrm>
            <a:off x="4693920" y="1286256"/>
            <a:ext cx="121920" cy="12192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Shape 9"/>
          <p:cNvSpPr/>
          <p:nvPr/>
        </p:nvSpPr>
        <p:spPr>
          <a:xfrm>
            <a:off x="4913376" y="1286256"/>
            <a:ext cx="121920" cy="121920"/>
          </a:xfrm>
          <a:prstGeom prst="ellipse">
            <a:avLst/>
          </a:prstGeom>
          <a:solidFill>
            <a:srgbClr val="F0AD4E"/>
          </a:solidFill>
          <a:ln w="12700">
            <a:solidFill>
              <a:srgbClr val="F0AD4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Shape 10"/>
          <p:cNvSpPr/>
          <p:nvPr/>
        </p:nvSpPr>
        <p:spPr>
          <a:xfrm>
            <a:off x="5132832" y="1286256"/>
            <a:ext cx="121920" cy="12192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Text 11"/>
          <p:cNvSpPr/>
          <p:nvPr/>
        </p:nvSpPr>
        <p:spPr>
          <a:xfrm>
            <a:off x="4718304" y="1524000"/>
            <a:ext cx="7083552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rustup — the Rust toolchain manager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--proto '=https' --tlsv1.2 -sSf \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https://sh.rustup.rs | sh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rustc --version &amp;&amp; cargo --version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8224" y="3413760"/>
            <a:ext cx="548640" cy="548640"/>
          </a:xfrm>
          <a:prstGeom prst="ellipse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3"/>
          <p:cNvSpPr/>
          <p:nvPr/>
        </p:nvSpPr>
        <p:spPr>
          <a:xfrm>
            <a:off x="268224" y="3413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1936" y="3411640"/>
            <a:ext cx="34137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Cross-Compilation Targets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0" y="3072384"/>
            <a:ext cx="7376160" cy="1706880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8" name="Shape 16"/>
          <p:cNvSpPr/>
          <p:nvPr/>
        </p:nvSpPr>
        <p:spPr>
          <a:xfrm>
            <a:off x="4572000" y="3072384"/>
            <a:ext cx="737616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Shape 17"/>
          <p:cNvSpPr/>
          <p:nvPr/>
        </p:nvSpPr>
        <p:spPr>
          <a:xfrm>
            <a:off x="4693920" y="3139440"/>
            <a:ext cx="121920" cy="12192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Shape 18"/>
          <p:cNvSpPr/>
          <p:nvPr/>
        </p:nvSpPr>
        <p:spPr>
          <a:xfrm>
            <a:off x="4913376" y="3139440"/>
            <a:ext cx="121920" cy="121920"/>
          </a:xfrm>
          <a:prstGeom prst="ellipse">
            <a:avLst/>
          </a:prstGeom>
          <a:solidFill>
            <a:srgbClr val="F0AD4E"/>
          </a:solidFill>
          <a:ln w="12700">
            <a:solidFill>
              <a:srgbClr val="F0AD4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1" name="Shape 19"/>
          <p:cNvSpPr/>
          <p:nvPr/>
        </p:nvSpPr>
        <p:spPr>
          <a:xfrm>
            <a:off x="5132832" y="3139440"/>
            <a:ext cx="121920" cy="12192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Text 20"/>
          <p:cNvSpPr/>
          <p:nvPr/>
        </p:nvSpPr>
        <p:spPr>
          <a:xfrm>
            <a:off x="4718304" y="3377184"/>
            <a:ext cx="7083552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Cortex-M4 / M7 with &amp; w/o hardware float (e.g. STM32F3/F4)</a:t>
            </a:r>
            <a:endParaRPr lang="en-US" sz="1400" dirty="0"/>
          </a:p>
          <a:p>
            <a:r>
              <a:rPr lang="en-US" sz="14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rustup</a:t>
            </a:r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 add thumbv7em-none-eabihf thumbv7em-none-eabi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Cortex-M0 / M0+ (many simpler MCUs)</a:t>
            </a:r>
            <a:endParaRPr lang="en-US" sz="1400" dirty="0"/>
          </a:p>
          <a:p>
            <a:r>
              <a:rPr lang="en-US" sz="14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rustup</a:t>
            </a:r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 add thumbv6m-none-eabi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8224" y="5266944"/>
            <a:ext cx="548640" cy="548640"/>
          </a:xfrm>
          <a:prstGeom prst="ellipse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2"/>
          <p:cNvSpPr/>
          <p:nvPr/>
        </p:nvSpPr>
        <p:spPr>
          <a:xfrm>
            <a:off x="268224" y="5266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11936" y="5261643"/>
            <a:ext cx="34137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Flashing Tools + Embedded Tools </a:t>
            </a:r>
            <a:r>
              <a:rPr lang="en-US" sz="2000" b="1" dirty="0" err="1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0" y="4925568"/>
            <a:ext cx="7376160" cy="1706880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7" name="Shape 25"/>
          <p:cNvSpPr/>
          <p:nvPr/>
        </p:nvSpPr>
        <p:spPr>
          <a:xfrm>
            <a:off x="4572000" y="4925568"/>
            <a:ext cx="737616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Shape 26"/>
          <p:cNvSpPr/>
          <p:nvPr/>
        </p:nvSpPr>
        <p:spPr>
          <a:xfrm>
            <a:off x="4693920" y="4992624"/>
            <a:ext cx="121920" cy="12192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9" name="Shape 27"/>
          <p:cNvSpPr/>
          <p:nvPr/>
        </p:nvSpPr>
        <p:spPr>
          <a:xfrm>
            <a:off x="4913376" y="4992624"/>
            <a:ext cx="121920" cy="121920"/>
          </a:xfrm>
          <a:prstGeom prst="ellipse">
            <a:avLst/>
          </a:prstGeom>
          <a:solidFill>
            <a:srgbClr val="F0AD4E"/>
          </a:solidFill>
          <a:ln w="12700">
            <a:solidFill>
              <a:srgbClr val="F0AD4E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0" name="Shape 28"/>
          <p:cNvSpPr/>
          <p:nvPr/>
        </p:nvSpPr>
        <p:spPr>
          <a:xfrm>
            <a:off x="5132832" y="4992624"/>
            <a:ext cx="121920" cy="12192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1" name="Text 29"/>
          <p:cNvSpPr/>
          <p:nvPr/>
        </p:nvSpPr>
        <p:spPr>
          <a:xfrm>
            <a:off x="4718304" y="5230368"/>
            <a:ext cx="7083552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probe-</a:t>
            </a:r>
            <a:r>
              <a:rPr lang="en-US" sz="14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-tools gives us cargo-embed and a bunch of stuff</a:t>
            </a:r>
            <a:endParaRPr lang="en-US" sz="1400" dirty="0"/>
          </a:p>
          <a:p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cargo install probe-</a:t>
            </a:r>
            <a:r>
              <a:rPr lang="en-US" sz="14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r>
              <a:rPr lang="en-US" sz="14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-tools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Blink an LED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116433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"Hello, World!" of embedded — toggle an LED every 500ms. Target: STM32 </a:t>
            </a:r>
            <a:r>
              <a:rPr lang="en-US" sz="1867" dirty="0" err="1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</a:t>
            </a:r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303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268224" y="2011680"/>
            <a:ext cx="7010400" cy="4608576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" name="Shape 5"/>
          <p:cNvSpPr/>
          <p:nvPr/>
        </p:nvSpPr>
        <p:spPr>
          <a:xfrm>
            <a:off x="268224" y="2011680"/>
            <a:ext cx="701040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9"/>
          <p:cNvSpPr/>
          <p:nvPr/>
        </p:nvSpPr>
        <p:spPr>
          <a:xfrm>
            <a:off x="414528" y="2316480"/>
            <a:ext cx="67177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#![no_std]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#![no_main]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cortex_m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::{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asm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peripheral::Peripherals as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CorePeripherals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cortex_m_rt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::entry;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stm32f3xx_hal::{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prelude::*};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panic_halt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_;</a:t>
            </a:r>
          </a:p>
          <a:p>
            <a:endParaRPr lang="en-US" sz="1000" dirty="0">
              <a:solidFill>
                <a:srgbClr val="E0D8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#[entry]</a:t>
            </a:r>
          </a:p>
          <a:p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-&gt; ! {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::Peripherals::take().unwrap();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_cp =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CorePeripherals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::take().unwrap();</a:t>
            </a:r>
          </a:p>
          <a:p>
            <a:endParaRPr lang="en-US" sz="1000" dirty="0">
              <a:solidFill>
                <a:srgbClr val="E0D8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mut flash =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dp.FLASH.constrain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mut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dp.RCC.constrain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_clocks =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rcc.cfgr.freeze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(&amp;mut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flash.acr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endParaRPr lang="en-US" sz="1000" dirty="0">
              <a:solidFill>
                <a:srgbClr val="E0D8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mut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gpioa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dp.GPIOA.split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(&amp;mut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rcc.ahb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mut led = gpioa.pa5.into_push_pull_output(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&amp;mut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gpioa.moder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&amp;mut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gpioa.otyper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</a:p>
          <a:p>
            <a:endParaRPr lang="en-US" sz="1000" dirty="0">
              <a:solidFill>
                <a:srgbClr val="E0D8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loop {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led.set_high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().ok();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asm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::delay(8_000_000);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led.set_low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().ok();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asm</a:t>
            </a:r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::delay(8_000_000);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r>
              <a:rPr lang="en-US" sz="10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</p:txBody>
      </p:sp>
      <p:sp>
        <p:nvSpPr>
          <p:cNvPr id="12" name="Shape 10"/>
          <p:cNvSpPr/>
          <p:nvPr/>
        </p:nvSpPr>
        <p:spPr>
          <a:xfrm>
            <a:off x="7559040" y="2011680"/>
            <a:ext cx="4389120" cy="914400"/>
          </a:xfrm>
          <a:prstGeom prst="rect">
            <a:avLst/>
          </a:prstGeom>
          <a:solidFill>
            <a:srgbClr val="FFF3EC"/>
          </a:solidFill>
          <a:ln w="12700">
            <a:solidFill>
              <a:srgbClr val="FFD0B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Shape 11"/>
          <p:cNvSpPr/>
          <p:nvPr/>
        </p:nvSpPr>
        <p:spPr>
          <a:xfrm>
            <a:off x="7559040" y="2011680"/>
            <a:ext cx="85344" cy="91440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4" name="Text 12"/>
          <p:cNvSpPr/>
          <p:nvPr/>
        </p:nvSpPr>
        <p:spPr>
          <a:xfrm>
            <a:off x="7766304" y="2060448"/>
            <a:ext cx="4120896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Peripherals::take() is a one-time call. The type system guarantees you can't accidentally use the same peripheral in two places.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7559040" y="3048000"/>
            <a:ext cx="4389120" cy="914400"/>
          </a:xfrm>
          <a:prstGeom prst="rect">
            <a:avLst/>
          </a:prstGeom>
          <a:solidFill>
            <a:srgbClr val="FFF3EC"/>
          </a:solidFill>
          <a:ln w="12700">
            <a:solidFill>
              <a:srgbClr val="FFD0B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6" name="Shape 14"/>
          <p:cNvSpPr/>
          <p:nvPr/>
        </p:nvSpPr>
        <p:spPr>
          <a:xfrm>
            <a:off x="7559040" y="3048000"/>
            <a:ext cx="85344" cy="91440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7" name="Text 15"/>
          <p:cNvSpPr/>
          <p:nvPr/>
        </p:nvSpPr>
        <p:spPr>
          <a:xfrm>
            <a:off x="7766304" y="3096768"/>
            <a:ext cx="4120896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into_push_pull_output() returns a typed pin. The type encodes the pin mode — you cannot call set_high() on an input pin.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7559040" y="4084320"/>
            <a:ext cx="4389120" cy="914400"/>
          </a:xfrm>
          <a:prstGeom prst="rect">
            <a:avLst/>
          </a:prstGeom>
          <a:solidFill>
            <a:srgbClr val="FFF3EC"/>
          </a:solidFill>
          <a:ln w="12700">
            <a:solidFill>
              <a:srgbClr val="FFD0B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Shape 17"/>
          <p:cNvSpPr/>
          <p:nvPr/>
        </p:nvSpPr>
        <p:spPr>
          <a:xfrm>
            <a:off x="7559040" y="4084320"/>
            <a:ext cx="85344" cy="91440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0" name="Text 18"/>
          <p:cNvSpPr/>
          <p:nvPr/>
        </p:nvSpPr>
        <p:spPr>
          <a:xfrm>
            <a:off x="7766304" y="4133088"/>
            <a:ext cx="4120896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 err="1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</a:t>
            </a:r>
            <a:r>
              <a:rPr lang="en-US" sz="14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::delay() blocks using a busy-loop counter, can use a HAL delay function as well.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7559040" y="5120640"/>
            <a:ext cx="4389120" cy="914400"/>
          </a:xfrm>
          <a:prstGeom prst="rect">
            <a:avLst/>
          </a:prstGeom>
          <a:solidFill>
            <a:srgbClr val="FFF3EC"/>
          </a:solidFill>
          <a:ln w="12700">
            <a:solidFill>
              <a:srgbClr val="FFD0B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2" name="Shape 20"/>
          <p:cNvSpPr/>
          <p:nvPr/>
        </p:nvSpPr>
        <p:spPr>
          <a:xfrm>
            <a:off x="7559040" y="5120640"/>
            <a:ext cx="85344" cy="914400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21"/>
          <p:cNvSpPr/>
          <p:nvPr/>
        </p:nvSpPr>
        <p:spPr>
          <a:xfrm>
            <a:off x="7766304" y="5169408"/>
            <a:ext cx="4120896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{} never exits. Embedded programs run until power is removed — there is no OS to return to.</a:t>
            </a:r>
            <a:endParaRPr lang="en-US" sz="1467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Send Data Over UART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" name="Text 3"/>
          <p:cNvSpPr/>
          <p:nvPr/>
        </p:nvSpPr>
        <p:spPr>
          <a:xfrm>
            <a:off x="304800" y="1219200"/>
            <a:ext cx="116433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debug messages or sensor readings to a serial terminal — essential for any embedded project.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268224" y="2011680"/>
            <a:ext cx="7010400" cy="4608576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" name="Shape 5"/>
          <p:cNvSpPr/>
          <p:nvPr/>
        </p:nvSpPr>
        <p:spPr>
          <a:xfrm>
            <a:off x="268224" y="2011680"/>
            <a:ext cx="701040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9"/>
          <p:cNvSpPr/>
          <p:nvPr/>
        </p:nvSpPr>
        <p:spPr>
          <a:xfrm>
            <a:off x="414528" y="2210267"/>
            <a:ext cx="6717792" cy="431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#![no_std]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#![no_main]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cortex_m_rt::entry;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stm32f4xx_hal::{pac, prelude::*, serial};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core::fmt::Write;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panic_halt as _;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#[entry]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main() -&gt; ! {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dp = pac::Peripherals::take().unwrap();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rcc = dp.RCC.constrain();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clocks = rcc.cfgr.sysclk(48.MHz()).freeze();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gpioa = dp.GPIOA.split();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tx = gpioa.pa2.into_alternate::&lt;7&gt;();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rx = gpioa.pa3.into_alternate::&lt;7&gt;();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serial = dp.USART2.serial((tx, rx), 115_200.bps(), &amp;clocks).unwrap();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(mut tx, _rx) = serial.split();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count in 0u32.. {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writeln!(tx, "count = {}", count).ok();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1816607"/>
            <a:ext cx="44500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CE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867" dirty="0"/>
          </a:p>
        </p:txBody>
      </p:sp>
      <p:sp>
        <p:nvSpPr>
          <p:cNvPr id="13" name="Shape 11"/>
          <p:cNvSpPr/>
          <p:nvPr/>
        </p:nvSpPr>
        <p:spPr>
          <a:xfrm>
            <a:off x="7498080" y="2210267"/>
            <a:ext cx="4450080" cy="1276645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4" name="Shape 12"/>
          <p:cNvSpPr/>
          <p:nvPr/>
        </p:nvSpPr>
        <p:spPr>
          <a:xfrm>
            <a:off x="7498080" y="2364800"/>
            <a:ext cx="85344" cy="1122112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5" name="Text 13"/>
          <p:cNvSpPr/>
          <p:nvPr/>
        </p:nvSpPr>
        <p:spPr>
          <a:xfrm>
            <a:off x="7717536" y="2364800"/>
            <a:ext cx="408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pin config</a:t>
            </a:r>
            <a:endParaRPr lang="en-US" sz="1667" dirty="0"/>
          </a:p>
        </p:txBody>
      </p:sp>
      <p:sp>
        <p:nvSpPr>
          <p:cNvPr id="16" name="Text 14"/>
          <p:cNvSpPr/>
          <p:nvPr/>
        </p:nvSpPr>
        <p:spPr>
          <a:xfrm>
            <a:off x="7733356" y="2639567"/>
            <a:ext cx="42818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into_alternate::&lt;7&gt;() selects UART alternate function at compile time. Wrong number = compiler error before you even flash.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7498080" y="3596640"/>
            <a:ext cx="4450080" cy="92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8" name="Shape 16"/>
          <p:cNvSpPr/>
          <p:nvPr/>
        </p:nvSpPr>
        <p:spPr>
          <a:xfrm>
            <a:off x="7498080" y="3596640"/>
            <a:ext cx="85344" cy="926592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Text 17"/>
          <p:cNvSpPr/>
          <p:nvPr/>
        </p:nvSpPr>
        <p:spPr>
          <a:xfrm>
            <a:off x="7717536" y="3633216"/>
            <a:ext cx="408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core::fmt::Write</a:t>
            </a:r>
            <a:endParaRPr lang="en-US" sz="1667" dirty="0"/>
          </a:p>
        </p:txBody>
      </p:sp>
      <p:sp>
        <p:nvSpPr>
          <p:cNvPr id="20" name="Text 18"/>
          <p:cNvSpPr/>
          <p:nvPr/>
        </p:nvSpPr>
        <p:spPr>
          <a:xfrm>
            <a:off x="7717536" y="4011168"/>
            <a:ext cx="4084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 trait provides writeln! for any "writer" type. Works just like println! but writes to your serial port.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7498080" y="4632960"/>
            <a:ext cx="4450080" cy="92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22" name="Shape 20"/>
          <p:cNvSpPr/>
          <p:nvPr/>
        </p:nvSpPr>
        <p:spPr>
          <a:xfrm>
            <a:off x="7498080" y="4632960"/>
            <a:ext cx="85344" cy="926592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Text 21"/>
          <p:cNvSpPr/>
          <p:nvPr/>
        </p:nvSpPr>
        <p:spPr>
          <a:xfrm>
            <a:off x="7717536" y="4669536"/>
            <a:ext cx="408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.split()</a:t>
            </a:r>
            <a:endParaRPr lang="en-US" sz="1667" dirty="0"/>
          </a:p>
        </p:txBody>
      </p:sp>
      <p:sp>
        <p:nvSpPr>
          <p:cNvPr id="24" name="Text 22"/>
          <p:cNvSpPr/>
          <p:nvPr/>
        </p:nvSpPr>
        <p:spPr>
          <a:xfrm>
            <a:off x="7717536" y="5047488"/>
            <a:ext cx="4084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serial port into independent TX and RX with their own ownership — prevents misuse.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7498080" y="5669280"/>
            <a:ext cx="4450080" cy="92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26" name="Shape 24"/>
          <p:cNvSpPr/>
          <p:nvPr/>
        </p:nvSpPr>
        <p:spPr>
          <a:xfrm>
            <a:off x="7498080" y="5669280"/>
            <a:ext cx="85344" cy="926592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7" name="Text 25"/>
          <p:cNvSpPr/>
          <p:nvPr/>
        </p:nvSpPr>
        <p:spPr>
          <a:xfrm>
            <a:off x="7717536" y="5705856"/>
            <a:ext cx="408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.ok() vs .unwrap()</a:t>
            </a:r>
            <a:endParaRPr lang="en-US" sz="1667" dirty="0"/>
          </a:p>
        </p:txBody>
      </p:sp>
      <p:sp>
        <p:nvSpPr>
          <p:cNvPr id="28" name="Text 26"/>
          <p:cNvSpPr/>
          <p:nvPr/>
        </p:nvSpPr>
        <p:spPr>
          <a:xfrm>
            <a:off x="7717536" y="6083808"/>
            <a:ext cx="4084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writeln!(...).ok() silently ignores errors (e.g. TX buffer full). Use .unwrap() during debugging to catch issues.</a:t>
            </a:r>
            <a:endParaRPr lang="en-US" sz="1467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9FAD-8043-0E1E-E4B8-1DC69A12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419ED19-D73A-AD60-22E2-27B80AFBBDA7}"/>
              </a:ext>
            </a:extLst>
          </p:cNvPr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Blink For Real: Cargo</a:t>
            </a:r>
            <a:endParaRPr lang="en-US" sz="3733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0D3EE8-96B3-F2F2-02D3-BB79A1468AA0}"/>
              </a:ext>
            </a:extLst>
          </p:cNvPr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25F563-A0C3-9DDB-C8C6-5DB6799BE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58" y="2007049"/>
            <a:ext cx="1667108" cy="1800476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E9F4D162-F823-EAF8-D105-B1C40899D4E6}"/>
              </a:ext>
            </a:extLst>
          </p:cNvPr>
          <p:cNvSpPr/>
          <p:nvPr/>
        </p:nvSpPr>
        <p:spPr>
          <a:xfrm>
            <a:off x="2775812" y="1146049"/>
            <a:ext cx="7010400" cy="1513004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746ADC3C-9360-E394-E75D-E3EF8766EDEA}"/>
              </a:ext>
            </a:extLst>
          </p:cNvPr>
          <p:cNvSpPr/>
          <p:nvPr/>
        </p:nvSpPr>
        <p:spPr>
          <a:xfrm>
            <a:off x="2775812" y="1146049"/>
            <a:ext cx="701040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4B19AE6C-FAEA-A42C-ADF8-1F2FD4EF31E9}"/>
              </a:ext>
            </a:extLst>
          </p:cNvPr>
          <p:cNvSpPr/>
          <p:nvPr/>
        </p:nvSpPr>
        <p:spPr>
          <a:xfrm>
            <a:off x="2922116" y="1450849"/>
            <a:ext cx="6717792" cy="125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[build]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"thumbv7em-none-eabihf"</a:t>
            </a:r>
          </a:p>
          <a:p>
            <a:endParaRPr lang="en-US" sz="1200" dirty="0">
              <a:solidFill>
                <a:srgbClr val="E0D8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[target.thumbv7em-none-eabihf]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 = "probe-</a:t>
            </a:r>
            <a:r>
              <a:rPr lang="en-US" sz="12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--chip STM32F303RETx"   # optional: flash &amp; run</a:t>
            </a:r>
          </a:p>
          <a:p>
            <a:r>
              <a:rPr lang="en-US" sz="12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rustflags</a:t>
            </a:r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["-C", "link-</a:t>
            </a:r>
            <a:r>
              <a:rPr lang="en-US" sz="12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</a:t>
            </a:r>
            <a:r>
              <a:rPr lang="en-US" sz="12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Tlink.x</a:t>
            </a:r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endParaRPr lang="en-US" sz="12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992C1C55-6804-C6C4-590E-DC838EE75866}"/>
              </a:ext>
            </a:extLst>
          </p:cNvPr>
          <p:cNvSpPr/>
          <p:nvPr/>
        </p:nvSpPr>
        <p:spPr>
          <a:xfrm>
            <a:off x="2775812" y="2953343"/>
            <a:ext cx="7010400" cy="2987452"/>
          </a:xfrm>
          <a:prstGeom prst="rect">
            <a:avLst/>
          </a:prstGeom>
          <a:solidFill>
            <a:srgbClr val="28242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E220BD1D-AEBD-129A-E6EC-53C382135F1E}"/>
              </a:ext>
            </a:extLst>
          </p:cNvPr>
          <p:cNvSpPr/>
          <p:nvPr/>
        </p:nvSpPr>
        <p:spPr>
          <a:xfrm>
            <a:off x="2775812" y="2953344"/>
            <a:ext cx="7010400" cy="268224"/>
          </a:xfrm>
          <a:prstGeom prst="rect">
            <a:avLst/>
          </a:prstGeom>
          <a:solidFill>
            <a:srgbClr val="3A3530"/>
          </a:solidFill>
          <a:ln w="12700">
            <a:solidFill>
              <a:srgbClr val="3A3530"/>
            </a:solidFill>
            <a:prstDash val="solid"/>
          </a:ln>
        </p:spPr>
        <p:txBody>
          <a:bodyPr/>
          <a:lstStyle/>
          <a:p>
            <a:endParaRPr lang="en-CA" sz="24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35FEDFFE-512F-123E-64B5-470494E5B74D}"/>
              </a:ext>
            </a:extLst>
          </p:cNvPr>
          <p:cNvSpPr/>
          <p:nvPr/>
        </p:nvSpPr>
        <p:spPr>
          <a:xfrm>
            <a:off x="2922116" y="3258144"/>
            <a:ext cx="6717792" cy="125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[package]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"blinky"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= "0.1.0"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edition = "2021"</a:t>
            </a:r>
          </a:p>
          <a:p>
            <a:endParaRPr lang="en-US" sz="1200" dirty="0">
              <a:solidFill>
                <a:srgbClr val="E0D8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[dependencies]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cortex-m-rt = "0.7"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cortex-m    = "0.7"          # needed for SYST-based delay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stm32f3xx-hal = { version = "0.10", features = ["stm32f303xe"] }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panic-halt = "0.2"</a:t>
            </a:r>
          </a:p>
          <a:p>
            <a:endParaRPr lang="en-US" sz="1200" dirty="0">
              <a:solidFill>
                <a:srgbClr val="E0D8C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profile.release</a:t>
            </a:r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opt-level = "s"   # optimize for size</a:t>
            </a:r>
          </a:p>
          <a:p>
            <a:r>
              <a:rPr lang="en-US" sz="1200" dirty="0" err="1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lto</a:t>
            </a:r>
            <a:r>
              <a:rPr lang="en-US" sz="1200" dirty="0">
                <a:solidFill>
                  <a:srgbClr val="E0D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AE80447-D037-7584-6A6F-7F18BFF8D221}"/>
              </a:ext>
            </a:extLst>
          </p:cNvPr>
          <p:cNvCxnSpPr/>
          <p:nvPr/>
        </p:nvCxnSpPr>
        <p:spPr>
          <a:xfrm flipV="1">
            <a:off x="1603360" y="2077390"/>
            <a:ext cx="1172452" cy="286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6C5ECBC-8CB2-839B-99B6-ED54FDF63E75}"/>
              </a:ext>
            </a:extLst>
          </p:cNvPr>
          <p:cNvCxnSpPr>
            <a:cxnSpLocks/>
          </p:cNvCxnSpPr>
          <p:nvPr/>
        </p:nvCxnSpPr>
        <p:spPr>
          <a:xfrm>
            <a:off x="1507892" y="3429000"/>
            <a:ext cx="1308236" cy="6044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759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D9B3-EDA0-8E72-E544-0F54CBEC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92DEF58-CF5A-DA90-4EB7-AB0C7B0E546C}"/>
              </a:ext>
            </a:extLst>
          </p:cNvPr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Blinky For Real: Cargo</a:t>
            </a:r>
            <a:endParaRPr lang="en-US" sz="3733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4D5F75-2939-5B2E-8B98-37965A314A5F}"/>
              </a:ext>
            </a:extLst>
          </p:cNvPr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48169-FB5C-6613-8C39-C2FD43FED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559" y="1274709"/>
            <a:ext cx="7154273" cy="132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04BFB4-87FF-DE22-C8EA-B523F06EF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559" y="3149557"/>
            <a:ext cx="7478169" cy="8954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CC5FCC-6101-180E-DD73-88DD193D45AC}"/>
              </a:ext>
            </a:extLst>
          </p:cNvPr>
          <p:cNvSpPr txBox="1"/>
          <p:nvPr/>
        </p:nvSpPr>
        <p:spPr>
          <a:xfrm>
            <a:off x="1576358" y="2659053"/>
            <a:ext cx="724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i="1" dirty="0"/>
              <a:t>&lt;REMOVED LONG OUTPUT&gt;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2784EA-5FFE-D57B-8975-6C5B5B6B07F2}"/>
              </a:ext>
            </a:extLst>
          </p:cNvPr>
          <p:cNvSpPr txBox="1"/>
          <p:nvPr/>
        </p:nvSpPr>
        <p:spPr>
          <a:xfrm>
            <a:off x="1284648" y="4611269"/>
            <a:ext cx="103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generates an ELF file in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target\thumbv7em-none-eabihf\release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BF3FC0-CEA0-8349-84B3-4ED85A2D4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140" y="5041291"/>
            <a:ext cx="2744739" cy="16094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736540-A752-E238-DC69-50E0E34C195D}"/>
              </a:ext>
            </a:extLst>
          </p:cNvPr>
          <p:cNvSpPr txBox="1"/>
          <p:nvPr/>
        </p:nvSpPr>
        <p:spPr>
          <a:xfrm>
            <a:off x="5564937" y="5548108"/>
            <a:ext cx="525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blinky</a:t>
            </a:r>
            <a:r>
              <a:rPr lang="en-CA" dirty="0"/>
              <a:t> is a .elf file – note NO EXTENSION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2D5574-925F-7879-16A4-5530F6AF0F77}"/>
              </a:ext>
            </a:extLst>
          </p:cNvPr>
          <p:cNvCxnSpPr>
            <a:endCxn id="15" idx="1"/>
          </p:cNvCxnSpPr>
          <p:nvPr/>
        </p:nvCxnSpPr>
        <p:spPr>
          <a:xfrm flipV="1">
            <a:off x="2266366" y="5732774"/>
            <a:ext cx="3298571" cy="651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121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E155-A1E8-B377-2120-9C2DFF3B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7B1B5F9-5833-0E78-D41A-E1EA4E896624}"/>
              </a:ext>
            </a:extLst>
          </p:cNvPr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Blinky</a:t>
            </a:r>
            <a:endParaRPr lang="en-US" sz="3733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2AFB96-3526-1F0F-71DA-C3AB8E795A93}"/>
              </a:ext>
            </a:extLst>
          </p:cNvPr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8A9C63-F07C-2ED5-47D0-39D0D9DD7075}"/>
              </a:ext>
            </a:extLst>
          </p:cNvPr>
          <p:cNvSpPr txBox="1"/>
          <p:nvPr/>
        </p:nvSpPr>
        <p:spPr>
          <a:xfrm>
            <a:off x="729276" y="1419283"/>
            <a:ext cx="10344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If you have a normal st-link you can use the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probe-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CA" dirty="0"/>
              <a:t> tool to program it! </a:t>
            </a:r>
          </a:p>
          <a:p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dirty="0">
                <a:cs typeface="Courier New" panose="02070309020205020404" pitchFamily="49" charset="0"/>
              </a:rPr>
              <a:t>My </a:t>
            </a:r>
            <a:r>
              <a:rPr lang="en-CA" dirty="0" err="1">
                <a:cs typeface="Courier New" panose="02070309020205020404" pitchFamily="49" charset="0"/>
              </a:rPr>
              <a:t>Nucleo</a:t>
            </a:r>
            <a:r>
              <a:rPr lang="en-CA" dirty="0">
                <a:cs typeface="Courier New" panose="02070309020205020404" pitchFamily="49" charset="0"/>
              </a:rPr>
              <a:t> is a J-Link so have to do via </a:t>
            </a:r>
            <a:r>
              <a:rPr lang="en-CA" dirty="0" err="1">
                <a:cs typeface="Courier New" panose="02070309020205020404" pitchFamily="49" charset="0"/>
              </a:rPr>
              <a:t>Segger</a:t>
            </a:r>
            <a:r>
              <a:rPr lang="en-CA" dirty="0">
                <a:cs typeface="Courier New" panose="02070309020205020404" pitchFamily="49" charset="0"/>
              </a:rPr>
              <a:t> O-Zone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B782A-E027-5CA0-BAAF-70F7FB57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16" y="2701191"/>
            <a:ext cx="2347859" cy="3020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9EA60B-AAFF-6919-6362-E077591C3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910" y="2701191"/>
            <a:ext cx="3661471" cy="2742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1A3F9F-2EDB-24DA-E938-880C84FD4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6000" y="2701191"/>
            <a:ext cx="2260406" cy="302156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F1908A-EB60-1BC5-4A35-5A9DA7F84C53}"/>
              </a:ext>
            </a:extLst>
          </p:cNvPr>
          <p:cNvCxnSpPr/>
          <p:nvPr/>
        </p:nvCxnSpPr>
        <p:spPr>
          <a:xfrm flipV="1">
            <a:off x="6843975" y="5217129"/>
            <a:ext cx="2445880" cy="1110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BCCACDA-B9B6-8734-731A-0D0FC6F6B2CB}"/>
              </a:ext>
            </a:extLst>
          </p:cNvPr>
          <p:cNvSpPr txBox="1"/>
          <p:nvPr/>
        </p:nvSpPr>
        <p:spPr>
          <a:xfrm>
            <a:off x="1940997" y="6143206"/>
            <a:ext cx="5144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Set to “All Files” or rename the blinky to </a:t>
            </a:r>
            <a:r>
              <a:rPr lang="en-CA" dirty="0" err="1"/>
              <a:t>blinky.elf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0887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E8D7-1BA9-6E3F-57E9-4111EA47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CF2051F-71FC-DFC3-A7F4-CE88C4FDF279}"/>
              </a:ext>
            </a:extLst>
          </p:cNvPr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Blinky (Cont’d)</a:t>
            </a:r>
            <a:endParaRPr lang="en-US" sz="3733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CA1086-04F1-D295-91E2-3B4CD7CF3B73}"/>
              </a:ext>
            </a:extLst>
          </p:cNvPr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9FD94-5965-597B-8A6E-BC40ABB356BF}"/>
              </a:ext>
            </a:extLst>
          </p:cNvPr>
          <p:cNvSpPr txBox="1"/>
          <p:nvPr/>
        </p:nvSpPr>
        <p:spPr>
          <a:xfrm>
            <a:off x="729276" y="1419283"/>
            <a:ext cx="1034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cs typeface="Courier New" panose="02070309020205020404" pitchFamily="49" charset="0"/>
              </a:rPr>
              <a:t>My </a:t>
            </a:r>
            <a:r>
              <a:rPr lang="en-CA" dirty="0" err="1">
                <a:cs typeface="Courier New" panose="02070309020205020404" pitchFamily="49" charset="0"/>
              </a:rPr>
              <a:t>Nucleo</a:t>
            </a:r>
            <a:r>
              <a:rPr lang="en-CA" dirty="0">
                <a:cs typeface="Courier New" panose="02070309020205020404" pitchFamily="49" charset="0"/>
              </a:rPr>
              <a:t> is a J-Link so have to do via </a:t>
            </a:r>
            <a:r>
              <a:rPr lang="en-CA" dirty="0" err="1">
                <a:cs typeface="Courier New" panose="02070309020205020404" pitchFamily="49" charset="0"/>
              </a:rPr>
              <a:t>Segger</a:t>
            </a:r>
            <a:r>
              <a:rPr lang="en-CA" dirty="0">
                <a:cs typeface="Courier New" panose="02070309020205020404" pitchFamily="49" charset="0"/>
              </a:rPr>
              <a:t> O-Zone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055B4-9795-2D67-531B-A60FC36B8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34" y="2587820"/>
            <a:ext cx="4858428" cy="2086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AA2894-32D0-1637-6318-F1992E9A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958" y="2260756"/>
            <a:ext cx="6461236" cy="310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622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866E-47BC-991F-43BB-036F590A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More Complex Rust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BF0F-9B3F-08E5-F01D-D91D25FEB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hlinkClick r:id="rId2"/>
              </a:rPr>
              <a:t>https://github.com/sunsided/stm32f3disco-rust/blob/main/src/main.rs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79C23-2D0C-47FB-018A-2E3EA8922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5C30-0F46-4C46-81D7-F3ED69B225AD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0B2D1-EC19-1A93-EE16-4EE133C0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B39BB-82DC-6069-B6CC-2556DABCF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47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78A1DB-675D-66F8-8EDC-0FB432CE3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446" y="1690688"/>
            <a:ext cx="4622260" cy="3619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F1A06A-126B-A642-DE1B-06CC4AEF7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01989"/>
            <a:ext cx="3903901" cy="243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249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4800" y="207264"/>
            <a:ext cx="1164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Rust Resources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04800" y="1060704"/>
            <a:ext cx="11643360" cy="0"/>
          </a:xfrm>
          <a:prstGeom prst="line">
            <a:avLst/>
          </a:prstGeom>
          <a:noFill/>
          <a:ln w="12700">
            <a:solidFill>
              <a:srgbClr val="E0DBD5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5" name="Shape 3"/>
          <p:cNvSpPr/>
          <p:nvPr/>
        </p:nvSpPr>
        <p:spPr>
          <a:xfrm>
            <a:off x="268224" y="1280160"/>
            <a:ext cx="56692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6" name="Shape 4"/>
          <p:cNvSpPr/>
          <p:nvPr/>
        </p:nvSpPr>
        <p:spPr>
          <a:xfrm>
            <a:off x="268224" y="1280160"/>
            <a:ext cx="5669280" cy="633984"/>
          </a:xfrm>
          <a:prstGeom prst="rect">
            <a:avLst/>
          </a:prstGeom>
          <a:solidFill>
            <a:srgbClr val="CE4A23"/>
          </a:solidFill>
          <a:ln w="12700">
            <a:solidFill>
              <a:srgbClr val="CE4A23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7" name="Text 5"/>
          <p:cNvSpPr/>
          <p:nvPr/>
        </p:nvSpPr>
        <p:spPr>
          <a:xfrm>
            <a:off x="451104" y="1280160"/>
            <a:ext cx="5303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Books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1104" y="2036064"/>
            <a:ext cx="5303520" cy="445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Embedded Rust Book — book.rust-lang.org (free, official)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Book — beginner projects for STM32 and micro:bit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embassy.dev — Embassy framework docs with lots of examples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rtic.rs — RTIC real-time concurrency framework docs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6692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BD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sz="240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669280" cy="633984"/>
          </a:xfrm>
          <a:prstGeom prst="rect">
            <a:avLst/>
          </a:prstGeom>
          <a:solidFill>
            <a:srgbClr val="7A2A0C"/>
          </a:solidFill>
          <a:ln w="12700">
            <a:solidFill>
              <a:srgbClr val="7A2A0C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53035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Today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36064"/>
            <a:ext cx="5303520" cy="445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board: STM32 Nucleo, Raspberry Pi Pico, or BBC micro:bit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awesome-embedded-rust on GitHub — curated list of crates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Embedded Matrix channel — Commonly referenced community to ask questions (</a:t>
            </a:r>
            <a:r>
              <a:rPr lang="en-US" sz="1733" i="1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no personal experience</a:t>
            </a: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1A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embassy/examples/ on GitHub — Many more working code examples</a:t>
            </a:r>
            <a:endParaRPr lang="en-US" sz="1733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45E2-91E0-5561-D97F-B99EEE59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Continuing Your Embedded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33A02-CED6-3DE8-32F4-C5224FB56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the end of Computer Architecture – hopefully you have a good foundation of </a:t>
            </a:r>
            <a:r>
              <a:rPr lang="en-CA" i="1" dirty="0"/>
              <a:t>why</a:t>
            </a:r>
            <a:r>
              <a:rPr lang="en-CA" dirty="0"/>
              <a:t> and </a:t>
            </a:r>
            <a:r>
              <a:rPr lang="en-CA" i="1" dirty="0"/>
              <a:t>how</a:t>
            </a:r>
            <a:r>
              <a:rPr lang="en-CA" dirty="0"/>
              <a:t> embedded systems work.</a:t>
            </a:r>
          </a:p>
          <a:p>
            <a:endParaRPr lang="en-CA" dirty="0"/>
          </a:p>
          <a:p>
            <a:r>
              <a:rPr lang="en-CA" dirty="0"/>
              <a:t>If looking for more experience – the very low cost of boards like our STM32F3 </a:t>
            </a:r>
            <a:r>
              <a:rPr lang="en-CA" dirty="0" err="1"/>
              <a:t>Nucleo</a:t>
            </a:r>
            <a:r>
              <a:rPr lang="en-CA" dirty="0"/>
              <a:t> board and ESP32 boards can be a great starting point!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C4BC-CE7F-B340-547E-8F45FB8C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B6B-BF3E-480A-A171-3EE21890274D}" type="datetime1">
              <a:rPr lang="en-US" smtClean="0"/>
              <a:t>4/1/2026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BEE1E-15BF-2472-2280-F390DC5D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CA9A1-DCEA-4265-2756-CAB24324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5468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5147</TotalTime>
  <Words>4045</Words>
  <Application>Microsoft Office PowerPoint</Application>
  <PresentationFormat>Widescreen</PresentationFormat>
  <Paragraphs>670</Paragraphs>
  <Slides>49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Consolas</vt:lpstr>
      <vt:lpstr>Courier New</vt:lpstr>
      <vt:lpstr>inherit</vt:lpstr>
      <vt:lpstr>Source Code Pro</vt:lpstr>
      <vt:lpstr>Times New Roman</vt:lpstr>
      <vt:lpstr>Wingdings</vt:lpstr>
      <vt:lpstr>Office Theme</vt:lpstr>
      <vt:lpstr>Computer Architecture: Weird Machines, Rust, The End</vt:lpstr>
      <vt:lpstr>Lectures</vt:lpstr>
      <vt:lpstr>Very long instruction word (VLIW)</vt:lpstr>
      <vt:lpstr> Super Harvard Architecture Single-Chip Computer (SHARC)</vt:lpstr>
      <vt:lpstr>SHARC Features &amp; Oddities (designed ~1994)</vt:lpstr>
      <vt:lpstr>Delay Slots</vt:lpstr>
      <vt:lpstr>Remember: Pipeline with Branch FLUSH</vt:lpstr>
      <vt:lpstr>Delay Slots: Just Execute Them!!</vt:lpstr>
      <vt:lpstr>Delay Slots</vt:lpstr>
      <vt:lpstr>Fibonacci Example with SHARC</vt:lpstr>
      <vt:lpstr>Adding Delay Slots</vt:lpstr>
      <vt:lpstr>Using Loop Counter</vt:lpstr>
      <vt:lpstr>Using VLIW Multi-Issue</vt:lpstr>
      <vt:lpstr>SHARC Usage</vt:lpstr>
      <vt:lpstr>Intel Itanium (“Itanic”) (2001 – 2020)</vt:lpstr>
      <vt:lpstr>Itanium Failures</vt:lpstr>
      <vt:lpstr>PowerPoint Presentation</vt:lpstr>
      <vt:lpstr>Intel i860 (1980 – mid 1990s)</vt:lpstr>
      <vt:lpstr>Compiler Problems</vt:lpstr>
      <vt:lpstr>Compatibility is King!</vt:lpstr>
      <vt:lpstr>Transmeta's Crusoe</vt:lpstr>
      <vt:lpstr>Transmeta's Crusoe</vt:lpstr>
      <vt:lpstr>Transmeta LongRun Technology</vt:lpstr>
      <vt:lpstr>Java &amp; The Java Virtual Machine (JVM)</vt:lpstr>
      <vt:lpstr>e.g., Java Bytecode</vt:lpstr>
      <vt:lpstr>Java – But Why?</vt:lpstr>
      <vt:lpstr>Intel iAPX 432 – Intel's First Failure</vt:lpstr>
      <vt:lpstr>Ada Programming Language</vt:lpstr>
      <vt:lpstr>Ada Hello World</vt:lpstr>
      <vt:lpstr>Ada Types</vt:lpstr>
      <vt:lpstr>Ada in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Installing Rust (WSL or Native)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More Complex Rust Program</vt:lpstr>
      <vt:lpstr>PowerPoint Presentation</vt:lpstr>
      <vt:lpstr>Continuing Your Embedded Journey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96</cp:revision>
  <dcterms:created xsi:type="dcterms:W3CDTF">2026-02-08T23:56:58Z</dcterms:created>
  <dcterms:modified xsi:type="dcterms:W3CDTF">2026-04-01T16:23:52Z</dcterms:modified>
</cp:coreProperties>
</file>